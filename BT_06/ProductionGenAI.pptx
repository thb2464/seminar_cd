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Lst>
  <p:sldSz cx="18288000" cy="10287000"/>
  <p:notesSz cx="6858000" cy="9144000"/>
  <p:embeddedFontLst>
    <p:embeddedFont>
      <p:font typeface="Fira Sans Ultra-Bold" charset="1" panose="020B0903050000020004"/>
      <p:regular r:id="rId89"/>
    </p:embeddedFont>
    <p:embeddedFont>
      <p:font typeface="Clear Sans" charset="1" panose="020B0503030202020304"/>
      <p:regular r:id="rId90"/>
    </p:embeddedFont>
    <p:embeddedFont>
      <p:font typeface="Fira Sans Bold" charset="1" panose="020B0803050000020004"/>
      <p:regular r:id="rId91"/>
    </p:embeddedFont>
    <p:embeddedFont>
      <p:font typeface="Fira Sans" charset="1" panose="020B0503050000020004"/>
      <p:regular r:id="rId92"/>
    </p:embeddedFont>
    <p:embeddedFont>
      <p:font typeface="Clear Sans Medium" charset="1" panose="020B0603030202020304"/>
      <p:regular r:id="rId93"/>
    </p:embeddedFont>
    <p:embeddedFont>
      <p:font typeface="Clear Sans Italics" charset="1" panose="020B0503030202090304"/>
      <p:regular r:id="rId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slides/slide69.xml" Type="http://schemas.openxmlformats.org/officeDocument/2006/relationships/slide"/><Relationship Id="rId75" Target="slides/slide70.xml" Type="http://schemas.openxmlformats.org/officeDocument/2006/relationships/slide"/><Relationship Id="rId76" Target="slides/slide71.xml" Type="http://schemas.openxmlformats.org/officeDocument/2006/relationships/slide"/><Relationship Id="rId77" Target="slides/slide72.xml" Type="http://schemas.openxmlformats.org/officeDocument/2006/relationships/slide"/><Relationship Id="rId78" Target="slides/slide73.xml" Type="http://schemas.openxmlformats.org/officeDocument/2006/relationships/slide"/><Relationship Id="rId79" Target="slides/slide74.xml" Type="http://schemas.openxmlformats.org/officeDocument/2006/relationships/slide"/><Relationship Id="rId8" Target="slides/slide3.xml" Type="http://schemas.openxmlformats.org/officeDocument/2006/relationships/slide"/><Relationship Id="rId80" Target="slides/slide75.xml" Type="http://schemas.openxmlformats.org/officeDocument/2006/relationships/slide"/><Relationship Id="rId81" Target="slides/slide76.xml" Type="http://schemas.openxmlformats.org/officeDocument/2006/relationships/slide"/><Relationship Id="rId82" Target="slides/slide77.xml" Type="http://schemas.openxmlformats.org/officeDocument/2006/relationships/slide"/><Relationship Id="rId83" Target="slides/slide78.xml" Type="http://schemas.openxmlformats.org/officeDocument/2006/relationships/slide"/><Relationship Id="rId84" Target="slides/slide79.xml" Type="http://schemas.openxmlformats.org/officeDocument/2006/relationships/slide"/><Relationship Id="rId85" Target="slides/slide80.xml" Type="http://schemas.openxmlformats.org/officeDocument/2006/relationships/slide"/><Relationship Id="rId86" Target="slides/slide81.xml" Type="http://schemas.openxmlformats.org/officeDocument/2006/relationships/slide"/><Relationship Id="rId87" Target="slides/slide82.xml" Type="http://schemas.openxmlformats.org/officeDocument/2006/relationships/slide"/><Relationship Id="rId88" Target="slides/slide83.xml" Type="http://schemas.openxmlformats.org/officeDocument/2006/relationships/slide"/><Relationship Id="rId89" Target="fonts/font89.fntdata" Type="http://schemas.openxmlformats.org/officeDocument/2006/relationships/font"/><Relationship Id="rId9" Target="slides/slide4.xml" Type="http://schemas.openxmlformats.org/officeDocument/2006/relationships/slide"/><Relationship Id="rId90" Target="fonts/font90.fntdata" Type="http://schemas.openxmlformats.org/officeDocument/2006/relationships/font"/><Relationship Id="rId91" Target="fonts/font91.fntdata" Type="http://schemas.openxmlformats.org/officeDocument/2006/relationships/font"/><Relationship Id="rId92" Target="fonts/font92.fntdata" Type="http://schemas.openxmlformats.org/officeDocument/2006/relationships/font"/><Relationship Id="rId93" Target="fonts/font93.fntdata" Type="http://schemas.openxmlformats.org/officeDocument/2006/relationships/font"/><Relationship Id="rId94" Target="fonts/font94.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 Id="rId4"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png" Type="http://schemas.openxmlformats.org/officeDocument/2006/relationships/image"/><Relationship Id="rId4"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png" Type="http://schemas.openxmlformats.org/officeDocument/2006/relationships/image"/><Relationship Id="rId4" Target="../media/image3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1.png" Type="http://schemas.openxmlformats.org/officeDocument/2006/relationships/image"/><Relationship Id="rId4" Target="../media/image3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3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3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3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2.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4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png" Type="http://schemas.openxmlformats.org/officeDocument/2006/relationships/image"/><Relationship Id="rId4" Target="../media/image4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png" Type="http://schemas.openxmlformats.org/officeDocument/2006/relationships/image"/><Relationship Id="rId4" Target="../media/image46.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50.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5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5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5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54.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55.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66.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67.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68.png" Type="http://schemas.openxmlformats.org/officeDocument/2006/relationships/image"/><Relationship Id="rId4" Target="../embeddings/oleObject2.bin" Type="http://schemas.openxmlformats.org/officeDocument/2006/relationships/oleObject"/></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69.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 Id="rId6" Target="../media/image74.png" Type="http://schemas.openxmlformats.org/officeDocument/2006/relationships/image"/><Relationship Id="rId7" Target="../media/image75.svg" Type="http://schemas.openxmlformats.org/officeDocument/2006/relationships/image"/><Relationship Id="rId8" Target="../media/image23.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23.png" Type="http://schemas.openxmlformats.org/officeDocument/2006/relationships/image"/><Relationship Id="rId5" Target="../media/image76.png" Type="http://schemas.openxmlformats.org/officeDocument/2006/relationships/image"/><Relationship Id="rId6" Target="../embeddings/oleObject3.bin" Type="http://schemas.openxmlformats.org/officeDocument/2006/relationships/oleObject"/></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svg" Type="http://schemas.openxmlformats.org/officeDocument/2006/relationships/image"/><Relationship Id="rId4" Target="../media/image23.png" Type="http://schemas.openxmlformats.org/officeDocument/2006/relationships/image"/><Relationship Id="rId5" Target="../media/image77.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png" Type="http://schemas.openxmlformats.org/officeDocument/2006/relationships/image"/><Relationship Id="rId3" Target="../media/image73.svg" Type="http://schemas.openxmlformats.org/officeDocument/2006/relationships/image"/><Relationship Id="rId4" Target="../media/image23.png" Type="http://schemas.openxmlformats.org/officeDocument/2006/relationships/image"/><Relationship Id="rId5" Target="../media/image78.pn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79.png" Type="http://schemas.openxmlformats.org/officeDocument/2006/relationships/image"/></Relationships>
</file>

<file path=ppt/slides/_rels/slide6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80.png" Type="http://schemas.openxmlformats.org/officeDocument/2006/relationships/image"/></Relationships>
</file>

<file path=ppt/slides/_rels/slide7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81.png" Type="http://schemas.openxmlformats.org/officeDocument/2006/relationships/image"/></Relationships>
</file>

<file path=ppt/slides/_rels/slide7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7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82.png" Type="http://schemas.openxmlformats.org/officeDocument/2006/relationships/image"/><Relationship Id="rId4" Target="../embeddings/oleObject4.bin" Type="http://schemas.openxmlformats.org/officeDocument/2006/relationships/oleObject"/></Relationships>
</file>

<file path=ppt/slides/_rels/slide7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3.png" Type="http://schemas.openxmlformats.org/officeDocument/2006/relationships/image"/><Relationship Id="rId3" Target="../embeddings/oleObject5.bin" Type="http://schemas.openxmlformats.org/officeDocument/2006/relationships/oleObject"/></Relationships>
</file>

<file path=ppt/slides/_rels/slide7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1.png" Type="http://schemas.openxmlformats.org/officeDocument/2006/relationships/image"/></Relationships>
</file>

<file path=ppt/slides/_rels/slide7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1.png" Type="http://schemas.openxmlformats.org/officeDocument/2006/relationships/image"/><Relationship Id="rId4" Target="../media/image84.png" Type="http://schemas.openxmlformats.org/officeDocument/2006/relationships/image"/><Relationship Id="rId5" Target="../embeddings/oleObject6.bin" Type="http://schemas.openxmlformats.org/officeDocument/2006/relationships/oleObject"/></Relationships>
</file>

<file path=ppt/slides/_rels/slide7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1.png" Type="http://schemas.openxmlformats.org/officeDocument/2006/relationships/image"/><Relationship Id="rId4" Target="../media/image85.png" Type="http://schemas.openxmlformats.org/officeDocument/2006/relationships/image"/></Relationships>
</file>

<file path=ppt/slides/_rels/slide7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7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86.png" Type="http://schemas.openxmlformats.org/officeDocument/2006/relationships/image"/><Relationship Id="rId5" Target="../embeddings/oleObject7.bin" Type="http://schemas.openxmlformats.org/officeDocument/2006/relationships/oleObject"/></Relationships>
</file>

<file path=ppt/slides/_rels/slide8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16.png" Type="http://schemas.openxmlformats.org/officeDocument/2006/relationships/image"/><Relationship Id="rId4" Target="../media/image88.png" Type="http://schemas.openxmlformats.org/officeDocument/2006/relationships/image"/></Relationships>
</file>

<file path=ppt/slides/_rels/slide8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16.png" Type="http://schemas.openxmlformats.org/officeDocument/2006/relationships/image"/><Relationship Id="rId4" Target="../media/image88.png" Type="http://schemas.openxmlformats.org/officeDocument/2006/relationships/image"/><Relationship Id="rId5" Target="../media/image89.png" Type="http://schemas.openxmlformats.org/officeDocument/2006/relationships/image"/><Relationship Id="rId6" Target="../embeddings/oleObject8.bin" Type="http://schemas.openxmlformats.org/officeDocument/2006/relationships/oleObject"/></Relationships>
</file>

<file path=ppt/slides/_rels/slide8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16.png" Type="http://schemas.openxmlformats.org/officeDocument/2006/relationships/image"/><Relationship Id="rId4" Target="../media/image88.png" Type="http://schemas.openxmlformats.org/officeDocument/2006/relationships/image"/><Relationship Id="rId5" Target="../media/image90.png" Type="http://schemas.openxmlformats.org/officeDocument/2006/relationships/image"/><Relationship Id="rId6" Target="../embeddings/oleObject9.bin" Type="http://schemas.openxmlformats.org/officeDocument/2006/relationships/oleObject"/></Relationships>
</file>

<file path=ppt/slides/_rels/slide8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058666" y="2523660"/>
            <a:ext cx="3753274" cy="3443628"/>
          </a:xfrm>
          <a:custGeom>
            <a:avLst/>
            <a:gdLst/>
            <a:ahLst/>
            <a:cxnLst/>
            <a:rect r="r" b="b" t="t" l="l"/>
            <a:pathLst>
              <a:path h="3443628" w="3753274">
                <a:moveTo>
                  <a:pt x="0" y="0"/>
                </a:moveTo>
                <a:lnTo>
                  <a:pt x="3753274" y="0"/>
                </a:lnTo>
                <a:lnTo>
                  <a:pt x="3753274" y="3443628"/>
                </a:lnTo>
                <a:lnTo>
                  <a:pt x="0" y="3443628"/>
                </a:lnTo>
                <a:lnTo>
                  <a:pt x="0" y="0"/>
                </a:lnTo>
                <a:close/>
              </a:path>
            </a:pathLst>
          </a:custGeom>
          <a:blipFill>
            <a:blip r:embed="rId2"/>
            <a:stretch>
              <a:fillRect l="0" t="0" r="0" b="0"/>
            </a:stretch>
          </a:blipFill>
        </p:spPr>
      </p:sp>
      <p:grpSp>
        <p:nvGrpSpPr>
          <p:cNvPr name="Group 3" id="3"/>
          <p:cNvGrpSpPr/>
          <p:nvPr/>
        </p:nvGrpSpPr>
        <p:grpSpPr>
          <a:xfrm rot="0">
            <a:off x="934188" y="794979"/>
            <a:ext cx="16419623" cy="8697043"/>
            <a:chOff x="0" y="0"/>
            <a:chExt cx="63915348" cy="33854280"/>
          </a:xfrm>
        </p:grpSpPr>
        <p:sp>
          <p:nvSpPr>
            <p:cNvPr name="Freeform 4" id="4"/>
            <p:cNvSpPr/>
            <p:nvPr/>
          </p:nvSpPr>
          <p:spPr>
            <a:xfrm flipH="false" flipV="false" rot="0">
              <a:off x="0" y="0"/>
              <a:ext cx="63915348" cy="33854281"/>
            </a:xfrm>
            <a:custGeom>
              <a:avLst/>
              <a:gdLst/>
              <a:ahLst/>
              <a:cxnLst/>
              <a:rect r="r" b="b" t="t" l="l"/>
              <a:pathLst>
                <a:path h="33854281" w="63915348">
                  <a:moveTo>
                    <a:pt x="63790891" y="59690"/>
                  </a:moveTo>
                  <a:cubicBezTo>
                    <a:pt x="63826448" y="59690"/>
                    <a:pt x="63855656" y="88900"/>
                    <a:pt x="63855656" y="124460"/>
                  </a:cubicBezTo>
                  <a:lnTo>
                    <a:pt x="63855656" y="33729820"/>
                  </a:lnTo>
                  <a:cubicBezTo>
                    <a:pt x="63855656" y="33765381"/>
                    <a:pt x="63826448" y="33794591"/>
                    <a:pt x="63790891" y="33794591"/>
                  </a:cubicBezTo>
                  <a:lnTo>
                    <a:pt x="124460" y="33794591"/>
                  </a:lnTo>
                  <a:cubicBezTo>
                    <a:pt x="88900" y="33794591"/>
                    <a:pt x="59690" y="33765381"/>
                    <a:pt x="59690" y="33729820"/>
                  </a:cubicBezTo>
                  <a:lnTo>
                    <a:pt x="59690" y="124460"/>
                  </a:lnTo>
                  <a:cubicBezTo>
                    <a:pt x="59690" y="88900"/>
                    <a:pt x="88900" y="59690"/>
                    <a:pt x="124460" y="59690"/>
                  </a:cubicBezTo>
                  <a:lnTo>
                    <a:pt x="63790891" y="59690"/>
                  </a:lnTo>
                  <a:moveTo>
                    <a:pt x="63790891" y="0"/>
                  </a:moveTo>
                  <a:lnTo>
                    <a:pt x="124460" y="0"/>
                  </a:lnTo>
                  <a:cubicBezTo>
                    <a:pt x="55880" y="0"/>
                    <a:pt x="0" y="55880"/>
                    <a:pt x="0" y="124460"/>
                  </a:cubicBezTo>
                  <a:lnTo>
                    <a:pt x="0" y="33729820"/>
                  </a:lnTo>
                  <a:cubicBezTo>
                    <a:pt x="0" y="33798399"/>
                    <a:pt x="55880" y="33854281"/>
                    <a:pt x="124460" y="33854281"/>
                  </a:cubicBezTo>
                  <a:lnTo>
                    <a:pt x="63790891" y="33854281"/>
                  </a:lnTo>
                  <a:cubicBezTo>
                    <a:pt x="63859470" y="33854281"/>
                    <a:pt x="63915348" y="33798399"/>
                    <a:pt x="63915348" y="33729820"/>
                  </a:cubicBezTo>
                  <a:lnTo>
                    <a:pt x="63915348" y="124460"/>
                  </a:lnTo>
                  <a:cubicBezTo>
                    <a:pt x="63915348" y="55880"/>
                    <a:pt x="63859470" y="0"/>
                    <a:pt x="63790891" y="0"/>
                  </a:cubicBezTo>
                  <a:close/>
                </a:path>
              </a:pathLst>
            </a:custGeom>
            <a:solidFill>
              <a:srgbClr val="64E688">
                <a:alpha val="49804"/>
              </a:srgbClr>
            </a:solidFill>
          </p:spPr>
        </p:sp>
      </p:grpSp>
      <p:sp>
        <p:nvSpPr>
          <p:cNvPr name="Freeform 5" id="5"/>
          <p:cNvSpPr/>
          <p:nvPr/>
        </p:nvSpPr>
        <p:spPr>
          <a:xfrm flipH="false" flipV="false" rot="1713587">
            <a:off x="14568945" y="80742"/>
            <a:ext cx="1569750" cy="1428473"/>
          </a:xfrm>
          <a:custGeom>
            <a:avLst/>
            <a:gdLst/>
            <a:ahLst/>
            <a:cxnLst/>
            <a:rect r="r" b="b" t="t" l="l"/>
            <a:pathLst>
              <a:path h="1428473" w="1569750">
                <a:moveTo>
                  <a:pt x="0" y="0"/>
                </a:moveTo>
                <a:lnTo>
                  <a:pt x="1569750" y="0"/>
                </a:lnTo>
                <a:lnTo>
                  <a:pt x="1569750" y="1428473"/>
                </a:lnTo>
                <a:lnTo>
                  <a:pt x="0" y="1428473"/>
                </a:lnTo>
                <a:lnTo>
                  <a:pt x="0" y="0"/>
                </a:lnTo>
                <a:close/>
              </a:path>
            </a:pathLst>
          </a:custGeom>
          <a:blipFill>
            <a:blip r:embed="rId3"/>
            <a:stretch>
              <a:fillRect l="0" t="0" r="0" b="0"/>
            </a:stretch>
          </a:blipFill>
        </p:spPr>
      </p:sp>
      <p:sp>
        <p:nvSpPr>
          <p:cNvPr name="Freeform 6" id="6"/>
          <p:cNvSpPr/>
          <p:nvPr/>
        </p:nvSpPr>
        <p:spPr>
          <a:xfrm flipH="false" flipV="false" rot="-478310">
            <a:off x="12014704" y="7015656"/>
            <a:ext cx="5448196" cy="5019151"/>
          </a:xfrm>
          <a:custGeom>
            <a:avLst/>
            <a:gdLst/>
            <a:ahLst/>
            <a:cxnLst/>
            <a:rect r="r" b="b" t="t" l="l"/>
            <a:pathLst>
              <a:path h="5019151" w="5448196">
                <a:moveTo>
                  <a:pt x="0" y="0"/>
                </a:moveTo>
                <a:lnTo>
                  <a:pt x="5448196" y="0"/>
                </a:lnTo>
                <a:lnTo>
                  <a:pt x="5448196" y="5019151"/>
                </a:lnTo>
                <a:lnTo>
                  <a:pt x="0" y="5019151"/>
                </a:lnTo>
                <a:lnTo>
                  <a:pt x="0" y="0"/>
                </a:lnTo>
                <a:close/>
              </a:path>
            </a:pathLst>
          </a:custGeom>
          <a:blipFill>
            <a:blip r:embed="rId4"/>
            <a:stretch>
              <a:fillRect l="0" t="0" r="0" b="0"/>
            </a:stretch>
          </a:blipFill>
        </p:spPr>
      </p:sp>
      <p:grpSp>
        <p:nvGrpSpPr>
          <p:cNvPr name="Group 7" id="7"/>
          <p:cNvGrpSpPr/>
          <p:nvPr/>
        </p:nvGrpSpPr>
        <p:grpSpPr>
          <a:xfrm rot="0">
            <a:off x="1490757" y="1363741"/>
            <a:ext cx="11885415" cy="3584291"/>
            <a:chOff x="0" y="0"/>
            <a:chExt cx="15847220" cy="4779054"/>
          </a:xfrm>
        </p:grpSpPr>
        <p:sp>
          <p:nvSpPr>
            <p:cNvPr name="TextBox 8" id="8"/>
            <p:cNvSpPr txBox="true"/>
            <p:nvPr/>
          </p:nvSpPr>
          <p:spPr>
            <a:xfrm rot="0">
              <a:off x="0" y="1106829"/>
              <a:ext cx="15847220" cy="2681776"/>
            </a:xfrm>
            <a:prstGeom prst="rect">
              <a:avLst/>
            </a:prstGeom>
          </p:spPr>
          <p:txBody>
            <a:bodyPr anchor="t" rtlCol="false" tIns="0" lIns="0" bIns="0" rIns="0">
              <a:spAutoFit/>
            </a:bodyPr>
            <a:lstStyle/>
            <a:p>
              <a:pPr algn="l">
                <a:lnSpc>
                  <a:spcPts val="7933"/>
                </a:lnSpc>
              </a:pPr>
              <a:r>
                <a:rPr lang="en-US" sz="6611" b="true">
                  <a:solidFill>
                    <a:srgbClr val="64E688"/>
                  </a:solidFill>
                  <a:latin typeface="Fira Sans Ultra-Bold"/>
                  <a:ea typeface="Fira Sans Ultra-Bold"/>
                  <a:cs typeface="Fira Sans Ultra-Bold"/>
                  <a:sym typeface="Fira Sans Ultra-Bold"/>
                </a:rPr>
                <a:t>Xây dự</a:t>
              </a:r>
              <a:r>
                <a:rPr lang="en-US" sz="6611" b="true">
                  <a:solidFill>
                    <a:srgbClr val="64E688"/>
                  </a:solidFill>
                  <a:latin typeface="Fira Sans Ultra-Bold"/>
                  <a:ea typeface="Fira Sans Ultra-Bold"/>
                  <a:cs typeface="Fira Sans Ultra-Bold"/>
                  <a:sym typeface="Fira Sans Ultra-Bold"/>
                </a:rPr>
                <a:t>ng sản phẩm phần mềm dùng GenAI</a:t>
              </a:r>
            </a:p>
          </p:txBody>
        </p:sp>
        <p:sp>
          <p:nvSpPr>
            <p:cNvPr name="TextBox 9" id="9"/>
            <p:cNvSpPr txBox="true"/>
            <p:nvPr/>
          </p:nvSpPr>
          <p:spPr>
            <a:xfrm rot="0">
              <a:off x="0" y="-47625"/>
              <a:ext cx="12074364" cy="525145"/>
            </a:xfrm>
            <a:prstGeom prst="rect">
              <a:avLst/>
            </a:prstGeom>
          </p:spPr>
          <p:txBody>
            <a:bodyPr anchor="t" rtlCol="false" tIns="0" lIns="0" bIns="0" rIns="0">
              <a:spAutoFit/>
            </a:bodyPr>
            <a:lstStyle/>
            <a:p>
              <a:pPr algn="l">
                <a:lnSpc>
                  <a:spcPts val="3359"/>
                </a:lnSpc>
              </a:pPr>
              <a:r>
                <a:rPr lang="en-US" sz="2400" spc="228">
                  <a:solidFill>
                    <a:srgbClr val="FFFFFF"/>
                  </a:solidFill>
                  <a:latin typeface="Clear Sans"/>
                  <a:ea typeface="Clear Sans"/>
                  <a:cs typeface="Clear Sans"/>
                  <a:sym typeface="Clear Sans"/>
                </a:rPr>
                <a:t>PRODUC</a:t>
              </a:r>
              <a:r>
                <a:rPr lang="en-US" sz="2400" spc="228">
                  <a:solidFill>
                    <a:srgbClr val="FFFFFF"/>
                  </a:solidFill>
                  <a:latin typeface="Clear Sans"/>
                  <a:ea typeface="Clear Sans"/>
                  <a:cs typeface="Clear Sans"/>
                  <a:sym typeface="Clear Sans"/>
                </a:rPr>
                <a:t>TIONGENAI</a:t>
              </a:r>
            </a:p>
          </p:txBody>
        </p:sp>
      </p:grpSp>
      <p:sp>
        <p:nvSpPr>
          <p:cNvPr name="TextBox 10" id="10"/>
          <p:cNvSpPr txBox="true"/>
          <p:nvPr/>
        </p:nvSpPr>
        <p:spPr>
          <a:xfrm rot="0">
            <a:off x="1490757" y="6238298"/>
            <a:ext cx="9207434" cy="1299210"/>
          </a:xfrm>
          <a:prstGeom prst="rect">
            <a:avLst/>
          </a:prstGeom>
        </p:spPr>
        <p:txBody>
          <a:bodyPr anchor="t" rtlCol="false" tIns="0" lIns="0" bIns="0" rIns="0">
            <a:spAutoFit/>
          </a:bodyPr>
          <a:lstStyle/>
          <a:p>
            <a:pPr algn="l">
              <a:lnSpc>
                <a:spcPts val="3465"/>
              </a:lnSpc>
            </a:pPr>
            <a:r>
              <a:rPr lang="en-US" sz="2475">
                <a:solidFill>
                  <a:srgbClr val="FFFFFF"/>
                </a:solidFill>
                <a:latin typeface="Clear Sans"/>
                <a:ea typeface="Clear Sans"/>
                <a:cs typeface="Clear Sans"/>
                <a:sym typeface="Clear Sans"/>
              </a:rPr>
              <a:t>Trần Hoàng Bảo - 3122411014</a:t>
            </a:r>
          </a:p>
          <a:p>
            <a:pPr algn="l">
              <a:lnSpc>
                <a:spcPts val="3465"/>
              </a:lnSpc>
            </a:pPr>
            <a:r>
              <a:rPr lang="en-US" sz="2475">
                <a:solidFill>
                  <a:srgbClr val="FFFFFF"/>
                </a:solidFill>
                <a:latin typeface="Clear Sans"/>
                <a:ea typeface="Clear Sans"/>
                <a:cs typeface="Clear Sans"/>
                <a:sym typeface="Clear Sans"/>
              </a:rPr>
              <a:t>Phùng Anh Tuấn - 3122411237</a:t>
            </a:r>
          </a:p>
          <a:p>
            <a:pPr algn="l">
              <a:lnSpc>
                <a:spcPts val="3464"/>
              </a:lnSpc>
            </a:pPr>
            <a:r>
              <a:rPr lang="en-US" sz="2474">
                <a:solidFill>
                  <a:srgbClr val="FFFFFF"/>
                </a:solidFill>
                <a:latin typeface="Clear Sans"/>
                <a:ea typeface="Clear Sans"/>
                <a:cs typeface="Clear Sans"/>
                <a:sym typeface="Clear Sans"/>
              </a:rPr>
              <a:t>Thái Trí Văn - 3122411242</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554887" y="2419934"/>
            <a:ext cx="5633426" cy="3742476"/>
            <a:chOff x="0" y="0"/>
            <a:chExt cx="7511235" cy="4989969"/>
          </a:xfrm>
        </p:grpSpPr>
        <p:sp>
          <p:nvSpPr>
            <p:cNvPr name="TextBox 3" id="3"/>
            <p:cNvSpPr txBox="true"/>
            <p:nvPr/>
          </p:nvSpPr>
          <p:spPr>
            <a:xfrm rot="0">
              <a:off x="0" y="-9525"/>
              <a:ext cx="7511235" cy="3057525"/>
            </a:xfrm>
            <a:prstGeom prst="rect">
              <a:avLst/>
            </a:prstGeom>
          </p:spPr>
          <p:txBody>
            <a:bodyPr anchor="t" rtlCol="false" tIns="0" lIns="0" bIns="0" rIns="0">
              <a:spAutoFit/>
            </a:bodyPr>
            <a:lstStyle/>
            <a:p>
              <a:pPr algn="l">
                <a:lnSpc>
                  <a:spcPts val="9000"/>
                </a:lnSpc>
              </a:pPr>
              <a:r>
                <a:rPr lang="en-US" sz="7500" b="true">
                  <a:solidFill>
                    <a:srgbClr val="FFFFFF"/>
                  </a:solidFill>
                  <a:latin typeface="Fira Sans Ultra-Bold"/>
                  <a:ea typeface="Fira Sans Ultra-Bold"/>
                  <a:cs typeface="Fira Sans Ultra-Bold"/>
                  <a:sym typeface="Fira Sans Ultra-Bold"/>
                </a:rPr>
                <a:t>Chủ điểm thảo luận</a:t>
              </a:r>
            </a:p>
          </p:txBody>
        </p:sp>
        <p:sp>
          <p:nvSpPr>
            <p:cNvPr name="TextBox 4" id="4"/>
            <p:cNvSpPr txBox="true"/>
            <p:nvPr/>
          </p:nvSpPr>
          <p:spPr>
            <a:xfrm rot="0">
              <a:off x="0" y="3542169"/>
              <a:ext cx="7511235" cy="1447800"/>
            </a:xfrm>
            <a:prstGeom prst="rect">
              <a:avLst/>
            </a:prstGeom>
          </p:spPr>
          <p:txBody>
            <a:bodyPr anchor="t" rtlCol="false" tIns="0" lIns="0" bIns="0" rIns="0">
              <a:spAutoFit/>
            </a:bodyPr>
            <a:lstStyle/>
            <a:p>
              <a:pPr algn="l">
                <a:lnSpc>
                  <a:spcPts val="4499"/>
                </a:lnSpc>
              </a:pPr>
              <a:r>
                <a:rPr lang="en-US" sz="2999">
                  <a:solidFill>
                    <a:srgbClr val="64E688"/>
                  </a:solidFill>
                  <a:latin typeface="Clear Sans"/>
                  <a:ea typeface="Clear Sans"/>
                  <a:cs typeface="Clear Sans"/>
                  <a:sym typeface="Clear Sans"/>
                </a:rPr>
                <a:t>Các chủ đề chính được đề cập trong bản thuyết trình</a:t>
              </a:r>
            </a:p>
          </p:txBody>
        </p:sp>
      </p:grpSp>
      <p:sp>
        <p:nvSpPr>
          <p:cNvPr name="TextBox 5" id="5"/>
          <p:cNvSpPr txBox="true"/>
          <p:nvPr/>
        </p:nvSpPr>
        <p:spPr>
          <a:xfrm rot="0">
            <a:off x="8808181" y="2696309"/>
            <a:ext cx="7965432" cy="405765"/>
          </a:xfrm>
          <a:prstGeom prst="rect">
            <a:avLst/>
          </a:prstGeom>
        </p:spPr>
        <p:txBody>
          <a:bodyPr anchor="t" rtlCol="false" tIns="0" lIns="0" bIns="0" rIns="0">
            <a:spAutoFit/>
          </a:bodyPr>
          <a:lstStyle/>
          <a:p>
            <a:pPr algn="l">
              <a:lnSpc>
                <a:spcPts val="3359"/>
              </a:lnSpc>
            </a:pPr>
            <a:r>
              <a:rPr lang="en-US" sz="2400">
                <a:solidFill>
                  <a:srgbClr val="FFFFFF"/>
                </a:solidFill>
                <a:latin typeface="Clear Sans"/>
                <a:ea typeface="Clear Sans"/>
                <a:cs typeface="Clear Sans"/>
                <a:sym typeface="Clear Sans"/>
              </a:rPr>
              <a:t>Tài liệu hóa Mã nguồn với GenAI</a:t>
            </a:r>
          </a:p>
        </p:txBody>
      </p:sp>
      <p:sp>
        <p:nvSpPr>
          <p:cNvPr name="AutoShape 6" id="6"/>
          <p:cNvSpPr/>
          <p:nvPr/>
        </p:nvSpPr>
        <p:spPr>
          <a:xfrm>
            <a:off x="8178081" y="2932529"/>
            <a:ext cx="454346" cy="0"/>
          </a:xfrm>
          <a:prstGeom prst="line">
            <a:avLst/>
          </a:prstGeom>
          <a:ln cap="rnd" w="19050">
            <a:solidFill>
              <a:srgbClr val="64E688"/>
            </a:solidFill>
            <a:prstDash val="solid"/>
            <a:headEnd type="none" len="sm" w="sm"/>
            <a:tailEnd type="none" len="sm" w="sm"/>
          </a:ln>
        </p:spPr>
      </p:sp>
      <p:sp>
        <p:nvSpPr>
          <p:cNvPr name="TextBox 7" id="7"/>
          <p:cNvSpPr txBox="true"/>
          <p:nvPr/>
        </p:nvSpPr>
        <p:spPr>
          <a:xfrm rot="0">
            <a:off x="8808181" y="5740339"/>
            <a:ext cx="7965432" cy="405765"/>
          </a:xfrm>
          <a:prstGeom prst="rect">
            <a:avLst/>
          </a:prstGeom>
        </p:spPr>
        <p:txBody>
          <a:bodyPr anchor="t" rtlCol="false" tIns="0" lIns="0" bIns="0" rIns="0">
            <a:spAutoFit/>
          </a:bodyPr>
          <a:lstStyle/>
          <a:p>
            <a:pPr algn="l">
              <a:lnSpc>
                <a:spcPts val="3359"/>
              </a:lnSpc>
            </a:pPr>
            <a:r>
              <a:rPr lang="en-US" sz="2400">
                <a:solidFill>
                  <a:srgbClr val="FFFFFF"/>
                </a:solidFill>
                <a:latin typeface="Clear Sans"/>
                <a:ea typeface="Clear Sans"/>
                <a:cs typeface="Clear Sans"/>
                <a:sym typeface="Clear Sans"/>
              </a:rPr>
              <a:t>Đưa</a:t>
            </a:r>
            <a:r>
              <a:rPr lang="en-US" sz="2400">
                <a:solidFill>
                  <a:srgbClr val="FFFFFF"/>
                </a:solidFill>
                <a:latin typeface="Clear Sans"/>
                <a:ea typeface="Clear Sans"/>
                <a:cs typeface="Clear Sans"/>
                <a:sym typeface="Clear Sans"/>
              </a:rPr>
              <a:t> GenAI vào Hoạt động: Ghi nhật ký, Giám sát và Lỗi</a:t>
            </a:r>
          </a:p>
        </p:txBody>
      </p:sp>
      <p:sp>
        <p:nvSpPr>
          <p:cNvPr name="AutoShape 8" id="8"/>
          <p:cNvSpPr/>
          <p:nvPr/>
        </p:nvSpPr>
        <p:spPr>
          <a:xfrm>
            <a:off x="8178081" y="5961319"/>
            <a:ext cx="454346" cy="0"/>
          </a:xfrm>
          <a:prstGeom prst="line">
            <a:avLst/>
          </a:prstGeom>
          <a:ln cap="rnd" w="19050">
            <a:solidFill>
              <a:srgbClr val="64E688"/>
            </a:solidFill>
            <a:prstDash val="solid"/>
            <a:headEnd type="none" len="sm" w="sm"/>
            <a:tailEnd type="none" len="sm" w="sm"/>
          </a:ln>
        </p:spPr>
      </p:sp>
      <p:sp>
        <p:nvSpPr>
          <p:cNvPr name="TextBox 9" id="9"/>
          <p:cNvSpPr txBox="true"/>
          <p:nvPr/>
        </p:nvSpPr>
        <p:spPr>
          <a:xfrm rot="0">
            <a:off x="8808181" y="3735063"/>
            <a:ext cx="7965432" cy="405765"/>
          </a:xfrm>
          <a:prstGeom prst="rect">
            <a:avLst/>
          </a:prstGeom>
        </p:spPr>
        <p:txBody>
          <a:bodyPr anchor="t" rtlCol="false" tIns="0" lIns="0" bIns="0" rIns="0">
            <a:spAutoFit/>
          </a:bodyPr>
          <a:lstStyle/>
          <a:p>
            <a:pPr algn="l">
              <a:lnSpc>
                <a:spcPts val="3359"/>
              </a:lnSpc>
            </a:pPr>
            <a:r>
              <a:rPr lang="en-US" sz="2400">
                <a:solidFill>
                  <a:srgbClr val="FFFFFF"/>
                </a:solidFill>
                <a:latin typeface="Clear Sans"/>
                <a:ea typeface="Clear Sans"/>
                <a:cs typeface="Clear Sans"/>
                <a:sym typeface="Clear Sans"/>
              </a:rPr>
              <a:t>V</a:t>
            </a:r>
            <a:r>
              <a:rPr lang="en-US" sz="2400">
                <a:solidFill>
                  <a:srgbClr val="FFFFFF"/>
                </a:solidFill>
                <a:latin typeface="Clear Sans"/>
                <a:ea typeface="Clear Sans"/>
                <a:cs typeface="Clear Sans"/>
                <a:sym typeface="Clear Sans"/>
              </a:rPr>
              <a:t>iết và Bảo trì Kiểm thử Đơn vị với GenAI</a:t>
            </a:r>
          </a:p>
        </p:txBody>
      </p:sp>
      <p:sp>
        <p:nvSpPr>
          <p:cNvPr name="AutoShape 10" id="10"/>
          <p:cNvSpPr/>
          <p:nvPr/>
        </p:nvSpPr>
        <p:spPr>
          <a:xfrm>
            <a:off x="8178081" y="3967473"/>
            <a:ext cx="454346" cy="0"/>
          </a:xfrm>
          <a:prstGeom prst="line">
            <a:avLst/>
          </a:prstGeom>
          <a:ln cap="rnd" w="19050">
            <a:solidFill>
              <a:srgbClr val="64E688"/>
            </a:solidFill>
            <a:prstDash val="solid"/>
            <a:headEnd type="none" len="sm" w="sm"/>
            <a:tailEnd type="none" len="sm" w="sm"/>
          </a:ln>
        </p:spPr>
      </p:sp>
      <p:sp>
        <p:nvSpPr>
          <p:cNvPr name="TextBox 11" id="11"/>
          <p:cNvSpPr txBox="true"/>
          <p:nvPr/>
        </p:nvSpPr>
        <p:spPr>
          <a:xfrm rot="0">
            <a:off x="8808181" y="4773816"/>
            <a:ext cx="7965432" cy="405765"/>
          </a:xfrm>
          <a:prstGeom prst="rect">
            <a:avLst/>
          </a:prstGeom>
        </p:spPr>
        <p:txBody>
          <a:bodyPr anchor="t" rtlCol="false" tIns="0" lIns="0" bIns="0" rIns="0">
            <a:spAutoFit/>
          </a:bodyPr>
          <a:lstStyle/>
          <a:p>
            <a:pPr algn="l">
              <a:lnSpc>
                <a:spcPts val="3359"/>
              </a:lnSpc>
            </a:pPr>
            <a:r>
              <a:rPr lang="en-US" sz="2400">
                <a:solidFill>
                  <a:srgbClr val="FFFFFF"/>
                </a:solidFill>
                <a:latin typeface="Clear Sans"/>
                <a:ea typeface="Clear Sans"/>
                <a:cs typeface="Clear Sans"/>
                <a:sym typeface="Clear Sans"/>
              </a:rPr>
              <a:t>Ứng dụng Ge</a:t>
            </a:r>
            <a:r>
              <a:rPr lang="en-US" sz="2400">
                <a:solidFill>
                  <a:srgbClr val="FFFFFF"/>
                </a:solidFill>
                <a:latin typeface="Clear Sans"/>
                <a:ea typeface="Clear Sans"/>
                <a:cs typeface="Clear Sans"/>
                <a:sym typeface="Clear Sans"/>
              </a:rPr>
              <a:t>nAI cho Quản lý Thời gian chạy và Bộ nhớ</a:t>
            </a:r>
          </a:p>
        </p:txBody>
      </p:sp>
      <p:sp>
        <p:nvSpPr>
          <p:cNvPr name="AutoShape 12" id="12"/>
          <p:cNvSpPr/>
          <p:nvPr/>
        </p:nvSpPr>
        <p:spPr>
          <a:xfrm>
            <a:off x="8178081" y="5002416"/>
            <a:ext cx="454346" cy="0"/>
          </a:xfrm>
          <a:prstGeom prst="line">
            <a:avLst/>
          </a:prstGeom>
          <a:ln cap="rnd" w="19050">
            <a:solidFill>
              <a:srgbClr val="64E688"/>
            </a:solidFill>
            <a:prstDash val="solid"/>
            <a:headEnd type="none" len="sm" w="sm"/>
            <a:tailEnd type="none" len="sm" w="sm"/>
          </a:ln>
        </p:spPr>
      </p:sp>
      <p:sp>
        <p:nvSpPr>
          <p:cNvPr name="TextBox 13" id="13"/>
          <p:cNvSpPr txBox="true"/>
          <p:nvPr/>
        </p:nvSpPr>
        <p:spPr>
          <a:xfrm rot="0">
            <a:off x="8808181" y="6779092"/>
            <a:ext cx="7965432" cy="405765"/>
          </a:xfrm>
          <a:prstGeom prst="rect">
            <a:avLst/>
          </a:prstGeom>
        </p:spPr>
        <p:txBody>
          <a:bodyPr anchor="t" rtlCol="false" tIns="0" lIns="0" bIns="0" rIns="0">
            <a:spAutoFit/>
          </a:bodyPr>
          <a:lstStyle/>
          <a:p>
            <a:pPr algn="l">
              <a:lnSpc>
                <a:spcPts val="3359"/>
              </a:lnSpc>
            </a:pPr>
            <a:r>
              <a:rPr lang="en-US" sz="2400">
                <a:solidFill>
                  <a:srgbClr val="FFFFFF"/>
                </a:solidFill>
                <a:latin typeface="Clear Sans"/>
                <a:ea typeface="Clear Sans"/>
                <a:cs typeface="Clear Sans"/>
                <a:sym typeface="Clear Sans"/>
              </a:rPr>
              <a:t>K</a:t>
            </a:r>
            <a:r>
              <a:rPr lang="en-US" sz="2400">
                <a:solidFill>
                  <a:srgbClr val="FFFFFF"/>
                </a:solidFill>
                <a:latin typeface="Clear Sans"/>
                <a:ea typeface="Clear Sans"/>
                <a:cs typeface="Clear Sans"/>
                <a:sym typeface="Clear Sans"/>
              </a:rPr>
              <a:t>iến trúc, Thiết kế và Tương lai</a:t>
            </a:r>
          </a:p>
        </p:txBody>
      </p:sp>
      <p:sp>
        <p:nvSpPr>
          <p:cNvPr name="AutoShape 14" id="14"/>
          <p:cNvSpPr/>
          <p:nvPr/>
        </p:nvSpPr>
        <p:spPr>
          <a:xfrm>
            <a:off x="8178081" y="6996262"/>
            <a:ext cx="454346" cy="0"/>
          </a:xfrm>
          <a:prstGeom prst="line">
            <a:avLst/>
          </a:prstGeom>
          <a:ln cap="rnd" w="19050">
            <a:solidFill>
              <a:srgbClr val="64E688"/>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6866682"/>
            <a:ext cx="16230600" cy="2391618"/>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028700" y="1823075"/>
            <a:ext cx="11667464" cy="3529181"/>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Tác động của GenAI đến </a:t>
            </a:r>
          </a:p>
          <a:p>
            <a:pPr algn="l">
              <a:lnSpc>
                <a:spcPts val="9299"/>
              </a:lnSpc>
            </a:pPr>
            <a:r>
              <a:rPr lang="en-US" sz="7749" b="true">
                <a:solidFill>
                  <a:srgbClr val="64E688"/>
                </a:solidFill>
                <a:latin typeface="Fira Sans Ultra-Bold"/>
                <a:ea typeface="Fira Sans Ultra-Bold"/>
                <a:cs typeface="Fira Sans Ultra-Bold"/>
                <a:sym typeface="Fira Sans Ultra-Bold"/>
              </a:rPr>
              <a:t>Software Development Life Cycle</a:t>
            </a:r>
          </a:p>
        </p:txBody>
      </p:sp>
      <p:sp>
        <p:nvSpPr>
          <p:cNvPr name="TextBox 6" id="6"/>
          <p:cNvSpPr txBox="true"/>
          <p:nvPr/>
        </p:nvSpPr>
        <p:spPr>
          <a:xfrm rot="0">
            <a:off x="1594692" y="7748166"/>
            <a:ext cx="1509861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GenAI đã ảnh hưởng đến SDLC như thế nào?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Freeform 3" id="3"/>
          <p:cNvSpPr/>
          <p:nvPr/>
        </p:nvSpPr>
        <p:spPr>
          <a:xfrm flipH="false" flipV="false" rot="0">
            <a:off x="1594692" y="1028700"/>
            <a:ext cx="11596575" cy="7189877"/>
          </a:xfrm>
          <a:custGeom>
            <a:avLst/>
            <a:gdLst/>
            <a:ahLst/>
            <a:cxnLst/>
            <a:rect r="r" b="b" t="t" l="l"/>
            <a:pathLst>
              <a:path h="7189877" w="11596575">
                <a:moveTo>
                  <a:pt x="0" y="0"/>
                </a:moveTo>
                <a:lnTo>
                  <a:pt x="11596575" y="0"/>
                </a:lnTo>
                <a:lnTo>
                  <a:pt x="11596575" y="7189877"/>
                </a:lnTo>
                <a:lnTo>
                  <a:pt x="0" y="7189877"/>
                </a:lnTo>
                <a:lnTo>
                  <a:pt x="0" y="0"/>
                </a:lnTo>
                <a:close/>
              </a:path>
            </a:pathLst>
          </a:custGeom>
          <a:blipFill>
            <a:blip r:embed="rId3"/>
            <a:stretch>
              <a:fillRect l="0" t="0" r="0" b="0"/>
            </a:stretch>
          </a:blipFill>
        </p:spPr>
      </p:sp>
      <p:sp>
        <p:nvSpPr>
          <p:cNvPr name="TextBox 4" id="4"/>
          <p:cNvSpPr txBox="true"/>
          <p:nvPr/>
        </p:nvSpPr>
        <p:spPr>
          <a:xfrm rot="0">
            <a:off x="1594692" y="8558166"/>
            <a:ext cx="1509861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GenAI đã ảnh hưởng đến SDLC như thế nào?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6866682"/>
            <a:ext cx="16230600" cy="2391618"/>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028700" y="2411272"/>
            <a:ext cx="11667464" cy="2352787"/>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T</a:t>
            </a:r>
            <a:r>
              <a:rPr lang="en-US" sz="7749" b="true">
                <a:solidFill>
                  <a:srgbClr val="64E688"/>
                </a:solidFill>
                <a:latin typeface="Fira Sans Ultra-Bold"/>
                <a:ea typeface="Fira Sans Ultra-Bold"/>
                <a:cs typeface="Fira Sans Ultra-Bold"/>
                <a:sym typeface="Fira Sans Ultra-Bold"/>
              </a:rPr>
              <a:t>ài</a:t>
            </a:r>
            <a:r>
              <a:rPr lang="en-US" sz="7749" b="true">
                <a:solidFill>
                  <a:srgbClr val="64E688"/>
                </a:solidFill>
                <a:latin typeface="Fira Sans Ultra-Bold"/>
                <a:ea typeface="Fira Sans Ultra-Bold"/>
                <a:cs typeface="Fira Sans Ultra-Bold"/>
                <a:sym typeface="Fira Sans Ultra-Bold"/>
              </a:rPr>
              <a:t> liệu hóa Mã nguồn với GenAI</a:t>
            </a:r>
          </a:p>
        </p:txBody>
      </p:sp>
      <p:sp>
        <p:nvSpPr>
          <p:cNvPr name="TextBox 6" id="6"/>
          <p:cNvSpPr txBox="true"/>
          <p:nvPr/>
        </p:nvSpPr>
        <p:spPr>
          <a:xfrm rot="0">
            <a:off x="1594692" y="7748166"/>
            <a:ext cx="1509861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Tự động hóa và chuẩn hóa quy trình viết tài liệu cho mã nguồn.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719133" y="2777446"/>
            <a:ext cx="6658068" cy="4732108"/>
            <a:chOff x="0" y="0"/>
            <a:chExt cx="8877424" cy="6309477"/>
          </a:xfrm>
        </p:grpSpPr>
        <p:sp>
          <p:nvSpPr>
            <p:cNvPr name="TextBox 3" id="3"/>
            <p:cNvSpPr txBox="true"/>
            <p:nvPr/>
          </p:nvSpPr>
          <p:spPr>
            <a:xfrm rot="0">
              <a:off x="0" y="213783"/>
              <a:ext cx="8877424" cy="1074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Bold"/>
                  <a:ea typeface="Fira Sans Bold"/>
                  <a:cs typeface="Fira Sans Bold"/>
                  <a:sym typeface="Fira Sans Bold"/>
                </a:rPr>
                <a:t>Tài liệu hóa phần mềm</a:t>
              </a:r>
            </a:p>
          </p:txBody>
        </p:sp>
        <p:grpSp>
          <p:nvGrpSpPr>
            <p:cNvPr name="Group 4" id="4"/>
            <p:cNvGrpSpPr/>
            <p:nvPr/>
          </p:nvGrpSpPr>
          <p:grpSpPr>
            <a:xfrm rot="0">
              <a:off x="0" y="2182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2491136"/>
              <a:ext cx="6403551"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"WHY</a:t>
              </a:r>
              <a:r>
                <a:rPr lang="en-US" sz="2999">
                  <a:solidFill>
                    <a:srgbClr val="FFFFFF"/>
                  </a:solidFill>
                  <a:latin typeface="Clear Sans"/>
                  <a:ea typeface="Clear Sans"/>
                  <a:cs typeface="Clear Sans"/>
                  <a:sym typeface="Clear Sans"/>
                </a:rPr>
                <a:t>" THAY VÌ "WHAT"</a:t>
              </a:r>
            </a:p>
          </p:txBody>
        </p:sp>
        <p:sp>
          <p:nvSpPr>
            <p:cNvPr name="TextBox 7" id="7"/>
            <p:cNvSpPr txBox="true"/>
            <p:nvPr/>
          </p:nvSpPr>
          <p:spPr>
            <a:xfrm rot="0">
              <a:off x="0" y="3916797"/>
              <a:ext cx="8877424" cy="23926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Mã</a:t>
              </a:r>
              <a:r>
                <a:rPr lang="en-US" sz="2400">
                  <a:solidFill>
                    <a:srgbClr val="FFFFFF"/>
                  </a:solidFill>
                  <a:latin typeface="Clear Sans"/>
                  <a:ea typeface="Clear Sans"/>
                  <a:cs typeface="Clear Sans"/>
                  <a:sym typeface="Clear Sans"/>
                </a:rPr>
                <a:t> nguồn được viết tốt vốn đã tự giải thích được chức năng của nó, nhưng bối cảnh và nguyên nhân sâu xa thì cần được truyền đạt qua tài liệu để hỗ trợ bảo trì về sau.</a:t>
              </a:r>
            </a:p>
          </p:txBody>
        </p:sp>
      </p:grpSp>
      <p:sp>
        <p:nvSpPr>
          <p:cNvPr name="Freeform 8" id="8"/>
          <p:cNvSpPr/>
          <p:nvPr/>
        </p:nvSpPr>
        <p:spPr>
          <a:xfrm flipH="false" flipV="false" rot="0">
            <a:off x="7953308" y="3006046"/>
            <a:ext cx="9793651" cy="4333691"/>
          </a:xfrm>
          <a:custGeom>
            <a:avLst/>
            <a:gdLst/>
            <a:ahLst/>
            <a:cxnLst/>
            <a:rect r="r" b="b" t="t" l="l"/>
            <a:pathLst>
              <a:path h="4333691" w="9793651">
                <a:moveTo>
                  <a:pt x="0" y="0"/>
                </a:moveTo>
                <a:lnTo>
                  <a:pt x="9793651" y="0"/>
                </a:lnTo>
                <a:lnTo>
                  <a:pt x="9793651" y="4333691"/>
                </a:lnTo>
                <a:lnTo>
                  <a:pt x="0" y="4333691"/>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48133" y="3376396"/>
            <a:ext cx="6658068" cy="3817708"/>
            <a:chOff x="0" y="0"/>
            <a:chExt cx="8877424" cy="5090277"/>
          </a:xfrm>
        </p:grpSpPr>
        <p:sp>
          <p:nvSpPr>
            <p:cNvPr name="TextBox 3" id="3"/>
            <p:cNvSpPr txBox="true"/>
            <p:nvPr/>
          </p:nvSpPr>
          <p:spPr>
            <a:xfrm rot="0">
              <a:off x="0" y="213783"/>
              <a:ext cx="8877424" cy="1074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Bold"/>
                  <a:ea typeface="Fira Sans Bold"/>
                  <a:cs typeface="Fira Sans Bold"/>
                  <a:sym typeface="Fira Sans Bold"/>
                </a:rPr>
                <a:t>Tài liệu hóa phần mềm</a:t>
              </a:r>
            </a:p>
          </p:txBody>
        </p:sp>
        <p:grpSp>
          <p:nvGrpSpPr>
            <p:cNvPr name="Group 4" id="4"/>
            <p:cNvGrpSpPr/>
            <p:nvPr/>
          </p:nvGrpSpPr>
          <p:grpSpPr>
            <a:xfrm rot="0">
              <a:off x="0" y="2182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2192686"/>
              <a:ext cx="6403551" cy="11842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MILLER VÀ RÀO CẢN NHẬN</a:t>
              </a:r>
              <a:r>
                <a:rPr lang="en-US" sz="2999">
                  <a:solidFill>
                    <a:srgbClr val="FFFFFF"/>
                  </a:solidFill>
                  <a:latin typeface="Clear Sans"/>
                  <a:ea typeface="Clear Sans"/>
                  <a:cs typeface="Clear Sans"/>
                  <a:sym typeface="Clear Sans"/>
                </a:rPr>
                <a:t> THỨC</a:t>
              </a:r>
            </a:p>
          </p:txBody>
        </p:sp>
        <p:sp>
          <p:nvSpPr>
            <p:cNvPr name="TextBox 7" id="7"/>
            <p:cNvSpPr txBox="true"/>
            <p:nvPr/>
          </p:nvSpPr>
          <p:spPr>
            <a:xfrm rot="0">
              <a:off x="0" y="3916797"/>
              <a:ext cx="8877424" cy="11734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Do</a:t>
              </a:r>
              <a:r>
                <a:rPr lang="en-US" sz="2400">
                  <a:solidFill>
                    <a:srgbClr val="FFFFFF"/>
                  </a:solidFill>
                  <a:latin typeface="Clear Sans"/>
                  <a:ea typeface="Clear Sans"/>
                  <a:cs typeface="Clear Sans"/>
                  <a:sym typeface="Clear Sans"/>
                </a:rPr>
                <a:t>cstring không chỉ là một thủ tục kỹ thuật, nó còn giải quyết giới hạn vật lý của não bộ.</a:t>
              </a:r>
            </a:p>
          </p:txBody>
        </p:sp>
      </p:grpSp>
      <p:sp>
        <p:nvSpPr>
          <p:cNvPr name="Freeform 8" id="8"/>
          <p:cNvSpPr/>
          <p:nvPr/>
        </p:nvSpPr>
        <p:spPr>
          <a:xfrm flipH="false" flipV="false" rot="0">
            <a:off x="10398476" y="1274110"/>
            <a:ext cx="5475186" cy="7738779"/>
          </a:xfrm>
          <a:custGeom>
            <a:avLst/>
            <a:gdLst/>
            <a:ahLst/>
            <a:cxnLst/>
            <a:rect r="r" b="b" t="t" l="l"/>
            <a:pathLst>
              <a:path h="7738779" w="5475186">
                <a:moveTo>
                  <a:pt x="0" y="0"/>
                </a:moveTo>
                <a:lnTo>
                  <a:pt x="5475186" y="0"/>
                </a:lnTo>
                <a:lnTo>
                  <a:pt x="5475186" y="7738780"/>
                </a:lnTo>
                <a:lnTo>
                  <a:pt x="0" y="773878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TextBox 2" id="2"/>
          <p:cNvSpPr txBox="true"/>
          <p:nvPr/>
        </p:nvSpPr>
        <p:spPr>
          <a:xfrm rot="0">
            <a:off x="678633" y="1022171"/>
            <a:ext cx="9493068" cy="829945"/>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Bold"/>
                <a:ea typeface="Fira Sans Bold"/>
                <a:cs typeface="Fira Sans Bold"/>
                <a:sym typeface="Fira Sans Bold"/>
              </a:rPr>
              <a:t>Các chuẩn định dạng Docstring</a:t>
            </a:r>
          </a:p>
        </p:txBody>
      </p:sp>
      <p:graphicFrame>
        <p:nvGraphicFramePr>
          <p:cNvPr name="Object 3" id="3"/>
          <p:cNvGraphicFramePr/>
          <p:nvPr/>
        </p:nvGraphicFramePr>
        <p:xfrm>
          <a:off x="2163825" y="2377125"/>
          <a:ext cx="5657850" cy="3143250"/>
        </p:xfrm>
        <a:graphic>
          <a:graphicData uri="http://schemas.openxmlformats.org/presentationml/2006/ole">
            <p:oleObj imgW="6781800" imgH="4267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1400145" y="3427356"/>
            <a:ext cx="7130009" cy="4867830"/>
          </a:xfrm>
          <a:custGeom>
            <a:avLst/>
            <a:gdLst/>
            <a:ahLst/>
            <a:cxnLst/>
            <a:rect r="r" b="b" t="t" l="l"/>
            <a:pathLst>
              <a:path h="4867830" w="7130009">
                <a:moveTo>
                  <a:pt x="0" y="0"/>
                </a:moveTo>
                <a:lnTo>
                  <a:pt x="7130009" y="0"/>
                </a:lnTo>
                <a:lnTo>
                  <a:pt x="7130009" y="4867831"/>
                </a:lnTo>
                <a:lnTo>
                  <a:pt x="0" y="4867831"/>
                </a:lnTo>
                <a:lnTo>
                  <a:pt x="0" y="0"/>
                </a:lnTo>
                <a:close/>
              </a:path>
            </a:pathLst>
          </a:custGeom>
          <a:blipFill>
            <a:blip r:embed="rId5"/>
            <a:stretch>
              <a:fillRect l="0" t="0" r="0" b="0"/>
            </a:stretch>
          </a:blipFill>
        </p:spPr>
      </p:sp>
      <p:sp>
        <p:nvSpPr>
          <p:cNvPr name="Freeform 10" id="10"/>
          <p:cNvSpPr/>
          <p:nvPr/>
        </p:nvSpPr>
        <p:spPr>
          <a:xfrm flipH="false" flipV="false" rot="0">
            <a:off x="9144000" y="3427356"/>
            <a:ext cx="8411217" cy="4054233"/>
          </a:xfrm>
          <a:custGeom>
            <a:avLst/>
            <a:gdLst/>
            <a:ahLst/>
            <a:cxnLst/>
            <a:rect r="r" b="b" t="t" l="l"/>
            <a:pathLst>
              <a:path h="4054233" w="8411217">
                <a:moveTo>
                  <a:pt x="0" y="0"/>
                </a:moveTo>
                <a:lnTo>
                  <a:pt x="8411217" y="0"/>
                </a:lnTo>
                <a:lnTo>
                  <a:pt x="8411217" y="4054233"/>
                </a:lnTo>
                <a:lnTo>
                  <a:pt x="0" y="4054233"/>
                </a:lnTo>
                <a:lnTo>
                  <a:pt x="0" y="0"/>
                </a:lnTo>
                <a:close/>
              </a:path>
            </a:pathLst>
          </a:custGeom>
          <a:blipFill>
            <a:blip r:embed="rId6"/>
            <a:stretch>
              <a:fillRect l="0" t="0" r="0" b="0"/>
            </a:stretch>
          </a:blipFill>
        </p:spPr>
      </p:sp>
      <p:sp>
        <p:nvSpPr>
          <p:cNvPr name="TextBox 11" id="11"/>
          <p:cNvSpPr txBox="true"/>
          <p:nvPr/>
        </p:nvSpPr>
        <p:spPr>
          <a:xfrm rot="0">
            <a:off x="1849044" y="1271784"/>
            <a:ext cx="6276929" cy="1247775"/>
          </a:xfrm>
          <a:prstGeom prst="rect">
            <a:avLst/>
          </a:prstGeom>
        </p:spPr>
        <p:txBody>
          <a:bodyPr anchor="t" rtlCol="false" tIns="0" lIns="0" bIns="0" rIns="0">
            <a:spAutoFit/>
          </a:bodyPr>
          <a:lstStyle/>
          <a:p>
            <a:pPr algn="l">
              <a:lnSpc>
                <a:spcPts val="4920"/>
              </a:lnSpc>
            </a:pPr>
            <a:r>
              <a:rPr lang="en-US" sz="4100">
                <a:solidFill>
                  <a:srgbClr val="64E688"/>
                </a:solidFill>
                <a:latin typeface="Fira Sans"/>
                <a:ea typeface="Fira Sans"/>
                <a:cs typeface="Fira Sans"/>
                <a:sym typeface="Fira Sans"/>
              </a:rPr>
              <a:t>Đánh giá và Giải thích Mã nguồn với GitHub Copilot</a:t>
            </a:r>
          </a:p>
        </p:txBody>
      </p:sp>
      <p:sp>
        <p:nvSpPr>
          <p:cNvPr name="TextBox 12" id="12"/>
          <p:cNvSpPr txBox="true"/>
          <p:nvPr/>
        </p:nvSpPr>
        <p:spPr>
          <a:xfrm rot="0">
            <a:off x="10162027" y="1581346"/>
            <a:ext cx="6276929" cy="628650"/>
          </a:xfrm>
          <a:prstGeom prst="rect">
            <a:avLst/>
          </a:prstGeom>
        </p:spPr>
        <p:txBody>
          <a:bodyPr anchor="t" rtlCol="false" tIns="0" lIns="0" bIns="0" rIns="0">
            <a:spAutoFit/>
          </a:bodyPr>
          <a:lstStyle/>
          <a:p>
            <a:pPr algn="ctr">
              <a:lnSpc>
                <a:spcPts val="4920"/>
              </a:lnSpc>
            </a:pPr>
            <a:r>
              <a:rPr lang="en-US" b="true" sz="4100">
                <a:solidFill>
                  <a:srgbClr val="64E688"/>
                </a:solidFill>
                <a:latin typeface="Fira Sans Bold"/>
                <a:ea typeface="Fira Sans Bold"/>
                <a:cs typeface="Fira Sans Bold"/>
                <a:sym typeface="Fira Sans Bold"/>
              </a:rPr>
              <a:t>Generate Docs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5255759" y="2998013"/>
            <a:ext cx="7047483" cy="5713537"/>
          </a:xfrm>
          <a:custGeom>
            <a:avLst/>
            <a:gdLst/>
            <a:ahLst/>
            <a:cxnLst/>
            <a:rect r="r" b="b" t="t" l="l"/>
            <a:pathLst>
              <a:path h="5713537" w="7047483">
                <a:moveTo>
                  <a:pt x="0" y="0"/>
                </a:moveTo>
                <a:lnTo>
                  <a:pt x="7047482" y="0"/>
                </a:lnTo>
                <a:lnTo>
                  <a:pt x="7047482" y="5713537"/>
                </a:lnTo>
                <a:lnTo>
                  <a:pt x="0" y="5713537"/>
                </a:lnTo>
                <a:lnTo>
                  <a:pt x="0" y="0"/>
                </a:lnTo>
                <a:close/>
              </a:path>
            </a:pathLst>
          </a:custGeom>
          <a:blipFill>
            <a:blip r:embed="rId5"/>
            <a:stretch>
              <a:fillRect l="0" t="0" r="0" b="0"/>
            </a:stretch>
          </a:blipFill>
        </p:spPr>
      </p:sp>
      <p:sp>
        <p:nvSpPr>
          <p:cNvPr name="TextBox 10" id="10"/>
          <p:cNvSpPr txBox="true"/>
          <p:nvPr/>
        </p:nvSpPr>
        <p:spPr>
          <a:xfrm rot="0">
            <a:off x="1849044" y="1271784"/>
            <a:ext cx="6276929" cy="1247775"/>
          </a:xfrm>
          <a:prstGeom prst="rect">
            <a:avLst/>
          </a:prstGeom>
        </p:spPr>
        <p:txBody>
          <a:bodyPr anchor="t" rtlCol="false" tIns="0" lIns="0" bIns="0" rIns="0">
            <a:spAutoFit/>
          </a:bodyPr>
          <a:lstStyle/>
          <a:p>
            <a:pPr algn="l">
              <a:lnSpc>
                <a:spcPts val="4920"/>
              </a:lnSpc>
            </a:pPr>
            <a:r>
              <a:rPr lang="en-US" sz="4100">
                <a:solidFill>
                  <a:srgbClr val="64E688"/>
                </a:solidFill>
                <a:latin typeface="Fira Sans"/>
                <a:ea typeface="Fira Sans"/>
                <a:cs typeface="Fira Sans"/>
                <a:sym typeface="Fira Sans"/>
              </a:rPr>
              <a:t>Đánh giá và Giải thích Mã nguồn với GitHub Copilot</a:t>
            </a:r>
          </a:p>
        </p:txBody>
      </p:sp>
      <p:sp>
        <p:nvSpPr>
          <p:cNvPr name="TextBox 11" id="11"/>
          <p:cNvSpPr txBox="true"/>
          <p:nvPr/>
        </p:nvSpPr>
        <p:spPr>
          <a:xfrm rot="0">
            <a:off x="10162027" y="1581346"/>
            <a:ext cx="6276929" cy="628650"/>
          </a:xfrm>
          <a:prstGeom prst="rect">
            <a:avLst/>
          </a:prstGeom>
        </p:spPr>
        <p:txBody>
          <a:bodyPr anchor="t" rtlCol="false" tIns="0" lIns="0" bIns="0" rIns="0">
            <a:spAutoFit/>
          </a:bodyPr>
          <a:lstStyle/>
          <a:p>
            <a:pPr algn="ctr">
              <a:lnSpc>
                <a:spcPts val="4920"/>
              </a:lnSpc>
            </a:pPr>
            <a:r>
              <a:rPr lang="en-US" b="true" sz="4100">
                <a:solidFill>
                  <a:srgbClr val="64E688"/>
                </a:solidFill>
                <a:latin typeface="Fira Sans Bold"/>
                <a:ea typeface="Fira Sans Bold"/>
                <a:cs typeface="Fira Sans Bold"/>
                <a:sym typeface="Fira Sans Bold"/>
              </a:rPr>
              <a:t>Generate Docs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12831688" y="5704669"/>
            <a:ext cx="7212561" cy="7745031"/>
          </a:xfrm>
          <a:custGeom>
            <a:avLst/>
            <a:gdLst/>
            <a:ahLst/>
            <a:cxnLst/>
            <a:rect r="r" b="b" t="t" l="l"/>
            <a:pathLst>
              <a:path h="7745031" w="7212561">
                <a:moveTo>
                  <a:pt x="0" y="0"/>
                </a:moveTo>
                <a:lnTo>
                  <a:pt x="7212560" y="0"/>
                </a:lnTo>
                <a:lnTo>
                  <a:pt x="7212560" y="7745032"/>
                </a:lnTo>
                <a:lnTo>
                  <a:pt x="0" y="7745032"/>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333695" y="-2722329"/>
            <a:ext cx="6664739" cy="6844405"/>
          </a:xfrm>
          <a:custGeom>
            <a:avLst/>
            <a:gdLst/>
            <a:ahLst/>
            <a:cxnLst/>
            <a:rect r="r" b="b" t="t" l="l"/>
            <a:pathLst>
              <a:path h="6844405" w="6664739">
                <a:moveTo>
                  <a:pt x="0" y="0"/>
                </a:moveTo>
                <a:lnTo>
                  <a:pt x="6664740" y="0"/>
                </a:lnTo>
                <a:lnTo>
                  <a:pt x="6664740" y="6844405"/>
                </a:lnTo>
                <a:lnTo>
                  <a:pt x="0" y="6844405"/>
                </a:lnTo>
                <a:lnTo>
                  <a:pt x="0" y="0"/>
                </a:lnTo>
                <a:close/>
              </a:path>
            </a:pathLst>
          </a:custGeom>
          <a:blipFill>
            <a:blip r:embed="rId3">
              <a:alphaModFix amt="18999"/>
            </a:blip>
            <a:stretch>
              <a:fillRect l="0" t="0" r="0" b="0"/>
            </a:stretch>
          </a:blipFill>
        </p:spPr>
      </p:sp>
      <p:sp>
        <p:nvSpPr>
          <p:cNvPr name="AutoShape 4" id="4"/>
          <p:cNvSpPr/>
          <p:nvPr/>
        </p:nvSpPr>
        <p:spPr>
          <a:xfrm>
            <a:off x="3340112" y="2658823"/>
            <a:ext cx="11607776" cy="0"/>
          </a:xfrm>
          <a:prstGeom prst="line">
            <a:avLst/>
          </a:prstGeom>
          <a:ln cap="rnd" w="19050">
            <a:solidFill>
              <a:srgbClr val="64E688">
                <a:alpha val="49804"/>
              </a:srgbClr>
            </a:solidFill>
            <a:prstDash val="solid"/>
            <a:headEnd type="none" len="sm" w="sm"/>
            <a:tailEnd type="none" len="sm" w="sm"/>
          </a:ln>
        </p:spPr>
      </p:sp>
      <p:sp>
        <p:nvSpPr>
          <p:cNvPr name="AutoShape 5" id="5"/>
          <p:cNvSpPr/>
          <p:nvPr/>
        </p:nvSpPr>
        <p:spPr>
          <a:xfrm>
            <a:off x="3340112" y="9248775"/>
            <a:ext cx="11607776" cy="0"/>
          </a:xfrm>
          <a:prstGeom prst="line">
            <a:avLst/>
          </a:prstGeom>
          <a:ln cap="rnd" w="19050">
            <a:solidFill>
              <a:srgbClr val="64E688">
                <a:alpha val="49804"/>
              </a:srgbClr>
            </a:solidFill>
            <a:prstDash val="solid"/>
            <a:headEnd type="none" len="sm" w="sm"/>
            <a:tailEnd type="none" len="sm" w="sm"/>
          </a:ln>
        </p:spPr>
      </p:sp>
      <p:sp>
        <p:nvSpPr>
          <p:cNvPr name="Freeform 6" id="6"/>
          <p:cNvSpPr/>
          <p:nvPr/>
        </p:nvSpPr>
        <p:spPr>
          <a:xfrm flipH="false" flipV="false" rot="0">
            <a:off x="2998675" y="3230323"/>
            <a:ext cx="12563258" cy="5250843"/>
          </a:xfrm>
          <a:custGeom>
            <a:avLst/>
            <a:gdLst/>
            <a:ahLst/>
            <a:cxnLst/>
            <a:rect r="r" b="b" t="t" l="l"/>
            <a:pathLst>
              <a:path h="5250843" w="12563258">
                <a:moveTo>
                  <a:pt x="0" y="0"/>
                </a:moveTo>
                <a:lnTo>
                  <a:pt x="12563258" y="0"/>
                </a:lnTo>
                <a:lnTo>
                  <a:pt x="12563258" y="5250843"/>
                </a:lnTo>
                <a:lnTo>
                  <a:pt x="0" y="5250843"/>
                </a:lnTo>
                <a:lnTo>
                  <a:pt x="0" y="0"/>
                </a:lnTo>
                <a:close/>
              </a:path>
            </a:pathLst>
          </a:custGeom>
          <a:blipFill>
            <a:blip r:embed="rId4"/>
            <a:stretch>
              <a:fillRect l="0" t="0" r="0" b="0"/>
            </a:stretch>
          </a:blipFill>
        </p:spPr>
      </p:sp>
      <p:sp>
        <p:nvSpPr>
          <p:cNvPr name="TextBox 7" id="7"/>
          <p:cNvSpPr txBox="true"/>
          <p:nvPr/>
        </p:nvSpPr>
        <p:spPr>
          <a:xfrm rot="0">
            <a:off x="2384630" y="1436937"/>
            <a:ext cx="13518740" cy="653415"/>
          </a:xfrm>
          <a:prstGeom prst="rect">
            <a:avLst/>
          </a:prstGeom>
        </p:spPr>
        <p:txBody>
          <a:bodyPr anchor="t" rtlCol="false" tIns="0" lIns="0" bIns="0" rIns="0">
            <a:spAutoFit/>
          </a:bodyPr>
          <a:lstStyle/>
          <a:p>
            <a:pPr algn="ctr">
              <a:lnSpc>
                <a:spcPts val="5459"/>
              </a:lnSpc>
            </a:pPr>
            <a:r>
              <a:rPr lang="en-US" b="true" sz="3899">
                <a:solidFill>
                  <a:srgbClr val="64E688"/>
                </a:solidFill>
                <a:latin typeface="Clear Sans Medium"/>
                <a:ea typeface="Clear Sans Medium"/>
                <a:cs typeface="Clear Sans Medium"/>
                <a:sym typeface="Clear Sans Medium"/>
              </a:rPr>
              <a:t>LỆ</a:t>
            </a:r>
            <a:r>
              <a:rPr lang="en-US" b="true" sz="3899">
                <a:solidFill>
                  <a:srgbClr val="64E688"/>
                </a:solidFill>
                <a:latin typeface="Clear Sans Medium"/>
                <a:ea typeface="Clear Sans Medium"/>
                <a:cs typeface="Clear Sans Medium"/>
                <a:sym typeface="Clear Sans Medium"/>
              </a:rPr>
              <a:t>NH /EXPLAIN CHO CÁC HÀM PHỨC TẠP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738256">
            <a:off x="11093853" y="-1406465"/>
            <a:ext cx="5222621" cy="5242280"/>
          </a:xfrm>
          <a:custGeom>
            <a:avLst/>
            <a:gdLst/>
            <a:ahLst/>
            <a:cxnLst/>
            <a:rect r="r" b="b" t="t" l="l"/>
            <a:pathLst>
              <a:path h="5242280" w="5222621">
                <a:moveTo>
                  <a:pt x="0" y="0"/>
                </a:moveTo>
                <a:lnTo>
                  <a:pt x="5222621" y="0"/>
                </a:lnTo>
                <a:lnTo>
                  <a:pt x="5222621" y="5242279"/>
                </a:lnTo>
                <a:lnTo>
                  <a:pt x="0" y="5242279"/>
                </a:lnTo>
                <a:lnTo>
                  <a:pt x="0" y="0"/>
                </a:lnTo>
                <a:close/>
              </a:path>
            </a:pathLst>
          </a:custGeom>
          <a:blipFill>
            <a:blip r:embed="rId2"/>
            <a:stretch>
              <a:fillRect l="0" t="0" r="0" b="0"/>
            </a:stretch>
          </a:blipFill>
        </p:spPr>
      </p:sp>
      <p:grpSp>
        <p:nvGrpSpPr>
          <p:cNvPr name="Group 3" id="3"/>
          <p:cNvGrpSpPr/>
          <p:nvPr/>
        </p:nvGrpSpPr>
        <p:grpSpPr>
          <a:xfrm rot="0">
            <a:off x="563089" y="425446"/>
            <a:ext cx="11653168" cy="3806608"/>
            <a:chOff x="0" y="0"/>
            <a:chExt cx="15537557" cy="5075477"/>
          </a:xfrm>
        </p:grpSpPr>
        <p:sp>
          <p:nvSpPr>
            <p:cNvPr name="TextBox 4" id="4"/>
            <p:cNvSpPr txBox="true"/>
            <p:nvPr/>
          </p:nvSpPr>
          <p:spPr>
            <a:xfrm rot="0">
              <a:off x="0" y="-41275"/>
              <a:ext cx="15537557" cy="2767753"/>
            </a:xfrm>
            <a:prstGeom prst="rect">
              <a:avLst/>
            </a:prstGeom>
          </p:spPr>
          <p:txBody>
            <a:bodyPr anchor="t" rtlCol="false" tIns="0" lIns="0" bIns="0" rIns="0">
              <a:spAutoFit/>
            </a:bodyPr>
            <a:lstStyle/>
            <a:p>
              <a:pPr algn="l">
                <a:lnSpc>
                  <a:spcPts val="8352"/>
                </a:lnSpc>
              </a:pPr>
              <a:r>
                <a:rPr lang="en-US" sz="6425" b="true">
                  <a:solidFill>
                    <a:srgbClr val="64E688"/>
                  </a:solidFill>
                  <a:latin typeface="Fira Sans Ultra-Bold"/>
                  <a:ea typeface="Fira Sans Ultra-Bold"/>
                  <a:cs typeface="Fira Sans Ultra-Bold"/>
                  <a:sym typeface="Fira Sans Ultra-Bold"/>
                </a:rPr>
                <a:t>Viết Docstring toàn diện với GenAI</a:t>
              </a:r>
            </a:p>
          </p:txBody>
        </p:sp>
        <p:grpSp>
          <p:nvGrpSpPr>
            <p:cNvPr name="Group 5" id="5"/>
            <p:cNvGrpSpPr/>
            <p:nvPr/>
          </p:nvGrpSpPr>
          <p:grpSpPr>
            <a:xfrm rot="0">
              <a:off x="0" y="3442414"/>
              <a:ext cx="11678531" cy="1037674"/>
              <a:chOff x="0" y="0"/>
              <a:chExt cx="34095059" cy="3029453"/>
            </a:xfrm>
          </p:grpSpPr>
          <p:sp>
            <p:nvSpPr>
              <p:cNvPr name="Freeform 6" id="6"/>
              <p:cNvSpPr/>
              <p:nvPr/>
            </p:nvSpPr>
            <p:spPr>
              <a:xfrm flipH="false" flipV="false" rot="0">
                <a:off x="0" y="0"/>
                <a:ext cx="34095060" cy="3029453"/>
              </a:xfrm>
              <a:custGeom>
                <a:avLst/>
                <a:gdLst/>
                <a:ahLst/>
                <a:cxnLst/>
                <a:rect r="r" b="b" t="t" l="l"/>
                <a:pathLst>
                  <a:path h="3029453" w="34095060">
                    <a:moveTo>
                      <a:pt x="33970599" y="59690"/>
                    </a:moveTo>
                    <a:cubicBezTo>
                      <a:pt x="34006160" y="59690"/>
                      <a:pt x="34035371" y="88900"/>
                      <a:pt x="34035371" y="124460"/>
                    </a:cubicBezTo>
                    <a:lnTo>
                      <a:pt x="34035371" y="2904993"/>
                    </a:lnTo>
                    <a:cubicBezTo>
                      <a:pt x="34035371" y="2940553"/>
                      <a:pt x="34006160" y="2969763"/>
                      <a:pt x="33970599" y="2969763"/>
                    </a:cubicBezTo>
                    <a:lnTo>
                      <a:pt x="124460" y="2969763"/>
                    </a:lnTo>
                    <a:cubicBezTo>
                      <a:pt x="88900" y="2969763"/>
                      <a:pt x="59690" y="2940553"/>
                      <a:pt x="59690" y="2904993"/>
                    </a:cubicBezTo>
                    <a:lnTo>
                      <a:pt x="59690" y="124460"/>
                    </a:lnTo>
                    <a:cubicBezTo>
                      <a:pt x="59690" y="88900"/>
                      <a:pt x="88900" y="59690"/>
                      <a:pt x="124460" y="59690"/>
                    </a:cubicBezTo>
                    <a:lnTo>
                      <a:pt x="33970599" y="59690"/>
                    </a:lnTo>
                    <a:moveTo>
                      <a:pt x="33970599" y="0"/>
                    </a:moveTo>
                    <a:lnTo>
                      <a:pt x="124460" y="0"/>
                    </a:lnTo>
                    <a:cubicBezTo>
                      <a:pt x="55880" y="0"/>
                      <a:pt x="0" y="55880"/>
                      <a:pt x="0" y="124460"/>
                    </a:cubicBezTo>
                    <a:lnTo>
                      <a:pt x="0" y="2904993"/>
                    </a:lnTo>
                    <a:cubicBezTo>
                      <a:pt x="0" y="2973573"/>
                      <a:pt x="55880" y="3029453"/>
                      <a:pt x="124460" y="3029453"/>
                    </a:cubicBezTo>
                    <a:lnTo>
                      <a:pt x="33970599" y="3029453"/>
                    </a:lnTo>
                    <a:cubicBezTo>
                      <a:pt x="34039178" y="3029453"/>
                      <a:pt x="34095060" y="2973573"/>
                      <a:pt x="34095060" y="2904993"/>
                    </a:cubicBezTo>
                    <a:lnTo>
                      <a:pt x="34095060" y="124460"/>
                    </a:lnTo>
                    <a:cubicBezTo>
                      <a:pt x="34095060" y="55880"/>
                      <a:pt x="34039178" y="0"/>
                      <a:pt x="33970599" y="0"/>
                    </a:cubicBezTo>
                    <a:close/>
                  </a:path>
                </a:pathLst>
              </a:custGeom>
              <a:solidFill>
                <a:srgbClr val="64E688">
                  <a:alpha val="49804"/>
                </a:srgbClr>
              </a:solidFill>
            </p:spPr>
          </p:sp>
        </p:grpSp>
        <p:sp>
          <p:nvSpPr>
            <p:cNvPr name="TextBox 7" id="7"/>
            <p:cNvSpPr txBox="true"/>
            <p:nvPr/>
          </p:nvSpPr>
          <p:spPr>
            <a:xfrm rot="0">
              <a:off x="254000" y="3663860"/>
              <a:ext cx="11089057" cy="547158"/>
            </a:xfrm>
            <a:prstGeom prst="rect">
              <a:avLst/>
            </a:prstGeom>
          </p:spPr>
          <p:txBody>
            <a:bodyPr anchor="t" rtlCol="false" tIns="0" lIns="0" bIns="0" rIns="0">
              <a:spAutoFit/>
            </a:bodyPr>
            <a:lstStyle/>
            <a:p>
              <a:pPr algn="l">
                <a:lnSpc>
                  <a:spcPts val="3499"/>
                </a:lnSpc>
              </a:pPr>
              <a:r>
                <a:rPr lang="en-US" sz="2499">
                  <a:solidFill>
                    <a:srgbClr val="FFFFFF"/>
                  </a:solidFill>
                  <a:latin typeface="Clear Sans"/>
                  <a:ea typeface="Clear Sans"/>
                  <a:cs typeface="Clear Sans"/>
                  <a:sym typeface="Clear Sans"/>
                </a:rPr>
                <a:t>KHỞI TẠO DOCSTRING CẤP ĐỘ PHƯƠNG THỨC</a:t>
              </a:r>
            </a:p>
          </p:txBody>
        </p:sp>
        <p:sp>
          <p:nvSpPr>
            <p:cNvPr name="TextBox 8" id="8"/>
            <p:cNvSpPr txBox="true"/>
            <p:nvPr/>
          </p:nvSpPr>
          <p:spPr>
            <a:xfrm rot="0">
              <a:off x="0" y="4811952"/>
              <a:ext cx="15537557" cy="608542"/>
            </a:xfrm>
            <a:prstGeom prst="rect">
              <a:avLst/>
            </a:prstGeom>
          </p:spPr>
          <p:txBody>
            <a:bodyPr anchor="t" rtlCol="false" tIns="0" lIns="0" bIns="0" rIns="0">
              <a:spAutoFit/>
            </a:bodyPr>
            <a:lstStyle/>
            <a:p>
              <a:pPr algn="l">
                <a:lnSpc>
                  <a:spcPts val="4000"/>
                </a:lnSpc>
              </a:pPr>
            </a:p>
          </p:txBody>
        </p:sp>
      </p:grpSp>
      <p:sp>
        <p:nvSpPr>
          <p:cNvPr name="Freeform 9" id="9"/>
          <p:cNvSpPr/>
          <p:nvPr/>
        </p:nvSpPr>
        <p:spPr>
          <a:xfrm flipH="false" flipV="false" rot="2550716">
            <a:off x="15983983" y="5561797"/>
            <a:ext cx="3615482" cy="3290089"/>
          </a:xfrm>
          <a:custGeom>
            <a:avLst/>
            <a:gdLst/>
            <a:ahLst/>
            <a:cxnLst/>
            <a:rect r="r" b="b" t="t" l="l"/>
            <a:pathLst>
              <a:path h="3290089" w="3615482">
                <a:moveTo>
                  <a:pt x="0" y="0"/>
                </a:moveTo>
                <a:lnTo>
                  <a:pt x="3615482" y="0"/>
                </a:lnTo>
                <a:lnTo>
                  <a:pt x="3615482" y="3290089"/>
                </a:lnTo>
                <a:lnTo>
                  <a:pt x="0" y="3290089"/>
                </a:lnTo>
                <a:lnTo>
                  <a:pt x="0" y="0"/>
                </a:lnTo>
                <a:close/>
              </a:path>
            </a:pathLst>
          </a:custGeom>
          <a:blipFill>
            <a:blip r:embed="rId3"/>
            <a:stretch>
              <a:fillRect l="0" t="0" r="0" b="0"/>
            </a:stretch>
          </a:blipFill>
        </p:spPr>
      </p:sp>
      <p:sp>
        <p:nvSpPr>
          <p:cNvPr name="Freeform 10" id="10"/>
          <p:cNvSpPr/>
          <p:nvPr/>
        </p:nvSpPr>
        <p:spPr>
          <a:xfrm flipH="false" flipV="false" rot="0">
            <a:off x="8016731" y="4016865"/>
            <a:ext cx="9415045" cy="5624169"/>
          </a:xfrm>
          <a:custGeom>
            <a:avLst/>
            <a:gdLst/>
            <a:ahLst/>
            <a:cxnLst/>
            <a:rect r="r" b="b" t="t" l="l"/>
            <a:pathLst>
              <a:path h="5624169" w="9415045">
                <a:moveTo>
                  <a:pt x="0" y="0"/>
                </a:moveTo>
                <a:lnTo>
                  <a:pt x="9415045" y="0"/>
                </a:lnTo>
                <a:lnTo>
                  <a:pt x="9415045" y="5624169"/>
                </a:lnTo>
                <a:lnTo>
                  <a:pt x="0" y="5624169"/>
                </a:lnTo>
                <a:lnTo>
                  <a:pt x="0" y="0"/>
                </a:lnTo>
                <a:close/>
              </a:path>
            </a:pathLst>
          </a:custGeom>
          <a:blipFill>
            <a:blip r:embed="rId4"/>
            <a:stretch>
              <a:fillRect l="0" t="0" r="0" b="0"/>
            </a:stretch>
          </a:blipFill>
        </p:spPr>
      </p:sp>
      <p:sp>
        <p:nvSpPr>
          <p:cNvPr name="TextBox 11" id="11"/>
          <p:cNvSpPr txBox="true"/>
          <p:nvPr/>
        </p:nvSpPr>
        <p:spPr>
          <a:xfrm rot="0">
            <a:off x="563089" y="4554742"/>
            <a:ext cx="4582836" cy="2044700"/>
          </a:xfrm>
          <a:prstGeom prst="rect">
            <a:avLst/>
          </a:prstGeom>
        </p:spPr>
        <p:txBody>
          <a:bodyPr anchor="t" rtlCol="false" tIns="0" lIns="0" bIns="0" rIns="0">
            <a:spAutoFit/>
          </a:bodyPr>
          <a:lstStyle/>
          <a:p>
            <a:pPr algn="l">
              <a:lnSpc>
                <a:spcPts val="3249"/>
              </a:lnSpc>
              <a:spcBef>
                <a:spcPct val="0"/>
              </a:spcBef>
            </a:pPr>
            <a:r>
              <a:rPr lang="en-US" sz="2499">
                <a:solidFill>
                  <a:srgbClr val="FFFFFF"/>
                </a:solidFill>
                <a:latin typeface="Clear Sans"/>
                <a:ea typeface="Clear Sans"/>
                <a:cs typeface="Clear Sans"/>
                <a:sym typeface="Clear Sans"/>
              </a:rPr>
              <a:t>T</a:t>
            </a:r>
            <a:r>
              <a:rPr lang="en-US" sz="2499">
                <a:solidFill>
                  <a:srgbClr val="FFFFFF"/>
                </a:solidFill>
                <a:latin typeface="Clear Sans"/>
                <a:ea typeface="Clear Sans"/>
                <a:cs typeface="Clear Sans"/>
                <a:sym typeface="Clear Sans"/>
              </a:rPr>
              <a:t>r</a:t>
            </a:r>
            <a:r>
              <a:rPr lang="en-US" sz="2499">
                <a:solidFill>
                  <a:srgbClr val="FFFFFF"/>
                </a:solidFill>
                <a:latin typeface="Clear Sans"/>
                <a:ea typeface="Clear Sans"/>
                <a:cs typeface="Clear Sans"/>
                <a:sym typeface="Clear Sans"/>
              </a:rPr>
              <a:t>o</a:t>
            </a:r>
            <a:r>
              <a:rPr lang="en-US" sz="2499">
                <a:solidFill>
                  <a:srgbClr val="FFFFFF"/>
                </a:solidFill>
                <a:latin typeface="Clear Sans"/>
                <a:ea typeface="Clear Sans"/>
                <a:cs typeface="Clear Sans"/>
                <a:sym typeface="Clear Sans"/>
              </a:rPr>
              <a:t>ng IDE là gõ ba dấu nháy kép """ ở dòng trống ngay bên dưới chữ ký hàm (method signature), Copilot sẽ tự động hoàn thiện docstring.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738256">
            <a:off x="11093853" y="-1406465"/>
            <a:ext cx="5222621" cy="5242280"/>
          </a:xfrm>
          <a:custGeom>
            <a:avLst/>
            <a:gdLst/>
            <a:ahLst/>
            <a:cxnLst/>
            <a:rect r="r" b="b" t="t" l="l"/>
            <a:pathLst>
              <a:path h="5242280" w="5222621">
                <a:moveTo>
                  <a:pt x="0" y="0"/>
                </a:moveTo>
                <a:lnTo>
                  <a:pt x="5222621" y="0"/>
                </a:lnTo>
                <a:lnTo>
                  <a:pt x="5222621" y="5242279"/>
                </a:lnTo>
                <a:lnTo>
                  <a:pt x="0" y="5242279"/>
                </a:lnTo>
                <a:lnTo>
                  <a:pt x="0" y="0"/>
                </a:lnTo>
                <a:close/>
              </a:path>
            </a:pathLst>
          </a:custGeom>
          <a:blipFill>
            <a:blip r:embed="rId2"/>
            <a:stretch>
              <a:fillRect l="0" t="0" r="0" b="0"/>
            </a:stretch>
          </a:blipFill>
        </p:spPr>
      </p:sp>
      <p:grpSp>
        <p:nvGrpSpPr>
          <p:cNvPr name="Group 3" id="3"/>
          <p:cNvGrpSpPr/>
          <p:nvPr/>
        </p:nvGrpSpPr>
        <p:grpSpPr>
          <a:xfrm rot="0">
            <a:off x="563089" y="425446"/>
            <a:ext cx="11653168" cy="3806608"/>
            <a:chOff x="0" y="0"/>
            <a:chExt cx="15537557" cy="5075477"/>
          </a:xfrm>
        </p:grpSpPr>
        <p:sp>
          <p:nvSpPr>
            <p:cNvPr name="TextBox 4" id="4"/>
            <p:cNvSpPr txBox="true"/>
            <p:nvPr/>
          </p:nvSpPr>
          <p:spPr>
            <a:xfrm rot="0">
              <a:off x="0" y="-41275"/>
              <a:ext cx="15537557" cy="2767753"/>
            </a:xfrm>
            <a:prstGeom prst="rect">
              <a:avLst/>
            </a:prstGeom>
          </p:spPr>
          <p:txBody>
            <a:bodyPr anchor="t" rtlCol="false" tIns="0" lIns="0" bIns="0" rIns="0">
              <a:spAutoFit/>
            </a:bodyPr>
            <a:lstStyle/>
            <a:p>
              <a:pPr algn="l">
                <a:lnSpc>
                  <a:spcPts val="8352"/>
                </a:lnSpc>
              </a:pPr>
              <a:r>
                <a:rPr lang="en-US" sz="6425" b="true">
                  <a:solidFill>
                    <a:srgbClr val="64E688"/>
                  </a:solidFill>
                  <a:latin typeface="Fira Sans Ultra-Bold"/>
                  <a:ea typeface="Fira Sans Ultra-Bold"/>
                  <a:cs typeface="Fira Sans Ultra-Bold"/>
                  <a:sym typeface="Fira Sans Ultra-Bold"/>
                </a:rPr>
                <a:t>Viết Docstring toàn diện với GenAI</a:t>
              </a:r>
            </a:p>
          </p:txBody>
        </p:sp>
        <p:grpSp>
          <p:nvGrpSpPr>
            <p:cNvPr name="Group 5" id="5"/>
            <p:cNvGrpSpPr/>
            <p:nvPr/>
          </p:nvGrpSpPr>
          <p:grpSpPr>
            <a:xfrm rot="0">
              <a:off x="0" y="3442414"/>
              <a:ext cx="11678531" cy="1037674"/>
              <a:chOff x="0" y="0"/>
              <a:chExt cx="34095059" cy="3029453"/>
            </a:xfrm>
          </p:grpSpPr>
          <p:sp>
            <p:nvSpPr>
              <p:cNvPr name="Freeform 6" id="6"/>
              <p:cNvSpPr/>
              <p:nvPr/>
            </p:nvSpPr>
            <p:spPr>
              <a:xfrm flipH="false" flipV="false" rot="0">
                <a:off x="0" y="0"/>
                <a:ext cx="34095060" cy="3029453"/>
              </a:xfrm>
              <a:custGeom>
                <a:avLst/>
                <a:gdLst/>
                <a:ahLst/>
                <a:cxnLst/>
                <a:rect r="r" b="b" t="t" l="l"/>
                <a:pathLst>
                  <a:path h="3029453" w="34095060">
                    <a:moveTo>
                      <a:pt x="33970599" y="59690"/>
                    </a:moveTo>
                    <a:cubicBezTo>
                      <a:pt x="34006160" y="59690"/>
                      <a:pt x="34035371" y="88900"/>
                      <a:pt x="34035371" y="124460"/>
                    </a:cubicBezTo>
                    <a:lnTo>
                      <a:pt x="34035371" y="2904993"/>
                    </a:lnTo>
                    <a:cubicBezTo>
                      <a:pt x="34035371" y="2940553"/>
                      <a:pt x="34006160" y="2969763"/>
                      <a:pt x="33970599" y="2969763"/>
                    </a:cubicBezTo>
                    <a:lnTo>
                      <a:pt x="124460" y="2969763"/>
                    </a:lnTo>
                    <a:cubicBezTo>
                      <a:pt x="88900" y="2969763"/>
                      <a:pt x="59690" y="2940553"/>
                      <a:pt x="59690" y="2904993"/>
                    </a:cubicBezTo>
                    <a:lnTo>
                      <a:pt x="59690" y="124460"/>
                    </a:lnTo>
                    <a:cubicBezTo>
                      <a:pt x="59690" y="88900"/>
                      <a:pt x="88900" y="59690"/>
                      <a:pt x="124460" y="59690"/>
                    </a:cubicBezTo>
                    <a:lnTo>
                      <a:pt x="33970599" y="59690"/>
                    </a:lnTo>
                    <a:moveTo>
                      <a:pt x="33970599" y="0"/>
                    </a:moveTo>
                    <a:lnTo>
                      <a:pt x="124460" y="0"/>
                    </a:lnTo>
                    <a:cubicBezTo>
                      <a:pt x="55880" y="0"/>
                      <a:pt x="0" y="55880"/>
                      <a:pt x="0" y="124460"/>
                    </a:cubicBezTo>
                    <a:lnTo>
                      <a:pt x="0" y="2904993"/>
                    </a:lnTo>
                    <a:cubicBezTo>
                      <a:pt x="0" y="2973573"/>
                      <a:pt x="55880" y="3029453"/>
                      <a:pt x="124460" y="3029453"/>
                    </a:cubicBezTo>
                    <a:lnTo>
                      <a:pt x="33970599" y="3029453"/>
                    </a:lnTo>
                    <a:cubicBezTo>
                      <a:pt x="34039178" y="3029453"/>
                      <a:pt x="34095060" y="2973573"/>
                      <a:pt x="34095060" y="2904993"/>
                    </a:cubicBezTo>
                    <a:lnTo>
                      <a:pt x="34095060" y="124460"/>
                    </a:lnTo>
                    <a:cubicBezTo>
                      <a:pt x="34095060" y="55880"/>
                      <a:pt x="34039178" y="0"/>
                      <a:pt x="33970599" y="0"/>
                    </a:cubicBezTo>
                    <a:close/>
                  </a:path>
                </a:pathLst>
              </a:custGeom>
              <a:solidFill>
                <a:srgbClr val="64E688">
                  <a:alpha val="49804"/>
                </a:srgbClr>
              </a:solidFill>
            </p:spPr>
          </p:sp>
        </p:grpSp>
        <p:sp>
          <p:nvSpPr>
            <p:cNvPr name="TextBox 7" id="7"/>
            <p:cNvSpPr txBox="true"/>
            <p:nvPr/>
          </p:nvSpPr>
          <p:spPr>
            <a:xfrm rot="0">
              <a:off x="254000" y="3663860"/>
              <a:ext cx="11089057" cy="547158"/>
            </a:xfrm>
            <a:prstGeom prst="rect">
              <a:avLst/>
            </a:prstGeom>
          </p:spPr>
          <p:txBody>
            <a:bodyPr anchor="t" rtlCol="false" tIns="0" lIns="0" bIns="0" rIns="0">
              <a:spAutoFit/>
            </a:bodyPr>
            <a:lstStyle/>
            <a:p>
              <a:pPr algn="l">
                <a:lnSpc>
                  <a:spcPts val="3499"/>
                </a:lnSpc>
              </a:pPr>
              <a:r>
                <a:rPr lang="en-US" sz="2499">
                  <a:solidFill>
                    <a:srgbClr val="FFFFFF"/>
                  </a:solidFill>
                  <a:latin typeface="Clear Sans"/>
                  <a:ea typeface="Clear Sans"/>
                  <a:cs typeface="Clear Sans"/>
                  <a:sym typeface="Clear Sans"/>
                </a:rPr>
                <a:t>TẠO DOCSTRING CHO TOÀN BỘ TỆP</a:t>
              </a:r>
            </a:p>
          </p:txBody>
        </p:sp>
        <p:sp>
          <p:nvSpPr>
            <p:cNvPr name="TextBox 8" id="8"/>
            <p:cNvSpPr txBox="true"/>
            <p:nvPr/>
          </p:nvSpPr>
          <p:spPr>
            <a:xfrm rot="0">
              <a:off x="0" y="4811952"/>
              <a:ext cx="15537557" cy="608542"/>
            </a:xfrm>
            <a:prstGeom prst="rect">
              <a:avLst/>
            </a:prstGeom>
          </p:spPr>
          <p:txBody>
            <a:bodyPr anchor="t" rtlCol="false" tIns="0" lIns="0" bIns="0" rIns="0">
              <a:spAutoFit/>
            </a:bodyPr>
            <a:lstStyle/>
            <a:p>
              <a:pPr algn="l">
                <a:lnSpc>
                  <a:spcPts val="4000"/>
                </a:lnSpc>
              </a:pPr>
            </a:p>
          </p:txBody>
        </p:sp>
      </p:grpSp>
      <p:sp>
        <p:nvSpPr>
          <p:cNvPr name="Freeform 9" id="9"/>
          <p:cNvSpPr/>
          <p:nvPr/>
        </p:nvSpPr>
        <p:spPr>
          <a:xfrm flipH="false" flipV="false" rot="2550716">
            <a:off x="15983983" y="5561797"/>
            <a:ext cx="3615482" cy="3290089"/>
          </a:xfrm>
          <a:custGeom>
            <a:avLst/>
            <a:gdLst/>
            <a:ahLst/>
            <a:cxnLst/>
            <a:rect r="r" b="b" t="t" l="l"/>
            <a:pathLst>
              <a:path h="3290089" w="3615482">
                <a:moveTo>
                  <a:pt x="0" y="0"/>
                </a:moveTo>
                <a:lnTo>
                  <a:pt x="3615482" y="0"/>
                </a:lnTo>
                <a:lnTo>
                  <a:pt x="3615482" y="3290089"/>
                </a:lnTo>
                <a:lnTo>
                  <a:pt x="0" y="3290089"/>
                </a:lnTo>
                <a:lnTo>
                  <a:pt x="0" y="0"/>
                </a:lnTo>
                <a:close/>
              </a:path>
            </a:pathLst>
          </a:custGeom>
          <a:blipFill>
            <a:blip r:embed="rId3"/>
            <a:stretch>
              <a:fillRect l="0" t="0" r="0" b="0"/>
            </a:stretch>
          </a:blipFill>
        </p:spPr>
      </p:sp>
      <p:sp>
        <p:nvSpPr>
          <p:cNvPr name="Freeform 10" id="10"/>
          <p:cNvSpPr/>
          <p:nvPr/>
        </p:nvSpPr>
        <p:spPr>
          <a:xfrm flipH="false" flipV="false" rot="0">
            <a:off x="6997737" y="4232054"/>
            <a:ext cx="10793987" cy="5155833"/>
          </a:xfrm>
          <a:custGeom>
            <a:avLst/>
            <a:gdLst/>
            <a:ahLst/>
            <a:cxnLst/>
            <a:rect r="r" b="b" t="t" l="l"/>
            <a:pathLst>
              <a:path h="5155833" w="10793987">
                <a:moveTo>
                  <a:pt x="0" y="0"/>
                </a:moveTo>
                <a:lnTo>
                  <a:pt x="10793987" y="0"/>
                </a:lnTo>
                <a:lnTo>
                  <a:pt x="10793987" y="5155833"/>
                </a:lnTo>
                <a:lnTo>
                  <a:pt x="0" y="5155833"/>
                </a:lnTo>
                <a:lnTo>
                  <a:pt x="0" y="0"/>
                </a:lnTo>
                <a:close/>
              </a:path>
            </a:pathLst>
          </a:custGeom>
          <a:blipFill>
            <a:blip r:embed="rId4"/>
            <a:stretch>
              <a:fillRect l="0" t="0" r="0" b="0"/>
            </a:stretch>
          </a:blipFill>
        </p:spPr>
      </p:sp>
      <p:sp>
        <p:nvSpPr>
          <p:cNvPr name="TextBox 11" id="11"/>
          <p:cNvSpPr txBox="true"/>
          <p:nvPr/>
        </p:nvSpPr>
        <p:spPr>
          <a:xfrm rot="0">
            <a:off x="563089" y="4554742"/>
            <a:ext cx="4582836" cy="1225550"/>
          </a:xfrm>
          <a:prstGeom prst="rect">
            <a:avLst/>
          </a:prstGeom>
        </p:spPr>
        <p:txBody>
          <a:bodyPr anchor="t" rtlCol="false" tIns="0" lIns="0" bIns="0" rIns="0">
            <a:spAutoFit/>
          </a:bodyPr>
          <a:lstStyle/>
          <a:p>
            <a:pPr algn="l">
              <a:lnSpc>
                <a:spcPts val="3249"/>
              </a:lnSpc>
              <a:spcBef>
                <a:spcPct val="0"/>
              </a:spcBef>
            </a:pPr>
            <a:r>
              <a:rPr lang="en-US" sz="2499">
                <a:solidFill>
                  <a:srgbClr val="FFFFFF"/>
                </a:solidFill>
                <a:latin typeface="Clear Sans"/>
                <a:ea typeface="Clear Sans"/>
                <a:cs typeface="Clear Sans"/>
                <a:sym typeface="Clear Sans"/>
              </a:rPr>
              <a:t>T</a:t>
            </a:r>
            <a:r>
              <a:rPr lang="en-US" sz="2499">
                <a:solidFill>
                  <a:srgbClr val="FFFFFF"/>
                </a:solidFill>
                <a:latin typeface="Clear Sans"/>
                <a:ea typeface="Clear Sans"/>
                <a:cs typeface="Clear Sans"/>
                <a:sym typeface="Clear Sans"/>
              </a:rPr>
              <a:t>a có thể dùng Copilot Chat với prompt: “write all docstrings for my current file”.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577383" y="3008759"/>
            <a:ext cx="6658068" cy="3985983"/>
            <a:chOff x="0" y="0"/>
            <a:chExt cx="8877424" cy="5314644"/>
          </a:xfrm>
        </p:grpSpPr>
        <p:sp>
          <p:nvSpPr>
            <p:cNvPr name="TextBox 3" id="3"/>
            <p:cNvSpPr txBox="true"/>
            <p:nvPr/>
          </p:nvSpPr>
          <p:spPr>
            <a:xfrm rot="0">
              <a:off x="0" y="-95250"/>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P</a:t>
              </a:r>
              <a:r>
                <a:rPr lang="en-US" sz="4825" b="true">
                  <a:solidFill>
                    <a:srgbClr val="64E688"/>
                  </a:solidFill>
                  <a:latin typeface="Fira Sans Ultra-Bold"/>
                  <a:ea typeface="Fira Sans Ultra-Bold"/>
                  <a:cs typeface="Fira Sans Ultra-Bold"/>
                  <a:sym typeface="Fira Sans Ultra-Bold"/>
                </a:rPr>
                <a:t>hát hiện tài liệu lỗi thời với Copilot</a:t>
              </a:r>
            </a:p>
          </p:txBody>
        </p:sp>
        <p:grpSp>
          <p:nvGrpSpPr>
            <p:cNvPr name="Group 4" id="4"/>
            <p:cNvGrpSpPr/>
            <p:nvPr/>
          </p:nvGrpSpPr>
          <p:grpSpPr>
            <a:xfrm rot="0">
              <a:off x="0" y="3380279"/>
              <a:ext cx="7796625" cy="1505655"/>
              <a:chOff x="0" y="0"/>
              <a:chExt cx="20676706" cy="3993009"/>
            </a:xfrm>
          </p:grpSpPr>
          <p:sp>
            <p:nvSpPr>
              <p:cNvPr name="Freeform 5" id="5"/>
              <p:cNvSpPr/>
              <p:nvPr/>
            </p:nvSpPr>
            <p:spPr>
              <a:xfrm flipH="false" flipV="false" rot="0">
                <a:off x="0" y="0"/>
                <a:ext cx="20676705" cy="3993009"/>
              </a:xfrm>
              <a:custGeom>
                <a:avLst/>
                <a:gdLst/>
                <a:ahLst/>
                <a:cxnLst/>
                <a:rect r="r" b="b" t="t" l="l"/>
                <a:pathLst>
                  <a:path h="3993009" w="20676705">
                    <a:moveTo>
                      <a:pt x="20552246" y="59690"/>
                    </a:moveTo>
                    <a:cubicBezTo>
                      <a:pt x="20587805" y="59690"/>
                      <a:pt x="20617016" y="88900"/>
                      <a:pt x="20617016" y="124460"/>
                    </a:cubicBezTo>
                    <a:lnTo>
                      <a:pt x="20617016" y="3868549"/>
                    </a:lnTo>
                    <a:cubicBezTo>
                      <a:pt x="20617016" y="3904109"/>
                      <a:pt x="20587805" y="3933319"/>
                      <a:pt x="20552246" y="3933319"/>
                    </a:cubicBezTo>
                    <a:lnTo>
                      <a:pt x="124460" y="3933319"/>
                    </a:lnTo>
                    <a:cubicBezTo>
                      <a:pt x="88900" y="3933319"/>
                      <a:pt x="59690" y="3904109"/>
                      <a:pt x="59690" y="3868549"/>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868549"/>
                    </a:lnTo>
                    <a:cubicBezTo>
                      <a:pt x="0" y="3937129"/>
                      <a:pt x="55880" y="3993009"/>
                      <a:pt x="124460" y="3993009"/>
                    </a:cubicBezTo>
                    <a:lnTo>
                      <a:pt x="20552246" y="3993009"/>
                    </a:lnTo>
                    <a:cubicBezTo>
                      <a:pt x="20620825" y="3993009"/>
                      <a:pt x="20676705" y="3937129"/>
                      <a:pt x="20676705" y="3868549"/>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264537" y="3545731"/>
              <a:ext cx="7267551" cy="11842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“ARE</a:t>
              </a:r>
              <a:r>
                <a:rPr lang="en-US" sz="2999">
                  <a:solidFill>
                    <a:srgbClr val="FFFFFF"/>
                  </a:solidFill>
                  <a:latin typeface="Clear Sans"/>
                  <a:ea typeface="Clear Sans"/>
                  <a:cs typeface="Clear Sans"/>
                  <a:sym typeface="Clear Sans"/>
                </a:rPr>
                <a:t> ANY OF THE DOCSTRINGS OUT OF SYNC?”</a:t>
              </a:r>
            </a:p>
          </p:txBody>
        </p:sp>
        <p:sp>
          <p:nvSpPr>
            <p:cNvPr name="TextBox 7" id="7"/>
            <p:cNvSpPr txBox="true"/>
            <p:nvPr/>
          </p:nvSpPr>
          <p:spPr>
            <a:xfrm rot="0">
              <a:off x="0" y="4750764"/>
              <a:ext cx="8877424" cy="563880"/>
            </a:xfrm>
            <a:prstGeom prst="rect">
              <a:avLst/>
            </a:prstGeom>
          </p:spPr>
          <p:txBody>
            <a:bodyPr anchor="t" rtlCol="false" tIns="0" lIns="0" bIns="0" rIns="0">
              <a:spAutoFit/>
            </a:bodyPr>
            <a:lstStyle/>
            <a:p>
              <a:pPr algn="l">
                <a:lnSpc>
                  <a:spcPts val="3600"/>
                </a:lnSpc>
              </a:pPr>
            </a:p>
          </p:txBody>
        </p:sp>
      </p:grpSp>
      <p:sp>
        <p:nvSpPr>
          <p:cNvPr name="Freeform 8" id="8"/>
          <p:cNvSpPr/>
          <p:nvPr/>
        </p:nvSpPr>
        <p:spPr>
          <a:xfrm flipH="false" flipV="false" rot="0">
            <a:off x="7073450" y="2364223"/>
            <a:ext cx="10931437" cy="5275054"/>
          </a:xfrm>
          <a:custGeom>
            <a:avLst/>
            <a:gdLst/>
            <a:ahLst/>
            <a:cxnLst/>
            <a:rect r="r" b="b" t="t" l="l"/>
            <a:pathLst>
              <a:path h="5275054" w="10931437">
                <a:moveTo>
                  <a:pt x="0" y="0"/>
                </a:moveTo>
                <a:lnTo>
                  <a:pt x="10931437" y="0"/>
                </a:lnTo>
                <a:lnTo>
                  <a:pt x="10931437" y="5275054"/>
                </a:lnTo>
                <a:lnTo>
                  <a:pt x="0" y="5275054"/>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6866682"/>
            <a:ext cx="16230600" cy="2391618"/>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028700" y="2430575"/>
            <a:ext cx="11667464" cy="3529181"/>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Viết</a:t>
            </a:r>
            <a:r>
              <a:rPr lang="en-US" sz="7749" b="true">
                <a:solidFill>
                  <a:srgbClr val="64E688"/>
                </a:solidFill>
                <a:latin typeface="Fira Sans Ultra-Bold"/>
                <a:ea typeface="Fira Sans Ultra-Bold"/>
                <a:cs typeface="Fira Sans Ultra-Bold"/>
                <a:sym typeface="Fira Sans Ultra-Bold"/>
              </a:rPr>
              <a:t> và Bảo</a:t>
            </a:r>
            <a:r>
              <a:rPr lang="en-US" sz="7749" b="true">
                <a:solidFill>
                  <a:srgbClr val="64E688"/>
                </a:solidFill>
                <a:latin typeface="Fira Sans Ultra-Bold"/>
                <a:ea typeface="Fira Sans Ultra-Bold"/>
                <a:cs typeface="Fira Sans Ultra-Bold"/>
                <a:sym typeface="Fira Sans Ultra-Bold"/>
              </a:rPr>
              <a:t> trì Kiểm thử Đơn vị với GenAI</a:t>
            </a:r>
          </a:p>
          <a:p>
            <a:pPr algn="l">
              <a:lnSpc>
                <a:spcPts val="9299"/>
              </a:lnSpc>
            </a:pPr>
          </a:p>
        </p:txBody>
      </p:sp>
      <p:sp>
        <p:nvSpPr>
          <p:cNvPr name="TextBox 6" id="6"/>
          <p:cNvSpPr txBox="true"/>
          <p:nvPr/>
        </p:nvSpPr>
        <p:spPr>
          <a:xfrm rot="0">
            <a:off x="1594692" y="7462416"/>
            <a:ext cx="15098616" cy="11144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Generative AI không làm mất đi vai trò của Unit Test mà ngược lại, giải phóng kỹ sư phần mềm khỏi những rào cản thiết lập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2608200" y="3059682"/>
            <a:ext cx="12828600" cy="6198618"/>
            <a:chOff x="0" y="0"/>
            <a:chExt cx="49936861" cy="24128862"/>
          </a:xfrm>
        </p:grpSpPr>
        <p:sp>
          <p:nvSpPr>
            <p:cNvPr name="Freeform 3" id="3"/>
            <p:cNvSpPr/>
            <p:nvPr/>
          </p:nvSpPr>
          <p:spPr>
            <a:xfrm flipH="false" flipV="false" rot="0">
              <a:off x="0" y="0"/>
              <a:ext cx="49936862" cy="24128862"/>
            </a:xfrm>
            <a:custGeom>
              <a:avLst/>
              <a:gdLst/>
              <a:ahLst/>
              <a:cxnLst/>
              <a:rect r="r" b="b" t="t" l="l"/>
              <a:pathLst>
                <a:path h="24128862" w="49936862">
                  <a:moveTo>
                    <a:pt x="49812401" y="59690"/>
                  </a:moveTo>
                  <a:cubicBezTo>
                    <a:pt x="49847962" y="59690"/>
                    <a:pt x="49877170" y="88900"/>
                    <a:pt x="49877170" y="124460"/>
                  </a:cubicBezTo>
                  <a:lnTo>
                    <a:pt x="49877170" y="24004403"/>
                  </a:lnTo>
                  <a:cubicBezTo>
                    <a:pt x="49877170" y="24039962"/>
                    <a:pt x="49847962" y="24069173"/>
                    <a:pt x="49812401" y="24069173"/>
                  </a:cubicBezTo>
                  <a:lnTo>
                    <a:pt x="124460" y="24069173"/>
                  </a:lnTo>
                  <a:cubicBezTo>
                    <a:pt x="88900" y="24069173"/>
                    <a:pt x="59690" y="24039962"/>
                    <a:pt x="59690" y="24004403"/>
                  </a:cubicBezTo>
                  <a:lnTo>
                    <a:pt x="59690" y="124460"/>
                  </a:lnTo>
                  <a:cubicBezTo>
                    <a:pt x="59690" y="88900"/>
                    <a:pt x="88900" y="59690"/>
                    <a:pt x="124460" y="59690"/>
                  </a:cubicBezTo>
                  <a:lnTo>
                    <a:pt x="49812401" y="59690"/>
                  </a:lnTo>
                  <a:moveTo>
                    <a:pt x="49812401" y="0"/>
                  </a:moveTo>
                  <a:lnTo>
                    <a:pt x="124460" y="0"/>
                  </a:lnTo>
                  <a:cubicBezTo>
                    <a:pt x="55880" y="0"/>
                    <a:pt x="0" y="55880"/>
                    <a:pt x="0" y="124460"/>
                  </a:cubicBezTo>
                  <a:lnTo>
                    <a:pt x="0" y="24004403"/>
                  </a:lnTo>
                  <a:cubicBezTo>
                    <a:pt x="0" y="24072982"/>
                    <a:pt x="55880" y="24128862"/>
                    <a:pt x="124460" y="24128862"/>
                  </a:cubicBezTo>
                  <a:lnTo>
                    <a:pt x="49812401" y="24128862"/>
                  </a:lnTo>
                  <a:cubicBezTo>
                    <a:pt x="49880980" y="24128862"/>
                    <a:pt x="49936862" y="24072982"/>
                    <a:pt x="49936862" y="24004403"/>
                  </a:cubicBezTo>
                  <a:lnTo>
                    <a:pt x="49936862" y="124460"/>
                  </a:lnTo>
                  <a:cubicBezTo>
                    <a:pt x="49936862" y="55880"/>
                    <a:pt x="49880980" y="0"/>
                    <a:pt x="4981240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Freeform 5" id="5"/>
          <p:cNvSpPr/>
          <p:nvPr/>
        </p:nvSpPr>
        <p:spPr>
          <a:xfrm flipH="false" flipV="false" rot="0">
            <a:off x="3611889" y="3204975"/>
            <a:ext cx="10699722" cy="5908032"/>
          </a:xfrm>
          <a:custGeom>
            <a:avLst/>
            <a:gdLst/>
            <a:ahLst/>
            <a:cxnLst/>
            <a:rect r="r" b="b" t="t" l="l"/>
            <a:pathLst>
              <a:path h="5908032" w="10699722">
                <a:moveTo>
                  <a:pt x="0" y="0"/>
                </a:moveTo>
                <a:lnTo>
                  <a:pt x="10699722" y="0"/>
                </a:lnTo>
                <a:lnTo>
                  <a:pt x="10699722" y="5908032"/>
                </a:lnTo>
                <a:lnTo>
                  <a:pt x="0" y="5908032"/>
                </a:lnTo>
                <a:lnTo>
                  <a:pt x="0" y="0"/>
                </a:lnTo>
                <a:close/>
              </a:path>
            </a:pathLst>
          </a:custGeom>
          <a:blipFill>
            <a:blip r:embed="rId3"/>
            <a:stretch>
              <a:fillRect l="0" t="0" r="0" b="0"/>
            </a:stretch>
          </a:blipFill>
        </p:spPr>
      </p:sp>
      <p:sp>
        <p:nvSpPr>
          <p:cNvPr name="TextBox 6" id="6"/>
          <p:cNvSpPr txBox="true"/>
          <p:nvPr/>
        </p:nvSpPr>
        <p:spPr>
          <a:xfrm rot="0">
            <a:off x="1028700" y="324575"/>
            <a:ext cx="11667464" cy="3529181"/>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Viết</a:t>
            </a:r>
            <a:r>
              <a:rPr lang="en-US" sz="7749" b="true">
                <a:solidFill>
                  <a:srgbClr val="64E688"/>
                </a:solidFill>
                <a:latin typeface="Fira Sans Ultra-Bold"/>
                <a:ea typeface="Fira Sans Ultra-Bold"/>
                <a:cs typeface="Fira Sans Ultra-Bold"/>
                <a:sym typeface="Fira Sans Ultra-Bold"/>
              </a:rPr>
              <a:t> và Bảo</a:t>
            </a:r>
            <a:r>
              <a:rPr lang="en-US" sz="7749" b="true">
                <a:solidFill>
                  <a:srgbClr val="64E688"/>
                </a:solidFill>
                <a:latin typeface="Fira Sans Ultra-Bold"/>
                <a:ea typeface="Fira Sans Ultra-Bold"/>
                <a:cs typeface="Fira Sans Ultra-Bold"/>
                <a:sym typeface="Fira Sans Ultra-Bold"/>
              </a:rPr>
              <a:t> trì Kiểm thử Đơn vị với GenAI</a:t>
            </a:r>
          </a:p>
          <a:p>
            <a:pPr algn="l">
              <a:lnSpc>
                <a:spcPts val="929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4356569"/>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grpSp>
        <p:nvGrpSpPr>
          <p:cNvPr name="Group 4" id="4"/>
          <p:cNvGrpSpPr/>
          <p:nvPr/>
        </p:nvGrpSpPr>
        <p:grpSpPr>
          <a:xfrm rot="0">
            <a:off x="6701301" y="4356569"/>
            <a:ext cx="4885398" cy="4901731"/>
            <a:chOff x="0" y="0"/>
            <a:chExt cx="19016997" cy="19080574"/>
          </a:xfrm>
        </p:grpSpPr>
        <p:sp>
          <p:nvSpPr>
            <p:cNvPr name="Freeform 5" id="5"/>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FFFFFF">
                <a:alpha val="49804"/>
              </a:srgbClr>
            </a:solidFill>
          </p:spPr>
        </p:sp>
      </p:grpSp>
      <p:grpSp>
        <p:nvGrpSpPr>
          <p:cNvPr name="Group 6" id="6"/>
          <p:cNvGrpSpPr/>
          <p:nvPr/>
        </p:nvGrpSpPr>
        <p:grpSpPr>
          <a:xfrm rot="0">
            <a:off x="12373902" y="4356569"/>
            <a:ext cx="4885398" cy="4901731"/>
            <a:chOff x="0" y="0"/>
            <a:chExt cx="19016997" cy="19080574"/>
          </a:xfrm>
        </p:grpSpPr>
        <p:sp>
          <p:nvSpPr>
            <p:cNvPr name="Freeform 7" id="7"/>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8" id="8"/>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grpSp>
        <p:nvGrpSpPr>
          <p:cNvPr name="Group 9" id="9"/>
          <p:cNvGrpSpPr/>
          <p:nvPr/>
        </p:nvGrpSpPr>
        <p:grpSpPr>
          <a:xfrm rot="0">
            <a:off x="1028700" y="1287681"/>
            <a:ext cx="12084767" cy="866337"/>
            <a:chOff x="0" y="0"/>
            <a:chExt cx="16113022" cy="1155117"/>
          </a:xfrm>
        </p:grpSpPr>
        <p:sp>
          <p:nvSpPr>
            <p:cNvPr name="TextBox 10" id="10"/>
            <p:cNvSpPr txBox="true"/>
            <p:nvPr/>
          </p:nvSpPr>
          <p:spPr>
            <a:xfrm rot="0">
              <a:off x="0" y="-9525"/>
              <a:ext cx="16113022" cy="14446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G</a:t>
              </a:r>
              <a:r>
                <a:rPr lang="en-US" sz="7099" b="true">
                  <a:solidFill>
                    <a:srgbClr val="64E688"/>
                  </a:solidFill>
                  <a:latin typeface="Fira Sans Ultra-Bold"/>
                  <a:ea typeface="Fira Sans Ultra-Bold"/>
                  <a:cs typeface="Fira Sans Ultra-Bold"/>
                  <a:sym typeface="Fira Sans Ultra-Bold"/>
                </a:rPr>
                <a:t>iới thiệu Unit Test với GenAI</a:t>
              </a:r>
            </a:p>
          </p:txBody>
        </p:sp>
        <p:sp>
          <p:nvSpPr>
            <p:cNvPr name="TextBox 11" id="11"/>
            <p:cNvSpPr txBox="true"/>
            <p:nvPr/>
          </p:nvSpPr>
          <p:spPr>
            <a:xfrm rot="0">
              <a:off x="0" y="1786942"/>
              <a:ext cx="16113022" cy="587375"/>
            </a:xfrm>
            <a:prstGeom prst="rect">
              <a:avLst/>
            </a:prstGeom>
          </p:spPr>
          <p:txBody>
            <a:bodyPr anchor="t" rtlCol="false" tIns="0" lIns="0" bIns="0" rIns="0">
              <a:spAutoFit/>
            </a:bodyPr>
            <a:lstStyle/>
            <a:p>
              <a:pPr algn="l">
                <a:lnSpc>
                  <a:spcPts val="3599"/>
                </a:lnSpc>
              </a:pPr>
            </a:p>
          </p:txBody>
        </p:sp>
      </p:grpSp>
      <p:grpSp>
        <p:nvGrpSpPr>
          <p:cNvPr name="Group 12" id="12"/>
          <p:cNvGrpSpPr/>
          <p:nvPr/>
        </p:nvGrpSpPr>
        <p:grpSpPr>
          <a:xfrm rot="0">
            <a:off x="1393622" y="4569321"/>
            <a:ext cx="4155554" cy="4257107"/>
            <a:chOff x="0" y="0"/>
            <a:chExt cx="5540739" cy="5676143"/>
          </a:xfrm>
        </p:grpSpPr>
        <p:sp>
          <p:nvSpPr>
            <p:cNvPr name="TextBox 13" id="13"/>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Khái niệm và</a:t>
              </a:r>
              <a:r>
                <a:rPr lang="en-US" sz="2600" b="true">
                  <a:solidFill>
                    <a:srgbClr val="64E688"/>
                  </a:solidFill>
                  <a:latin typeface="Clear Sans Medium"/>
                  <a:ea typeface="Clear Sans Medium"/>
                  <a:cs typeface="Clear Sans Medium"/>
                  <a:sym typeface="Clear Sans Medium"/>
                </a:rPr>
                <a:t> Rào cản truyền thống</a:t>
              </a:r>
            </a:p>
          </p:txBody>
        </p:sp>
        <p:sp>
          <p:nvSpPr>
            <p:cNvPr name="TextBox 14" id="14"/>
            <p:cNvSpPr txBox="true"/>
            <p:nvPr/>
          </p:nvSpPr>
          <p:spPr>
            <a:xfrm rot="0">
              <a:off x="0" y="1546949"/>
              <a:ext cx="5540739" cy="4129193"/>
            </a:xfrm>
            <a:prstGeom prst="rect">
              <a:avLst/>
            </a:prstGeom>
          </p:spPr>
          <p:txBody>
            <a:bodyPr anchor="t" rtlCol="false" tIns="0" lIns="0" bIns="0" rIns="0">
              <a:spAutoFit/>
            </a:bodyPr>
            <a:lstStyle/>
            <a:p>
              <a:pPr algn="l">
                <a:lnSpc>
                  <a:spcPts val="3079"/>
                </a:lnSpc>
              </a:pPr>
            </a:p>
            <a:p>
              <a:pPr algn="l">
                <a:lnSpc>
                  <a:spcPts val="3079"/>
                </a:lnSpc>
              </a:pPr>
              <a:r>
                <a:rPr lang="en-US" sz="2199">
                  <a:solidFill>
                    <a:srgbClr val="FFFFFF"/>
                  </a:solidFill>
                  <a:latin typeface="Clear Sans"/>
                  <a:ea typeface="Clear Sans"/>
                  <a:cs typeface="Clear Sans"/>
                  <a:sym typeface="Clear Sans"/>
                </a:rPr>
                <a:t>T</a:t>
              </a:r>
              <a:r>
                <a:rPr lang="en-US" sz="2199">
                  <a:solidFill>
                    <a:srgbClr val="FFFFFF"/>
                  </a:solidFill>
                  <a:latin typeface="Clear Sans"/>
                  <a:ea typeface="Clear Sans"/>
                  <a:cs typeface="Clear Sans"/>
                  <a:sym typeface="Clear Sans"/>
                </a:rPr>
                <a:t>hiết lập khung (framew</a:t>
              </a:r>
              <a:r>
                <a:rPr lang="en-US" sz="2199">
                  <a:solidFill>
                    <a:srgbClr val="FFFFFF"/>
                  </a:solidFill>
                  <a:latin typeface="Clear Sans"/>
                  <a:ea typeface="Clear Sans"/>
                  <a:cs typeface="Clear Sans"/>
                  <a:sym typeface="Clear Sans"/>
                </a:rPr>
                <a:t>ork)</a:t>
              </a:r>
            </a:p>
            <a:p>
              <a:pPr algn="l">
                <a:lnSpc>
                  <a:spcPts val="3079"/>
                </a:lnSpc>
              </a:pPr>
            </a:p>
            <a:p>
              <a:pPr algn="l">
                <a:lnSpc>
                  <a:spcPts val="3079"/>
                </a:lnSpc>
              </a:pPr>
              <a:r>
                <a:rPr lang="en-US" sz="2199">
                  <a:solidFill>
                    <a:srgbClr val="FFFFFF"/>
                  </a:solidFill>
                  <a:latin typeface="Clear Sans"/>
                  <a:ea typeface="Clear Sans"/>
                  <a:cs typeface="Clear Sans"/>
                  <a:sym typeface="Clear Sans"/>
                </a:rPr>
                <a:t>L</a:t>
              </a:r>
              <a:r>
                <a:rPr lang="en-US" sz="2199">
                  <a:solidFill>
                    <a:srgbClr val="FFFFFF"/>
                  </a:solidFill>
                  <a:latin typeface="Clear Sans"/>
                  <a:ea typeface="Clear Sans"/>
                  <a:cs typeface="Clear Sans"/>
                  <a:sym typeface="Clear Sans"/>
                </a:rPr>
                <a:t>ường trước các trường hợp biên (edge cases) </a:t>
              </a:r>
            </a:p>
            <a:p>
              <a:pPr algn="l">
                <a:lnSpc>
                  <a:spcPts val="3079"/>
                </a:lnSpc>
              </a:pPr>
            </a:p>
            <a:p>
              <a:pPr algn="l">
                <a:lnSpc>
                  <a:spcPts val="3079"/>
                </a:lnSpc>
              </a:pPr>
              <a:r>
                <a:rPr lang="en-US" sz="2200">
                  <a:solidFill>
                    <a:srgbClr val="FFFFFF"/>
                  </a:solidFill>
                  <a:latin typeface="Clear Sans"/>
                  <a:ea typeface="Clear Sans"/>
                  <a:cs typeface="Clear Sans"/>
                  <a:sym typeface="Clear Sans"/>
                </a:rPr>
                <a:t>V</a:t>
              </a:r>
              <a:r>
                <a:rPr lang="en-US" sz="2200">
                  <a:solidFill>
                    <a:srgbClr val="FFFFFF"/>
                  </a:solidFill>
                  <a:latin typeface="Clear Sans"/>
                  <a:ea typeface="Clear Sans"/>
                  <a:cs typeface="Clear Sans"/>
                  <a:sym typeface="Clear Sans"/>
                </a:rPr>
                <a:t>iết mã xác nhận (assertions) một cách thủ công.</a:t>
              </a:r>
            </a:p>
          </p:txBody>
        </p:sp>
      </p:grpSp>
      <p:grpSp>
        <p:nvGrpSpPr>
          <p:cNvPr name="Group 15" id="15"/>
          <p:cNvGrpSpPr/>
          <p:nvPr/>
        </p:nvGrpSpPr>
        <p:grpSpPr>
          <a:xfrm rot="0">
            <a:off x="7071083" y="4569321"/>
            <a:ext cx="3973304" cy="3009362"/>
            <a:chOff x="0" y="0"/>
            <a:chExt cx="5297739" cy="4012483"/>
          </a:xfrm>
        </p:grpSpPr>
        <p:sp>
          <p:nvSpPr>
            <p:cNvPr name="TextBox 16" id="16"/>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Khởi tạo Unit</a:t>
              </a:r>
              <a:r>
                <a:rPr lang="en-US" sz="2600" b="true">
                  <a:solidFill>
                    <a:srgbClr val="64E688"/>
                  </a:solidFill>
                  <a:latin typeface="Clear Sans Medium"/>
                  <a:ea typeface="Clear Sans Medium"/>
                  <a:cs typeface="Clear Sans Medium"/>
                  <a:sym typeface="Clear Sans Medium"/>
                </a:rPr>
                <a:t> Test với GitHub Copilot</a:t>
              </a:r>
            </a:p>
          </p:txBody>
        </p:sp>
        <p:sp>
          <p:nvSpPr>
            <p:cNvPr name="TextBox 17" id="17"/>
            <p:cNvSpPr txBox="true"/>
            <p:nvPr/>
          </p:nvSpPr>
          <p:spPr>
            <a:xfrm rot="0">
              <a:off x="0" y="1966089"/>
              <a:ext cx="5297739" cy="20463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GenAI khô</a:t>
              </a:r>
              <a:r>
                <a:rPr lang="en-US" sz="2200">
                  <a:solidFill>
                    <a:srgbClr val="FFFFFF"/>
                  </a:solidFill>
                  <a:latin typeface="Clear Sans"/>
                  <a:ea typeface="Clear Sans"/>
                  <a:cs typeface="Clear Sans"/>
                  <a:sym typeface="Clear Sans"/>
                </a:rPr>
                <a:t>ng thay thế tư duy kiểm thử của kỹ sư phần mềm</a:t>
              </a:r>
              <a:r>
                <a:rPr lang="en-US" sz="2200">
                  <a:solidFill>
                    <a:srgbClr val="FFFFFF"/>
                  </a:solidFill>
                  <a:latin typeface="Clear Sans"/>
                  <a:ea typeface="Clear Sans"/>
                  <a:cs typeface="Clear Sans"/>
                  <a:sym typeface="Clear Sans"/>
                </a:rPr>
                <a:t>, nhưng nó tự động hóa triệt để phần mã lặp lại tẻ nhạt.</a:t>
              </a:r>
            </a:p>
          </p:txBody>
        </p:sp>
      </p:grpSp>
      <p:grpSp>
        <p:nvGrpSpPr>
          <p:cNvPr name="Group 18" id="18"/>
          <p:cNvGrpSpPr/>
          <p:nvPr/>
        </p:nvGrpSpPr>
        <p:grpSpPr>
          <a:xfrm rot="0">
            <a:off x="12829949" y="4569321"/>
            <a:ext cx="3973304" cy="3738672"/>
            <a:chOff x="0" y="0"/>
            <a:chExt cx="5297739" cy="4984896"/>
          </a:xfrm>
        </p:grpSpPr>
        <p:sp>
          <p:nvSpPr>
            <p:cNvPr name="TextBox 19" id="19"/>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Khởi </a:t>
              </a:r>
              <a:r>
                <a:rPr lang="en-US" sz="2600" b="true">
                  <a:solidFill>
                    <a:srgbClr val="64E688"/>
                  </a:solidFill>
                  <a:latin typeface="Clear Sans Medium"/>
                  <a:ea typeface="Clear Sans Medium"/>
                  <a:cs typeface="Clear Sans Medium"/>
                  <a:sym typeface="Clear Sans Medium"/>
                </a:rPr>
                <a:t>tạo Unit Test với ChatGPT</a:t>
              </a:r>
            </a:p>
          </p:txBody>
        </p:sp>
        <p:sp>
          <p:nvSpPr>
            <p:cNvPr name="TextBox 20" id="20"/>
            <p:cNvSpPr txBox="true"/>
            <p:nvPr/>
          </p:nvSpPr>
          <p:spPr>
            <a:xfrm rot="0">
              <a:off x="0" y="1897103"/>
              <a:ext cx="5297739" cy="30877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ChatGPT</a:t>
              </a:r>
              <a:r>
                <a:rPr lang="en-US" sz="2199">
                  <a:solidFill>
                    <a:srgbClr val="FFFFFF"/>
                  </a:solidFill>
                  <a:latin typeface="Clear Sans"/>
                  <a:ea typeface="Clear Sans"/>
                  <a:cs typeface="Clear Sans"/>
                  <a:sym typeface="Clear Sans"/>
                </a:rPr>
                <a:t> cung cấp khả năng tạo Unit Test vô cùng linh hoạt thông</a:t>
              </a:r>
              <a:r>
                <a:rPr lang="en-US" sz="2199">
                  <a:solidFill>
                    <a:srgbClr val="FFFFFF"/>
                  </a:solidFill>
                  <a:latin typeface="Clear Sans"/>
                  <a:ea typeface="Clear Sans"/>
                  <a:cs typeface="Clear Sans"/>
                  <a:sym typeface="Clear Sans"/>
                </a:rPr>
                <a:t> qua kỹ thuật Prompt Engineering chặt chẽ.</a:t>
              </a:r>
            </a:p>
            <a:p>
              <a:pPr algn="l">
                <a:lnSpc>
                  <a:spcPts val="3079"/>
                </a:lnSpc>
              </a:pPr>
            </a:p>
            <a:p>
              <a:pPr algn="l">
                <a:lnSpc>
                  <a:spcPts val="3079"/>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3242819"/>
            <a:ext cx="4885398" cy="6197731"/>
            <a:chOff x="0" y="0"/>
            <a:chExt cx="19016997" cy="24125409"/>
          </a:xfrm>
        </p:grpSpPr>
        <p:sp>
          <p:nvSpPr>
            <p:cNvPr name="Freeform 3" id="3"/>
            <p:cNvSpPr/>
            <p:nvPr/>
          </p:nvSpPr>
          <p:spPr>
            <a:xfrm flipH="false" flipV="false" rot="0">
              <a:off x="0" y="0"/>
              <a:ext cx="19016997" cy="24125410"/>
            </a:xfrm>
            <a:custGeom>
              <a:avLst/>
              <a:gdLst/>
              <a:ahLst/>
              <a:cxnLst/>
              <a:rect r="r" b="b" t="t" l="l"/>
              <a:pathLst>
                <a:path h="24125410" w="19016997">
                  <a:moveTo>
                    <a:pt x="18892537" y="59690"/>
                  </a:moveTo>
                  <a:cubicBezTo>
                    <a:pt x="18928097" y="59690"/>
                    <a:pt x="18957306" y="88900"/>
                    <a:pt x="18957306" y="124460"/>
                  </a:cubicBezTo>
                  <a:lnTo>
                    <a:pt x="18957306" y="24000949"/>
                  </a:lnTo>
                  <a:cubicBezTo>
                    <a:pt x="18957306" y="24036510"/>
                    <a:pt x="18928097" y="24065719"/>
                    <a:pt x="18892537" y="24065719"/>
                  </a:cubicBezTo>
                  <a:lnTo>
                    <a:pt x="124460" y="24065719"/>
                  </a:lnTo>
                  <a:cubicBezTo>
                    <a:pt x="88900" y="24065719"/>
                    <a:pt x="59690" y="24036510"/>
                    <a:pt x="59690" y="24000949"/>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24000949"/>
                  </a:lnTo>
                  <a:cubicBezTo>
                    <a:pt x="0" y="24069529"/>
                    <a:pt x="55880" y="24125410"/>
                    <a:pt x="124460" y="24125410"/>
                  </a:cubicBezTo>
                  <a:lnTo>
                    <a:pt x="18892537" y="24125410"/>
                  </a:lnTo>
                  <a:cubicBezTo>
                    <a:pt x="18961117" y="24125410"/>
                    <a:pt x="19016997" y="24069529"/>
                    <a:pt x="19016997" y="24000949"/>
                  </a:cubicBezTo>
                  <a:lnTo>
                    <a:pt x="19016997" y="124460"/>
                  </a:lnTo>
                  <a:cubicBezTo>
                    <a:pt x="19016997" y="55880"/>
                    <a:pt x="18961117" y="0"/>
                    <a:pt x="18892537" y="0"/>
                  </a:cubicBezTo>
                  <a:close/>
                </a:path>
              </a:pathLst>
            </a:custGeom>
            <a:solidFill>
              <a:srgbClr val="FFFFFF">
                <a:alpha val="49804"/>
              </a:srgbClr>
            </a:solidFill>
          </p:spPr>
        </p:sp>
      </p:grpSp>
      <p:sp>
        <p:nvSpPr>
          <p:cNvPr name="Freeform 4" id="4"/>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sp>
        <p:nvSpPr>
          <p:cNvPr name="Freeform 5" id="5"/>
          <p:cNvSpPr/>
          <p:nvPr/>
        </p:nvSpPr>
        <p:spPr>
          <a:xfrm flipH="false" flipV="false" rot="0">
            <a:off x="9390724" y="2700713"/>
            <a:ext cx="7054886" cy="7008472"/>
          </a:xfrm>
          <a:custGeom>
            <a:avLst/>
            <a:gdLst/>
            <a:ahLst/>
            <a:cxnLst/>
            <a:rect r="r" b="b" t="t" l="l"/>
            <a:pathLst>
              <a:path h="7008472" w="7054886">
                <a:moveTo>
                  <a:pt x="0" y="0"/>
                </a:moveTo>
                <a:lnTo>
                  <a:pt x="7054885" y="0"/>
                </a:lnTo>
                <a:lnTo>
                  <a:pt x="7054885" y="7008471"/>
                </a:lnTo>
                <a:lnTo>
                  <a:pt x="0" y="7008471"/>
                </a:lnTo>
                <a:lnTo>
                  <a:pt x="0" y="0"/>
                </a:lnTo>
                <a:close/>
              </a:path>
            </a:pathLst>
          </a:custGeom>
          <a:blipFill>
            <a:blip r:embed="rId3"/>
            <a:stretch>
              <a:fillRect l="0" t="0" r="0" b="0"/>
            </a:stretch>
          </a:blipFill>
        </p:spPr>
      </p:sp>
      <p:grpSp>
        <p:nvGrpSpPr>
          <p:cNvPr name="Group 6" id="6"/>
          <p:cNvGrpSpPr/>
          <p:nvPr/>
        </p:nvGrpSpPr>
        <p:grpSpPr>
          <a:xfrm rot="0">
            <a:off x="1028700" y="1287681"/>
            <a:ext cx="12084767" cy="866337"/>
            <a:chOff x="0" y="0"/>
            <a:chExt cx="16113022" cy="1155117"/>
          </a:xfrm>
        </p:grpSpPr>
        <p:sp>
          <p:nvSpPr>
            <p:cNvPr name="TextBox 7" id="7"/>
            <p:cNvSpPr txBox="true"/>
            <p:nvPr/>
          </p:nvSpPr>
          <p:spPr>
            <a:xfrm rot="0">
              <a:off x="0" y="-9525"/>
              <a:ext cx="16113022" cy="14446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G</a:t>
              </a:r>
              <a:r>
                <a:rPr lang="en-US" sz="7099" b="true">
                  <a:solidFill>
                    <a:srgbClr val="64E688"/>
                  </a:solidFill>
                  <a:latin typeface="Fira Sans Ultra-Bold"/>
                  <a:ea typeface="Fira Sans Ultra-Bold"/>
                  <a:cs typeface="Fira Sans Ultra-Bold"/>
                  <a:sym typeface="Fira Sans Ultra-Bold"/>
                </a:rPr>
                <a:t>iới thiệu Unit Test với GenAI</a:t>
              </a:r>
            </a:p>
          </p:txBody>
        </p:sp>
        <p:sp>
          <p:nvSpPr>
            <p:cNvPr name="TextBox 8" id="8"/>
            <p:cNvSpPr txBox="true"/>
            <p:nvPr/>
          </p:nvSpPr>
          <p:spPr>
            <a:xfrm rot="0">
              <a:off x="0" y="1786942"/>
              <a:ext cx="16113022" cy="587375"/>
            </a:xfrm>
            <a:prstGeom prst="rect">
              <a:avLst/>
            </a:prstGeom>
          </p:spPr>
          <p:txBody>
            <a:bodyPr anchor="t" rtlCol="false" tIns="0" lIns="0" bIns="0" rIns="0">
              <a:spAutoFit/>
            </a:bodyPr>
            <a:lstStyle/>
            <a:p>
              <a:pPr algn="l">
                <a:lnSpc>
                  <a:spcPts val="3599"/>
                </a:lnSpc>
              </a:pPr>
            </a:p>
          </p:txBody>
        </p:sp>
      </p:grpSp>
      <p:grpSp>
        <p:nvGrpSpPr>
          <p:cNvPr name="Group 9" id="9"/>
          <p:cNvGrpSpPr/>
          <p:nvPr/>
        </p:nvGrpSpPr>
        <p:grpSpPr>
          <a:xfrm rot="0">
            <a:off x="1484747" y="3919217"/>
            <a:ext cx="3973304" cy="4571462"/>
            <a:chOff x="0" y="0"/>
            <a:chExt cx="5297739" cy="6095283"/>
          </a:xfrm>
        </p:grpSpPr>
        <p:sp>
          <p:nvSpPr>
            <p:cNvPr name="TextBox 10" id="10"/>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Khởi tạo Unit</a:t>
              </a:r>
              <a:r>
                <a:rPr lang="en-US" sz="2600" b="true">
                  <a:solidFill>
                    <a:srgbClr val="64E688"/>
                  </a:solidFill>
                  <a:latin typeface="Clear Sans Medium"/>
                  <a:ea typeface="Clear Sans Medium"/>
                  <a:cs typeface="Clear Sans Medium"/>
                  <a:sym typeface="Clear Sans Medium"/>
                </a:rPr>
                <a:t> Test với GitHub Copilot</a:t>
              </a:r>
            </a:p>
          </p:txBody>
        </p:sp>
        <p:sp>
          <p:nvSpPr>
            <p:cNvPr name="TextBox 11" id="11"/>
            <p:cNvSpPr txBox="true"/>
            <p:nvPr/>
          </p:nvSpPr>
          <p:spPr>
            <a:xfrm rot="0">
              <a:off x="0" y="1966089"/>
              <a:ext cx="5297739" cy="41291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GenAI khô</a:t>
              </a:r>
              <a:r>
                <a:rPr lang="en-US" sz="2199">
                  <a:solidFill>
                    <a:srgbClr val="FFFFFF"/>
                  </a:solidFill>
                  <a:latin typeface="Clear Sans"/>
                  <a:ea typeface="Clear Sans"/>
                  <a:cs typeface="Clear Sans"/>
                  <a:sym typeface="Clear Sans"/>
                </a:rPr>
                <a:t>ng thay thế tư duy kiểm thử của kỹ sư phần mềm</a:t>
              </a:r>
              <a:r>
                <a:rPr lang="en-US" sz="2199">
                  <a:solidFill>
                    <a:srgbClr val="FFFFFF"/>
                  </a:solidFill>
                  <a:latin typeface="Clear Sans"/>
                  <a:ea typeface="Clear Sans"/>
                  <a:cs typeface="Clear Sans"/>
                  <a:sym typeface="Clear Sans"/>
                </a:rPr>
                <a:t>, nhưng nó tự động hóa triệt để phần mã lặp lại tẻ nhạt.</a:t>
              </a:r>
            </a:p>
            <a:p>
              <a:pPr algn="l">
                <a:lnSpc>
                  <a:spcPts val="3079"/>
                </a:lnSpc>
              </a:pPr>
            </a:p>
            <a:p>
              <a:pPr algn="l">
                <a:lnSpc>
                  <a:spcPts val="3079"/>
                </a:lnSpc>
              </a:pPr>
              <a:r>
                <a:rPr lang="en-US" sz="2200">
                  <a:solidFill>
                    <a:srgbClr val="FFFFFF"/>
                  </a:solidFill>
                  <a:latin typeface="Clear Sans"/>
                  <a:ea typeface="Clear Sans"/>
                  <a:cs typeface="Clear Sans"/>
                  <a:sym typeface="Clear Sans"/>
                </a:rPr>
                <a:t>Lập trình viên bôi đen hàm đó và sử dụng lệnh tích hợp </a:t>
              </a:r>
              <a:r>
                <a:rPr lang="en-US" sz="2200">
                  <a:solidFill>
                    <a:srgbClr val="64E688"/>
                  </a:solidFill>
                  <a:latin typeface="Clear Sans"/>
                  <a:ea typeface="Clear Sans"/>
                  <a:cs typeface="Clear Sans"/>
                  <a:sym typeface="Clear Sans"/>
                </a:rPr>
                <a:t>/tests</a:t>
              </a:r>
              <a:r>
                <a:rPr lang="en-US" sz="2200">
                  <a:solidFill>
                    <a:srgbClr val="FFFFFF"/>
                  </a:solidFill>
                  <a:latin typeface="Clear Sans"/>
                  <a:ea typeface="Clear Sans"/>
                  <a:cs typeface="Clear Sans"/>
                  <a:sym typeface="Clear Sans"/>
                </a:rPr>
                <a:t>.</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3242819"/>
            <a:ext cx="4885398" cy="6197731"/>
            <a:chOff x="0" y="0"/>
            <a:chExt cx="19016997" cy="24125409"/>
          </a:xfrm>
        </p:grpSpPr>
        <p:sp>
          <p:nvSpPr>
            <p:cNvPr name="Freeform 3" id="3"/>
            <p:cNvSpPr/>
            <p:nvPr/>
          </p:nvSpPr>
          <p:spPr>
            <a:xfrm flipH="false" flipV="false" rot="0">
              <a:off x="0" y="0"/>
              <a:ext cx="19016997" cy="24125410"/>
            </a:xfrm>
            <a:custGeom>
              <a:avLst/>
              <a:gdLst/>
              <a:ahLst/>
              <a:cxnLst/>
              <a:rect r="r" b="b" t="t" l="l"/>
              <a:pathLst>
                <a:path h="24125410" w="19016997">
                  <a:moveTo>
                    <a:pt x="18892537" y="59690"/>
                  </a:moveTo>
                  <a:cubicBezTo>
                    <a:pt x="18928097" y="59690"/>
                    <a:pt x="18957306" y="88900"/>
                    <a:pt x="18957306" y="124460"/>
                  </a:cubicBezTo>
                  <a:lnTo>
                    <a:pt x="18957306" y="24000949"/>
                  </a:lnTo>
                  <a:cubicBezTo>
                    <a:pt x="18957306" y="24036510"/>
                    <a:pt x="18928097" y="24065719"/>
                    <a:pt x="18892537" y="24065719"/>
                  </a:cubicBezTo>
                  <a:lnTo>
                    <a:pt x="124460" y="24065719"/>
                  </a:lnTo>
                  <a:cubicBezTo>
                    <a:pt x="88900" y="24065719"/>
                    <a:pt x="59690" y="24036510"/>
                    <a:pt x="59690" y="24000949"/>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24000949"/>
                  </a:lnTo>
                  <a:cubicBezTo>
                    <a:pt x="0" y="24069529"/>
                    <a:pt x="55880" y="24125410"/>
                    <a:pt x="124460" y="24125410"/>
                  </a:cubicBezTo>
                  <a:lnTo>
                    <a:pt x="18892537" y="24125410"/>
                  </a:lnTo>
                  <a:cubicBezTo>
                    <a:pt x="18961117" y="24125410"/>
                    <a:pt x="19016997" y="24069529"/>
                    <a:pt x="19016997" y="24000949"/>
                  </a:cubicBezTo>
                  <a:lnTo>
                    <a:pt x="19016997" y="124460"/>
                  </a:lnTo>
                  <a:cubicBezTo>
                    <a:pt x="19016997" y="55880"/>
                    <a:pt x="18961117" y="0"/>
                    <a:pt x="18892537" y="0"/>
                  </a:cubicBezTo>
                  <a:close/>
                </a:path>
              </a:pathLst>
            </a:custGeom>
            <a:solidFill>
              <a:srgbClr val="FFFFFF">
                <a:alpha val="49804"/>
              </a:srgbClr>
            </a:solidFill>
          </p:spPr>
        </p:sp>
      </p:grpSp>
      <p:sp>
        <p:nvSpPr>
          <p:cNvPr name="Freeform 4" id="4"/>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sp>
        <p:nvSpPr>
          <p:cNvPr name="Freeform 5" id="5"/>
          <p:cNvSpPr/>
          <p:nvPr/>
        </p:nvSpPr>
        <p:spPr>
          <a:xfrm flipH="false" flipV="false" rot="0">
            <a:off x="9144000" y="2581288"/>
            <a:ext cx="6729632" cy="7381599"/>
          </a:xfrm>
          <a:custGeom>
            <a:avLst/>
            <a:gdLst/>
            <a:ahLst/>
            <a:cxnLst/>
            <a:rect r="r" b="b" t="t" l="l"/>
            <a:pathLst>
              <a:path h="7381599" w="6729632">
                <a:moveTo>
                  <a:pt x="0" y="0"/>
                </a:moveTo>
                <a:lnTo>
                  <a:pt x="6729632" y="0"/>
                </a:lnTo>
                <a:lnTo>
                  <a:pt x="6729632" y="7381599"/>
                </a:lnTo>
                <a:lnTo>
                  <a:pt x="0" y="7381599"/>
                </a:lnTo>
                <a:lnTo>
                  <a:pt x="0" y="0"/>
                </a:lnTo>
                <a:close/>
              </a:path>
            </a:pathLst>
          </a:custGeom>
          <a:blipFill>
            <a:blip r:embed="rId3"/>
            <a:stretch>
              <a:fillRect l="0" t="0" r="0" b="0"/>
            </a:stretch>
          </a:blipFill>
        </p:spPr>
      </p:sp>
      <p:grpSp>
        <p:nvGrpSpPr>
          <p:cNvPr name="Group 6" id="6"/>
          <p:cNvGrpSpPr/>
          <p:nvPr/>
        </p:nvGrpSpPr>
        <p:grpSpPr>
          <a:xfrm rot="0">
            <a:off x="1028700" y="1287681"/>
            <a:ext cx="12084767" cy="866337"/>
            <a:chOff x="0" y="0"/>
            <a:chExt cx="16113022" cy="1155117"/>
          </a:xfrm>
        </p:grpSpPr>
        <p:sp>
          <p:nvSpPr>
            <p:cNvPr name="TextBox 7" id="7"/>
            <p:cNvSpPr txBox="true"/>
            <p:nvPr/>
          </p:nvSpPr>
          <p:spPr>
            <a:xfrm rot="0">
              <a:off x="0" y="-9525"/>
              <a:ext cx="16113022" cy="14446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G</a:t>
              </a:r>
              <a:r>
                <a:rPr lang="en-US" sz="7099" b="true">
                  <a:solidFill>
                    <a:srgbClr val="64E688"/>
                  </a:solidFill>
                  <a:latin typeface="Fira Sans Ultra-Bold"/>
                  <a:ea typeface="Fira Sans Ultra-Bold"/>
                  <a:cs typeface="Fira Sans Ultra-Bold"/>
                  <a:sym typeface="Fira Sans Ultra-Bold"/>
                </a:rPr>
                <a:t>iới thiệu Unit Test với GenAI</a:t>
              </a:r>
            </a:p>
          </p:txBody>
        </p:sp>
        <p:sp>
          <p:nvSpPr>
            <p:cNvPr name="TextBox 8" id="8"/>
            <p:cNvSpPr txBox="true"/>
            <p:nvPr/>
          </p:nvSpPr>
          <p:spPr>
            <a:xfrm rot="0">
              <a:off x="0" y="1786942"/>
              <a:ext cx="16113022" cy="587375"/>
            </a:xfrm>
            <a:prstGeom prst="rect">
              <a:avLst/>
            </a:prstGeom>
          </p:spPr>
          <p:txBody>
            <a:bodyPr anchor="t" rtlCol="false" tIns="0" lIns="0" bIns="0" rIns="0">
              <a:spAutoFit/>
            </a:bodyPr>
            <a:lstStyle/>
            <a:p>
              <a:pPr algn="l">
                <a:lnSpc>
                  <a:spcPts val="3599"/>
                </a:lnSpc>
              </a:pPr>
            </a:p>
          </p:txBody>
        </p:sp>
      </p:grpSp>
      <p:grpSp>
        <p:nvGrpSpPr>
          <p:cNvPr name="Group 9" id="9"/>
          <p:cNvGrpSpPr/>
          <p:nvPr/>
        </p:nvGrpSpPr>
        <p:grpSpPr>
          <a:xfrm rot="0">
            <a:off x="1484747" y="3919217"/>
            <a:ext cx="3973304" cy="4571462"/>
            <a:chOff x="0" y="0"/>
            <a:chExt cx="5297739" cy="6095283"/>
          </a:xfrm>
        </p:grpSpPr>
        <p:sp>
          <p:nvSpPr>
            <p:cNvPr name="TextBox 10" id="10"/>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Khởi tạo Unit</a:t>
              </a:r>
              <a:r>
                <a:rPr lang="en-US" sz="2600" b="true">
                  <a:solidFill>
                    <a:srgbClr val="64E688"/>
                  </a:solidFill>
                  <a:latin typeface="Clear Sans Medium"/>
                  <a:ea typeface="Clear Sans Medium"/>
                  <a:cs typeface="Clear Sans Medium"/>
                  <a:sym typeface="Clear Sans Medium"/>
                </a:rPr>
                <a:t> Test với GitHub Copilot</a:t>
              </a:r>
            </a:p>
          </p:txBody>
        </p:sp>
        <p:sp>
          <p:nvSpPr>
            <p:cNvPr name="TextBox 11" id="11"/>
            <p:cNvSpPr txBox="true"/>
            <p:nvPr/>
          </p:nvSpPr>
          <p:spPr>
            <a:xfrm rot="0">
              <a:off x="0" y="1966089"/>
              <a:ext cx="5297739" cy="41291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GenAI khô</a:t>
              </a:r>
              <a:r>
                <a:rPr lang="en-US" sz="2199">
                  <a:solidFill>
                    <a:srgbClr val="FFFFFF"/>
                  </a:solidFill>
                  <a:latin typeface="Clear Sans"/>
                  <a:ea typeface="Clear Sans"/>
                  <a:cs typeface="Clear Sans"/>
                  <a:sym typeface="Clear Sans"/>
                </a:rPr>
                <a:t>ng thay thế tư duy kiểm thử của kỹ sư phần mềm</a:t>
              </a:r>
              <a:r>
                <a:rPr lang="en-US" sz="2199">
                  <a:solidFill>
                    <a:srgbClr val="FFFFFF"/>
                  </a:solidFill>
                  <a:latin typeface="Clear Sans"/>
                  <a:ea typeface="Clear Sans"/>
                  <a:cs typeface="Clear Sans"/>
                  <a:sym typeface="Clear Sans"/>
                </a:rPr>
                <a:t>, nhưng nó tự động hóa triệt để phần mã lặp lại tẻ nhạt.</a:t>
              </a:r>
            </a:p>
            <a:p>
              <a:pPr algn="l">
                <a:lnSpc>
                  <a:spcPts val="3079"/>
                </a:lnSpc>
              </a:pPr>
            </a:p>
            <a:p>
              <a:pPr algn="l">
                <a:lnSpc>
                  <a:spcPts val="3079"/>
                </a:lnSpc>
              </a:pPr>
              <a:r>
                <a:rPr lang="en-US" sz="2200">
                  <a:solidFill>
                    <a:srgbClr val="FFFFFF"/>
                  </a:solidFill>
                  <a:latin typeface="Clear Sans"/>
                  <a:ea typeface="Clear Sans"/>
                  <a:cs typeface="Clear Sans"/>
                  <a:sym typeface="Clear Sans"/>
                </a:rPr>
                <a:t>Lập trình viên bôi đen hàm đó và sử dụng lệnh tích hợp </a:t>
              </a:r>
              <a:r>
                <a:rPr lang="en-US" sz="2200">
                  <a:solidFill>
                    <a:srgbClr val="64E688"/>
                  </a:solidFill>
                  <a:latin typeface="Clear Sans"/>
                  <a:ea typeface="Clear Sans"/>
                  <a:cs typeface="Clear Sans"/>
                  <a:sym typeface="Clear Sans"/>
                </a:rPr>
                <a:t>/tests</a:t>
              </a:r>
              <a:r>
                <a:rPr lang="en-US" sz="2200">
                  <a:solidFill>
                    <a:srgbClr val="FFFFFF"/>
                  </a:solidFill>
                  <a:latin typeface="Clear Sans"/>
                  <a:ea typeface="Clear Sans"/>
                  <a:cs typeface="Clear Sans"/>
                  <a:sym typeface="Clear Sans"/>
                </a:rPr>
                <a:t>.</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4110134"/>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4" id="4"/>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sp>
        <p:nvSpPr>
          <p:cNvPr name="Freeform 5" id="5"/>
          <p:cNvSpPr/>
          <p:nvPr/>
        </p:nvSpPr>
        <p:spPr>
          <a:xfrm flipH="false" flipV="false" rot="0">
            <a:off x="10129331" y="648656"/>
            <a:ext cx="7389357" cy="8989689"/>
          </a:xfrm>
          <a:custGeom>
            <a:avLst/>
            <a:gdLst/>
            <a:ahLst/>
            <a:cxnLst/>
            <a:rect r="r" b="b" t="t" l="l"/>
            <a:pathLst>
              <a:path h="8989689" w="7389357">
                <a:moveTo>
                  <a:pt x="0" y="0"/>
                </a:moveTo>
                <a:lnTo>
                  <a:pt x="7389357" y="0"/>
                </a:lnTo>
                <a:lnTo>
                  <a:pt x="7389357" y="8989688"/>
                </a:lnTo>
                <a:lnTo>
                  <a:pt x="0" y="8989688"/>
                </a:lnTo>
                <a:lnTo>
                  <a:pt x="0" y="0"/>
                </a:lnTo>
                <a:close/>
              </a:path>
            </a:pathLst>
          </a:custGeom>
          <a:blipFill>
            <a:blip r:embed="rId3"/>
            <a:stretch>
              <a:fillRect l="0" t="0" r="0" b="0"/>
            </a:stretch>
          </a:blipFill>
        </p:spPr>
      </p:sp>
      <p:grpSp>
        <p:nvGrpSpPr>
          <p:cNvPr name="Group 6" id="6"/>
          <p:cNvGrpSpPr/>
          <p:nvPr/>
        </p:nvGrpSpPr>
        <p:grpSpPr>
          <a:xfrm rot="0">
            <a:off x="1028700" y="1287681"/>
            <a:ext cx="8784017" cy="2857062"/>
            <a:chOff x="0" y="0"/>
            <a:chExt cx="11712023" cy="3809417"/>
          </a:xfrm>
        </p:grpSpPr>
        <p:sp>
          <p:nvSpPr>
            <p:cNvPr name="TextBox 7" id="7"/>
            <p:cNvSpPr txBox="true"/>
            <p:nvPr/>
          </p:nvSpPr>
          <p:spPr>
            <a:xfrm rot="0">
              <a:off x="0" y="-9525"/>
              <a:ext cx="11712023" cy="28797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G</a:t>
              </a:r>
              <a:r>
                <a:rPr lang="en-US" sz="7099" b="true">
                  <a:solidFill>
                    <a:srgbClr val="64E688"/>
                  </a:solidFill>
                  <a:latin typeface="Fira Sans Ultra-Bold"/>
                  <a:ea typeface="Fira Sans Ultra-Bold"/>
                  <a:cs typeface="Fira Sans Ultra-Bold"/>
                  <a:sym typeface="Fira Sans Ultra-Bold"/>
                </a:rPr>
                <a:t>iới thiệu Unit Test với GenAI</a:t>
              </a:r>
            </a:p>
          </p:txBody>
        </p:sp>
        <p:sp>
          <p:nvSpPr>
            <p:cNvPr name="TextBox 8" id="8"/>
            <p:cNvSpPr txBox="true"/>
            <p:nvPr/>
          </p:nvSpPr>
          <p:spPr>
            <a:xfrm rot="0">
              <a:off x="0" y="3222042"/>
              <a:ext cx="11712023" cy="587375"/>
            </a:xfrm>
            <a:prstGeom prst="rect">
              <a:avLst/>
            </a:prstGeom>
          </p:spPr>
          <p:txBody>
            <a:bodyPr anchor="t" rtlCol="false" tIns="0" lIns="0" bIns="0" rIns="0">
              <a:spAutoFit/>
            </a:bodyPr>
            <a:lstStyle/>
            <a:p>
              <a:pPr algn="l">
                <a:lnSpc>
                  <a:spcPts val="3599"/>
                </a:lnSpc>
              </a:pPr>
            </a:p>
          </p:txBody>
        </p:sp>
      </p:grpSp>
      <p:grpSp>
        <p:nvGrpSpPr>
          <p:cNvPr name="Group 9" id="9"/>
          <p:cNvGrpSpPr/>
          <p:nvPr/>
        </p:nvGrpSpPr>
        <p:grpSpPr>
          <a:xfrm rot="0">
            <a:off x="1484747" y="4322886"/>
            <a:ext cx="3973304" cy="3738672"/>
            <a:chOff x="0" y="0"/>
            <a:chExt cx="5297739" cy="4984896"/>
          </a:xfrm>
        </p:grpSpPr>
        <p:sp>
          <p:nvSpPr>
            <p:cNvPr name="TextBox 10" id="10"/>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Khởi </a:t>
              </a:r>
              <a:r>
                <a:rPr lang="en-US" sz="2600" b="true">
                  <a:solidFill>
                    <a:srgbClr val="64E688"/>
                  </a:solidFill>
                  <a:latin typeface="Clear Sans Medium"/>
                  <a:ea typeface="Clear Sans Medium"/>
                  <a:cs typeface="Clear Sans Medium"/>
                  <a:sym typeface="Clear Sans Medium"/>
                </a:rPr>
                <a:t>tạo Unit Test với ChatGPT</a:t>
              </a:r>
            </a:p>
          </p:txBody>
        </p:sp>
        <p:sp>
          <p:nvSpPr>
            <p:cNvPr name="TextBox 11" id="11"/>
            <p:cNvSpPr txBox="true"/>
            <p:nvPr/>
          </p:nvSpPr>
          <p:spPr>
            <a:xfrm rot="0">
              <a:off x="0" y="1897103"/>
              <a:ext cx="5297739" cy="30877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ChatGPT</a:t>
              </a:r>
              <a:r>
                <a:rPr lang="en-US" sz="2199">
                  <a:solidFill>
                    <a:srgbClr val="FFFFFF"/>
                  </a:solidFill>
                  <a:latin typeface="Clear Sans"/>
                  <a:ea typeface="Clear Sans"/>
                  <a:cs typeface="Clear Sans"/>
                  <a:sym typeface="Clear Sans"/>
                </a:rPr>
                <a:t> cung cấp khả năng tạo Unit Test vô cùng linh hoạt thông</a:t>
              </a:r>
              <a:r>
                <a:rPr lang="en-US" sz="2199">
                  <a:solidFill>
                    <a:srgbClr val="FFFFFF"/>
                  </a:solidFill>
                  <a:latin typeface="Clear Sans"/>
                  <a:ea typeface="Clear Sans"/>
                  <a:cs typeface="Clear Sans"/>
                  <a:sym typeface="Clear Sans"/>
                </a:rPr>
                <a:t> qua kỹ thuật Prompt Engineering chặt chẽ.</a:t>
              </a:r>
            </a:p>
            <a:p>
              <a:pPr algn="l">
                <a:lnSpc>
                  <a:spcPts val="3079"/>
                </a:lnSpc>
              </a:pPr>
            </a:p>
            <a:p>
              <a:pPr algn="l">
                <a:lnSpc>
                  <a:spcPts val="3079"/>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4110134"/>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4" id="4"/>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sp>
        <p:nvSpPr>
          <p:cNvPr name="Freeform 5" id="5"/>
          <p:cNvSpPr/>
          <p:nvPr/>
        </p:nvSpPr>
        <p:spPr>
          <a:xfrm flipH="false" flipV="false" rot="0">
            <a:off x="10309696" y="1628770"/>
            <a:ext cx="6666646" cy="7824473"/>
          </a:xfrm>
          <a:custGeom>
            <a:avLst/>
            <a:gdLst/>
            <a:ahLst/>
            <a:cxnLst/>
            <a:rect r="r" b="b" t="t" l="l"/>
            <a:pathLst>
              <a:path h="7824473" w="6666646">
                <a:moveTo>
                  <a:pt x="0" y="0"/>
                </a:moveTo>
                <a:lnTo>
                  <a:pt x="6666646" y="0"/>
                </a:lnTo>
                <a:lnTo>
                  <a:pt x="6666646" y="7824473"/>
                </a:lnTo>
                <a:lnTo>
                  <a:pt x="0" y="7824473"/>
                </a:lnTo>
                <a:lnTo>
                  <a:pt x="0" y="0"/>
                </a:lnTo>
                <a:close/>
              </a:path>
            </a:pathLst>
          </a:custGeom>
          <a:blipFill>
            <a:blip r:embed="rId3"/>
            <a:stretch>
              <a:fillRect l="0" t="0" r="0" b="0"/>
            </a:stretch>
          </a:blipFill>
        </p:spPr>
      </p:sp>
      <p:grpSp>
        <p:nvGrpSpPr>
          <p:cNvPr name="Group 6" id="6"/>
          <p:cNvGrpSpPr/>
          <p:nvPr/>
        </p:nvGrpSpPr>
        <p:grpSpPr>
          <a:xfrm rot="0">
            <a:off x="1028700" y="1287681"/>
            <a:ext cx="8784017" cy="2857062"/>
            <a:chOff x="0" y="0"/>
            <a:chExt cx="11712023" cy="3809417"/>
          </a:xfrm>
        </p:grpSpPr>
        <p:sp>
          <p:nvSpPr>
            <p:cNvPr name="TextBox 7" id="7"/>
            <p:cNvSpPr txBox="true"/>
            <p:nvPr/>
          </p:nvSpPr>
          <p:spPr>
            <a:xfrm rot="0">
              <a:off x="0" y="-9525"/>
              <a:ext cx="11712023" cy="28797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G</a:t>
              </a:r>
              <a:r>
                <a:rPr lang="en-US" sz="7099" b="true">
                  <a:solidFill>
                    <a:srgbClr val="64E688"/>
                  </a:solidFill>
                  <a:latin typeface="Fira Sans Ultra-Bold"/>
                  <a:ea typeface="Fira Sans Ultra-Bold"/>
                  <a:cs typeface="Fira Sans Ultra-Bold"/>
                  <a:sym typeface="Fira Sans Ultra-Bold"/>
                </a:rPr>
                <a:t>iới thiệu Unit Test với GenAI</a:t>
              </a:r>
            </a:p>
          </p:txBody>
        </p:sp>
        <p:sp>
          <p:nvSpPr>
            <p:cNvPr name="TextBox 8" id="8"/>
            <p:cNvSpPr txBox="true"/>
            <p:nvPr/>
          </p:nvSpPr>
          <p:spPr>
            <a:xfrm rot="0">
              <a:off x="0" y="3222042"/>
              <a:ext cx="11712023" cy="587375"/>
            </a:xfrm>
            <a:prstGeom prst="rect">
              <a:avLst/>
            </a:prstGeom>
          </p:spPr>
          <p:txBody>
            <a:bodyPr anchor="t" rtlCol="false" tIns="0" lIns="0" bIns="0" rIns="0">
              <a:spAutoFit/>
            </a:bodyPr>
            <a:lstStyle/>
            <a:p>
              <a:pPr algn="l">
                <a:lnSpc>
                  <a:spcPts val="3599"/>
                </a:lnSpc>
              </a:pPr>
            </a:p>
          </p:txBody>
        </p:sp>
      </p:grpSp>
      <p:grpSp>
        <p:nvGrpSpPr>
          <p:cNvPr name="Group 9" id="9"/>
          <p:cNvGrpSpPr/>
          <p:nvPr/>
        </p:nvGrpSpPr>
        <p:grpSpPr>
          <a:xfrm rot="0">
            <a:off x="1484747" y="4322886"/>
            <a:ext cx="3973304" cy="3738672"/>
            <a:chOff x="0" y="0"/>
            <a:chExt cx="5297739" cy="4984896"/>
          </a:xfrm>
        </p:grpSpPr>
        <p:sp>
          <p:nvSpPr>
            <p:cNvPr name="TextBox 10" id="10"/>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Khởi </a:t>
              </a:r>
              <a:r>
                <a:rPr lang="en-US" sz="2600" b="true">
                  <a:solidFill>
                    <a:srgbClr val="64E688"/>
                  </a:solidFill>
                  <a:latin typeface="Clear Sans Medium"/>
                  <a:ea typeface="Clear Sans Medium"/>
                  <a:cs typeface="Clear Sans Medium"/>
                  <a:sym typeface="Clear Sans Medium"/>
                </a:rPr>
                <a:t>tạo Unit Test với ChatGPT</a:t>
              </a:r>
            </a:p>
          </p:txBody>
        </p:sp>
        <p:sp>
          <p:nvSpPr>
            <p:cNvPr name="TextBox 11" id="11"/>
            <p:cNvSpPr txBox="true"/>
            <p:nvPr/>
          </p:nvSpPr>
          <p:spPr>
            <a:xfrm rot="0">
              <a:off x="0" y="1897103"/>
              <a:ext cx="5297739" cy="30877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ChatGPT</a:t>
              </a:r>
              <a:r>
                <a:rPr lang="en-US" sz="2199">
                  <a:solidFill>
                    <a:srgbClr val="FFFFFF"/>
                  </a:solidFill>
                  <a:latin typeface="Clear Sans"/>
                  <a:ea typeface="Clear Sans"/>
                  <a:cs typeface="Clear Sans"/>
                  <a:sym typeface="Clear Sans"/>
                </a:rPr>
                <a:t> cung cấp khả năng tạo Unit Test vô cùng linh hoạt thông</a:t>
              </a:r>
              <a:r>
                <a:rPr lang="en-US" sz="2199">
                  <a:solidFill>
                    <a:srgbClr val="FFFFFF"/>
                  </a:solidFill>
                  <a:latin typeface="Clear Sans"/>
                  <a:ea typeface="Clear Sans"/>
                  <a:cs typeface="Clear Sans"/>
                  <a:sym typeface="Clear Sans"/>
                </a:rPr>
                <a:t> qua kỹ thuật Prompt Engineering chặt chẽ.</a:t>
              </a:r>
            </a:p>
            <a:p>
              <a:pPr algn="l">
                <a:lnSpc>
                  <a:spcPts val="3079"/>
                </a:lnSpc>
              </a:pPr>
            </a:p>
            <a:p>
              <a:pPr algn="l">
                <a:lnSpc>
                  <a:spcPts val="3079"/>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510547" y="1872723"/>
            <a:ext cx="6629597" cy="6541553"/>
            <a:chOff x="0" y="0"/>
            <a:chExt cx="25806498" cy="25463779"/>
          </a:xfrm>
        </p:grpSpPr>
        <p:sp>
          <p:nvSpPr>
            <p:cNvPr name="Freeform 3" id="3"/>
            <p:cNvSpPr/>
            <p:nvPr/>
          </p:nvSpPr>
          <p:spPr>
            <a:xfrm flipH="false" flipV="false" rot="0">
              <a:off x="0" y="0"/>
              <a:ext cx="25806498" cy="25463779"/>
            </a:xfrm>
            <a:custGeom>
              <a:avLst/>
              <a:gdLst/>
              <a:ahLst/>
              <a:cxnLst/>
              <a:rect r="r" b="b" t="t" l="l"/>
              <a:pathLst>
                <a:path h="25463779" w="25806498">
                  <a:moveTo>
                    <a:pt x="25682039" y="59690"/>
                  </a:moveTo>
                  <a:cubicBezTo>
                    <a:pt x="25717598" y="59690"/>
                    <a:pt x="25746808" y="88900"/>
                    <a:pt x="25746808" y="124460"/>
                  </a:cubicBezTo>
                  <a:lnTo>
                    <a:pt x="25746808" y="25339318"/>
                  </a:lnTo>
                  <a:cubicBezTo>
                    <a:pt x="25746808" y="25374879"/>
                    <a:pt x="25717598" y="25404088"/>
                    <a:pt x="25682039" y="25404088"/>
                  </a:cubicBezTo>
                  <a:lnTo>
                    <a:pt x="124460" y="25404088"/>
                  </a:lnTo>
                  <a:cubicBezTo>
                    <a:pt x="88900" y="25404088"/>
                    <a:pt x="59690" y="25374879"/>
                    <a:pt x="59690" y="25339318"/>
                  </a:cubicBezTo>
                  <a:lnTo>
                    <a:pt x="59690" y="124460"/>
                  </a:lnTo>
                  <a:cubicBezTo>
                    <a:pt x="59690" y="88900"/>
                    <a:pt x="88900" y="59690"/>
                    <a:pt x="124460" y="59690"/>
                  </a:cubicBezTo>
                  <a:lnTo>
                    <a:pt x="25682039" y="59690"/>
                  </a:lnTo>
                  <a:moveTo>
                    <a:pt x="25682039" y="0"/>
                  </a:moveTo>
                  <a:lnTo>
                    <a:pt x="124460" y="0"/>
                  </a:lnTo>
                  <a:cubicBezTo>
                    <a:pt x="55880" y="0"/>
                    <a:pt x="0" y="55880"/>
                    <a:pt x="0" y="124460"/>
                  </a:cubicBezTo>
                  <a:lnTo>
                    <a:pt x="0" y="25339318"/>
                  </a:lnTo>
                  <a:cubicBezTo>
                    <a:pt x="0" y="25407899"/>
                    <a:pt x="55880" y="25463779"/>
                    <a:pt x="124460" y="25463779"/>
                  </a:cubicBezTo>
                  <a:lnTo>
                    <a:pt x="25682039" y="25463779"/>
                  </a:lnTo>
                  <a:cubicBezTo>
                    <a:pt x="25750619" y="25463779"/>
                    <a:pt x="25806498" y="25407899"/>
                    <a:pt x="25806498" y="25339318"/>
                  </a:cubicBezTo>
                  <a:lnTo>
                    <a:pt x="25806498" y="124460"/>
                  </a:lnTo>
                  <a:cubicBezTo>
                    <a:pt x="25806498" y="55880"/>
                    <a:pt x="25750619" y="0"/>
                    <a:pt x="25682039" y="0"/>
                  </a:cubicBezTo>
                  <a:close/>
                </a:path>
              </a:pathLst>
            </a:custGeom>
            <a:solidFill>
              <a:srgbClr val="64E688">
                <a:alpha val="49804"/>
              </a:srgbClr>
            </a:solidFill>
          </p:spPr>
        </p:sp>
      </p:grpSp>
      <p:sp>
        <p:nvSpPr>
          <p:cNvPr name="Freeform 4" id="4"/>
          <p:cNvSpPr/>
          <p:nvPr/>
        </p:nvSpPr>
        <p:spPr>
          <a:xfrm flipH="false" flipV="false" rot="2465065">
            <a:off x="16247530" y="7302882"/>
            <a:ext cx="1056828" cy="1833975"/>
          </a:xfrm>
          <a:custGeom>
            <a:avLst/>
            <a:gdLst/>
            <a:ahLst/>
            <a:cxnLst/>
            <a:rect r="r" b="b" t="t" l="l"/>
            <a:pathLst>
              <a:path h="1833975" w="1056828">
                <a:moveTo>
                  <a:pt x="0" y="0"/>
                </a:moveTo>
                <a:lnTo>
                  <a:pt x="1056829" y="0"/>
                </a:lnTo>
                <a:lnTo>
                  <a:pt x="1056829" y="1833975"/>
                </a:lnTo>
                <a:lnTo>
                  <a:pt x="0" y="1833975"/>
                </a:lnTo>
                <a:lnTo>
                  <a:pt x="0" y="0"/>
                </a:lnTo>
                <a:close/>
              </a:path>
            </a:pathLst>
          </a:custGeom>
          <a:blipFill>
            <a:blip r:embed="rId2"/>
            <a:stretch>
              <a:fillRect l="0" t="0" r="0" b="0"/>
            </a:stretch>
          </a:blipFill>
        </p:spPr>
      </p:sp>
      <p:sp>
        <p:nvSpPr>
          <p:cNvPr name="Freeform 5" id="5"/>
          <p:cNvSpPr/>
          <p:nvPr/>
        </p:nvSpPr>
        <p:spPr>
          <a:xfrm flipH="false" flipV="false" rot="-4397849">
            <a:off x="10019893" y="1576371"/>
            <a:ext cx="1709706" cy="1568656"/>
          </a:xfrm>
          <a:custGeom>
            <a:avLst/>
            <a:gdLst/>
            <a:ahLst/>
            <a:cxnLst/>
            <a:rect r="r" b="b" t="t" l="l"/>
            <a:pathLst>
              <a:path h="1568656" w="1709706">
                <a:moveTo>
                  <a:pt x="0" y="0"/>
                </a:moveTo>
                <a:lnTo>
                  <a:pt x="1709706" y="0"/>
                </a:lnTo>
                <a:lnTo>
                  <a:pt x="1709706" y="1568656"/>
                </a:lnTo>
                <a:lnTo>
                  <a:pt x="0" y="1568656"/>
                </a:lnTo>
                <a:lnTo>
                  <a:pt x="0" y="0"/>
                </a:lnTo>
                <a:close/>
              </a:path>
            </a:pathLst>
          </a:custGeom>
          <a:blipFill>
            <a:blip r:embed="rId3"/>
            <a:stretch>
              <a:fillRect l="0" t="0" r="0" b="0"/>
            </a:stretch>
          </a:blipFill>
        </p:spPr>
      </p:sp>
      <p:sp>
        <p:nvSpPr>
          <p:cNvPr name="Freeform 6" id="6"/>
          <p:cNvSpPr/>
          <p:nvPr/>
        </p:nvSpPr>
        <p:spPr>
          <a:xfrm flipH="false" flipV="false" rot="0">
            <a:off x="9144000" y="3284976"/>
            <a:ext cx="8899810" cy="3717048"/>
          </a:xfrm>
          <a:custGeom>
            <a:avLst/>
            <a:gdLst/>
            <a:ahLst/>
            <a:cxnLst/>
            <a:rect r="r" b="b" t="t" l="l"/>
            <a:pathLst>
              <a:path h="3717048" w="8899810">
                <a:moveTo>
                  <a:pt x="0" y="0"/>
                </a:moveTo>
                <a:lnTo>
                  <a:pt x="8899810" y="0"/>
                </a:lnTo>
                <a:lnTo>
                  <a:pt x="8899810" y="3717048"/>
                </a:lnTo>
                <a:lnTo>
                  <a:pt x="0" y="3717048"/>
                </a:lnTo>
                <a:lnTo>
                  <a:pt x="0" y="0"/>
                </a:lnTo>
                <a:close/>
              </a:path>
            </a:pathLst>
          </a:custGeom>
          <a:blipFill>
            <a:blip r:embed="rId4"/>
            <a:stretch>
              <a:fillRect l="0" t="0" r="0" b="0"/>
            </a:stretch>
          </a:blipFill>
        </p:spPr>
      </p:sp>
      <p:grpSp>
        <p:nvGrpSpPr>
          <p:cNvPr name="Group 7" id="7"/>
          <p:cNvGrpSpPr/>
          <p:nvPr/>
        </p:nvGrpSpPr>
        <p:grpSpPr>
          <a:xfrm rot="0">
            <a:off x="852322" y="3080538"/>
            <a:ext cx="7138441" cy="4125925"/>
            <a:chOff x="0" y="0"/>
            <a:chExt cx="9517921" cy="5501233"/>
          </a:xfrm>
        </p:grpSpPr>
        <p:sp>
          <p:nvSpPr>
            <p:cNvPr name="TextBox 8" id="8"/>
            <p:cNvSpPr txBox="true"/>
            <p:nvPr/>
          </p:nvSpPr>
          <p:spPr>
            <a:xfrm rot="0">
              <a:off x="0" y="-9525"/>
              <a:ext cx="9517921" cy="2244725"/>
            </a:xfrm>
            <a:prstGeom prst="rect">
              <a:avLst/>
            </a:prstGeom>
          </p:spPr>
          <p:txBody>
            <a:bodyPr anchor="t" rtlCol="false" tIns="0" lIns="0" bIns="0" rIns="0">
              <a:spAutoFit/>
            </a:bodyPr>
            <a:lstStyle/>
            <a:p>
              <a:pPr algn="l">
                <a:lnSpc>
                  <a:spcPts val="6600"/>
                </a:lnSpc>
              </a:pPr>
              <a:r>
                <a:rPr lang="en-US" sz="5500" b="true">
                  <a:solidFill>
                    <a:srgbClr val="FFFFFF"/>
                  </a:solidFill>
                  <a:latin typeface="Fira Sans Ultra-Bold"/>
                  <a:ea typeface="Fira Sans Ultra-Bold"/>
                  <a:cs typeface="Fira Sans Ultra-Bold"/>
                  <a:sym typeface="Fira Sans Ultra-Bold"/>
                </a:rPr>
                <a:t>Tối ưu hóa với Kiểm thử hướng dữ liệu</a:t>
              </a:r>
            </a:p>
          </p:txBody>
        </p:sp>
        <p:sp>
          <p:nvSpPr>
            <p:cNvPr name="TextBox 9" id="9"/>
            <p:cNvSpPr txBox="true"/>
            <p:nvPr/>
          </p:nvSpPr>
          <p:spPr>
            <a:xfrm rot="0">
              <a:off x="0" y="2869430"/>
              <a:ext cx="9517921" cy="644737"/>
            </a:xfrm>
            <a:prstGeom prst="rect">
              <a:avLst/>
            </a:prstGeom>
          </p:spPr>
          <p:txBody>
            <a:bodyPr anchor="t" rtlCol="false" tIns="0" lIns="0" bIns="0" rIns="0">
              <a:spAutoFit/>
            </a:bodyPr>
            <a:lstStyle/>
            <a:p>
              <a:pPr algn="l">
                <a:lnSpc>
                  <a:spcPts val="4059"/>
                </a:lnSpc>
              </a:pPr>
              <a:r>
                <a:rPr lang="en-US" sz="2899">
                  <a:solidFill>
                    <a:srgbClr val="64E688"/>
                  </a:solidFill>
                  <a:latin typeface="Clear Sans"/>
                  <a:ea typeface="Clear Sans"/>
                  <a:cs typeface="Clear Sans"/>
                  <a:sym typeface="Clear Sans"/>
                </a:rPr>
                <a:t>VƯỢT QUA GIỚI HẠN CỦA KIỂM THỬ TĨNH</a:t>
              </a:r>
            </a:p>
          </p:txBody>
        </p:sp>
        <p:sp>
          <p:nvSpPr>
            <p:cNvPr name="TextBox 10" id="10"/>
            <p:cNvSpPr txBox="true"/>
            <p:nvPr/>
          </p:nvSpPr>
          <p:spPr>
            <a:xfrm rot="0">
              <a:off x="0" y="4357598"/>
              <a:ext cx="9517921" cy="1107440"/>
            </a:xfrm>
            <a:prstGeom prst="rect">
              <a:avLst/>
            </a:prstGeom>
          </p:spPr>
          <p:txBody>
            <a:bodyPr anchor="t" rtlCol="false" tIns="0" lIns="0" bIns="0" rIns="0">
              <a:spAutoFit/>
            </a:bodyPr>
            <a:lstStyle/>
            <a:p>
              <a:pPr algn="l">
                <a:lnSpc>
                  <a:spcPts val="3487"/>
                </a:lnSpc>
              </a:pPr>
              <a:r>
                <a:rPr lang="en-US" sz="2325">
                  <a:solidFill>
                    <a:srgbClr val="FFFFFF"/>
                  </a:solidFill>
                  <a:latin typeface="Clear Sans"/>
                  <a:ea typeface="Clear Sans"/>
                  <a:cs typeface="Clear Sans"/>
                  <a:sym typeface="Clear Sans"/>
                </a:rPr>
                <a:t>Data-drive</a:t>
              </a:r>
              <a:r>
                <a:rPr lang="en-US" sz="2325">
                  <a:solidFill>
                    <a:srgbClr val="FFFFFF"/>
                  </a:solidFill>
                  <a:latin typeface="Clear Sans"/>
                  <a:ea typeface="Clear Sans"/>
                  <a:cs typeface="Clear Sans"/>
                  <a:sym typeface="Clear Sans"/>
                </a:rPr>
                <a:t>n test sử dụng một danh sách các cặp giá trị (đầu vào, kết quả kỳ vọng) và lặp qua chúng.</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9655164" y="1028700"/>
            <a:ext cx="8340363" cy="8229600"/>
            <a:chOff x="0" y="0"/>
            <a:chExt cx="25806498" cy="25463779"/>
          </a:xfrm>
        </p:grpSpPr>
        <p:sp>
          <p:nvSpPr>
            <p:cNvPr name="Freeform 3" id="3"/>
            <p:cNvSpPr/>
            <p:nvPr/>
          </p:nvSpPr>
          <p:spPr>
            <a:xfrm flipH="false" flipV="false" rot="0">
              <a:off x="0" y="0"/>
              <a:ext cx="25806498" cy="25463779"/>
            </a:xfrm>
            <a:custGeom>
              <a:avLst/>
              <a:gdLst/>
              <a:ahLst/>
              <a:cxnLst/>
              <a:rect r="r" b="b" t="t" l="l"/>
              <a:pathLst>
                <a:path h="25463779" w="25806498">
                  <a:moveTo>
                    <a:pt x="25682039" y="59690"/>
                  </a:moveTo>
                  <a:cubicBezTo>
                    <a:pt x="25717598" y="59690"/>
                    <a:pt x="25746808" y="88900"/>
                    <a:pt x="25746808" y="124460"/>
                  </a:cubicBezTo>
                  <a:lnTo>
                    <a:pt x="25746808" y="25339318"/>
                  </a:lnTo>
                  <a:cubicBezTo>
                    <a:pt x="25746808" y="25374879"/>
                    <a:pt x="25717598" y="25404088"/>
                    <a:pt x="25682039" y="25404088"/>
                  </a:cubicBezTo>
                  <a:lnTo>
                    <a:pt x="124460" y="25404088"/>
                  </a:lnTo>
                  <a:cubicBezTo>
                    <a:pt x="88900" y="25404088"/>
                    <a:pt x="59690" y="25374879"/>
                    <a:pt x="59690" y="25339318"/>
                  </a:cubicBezTo>
                  <a:lnTo>
                    <a:pt x="59690" y="124460"/>
                  </a:lnTo>
                  <a:cubicBezTo>
                    <a:pt x="59690" y="88900"/>
                    <a:pt x="88900" y="59690"/>
                    <a:pt x="124460" y="59690"/>
                  </a:cubicBezTo>
                  <a:lnTo>
                    <a:pt x="25682039" y="59690"/>
                  </a:lnTo>
                  <a:moveTo>
                    <a:pt x="25682039" y="0"/>
                  </a:moveTo>
                  <a:lnTo>
                    <a:pt x="124460" y="0"/>
                  </a:lnTo>
                  <a:cubicBezTo>
                    <a:pt x="55880" y="0"/>
                    <a:pt x="0" y="55880"/>
                    <a:pt x="0" y="124460"/>
                  </a:cubicBezTo>
                  <a:lnTo>
                    <a:pt x="0" y="25339318"/>
                  </a:lnTo>
                  <a:cubicBezTo>
                    <a:pt x="0" y="25407899"/>
                    <a:pt x="55880" y="25463779"/>
                    <a:pt x="124460" y="25463779"/>
                  </a:cubicBezTo>
                  <a:lnTo>
                    <a:pt x="25682039" y="25463779"/>
                  </a:lnTo>
                  <a:cubicBezTo>
                    <a:pt x="25750619" y="25463779"/>
                    <a:pt x="25806498" y="25407899"/>
                    <a:pt x="25806498" y="25339318"/>
                  </a:cubicBezTo>
                  <a:lnTo>
                    <a:pt x="25806498" y="124460"/>
                  </a:lnTo>
                  <a:cubicBezTo>
                    <a:pt x="25806498" y="55880"/>
                    <a:pt x="25750619" y="0"/>
                    <a:pt x="25682039" y="0"/>
                  </a:cubicBezTo>
                  <a:close/>
                </a:path>
              </a:pathLst>
            </a:custGeom>
            <a:solidFill>
              <a:srgbClr val="64E688">
                <a:alpha val="49804"/>
              </a:srgbClr>
            </a:solidFill>
          </p:spPr>
        </p:sp>
      </p:grpSp>
      <p:sp>
        <p:nvSpPr>
          <p:cNvPr name="Freeform 4" id="4"/>
          <p:cNvSpPr/>
          <p:nvPr/>
        </p:nvSpPr>
        <p:spPr>
          <a:xfrm flipH="false" flipV="false" rot="2465065">
            <a:off x="16247530" y="7302882"/>
            <a:ext cx="1056828" cy="1833975"/>
          </a:xfrm>
          <a:custGeom>
            <a:avLst/>
            <a:gdLst/>
            <a:ahLst/>
            <a:cxnLst/>
            <a:rect r="r" b="b" t="t" l="l"/>
            <a:pathLst>
              <a:path h="1833975" w="1056828">
                <a:moveTo>
                  <a:pt x="0" y="0"/>
                </a:moveTo>
                <a:lnTo>
                  <a:pt x="1056829" y="0"/>
                </a:lnTo>
                <a:lnTo>
                  <a:pt x="1056829" y="1833975"/>
                </a:lnTo>
                <a:lnTo>
                  <a:pt x="0" y="1833975"/>
                </a:lnTo>
                <a:lnTo>
                  <a:pt x="0" y="0"/>
                </a:lnTo>
                <a:close/>
              </a:path>
            </a:pathLst>
          </a:custGeom>
          <a:blipFill>
            <a:blip r:embed="rId2"/>
            <a:stretch>
              <a:fillRect l="0" t="0" r="0" b="0"/>
            </a:stretch>
          </a:blipFill>
        </p:spPr>
      </p:sp>
      <p:sp>
        <p:nvSpPr>
          <p:cNvPr name="Freeform 5" id="5"/>
          <p:cNvSpPr/>
          <p:nvPr/>
        </p:nvSpPr>
        <p:spPr>
          <a:xfrm flipH="false" flipV="false" rot="-4397849">
            <a:off x="10019893" y="1576371"/>
            <a:ext cx="1709706" cy="1568656"/>
          </a:xfrm>
          <a:custGeom>
            <a:avLst/>
            <a:gdLst/>
            <a:ahLst/>
            <a:cxnLst/>
            <a:rect r="r" b="b" t="t" l="l"/>
            <a:pathLst>
              <a:path h="1568656" w="1709706">
                <a:moveTo>
                  <a:pt x="0" y="0"/>
                </a:moveTo>
                <a:lnTo>
                  <a:pt x="1709706" y="0"/>
                </a:lnTo>
                <a:lnTo>
                  <a:pt x="1709706" y="1568656"/>
                </a:lnTo>
                <a:lnTo>
                  <a:pt x="0" y="1568656"/>
                </a:lnTo>
                <a:lnTo>
                  <a:pt x="0" y="0"/>
                </a:lnTo>
                <a:close/>
              </a:path>
            </a:pathLst>
          </a:custGeom>
          <a:blipFill>
            <a:blip r:embed="rId3"/>
            <a:stretch>
              <a:fillRect l="0" t="0" r="0" b="0"/>
            </a:stretch>
          </a:blipFill>
        </p:spPr>
      </p:sp>
      <p:sp>
        <p:nvSpPr>
          <p:cNvPr name="Freeform 6" id="6"/>
          <p:cNvSpPr/>
          <p:nvPr/>
        </p:nvSpPr>
        <p:spPr>
          <a:xfrm flipH="false" flipV="false" rot="0">
            <a:off x="9877822" y="1303856"/>
            <a:ext cx="7899027" cy="7679289"/>
          </a:xfrm>
          <a:custGeom>
            <a:avLst/>
            <a:gdLst/>
            <a:ahLst/>
            <a:cxnLst/>
            <a:rect r="r" b="b" t="t" l="l"/>
            <a:pathLst>
              <a:path h="7679289" w="7899027">
                <a:moveTo>
                  <a:pt x="0" y="0"/>
                </a:moveTo>
                <a:lnTo>
                  <a:pt x="7899028" y="0"/>
                </a:lnTo>
                <a:lnTo>
                  <a:pt x="7899028" y="7679288"/>
                </a:lnTo>
                <a:lnTo>
                  <a:pt x="0" y="7679288"/>
                </a:lnTo>
                <a:lnTo>
                  <a:pt x="0" y="0"/>
                </a:lnTo>
                <a:close/>
              </a:path>
            </a:pathLst>
          </a:custGeom>
          <a:blipFill>
            <a:blip r:embed="rId4"/>
            <a:stretch>
              <a:fillRect l="0" t="0" r="0" b="0"/>
            </a:stretch>
          </a:blipFill>
        </p:spPr>
      </p:sp>
      <p:grpSp>
        <p:nvGrpSpPr>
          <p:cNvPr name="Group 7" id="7"/>
          <p:cNvGrpSpPr/>
          <p:nvPr/>
        </p:nvGrpSpPr>
        <p:grpSpPr>
          <a:xfrm rot="0">
            <a:off x="872572" y="2885388"/>
            <a:ext cx="7138441" cy="5002225"/>
            <a:chOff x="0" y="0"/>
            <a:chExt cx="9517921" cy="6669633"/>
          </a:xfrm>
        </p:grpSpPr>
        <p:sp>
          <p:nvSpPr>
            <p:cNvPr name="TextBox 8" id="8"/>
            <p:cNvSpPr txBox="true"/>
            <p:nvPr/>
          </p:nvSpPr>
          <p:spPr>
            <a:xfrm rot="0">
              <a:off x="0" y="-9525"/>
              <a:ext cx="9517921" cy="2244725"/>
            </a:xfrm>
            <a:prstGeom prst="rect">
              <a:avLst/>
            </a:prstGeom>
          </p:spPr>
          <p:txBody>
            <a:bodyPr anchor="t" rtlCol="false" tIns="0" lIns="0" bIns="0" rIns="0">
              <a:spAutoFit/>
            </a:bodyPr>
            <a:lstStyle/>
            <a:p>
              <a:pPr algn="l">
                <a:lnSpc>
                  <a:spcPts val="6600"/>
                </a:lnSpc>
              </a:pPr>
              <a:r>
                <a:rPr lang="en-US" sz="5500" b="true">
                  <a:solidFill>
                    <a:srgbClr val="FFFFFF"/>
                  </a:solidFill>
                  <a:latin typeface="Fira Sans Ultra-Bold"/>
                  <a:ea typeface="Fira Sans Ultra-Bold"/>
                  <a:cs typeface="Fira Sans Ultra-Bold"/>
                  <a:sym typeface="Fira Sans Ultra-Bold"/>
                </a:rPr>
                <a:t>Tối ưu hóa với Kiểm thử hướng dữ liệu</a:t>
              </a:r>
            </a:p>
          </p:txBody>
        </p:sp>
        <p:sp>
          <p:nvSpPr>
            <p:cNvPr name="TextBox 9" id="9"/>
            <p:cNvSpPr txBox="true"/>
            <p:nvPr/>
          </p:nvSpPr>
          <p:spPr>
            <a:xfrm rot="0">
              <a:off x="0" y="2869430"/>
              <a:ext cx="9517921" cy="644737"/>
            </a:xfrm>
            <a:prstGeom prst="rect">
              <a:avLst/>
            </a:prstGeom>
          </p:spPr>
          <p:txBody>
            <a:bodyPr anchor="t" rtlCol="false" tIns="0" lIns="0" bIns="0" rIns="0">
              <a:spAutoFit/>
            </a:bodyPr>
            <a:lstStyle/>
            <a:p>
              <a:pPr algn="l">
                <a:lnSpc>
                  <a:spcPts val="4059"/>
                </a:lnSpc>
              </a:pPr>
              <a:r>
                <a:rPr lang="en-US" sz="2899">
                  <a:solidFill>
                    <a:srgbClr val="64E688"/>
                  </a:solidFill>
                  <a:latin typeface="Clear Sans"/>
                  <a:ea typeface="Clear Sans"/>
                  <a:cs typeface="Clear Sans"/>
                  <a:sym typeface="Clear Sans"/>
                </a:rPr>
                <a:t> THỰC THI VỚI GENAI</a:t>
              </a:r>
            </a:p>
          </p:txBody>
        </p:sp>
        <p:sp>
          <p:nvSpPr>
            <p:cNvPr name="TextBox 10" id="10"/>
            <p:cNvSpPr txBox="true"/>
            <p:nvPr/>
          </p:nvSpPr>
          <p:spPr>
            <a:xfrm rot="0">
              <a:off x="0" y="4357598"/>
              <a:ext cx="9517921" cy="2275840"/>
            </a:xfrm>
            <a:prstGeom prst="rect">
              <a:avLst/>
            </a:prstGeom>
          </p:spPr>
          <p:txBody>
            <a:bodyPr anchor="t" rtlCol="false" tIns="0" lIns="0" bIns="0" rIns="0">
              <a:spAutoFit/>
            </a:bodyPr>
            <a:lstStyle/>
            <a:p>
              <a:pPr algn="l">
                <a:lnSpc>
                  <a:spcPts val="3487"/>
                </a:lnSpc>
              </a:pPr>
              <a:r>
                <a:rPr lang="en-US" sz="2325">
                  <a:solidFill>
                    <a:srgbClr val="FFFFFF"/>
                  </a:solidFill>
                  <a:latin typeface="Clear Sans"/>
                  <a:ea typeface="Clear Sans"/>
                  <a:cs typeface="Clear Sans"/>
                  <a:sym typeface="Clear Sans"/>
                </a:rPr>
                <a:t>Sử dụng câu lệnh rõ ràng như Generate data drive</a:t>
              </a:r>
              <a:r>
                <a:rPr lang="en-US" sz="2325">
                  <a:solidFill>
                    <a:srgbClr val="FFFFFF"/>
                  </a:solidFill>
                  <a:latin typeface="Clear Sans"/>
                  <a:ea typeface="Clear Sans"/>
                  <a:cs typeface="Clear Sans"/>
                  <a:sym typeface="Clear Sans"/>
                </a:rPr>
                <a:t>n tests for [tên_hàm], AI sẽ tự động định nghĩa tập dữ liệu mẫu đa dạng và thiết lập vòng lặp kiểm thử tương ứng.</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522328" y="3053793"/>
            <a:ext cx="3491158" cy="4459947"/>
            <a:chOff x="0" y="0"/>
            <a:chExt cx="4654877" cy="5946596"/>
          </a:xfrm>
        </p:grpSpPr>
        <p:sp>
          <p:nvSpPr>
            <p:cNvPr name="TextBox 3" id="3"/>
            <p:cNvSpPr txBox="true"/>
            <p:nvPr/>
          </p:nvSpPr>
          <p:spPr>
            <a:xfrm rot="0">
              <a:off x="21023" y="-57150"/>
              <a:ext cx="4633854" cy="1270235"/>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INTERSECTION OF TWO RE</a:t>
              </a:r>
              <a:r>
                <a:rPr lang="en-US" b="true" sz="2799">
                  <a:solidFill>
                    <a:srgbClr val="FFFFFF"/>
                  </a:solidFill>
                  <a:latin typeface="Clear Sans Medium"/>
                  <a:ea typeface="Clear Sans Medium"/>
                  <a:cs typeface="Clear Sans Medium"/>
                  <a:sym typeface="Clear Sans Medium"/>
                </a:rPr>
                <a:t>CTANGLES</a:t>
              </a:r>
            </a:p>
          </p:txBody>
        </p:sp>
        <p:sp>
          <p:nvSpPr>
            <p:cNvPr name="TextBox 4" id="4"/>
            <p:cNvSpPr txBox="true"/>
            <p:nvPr/>
          </p:nvSpPr>
          <p:spPr>
            <a:xfrm rot="0">
              <a:off x="21023" y="5473521"/>
              <a:ext cx="4633854" cy="473075"/>
            </a:xfrm>
            <a:prstGeom prst="rect">
              <a:avLst/>
            </a:prstGeom>
          </p:spPr>
          <p:txBody>
            <a:bodyPr anchor="t" rtlCol="false" tIns="0" lIns="0" bIns="0" rIns="0">
              <a:spAutoFit/>
            </a:bodyPr>
            <a:lstStyle/>
            <a:p>
              <a:pPr algn="l">
                <a:lnSpc>
                  <a:spcPts val="3000"/>
                </a:lnSpc>
              </a:pPr>
            </a:p>
          </p:txBody>
        </p:sp>
        <p:sp>
          <p:nvSpPr>
            <p:cNvPr name="TextBox 5" id="5"/>
            <p:cNvSpPr txBox="true"/>
            <p:nvPr/>
          </p:nvSpPr>
          <p:spPr>
            <a:xfrm rot="0">
              <a:off x="21023" y="1786978"/>
              <a:ext cx="4633854" cy="34776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Khi một U</a:t>
              </a:r>
              <a:r>
                <a:rPr lang="en-US" sz="2500">
                  <a:solidFill>
                    <a:srgbClr val="FFFFFF"/>
                  </a:solidFill>
                  <a:latin typeface="Clear Sans"/>
                  <a:ea typeface="Clear Sans"/>
                  <a:cs typeface="Clear Sans"/>
                  <a:sym typeface="Clear Sans"/>
                </a:rPr>
                <a:t>nit Test thất bại, lập trình viên có thể dùng lệnh @terminal /fix [tên_hàm] according to the unit test failure.</a:t>
              </a:r>
            </a:p>
          </p:txBody>
        </p:sp>
        <p:sp>
          <p:nvSpPr>
            <p:cNvPr name="AutoShape 6" id="6"/>
            <p:cNvSpPr/>
            <p:nvPr/>
          </p:nvSpPr>
          <p:spPr>
            <a:xfrm>
              <a:off x="0" y="1461483"/>
              <a:ext cx="4654877"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3559199">
            <a:off x="14081771" y="62239"/>
            <a:ext cx="4823880" cy="5983107"/>
          </a:xfrm>
          <a:custGeom>
            <a:avLst/>
            <a:gdLst/>
            <a:ahLst/>
            <a:cxnLst/>
            <a:rect r="r" b="b" t="t" l="l"/>
            <a:pathLst>
              <a:path h="5983107" w="4823880">
                <a:moveTo>
                  <a:pt x="0" y="0"/>
                </a:moveTo>
                <a:lnTo>
                  <a:pt x="4823879" y="0"/>
                </a:lnTo>
                <a:lnTo>
                  <a:pt x="4823879" y="5983107"/>
                </a:lnTo>
                <a:lnTo>
                  <a:pt x="0" y="5983107"/>
                </a:lnTo>
                <a:lnTo>
                  <a:pt x="0" y="0"/>
                </a:lnTo>
                <a:close/>
              </a:path>
            </a:pathLst>
          </a:custGeom>
          <a:blipFill>
            <a:blip r:embed="rId2">
              <a:alphaModFix amt="13000"/>
            </a:blip>
            <a:stretch>
              <a:fillRect l="0" t="0" r="0" b="0"/>
            </a:stretch>
          </a:blipFill>
        </p:spPr>
      </p:sp>
      <p:sp>
        <p:nvSpPr>
          <p:cNvPr name="Freeform 8" id="8"/>
          <p:cNvSpPr/>
          <p:nvPr/>
        </p:nvSpPr>
        <p:spPr>
          <a:xfrm flipH="false" flipV="false" rot="6273812">
            <a:off x="-2087324" y="7736072"/>
            <a:ext cx="5720805" cy="5620690"/>
          </a:xfrm>
          <a:custGeom>
            <a:avLst/>
            <a:gdLst/>
            <a:ahLst/>
            <a:cxnLst/>
            <a:rect r="r" b="b" t="t" l="l"/>
            <a:pathLst>
              <a:path h="5620690" w="5720805">
                <a:moveTo>
                  <a:pt x="0" y="0"/>
                </a:moveTo>
                <a:lnTo>
                  <a:pt x="5720804" y="0"/>
                </a:lnTo>
                <a:lnTo>
                  <a:pt x="5720804" y="5620690"/>
                </a:lnTo>
                <a:lnTo>
                  <a:pt x="0" y="5620690"/>
                </a:lnTo>
                <a:lnTo>
                  <a:pt x="0" y="0"/>
                </a:lnTo>
                <a:close/>
              </a:path>
            </a:pathLst>
          </a:custGeom>
          <a:blipFill>
            <a:blip r:embed="rId3"/>
            <a:stretch>
              <a:fillRect l="0" t="0" r="0" b="0"/>
            </a:stretch>
          </a:blipFill>
        </p:spPr>
      </p:sp>
      <p:sp>
        <p:nvSpPr>
          <p:cNvPr name="Freeform 9" id="9"/>
          <p:cNvSpPr/>
          <p:nvPr/>
        </p:nvSpPr>
        <p:spPr>
          <a:xfrm flipH="false" flipV="false" rot="0">
            <a:off x="8351835" y="2978947"/>
            <a:ext cx="8907465" cy="4329107"/>
          </a:xfrm>
          <a:custGeom>
            <a:avLst/>
            <a:gdLst/>
            <a:ahLst/>
            <a:cxnLst/>
            <a:rect r="r" b="b" t="t" l="l"/>
            <a:pathLst>
              <a:path h="4329107" w="8907465">
                <a:moveTo>
                  <a:pt x="0" y="0"/>
                </a:moveTo>
                <a:lnTo>
                  <a:pt x="8907465" y="0"/>
                </a:lnTo>
                <a:lnTo>
                  <a:pt x="8907465" y="4329106"/>
                </a:lnTo>
                <a:lnTo>
                  <a:pt x="0" y="4329106"/>
                </a:lnTo>
                <a:lnTo>
                  <a:pt x="0" y="0"/>
                </a:lnTo>
                <a:close/>
              </a:path>
            </a:pathLst>
          </a:custGeom>
          <a:blipFill>
            <a:blip r:embed="rId4"/>
            <a:stretch>
              <a:fillRect l="0" t="0" r="0" b="0"/>
            </a:stretch>
          </a:blipFill>
        </p:spPr>
      </p:sp>
      <p:sp>
        <p:nvSpPr>
          <p:cNvPr name="TextBox 10" id="10"/>
          <p:cNvSpPr txBox="true"/>
          <p:nvPr/>
        </p:nvSpPr>
        <p:spPr>
          <a:xfrm rot="0">
            <a:off x="773078" y="818118"/>
            <a:ext cx="10833460" cy="981075"/>
          </a:xfrm>
          <a:prstGeom prst="rect">
            <a:avLst/>
          </a:prstGeom>
        </p:spPr>
        <p:txBody>
          <a:bodyPr anchor="t" rtlCol="false" tIns="0" lIns="0" bIns="0" rIns="0">
            <a:spAutoFit/>
          </a:bodyPr>
          <a:lstStyle/>
          <a:p>
            <a:pPr algn="l">
              <a:lnSpc>
                <a:spcPts val="7680"/>
              </a:lnSpc>
            </a:pPr>
            <a:r>
              <a:rPr lang="en-US" sz="6400" b="true">
                <a:solidFill>
                  <a:srgbClr val="64E688"/>
                </a:solidFill>
                <a:latin typeface="Fira Sans Ultra-Bold"/>
                <a:ea typeface="Fira Sans Ultra-Bold"/>
                <a:cs typeface="Fira Sans Ultra-Bold"/>
                <a:sym typeface="Fira Sans Ultra-Bold"/>
              </a:rPr>
              <a:t>P</a:t>
            </a:r>
            <a:r>
              <a:rPr lang="en-US" sz="6400" b="true">
                <a:solidFill>
                  <a:srgbClr val="64E688"/>
                </a:solidFill>
                <a:latin typeface="Fira Sans Ultra-Bold"/>
                <a:ea typeface="Fira Sans Ultra-Bold"/>
                <a:cs typeface="Fira Sans Ultra-Bold"/>
                <a:sym typeface="Fira Sans Ultra-Bold"/>
              </a:rPr>
              <a:t>hát triển Hướng kiểm thử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3570751"/>
            <a:ext cx="3491158" cy="3145497"/>
            <a:chOff x="0" y="0"/>
            <a:chExt cx="4654877" cy="4193996"/>
          </a:xfrm>
        </p:grpSpPr>
        <p:sp>
          <p:nvSpPr>
            <p:cNvPr name="TextBox 3" id="3"/>
            <p:cNvSpPr txBox="true"/>
            <p:nvPr/>
          </p:nvSpPr>
          <p:spPr>
            <a:xfrm rot="0">
              <a:off x="21023" y="-57150"/>
              <a:ext cx="4633854" cy="1270235"/>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TEST TR</a:t>
              </a:r>
              <a:r>
                <a:rPr lang="en-US" b="true" sz="2799">
                  <a:solidFill>
                    <a:srgbClr val="FFFFFF"/>
                  </a:solidFill>
                  <a:latin typeface="Clear Sans Medium"/>
                  <a:ea typeface="Clear Sans Medium"/>
                  <a:cs typeface="Clear Sans Medium"/>
                  <a:sym typeface="Clear Sans Medium"/>
                </a:rPr>
                <a:t>ƯỚC, CODE SAU</a:t>
              </a:r>
            </a:p>
          </p:txBody>
        </p:sp>
        <p:sp>
          <p:nvSpPr>
            <p:cNvPr name="TextBox 4" id="4"/>
            <p:cNvSpPr txBox="true"/>
            <p:nvPr/>
          </p:nvSpPr>
          <p:spPr>
            <a:xfrm rot="0">
              <a:off x="21023" y="3720921"/>
              <a:ext cx="4633854" cy="473075"/>
            </a:xfrm>
            <a:prstGeom prst="rect">
              <a:avLst/>
            </a:prstGeom>
          </p:spPr>
          <p:txBody>
            <a:bodyPr anchor="t" rtlCol="false" tIns="0" lIns="0" bIns="0" rIns="0">
              <a:spAutoFit/>
            </a:bodyPr>
            <a:lstStyle/>
            <a:p>
              <a:pPr algn="l">
                <a:lnSpc>
                  <a:spcPts val="3000"/>
                </a:lnSpc>
              </a:pPr>
            </a:p>
          </p:txBody>
        </p:sp>
        <p:sp>
          <p:nvSpPr>
            <p:cNvPr name="TextBox 5" id="5"/>
            <p:cNvSpPr txBox="true"/>
            <p:nvPr/>
          </p:nvSpPr>
          <p:spPr>
            <a:xfrm rot="0">
              <a:off x="21023" y="1786978"/>
              <a:ext cx="4633854" cy="17250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viết U</a:t>
              </a:r>
              <a:r>
                <a:rPr lang="en-US" sz="2500">
                  <a:solidFill>
                    <a:srgbClr val="FFFFFF"/>
                  </a:solidFill>
                  <a:latin typeface="Clear Sans"/>
                  <a:ea typeface="Clear Sans"/>
                  <a:cs typeface="Clear Sans"/>
                  <a:sym typeface="Clear Sans"/>
                </a:rPr>
                <a:t>nit Test trước khi viết mã triển khai thực tế.</a:t>
              </a:r>
            </a:p>
          </p:txBody>
        </p:sp>
        <p:sp>
          <p:nvSpPr>
            <p:cNvPr name="AutoShape 6" id="6"/>
            <p:cNvSpPr/>
            <p:nvPr/>
          </p:nvSpPr>
          <p:spPr>
            <a:xfrm>
              <a:off x="0" y="1461483"/>
              <a:ext cx="4654877"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3559199">
            <a:off x="14081771" y="62239"/>
            <a:ext cx="4823880" cy="5983107"/>
          </a:xfrm>
          <a:custGeom>
            <a:avLst/>
            <a:gdLst/>
            <a:ahLst/>
            <a:cxnLst/>
            <a:rect r="r" b="b" t="t" l="l"/>
            <a:pathLst>
              <a:path h="5983107" w="4823880">
                <a:moveTo>
                  <a:pt x="0" y="0"/>
                </a:moveTo>
                <a:lnTo>
                  <a:pt x="4823879" y="0"/>
                </a:lnTo>
                <a:lnTo>
                  <a:pt x="4823879" y="5983107"/>
                </a:lnTo>
                <a:lnTo>
                  <a:pt x="0" y="5983107"/>
                </a:lnTo>
                <a:lnTo>
                  <a:pt x="0" y="0"/>
                </a:lnTo>
                <a:close/>
              </a:path>
            </a:pathLst>
          </a:custGeom>
          <a:blipFill>
            <a:blip r:embed="rId2">
              <a:alphaModFix amt="13000"/>
            </a:blip>
            <a:stretch>
              <a:fillRect l="0" t="0" r="0" b="0"/>
            </a:stretch>
          </a:blipFill>
        </p:spPr>
      </p:sp>
      <p:sp>
        <p:nvSpPr>
          <p:cNvPr name="Freeform 8" id="8"/>
          <p:cNvSpPr/>
          <p:nvPr/>
        </p:nvSpPr>
        <p:spPr>
          <a:xfrm flipH="false" flipV="false" rot="6273812">
            <a:off x="-2150205" y="7898072"/>
            <a:ext cx="5720805" cy="5620690"/>
          </a:xfrm>
          <a:custGeom>
            <a:avLst/>
            <a:gdLst/>
            <a:ahLst/>
            <a:cxnLst/>
            <a:rect r="r" b="b" t="t" l="l"/>
            <a:pathLst>
              <a:path h="5620690" w="5720805">
                <a:moveTo>
                  <a:pt x="0" y="0"/>
                </a:moveTo>
                <a:lnTo>
                  <a:pt x="5720805" y="0"/>
                </a:lnTo>
                <a:lnTo>
                  <a:pt x="5720805" y="5620690"/>
                </a:lnTo>
                <a:lnTo>
                  <a:pt x="0" y="5620690"/>
                </a:lnTo>
                <a:lnTo>
                  <a:pt x="0" y="0"/>
                </a:lnTo>
                <a:close/>
              </a:path>
            </a:pathLst>
          </a:custGeom>
          <a:blipFill>
            <a:blip r:embed="rId3"/>
            <a:stretch>
              <a:fillRect l="0" t="0" r="0" b="0"/>
            </a:stretch>
          </a:blipFill>
        </p:spPr>
      </p:sp>
      <p:sp>
        <p:nvSpPr>
          <p:cNvPr name="Freeform 9" id="9"/>
          <p:cNvSpPr/>
          <p:nvPr/>
        </p:nvSpPr>
        <p:spPr>
          <a:xfrm flipH="false" flipV="false" rot="0">
            <a:off x="5531439" y="2897348"/>
            <a:ext cx="12473061" cy="5572048"/>
          </a:xfrm>
          <a:custGeom>
            <a:avLst/>
            <a:gdLst/>
            <a:ahLst/>
            <a:cxnLst/>
            <a:rect r="r" b="b" t="t" l="l"/>
            <a:pathLst>
              <a:path h="5572048" w="12473061">
                <a:moveTo>
                  <a:pt x="0" y="0"/>
                </a:moveTo>
                <a:lnTo>
                  <a:pt x="12473061" y="0"/>
                </a:lnTo>
                <a:lnTo>
                  <a:pt x="12473061" y="5572048"/>
                </a:lnTo>
                <a:lnTo>
                  <a:pt x="0" y="5572048"/>
                </a:lnTo>
                <a:lnTo>
                  <a:pt x="0" y="0"/>
                </a:lnTo>
                <a:close/>
              </a:path>
            </a:pathLst>
          </a:custGeom>
          <a:blipFill>
            <a:blip r:embed="rId4"/>
            <a:stretch>
              <a:fillRect l="0" t="0" r="0" b="0"/>
            </a:stretch>
          </a:blipFill>
        </p:spPr>
      </p:sp>
      <p:sp>
        <p:nvSpPr>
          <p:cNvPr name="TextBox 10" id="10"/>
          <p:cNvSpPr txBox="true"/>
          <p:nvPr/>
        </p:nvSpPr>
        <p:spPr>
          <a:xfrm rot="0">
            <a:off x="1028700" y="716193"/>
            <a:ext cx="10266460" cy="981075"/>
          </a:xfrm>
          <a:prstGeom prst="rect">
            <a:avLst/>
          </a:prstGeom>
        </p:spPr>
        <p:txBody>
          <a:bodyPr anchor="t" rtlCol="false" tIns="0" lIns="0" bIns="0" rIns="0">
            <a:spAutoFit/>
          </a:bodyPr>
          <a:lstStyle/>
          <a:p>
            <a:pPr algn="l">
              <a:lnSpc>
                <a:spcPts val="7680"/>
              </a:lnSpc>
            </a:pPr>
            <a:r>
              <a:rPr lang="en-US" sz="6400" b="true">
                <a:solidFill>
                  <a:srgbClr val="64E688"/>
                </a:solidFill>
                <a:latin typeface="Fira Sans Ultra-Bold"/>
                <a:ea typeface="Fira Sans Ultra-Bold"/>
                <a:cs typeface="Fira Sans Ultra-Bold"/>
                <a:sym typeface="Fira Sans Ultra-Bold"/>
              </a:rPr>
              <a:t>P</a:t>
            </a:r>
            <a:r>
              <a:rPr lang="en-US" sz="6400" b="true">
                <a:solidFill>
                  <a:srgbClr val="64E688"/>
                </a:solidFill>
                <a:latin typeface="Fira Sans Ultra-Bold"/>
                <a:ea typeface="Fira Sans Ultra-Bold"/>
                <a:cs typeface="Fira Sans Ultra-Bold"/>
                <a:sym typeface="Fira Sans Ultra-Bold"/>
              </a:rPr>
              <a:t>hát triển Hướng kiểm thử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10002754" y="1900434"/>
            <a:ext cx="6595476" cy="5915318"/>
          </a:xfrm>
          <a:custGeom>
            <a:avLst/>
            <a:gdLst/>
            <a:ahLst/>
            <a:cxnLst/>
            <a:rect r="r" b="b" t="t" l="l"/>
            <a:pathLst>
              <a:path h="5915318" w="6595476">
                <a:moveTo>
                  <a:pt x="0" y="0"/>
                </a:moveTo>
                <a:lnTo>
                  <a:pt x="6595476" y="0"/>
                </a:lnTo>
                <a:lnTo>
                  <a:pt x="6595476" y="5915318"/>
                </a:lnTo>
                <a:lnTo>
                  <a:pt x="0" y="5915318"/>
                </a:lnTo>
                <a:lnTo>
                  <a:pt x="0" y="0"/>
                </a:lnTo>
                <a:close/>
              </a:path>
            </a:pathLst>
          </a:custGeom>
          <a:blipFill>
            <a:blip r:embed="rId5"/>
            <a:stretch>
              <a:fillRect l="0" t="0" r="0" b="0"/>
            </a:stretch>
          </a:blipFill>
        </p:spPr>
      </p:sp>
      <p:sp>
        <p:nvSpPr>
          <p:cNvPr name="TextBox 10" id="10"/>
          <p:cNvSpPr txBox="true"/>
          <p:nvPr/>
        </p:nvSpPr>
        <p:spPr>
          <a:xfrm rot="0">
            <a:off x="1849044" y="1890909"/>
            <a:ext cx="6276929" cy="628650"/>
          </a:xfrm>
          <a:prstGeom prst="rect">
            <a:avLst/>
          </a:prstGeom>
        </p:spPr>
        <p:txBody>
          <a:bodyPr anchor="t" rtlCol="false" tIns="0" lIns="0" bIns="0" rIns="0">
            <a:spAutoFit/>
          </a:bodyPr>
          <a:lstStyle/>
          <a:p>
            <a:pPr algn="l">
              <a:lnSpc>
                <a:spcPts val="4920"/>
              </a:lnSpc>
            </a:pPr>
            <a:r>
              <a:rPr lang="en-US" sz="4100">
                <a:solidFill>
                  <a:srgbClr val="64E688"/>
                </a:solidFill>
                <a:latin typeface="Fira Sans"/>
                <a:ea typeface="Fira Sans"/>
                <a:cs typeface="Fira Sans"/>
                <a:sym typeface="Fira Sans"/>
              </a:rPr>
              <a:t>Tạo dữ liệu mẫu với GenAI</a:t>
            </a:r>
          </a:p>
        </p:txBody>
      </p:sp>
      <p:sp>
        <p:nvSpPr>
          <p:cNvPr name="TextBox 11" id="11"/>
          <p:cNvSpPr txBox="true"/>
          <p:nvPr/>
        </p:nvSpPr>
        <p:spPr>
          <a:xfrm rot="0">
            <a:off x="1849044" y="3902662"/>
            <a:ext cx="6276929" cy="2470150"/>
          </a:xfrm>
          <a:prstGeom prst="rect">
            <a:avLst/>
          </a:prstGeom>
        </p:spPr>
        <p:txBody>
          <a:bodyPr anchor="t" rtlCol="false" tIns="0" lIns="0" bIns="0" rIns="0">
            <a:spAutoFit/>
          </a:bodyPr>
          <a:lstStyle/>
          <a:p>
            <a:pPr algn="l">
              <a:lnSpc>
                <a:spcPts val="5015"/>
              </a:lnSpc>
            </a:pPr>
            <a:r>
              <a:rPr lang="en-US" sz="2950">
                <a:solidFill>
                  <a:srgbClr val="FFFFFF"/>
                </a:solidFill>
                <a:latin typeface="Clear Sans"/>
                <a:ea typeface="Clear Sans"/>
                <a:cs typeface="Clear Sans"/>
                <a:sym typeface="Clear Sans"/>
              </a:rPr>
              <a:t>GenAI có</a:t>
            </a:r>
            <a:r>
              <a:rPr lang="en-US" sz="2950">
                <a:solidFill>
                  <a:srgbClr val="FFFFFF"/>
                </a:solidFill>
                <a:latin typeface="Clear Sans"/>
                <a:ea typeface="Clear Sans"/>
                <a:cs typeface="Clear Sans"/>
                <a:sym typeface="Clear Sans"/>
              </a:rPr>
              <a:t> thể sinh ra các tệp định dạng CSV, JSON, hoặc FASTA chuẩn xác phục vụ trực tiếp cho việc giả lập cơ</a:t>
            </a:r>
            <a:r>
              <a:rPr lang="en-US" sz="2950">
                <a:solidFill>
                  <a:srgbClr val="FFFFFF"/>
                </a:solidFill>
                <a:latin typeface="Clear Sans"/>
                <a:ea typeface="Clear Sans"/>
                <a:cs typeface="Clear Sans"/>
                <a:sym typeface="Clear Sans"/>
              </a:rPr>
              <a:t> sở dữ liệu.</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3685223" y="2843559"/>
            <a:ext cx="10917553" cy="5746081"/>
          </a:xfrm>
          <a:custGeom>
            <a:avLst/>
            <a:gdLst/>
            <a:ahLst/>
            <a:cxnLst/>
            <a:rect r="r" b="b" t="t" l="l"/>
            <a:pathLst>
              <a:path h="5746081" w="10917553">
                <a:moveTo>
                  <a:pt x="0" y="0"/>
                </a:moveTo>
                <a:lnTo>
                  <a:pt x="10917554" y="0"/>
                </a:lnTo>
                <a:lnTo>
                  <a:pt x="10917554" y="5746080"/>
                </a:lnTo>
                <a:lnTo>
                  <a:pt x="0" y="5746080"/>
                </a:lnTo>
                <a:lnTo>
                  <a:pt x="0" y="0"/>
                </a:lnTo>
                <a:close/>
              </a:path>
            </a:pathLst>
          </a:custGeom>
          <a:blipFill>
            <a:blip r:embed="rId5"/>
            <a:stretch>
              <a:fillRect l="0" t="0" r="0" b="0"/>
            </a:stretch>
          </a:blipFill>
        </p:spPr>
      </p:sp>
      <p:sp>
        <p:nvSpPr>
          <p:cNvPr name="TextBox 10" id="10"/>
          <p:cNvSpPr txBox="true"/>
          <p:nvPr/>
        </p:nvSpPr>
        <p:spPr>
          <a:xfrm rot="0">
            <a:off x="1849044" y="1890909"/>
            <a:ext cx="6276929" cy="628650"/>
          </a:xfrm>
          <a:prstGeom prst="rect">
            <a:avLst/>
          </a:prstGeom>
        </p:spPr>
        <p:txBody>
          <a:bodyPr anchor="t" rtlCol="false" tIns="0" lIns="0" bIns="0" rIns="0">
            <a:spAutoFit/>
          </a:bodyPr>
          <a:lstStyle/>
          <a:p>
            <a:pPr algn="l">
              <a:lnSpc>
                <a:spcPts val="4920"/>
              </a:lnSpc>
            </a:pPr>
            <a:r>
              <a:rPr lang="en-US" sz="4100">
                <a:solidFill>
                  <a:srgbClr val="64E688"/>
                </a:solidFill>
                <a:latin typeface="Fira Sans"/>
                <a:ea typeface="Fira Sans"/>
                <a:cs typeface="Fira Sans"/>
                <a:sym typeface="Fira Sans"/>
              </a:rPr>
              <a:t>Tạo dữ liệu mẫu với GenAI</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12831688" y="5704669"/>
            <a:ext cx="7212561" cy="7745031"/>
          </a:xfrm>
          <a:custGeom>
            <a:avLst/>
            <a:gdLst/>
            <a:ahLst/>
            <a:cxnLst/>
            <a:rect r="r" b="b" t="t" l="l"/>
            <a:pathLst>
              <a:path h="7745031" w="7212561">
                <a:moveTo>
                  <a:pt x="0" y="0"/>
                </a:moveTo>
                <a:lnTo>
                  <a:pt x="7212560" y="0"/>
                </a:lnTo>
                <a:lnTo>
                  <a:pt x="7212560" y="7745032"/>
                </a:lnTo>
                <a:lnTo>
                  <a:pt x="0" y="7745032"/>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333695" y="-2722329"/>
            <a:ext cx="6664739" cy="6844405"/>
          </a:xfrm>
          <a:custGeom>
            <a:avLst/>
            <a:gdLst/>
            <a:ahLst/>
            <a:cxnLst/>
            <a:rect r="r" b="b" t="t" l="l"/>
            <a:pathLst>
              <a:path h="6844405" w="6664739">
                <a:moveTo>
                  <a:pt x="0" y="0"/>
                </a:moveTo>
                <a:lnTo>
                  <a:pt x="6664740" y="0"/>
                </a:lnTo>
                <a:lnTo>
                  <a:pt x="6664740" y="6844405"/>
                </a:lnTo>
                <a:lnTo>
                  <a:pt x="0" y="6844405"/>
                </a:lnTo>
                <a:lnTo>
                  <a:pt x="0" y="0"/>
                </a:lnTo>
                <a:close/>
              </a:path>
            </a:pathLst>
          </a:custGeom>
          <a:blipFill>
            <a:blip r:embed="rId3">
              <a:alphaModFix amt="18999"/>
            </a:blip>
            <a:stretch>
              <a:fillRect l="0" t="0" r="0" b="0"/>
            </a:stretch>
          </a:blipFill>
        </p:spPr>
      </p:sp>
      <p:sp>
        <p:nvSpPr>
          <p:cNvPr name="TextBox 4" id="4"/>
          <p:cNvSpPr txBox="true"/>
          <p:nvPr/>
        </p:nvSpPr>
        <p:spPr>
          <a:xfrm rot="0">
            <a:off x="2348378" y="962025"/>
            <a:ext cx="13518740" cy="653415"/>
          </a:xfrm>
          <a:prstGeom prst="rect">
            <a:avLst/>
          </a:prstGeom>
        </p:spPr>
        <p:txBody>
          <a:bodyPr anchor="t" rtlCol="false" tIns="0" lIns="0" bIns="0" rIns="0">
            <a:spAutoFit/>
          </a:bodyPr>
          <a:lstStyle/>
          <a:p>
            <a:pPr algn="ctr">
              <a:lnSpc>
                <a:spcPts val="5459"/>
              </a:lnSpc>
            </a:pPr>
            <a:r>
              <a:rPr lang="en-US" b="true" sz="3899">
                <a:solidFill>
                  <a:srgbClr val="64E688"/>
                </a:solidFill>
                <a:latin typeface="Clear Sans Medium"/>
                <a:ea typeface="Clear Sans Medium"/>
                <a:cs typeface="Clear Sans Medium"/>
                <a:sym typeface="Clear Sans Medium"/>
              </a:rPr>
              <a:t>TẠO DỮ</a:t>
            </a:r>
            <a:r>
              <a:rPr lang="en-US" b="true" sz="3899">
                <a:solidFill>
                  <a:srgbClr val="64E688"/>
                </a:solidFill>
                <a:latin typeface="Clear Sans Medium"/>
                <a:ea typeface="Clear Sans Medium"/>
                <a:cs typeface="Clear Sans Medium"/>
                <a:sym typeface="Clear Sans Medium"/>
              </a:rPr>
              <a:t> LIỆU MẪU VỚI GENAI</a:t>
            </a:r>
          </a:p>
        </p:txBody>
      </p:sp>
      <p:sp>
        <p:nvSpPr>
          <p:cNvPr name="AutoShape 5" id="5"/>
          <p:cNvSpPr/>
          <p:nvPr/>
        </p:nvSpPr>
        <p:spPr>
          <a:xfrm>
            <a:off x="3303860" y="2208892"/>
            <a:ext cx="11607776" cy="0"/>
          </a:xfrm>
          <a:prstGeom prst="line">
            <a:avLst/>
          </a:prstGeom>
          <a:ln cap="rnd" w="19050">
            <a:solidFill>
              <a:srgbClr val="64E688">
                <a:alpha val="49804"/>
              </a:srgbClr>
            </a:solidFill>
            <a:prstDash val="solid"/>
            <a:headEnd type="none" len="sm" w="sm"/>
            <a:tailEnd type="none" len="sm" w="sm"/>
          </a:ln>
        </p:spPr>
      </p:sp>
      <p:sp>
        <p:nvSpPr>
          <p:cNvPr name="AutoShape 6" id="6"/>
          <p:cNvSpPr/>
          <p:nvPr/>
        </p:nvSpPr>
        <p:spPr>
          <a:xfrm>
            <a:off x="3340112" y="9458645"/>
            <a:ext cx="11607776" cy="0"/>
          </a:xfrm>
          <a:prstGeom prst="line">
            <a:avLst/>
          </a:prstGeom>
          <a:ln cap="rnd" w="19050">
            <a:solidFill>
              <a:srgbClr val="64E688">
                <a:alpha val="49804"/>
              </a:srgbClr>
            </a:solidFill>
            <a:prstDash val="solid"/>
            <a:headEnd type="none" len="sm" w="sm"/>
            <a:tailEnd type="none" len="sm" w="sm"/>
          </a:ln>
        </p:spPr>
      </p:sp>
      <p:sp>
        <p:nvSpPr>
          <p:cNvPr name="Freeform 7" id="7"/>
          <p:cNvSpPr/>
          <p:nvPr/>
        </p:nvSpPr>
        <p:spPr>
          <a:xfrm flipH="false" flipV="false" rot="0">
            <a:off x="2998675" y="2618467"/>
            <a:ext cx="12218147" cy="6430604"/>
          </a:xfrm>
          <a:custGeom>
            <a:avLst/>
            <a:gdLst/>
            <a:ahLst/>
            <a:cxnLst/>
            <a:rect r="r" b="b" t="t" l="l"/>
            <a:pathLst>
              <a:path h="6430604" w="12218147">
                <a:moveTo>
                  <a:pt x="0" y="0"/>
                </a:moveTo>
                <a:lnTo>
                  <a:pt x="12218147" y="0"/>
                </a:lnTo>
                <a:lnTo>
                  <a:pt x="12218147" y="6430603"/>
                </a:lnTo>
                <a:lnTo>
                  <a:pt x="0" y="6430603"/>
                </a:lnTo>
                <a:lnTo>
                  <a:pt x="0" y="0"/>
                </a:lnTo>
                <a:close/>
              </a:path>
            </a:pathLst>
          </a:custGeom>
          <a:blipFill>
            <a:blip r:embed="rId4"/>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6866682"/>
            <a:ext cx="16230600" cy="2391618"/>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028700" y="2411272"/>
            <a:ext cx="11667464" cy="2352787"/>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GenAI cho Quản</a:t>
            </a:r>
            <a:r>
              <a:rPr lang="en-US" sz="7749" b="true">
                <a:solidFill>
                  <a:srgbClr val="64E688"/>
                </a:solidFill>
                <a:latin typeface="Fira Sans Ultra-Bold"/>
                <a:ea typeface="Fira Sans Ultra-Bold"/>
                <a:cs typeface="Fira Sans Ultra-Bold"/>
                <a:sym typeface="Fira Sans Ultra-Bold"/>
              </a:rPr>
              <a:t> lý Thời gian chạy và Bộ nhớ</a:t>
            </a:r>
          </a:p>
        </p:txBody>
      </p:sp>
      <p:sp>
        <p:nvSpPr>
          <p:cNvPr name="TextBox 6" id="6"/>
          <p:cNvSpPr txBox="true"/>
          <p:nvPr/>
        </p:nvSpPr>
        <p:spPr>
          <a:xfrm rot="0">
            <a:off x="1594692" y="7748166"/>
            <a:ext cx="1509861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Profiling - Optimize Runtime &amp; Space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8364557" y="1744793"/>
            <a:ext cx="3491158" cy="2224300"/>
            <a:chOff x="0" y="0"/>
            <a:chExt cx="4654877" cy="2965734"/>
          </a:xfrm>
        </p:grpSpPr>
        <p:sp>
          <p:nvSpPr>
            <p:cNvPr name="TextBox 3" id="3"/>
            <p:cNvSpPr txBox="true"/>
            <p:nvPr/>
          </p:nvSpPr>
          <p:spPr>
            <a:xfrm rot="0">
              <a:off x="21023" y="-57150"/>
              <a:ext cx="4633854" cy="626172"/>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BƯỚC 1</a:t>
              </a:r>
            </a:p>
          </p:txBody>
        </p:sp>
        <p:sp>
          <p:nvSpPr>
            <p:cNvPr name="TextBox 4" id="4"/>
            <p:cNvSpPr txBox="true"/>
            <p:nvPr/>
          </p:nvSpPr>
          <p:spPr>
            <a:xfrm rot="0">
              <a:off x="21023" y="2492659"/>
              <a:ext cx="4633854" cy="473075"/>
            </a:xfrm>
            <a:prstGeom prst="rect">
              <a:avLst/>
            </a:prstGeom>
          </p:spPr>
          <p:txBody>
            <a:bodyPr anchor="t" rtlCol="false" tIns="0" lIns="0" bIns="0" rIns="0">
              <a:spAutoFit/>
            </a:bodyPr>
            <a:lstStyle/>
            <a:p>
              <a:pPr algn="l">
                <a:lnSpc>
                  <a:spcPts val="3000"/>
                </a:lnSpc>
              </a:pPr>
              <a:r>
                <a:rPr lang="en-US" sz="2000">
                  <a:solidFill>
                    <a:srgbClr val="FFFFFF"/>
                  </a:solidFill>
                  <a:latin typeface="Clear Sans"/>
                  <a:ea typeface="Clear Sans"/>
                  <a:cs typeface="Clear Sans"/>
                  <a:sym typeface="Clear Sans"/>
                </a:rPr>
                <a:t>Big O-Notation</a:t>
              </a:r>
            </a:p>
          </p:txBody>
        </p:sp>
        <p:sp>
          <p:nvSpPr>
            <p:cNvPr name="TextBox 5" id="5"/>
            <p:cNvSpPr txBox="true"/>
            <p:nvPr/>
          </p:nvSpPr>
          <p:spPr>
            <a:xfrm rot="0">
              <a:off x="21023" y="1142915"/>
              <a:ext cx="4633854" cy="11408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ph</a:t>
              </a:r>
              <a:r>
                <a:rPr lang="en-US" sz="2500">
                  <a:solidFill>
                    <a:srgbClr val="FFFFFF"/>
                  </a:solidFill>
                  <a:latin typeface="Clear Sans"/>
                  <a:ea typeface="Clear Sans"/>
                  <a:cs typeface="Clear Sans"/>
                  <a:sym typeface="Clear Sans"/>
                </a:rPr>
                <a:t>ân tích thời gian và không gian</a:t>
              </a:r>
            </a:p>
          </p:txBody>
        </p:sp>
        <p:sp>
          <p:nvSpPr>
            <p:cNvPr name="AutoShape 6" id="6"/>
            <p:cNvSpPr/>
            <p:nvPr/>
          </p:nvSpPr>
          <p:spPr>
            <a:xfrm>
              <a:off x="0" y="817420"/>
              <a:ext cx="4654877"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3559199">
            <a:off x="14081771" y="62239"/>
            <a:ext cx="4823880" cy="5983107"/>
          </a:xfrm>
          <a:custGeom>
            <a:avLst/>
            <a:gdLst/>
            <a:ahLst/>
            <a:cxnLst/>
            <a:rect r="r" b="b" t="t" l="l"/>
            <a:pathLst>
              <a:path h="5983107" w="4823880">
                <a:moveTo>
                  <a:pt x="0" y="0"/>
                </a:moveTo>
                <a:lnTo>
                  <a:pt x="4823879" y="0"/>
                </a:lnTo>
                <a:lnTo>
                  <a:pt x="4823879" y="5983107"/>
                </a:lnTo>
                <a:lnTo>
                  <a:pt x="0" y="5983107"/>
                </a:lnTo>
                <a:lnTo>
                  <a:pt x="0" y="0"/>
                </a:lnTo>
                <a:close/>
              </a:path>
            </a:pathLst>
          </a:custGeom>
          <a:blipFill>
            <a:blip r:embed="rId2">
              <a:alphaModFix amt="13000"/>
            </a:blip>
            <a:stretch>
              <a:fillRect l="0" t="0" r="0" b="0"/>
            </a:stretch>
          </a:blipFill>
        </p:spPr>
      </p:sp>
      <p:grpSp>
        <p:nvGrpSpPr>
          <p:cNvPr name="Group 8" id="8"/>
          <p:cNvGrpSpPr/>
          <p:nvPr/>
        </p:nvGrpSpPr>
        <p:grpSpPr>
          <a:xfrm rot="0">
            <a:off x="13341166" y="1744793"/>
            <a:ext cx="3491158" cy="2579624"/>
            <a:chOff x="0" y="0"/>
            <a:chExt cx="4654877" cy="3439499"/>
          </a:xfrm>
        </p:grpSpPr>
        <p:sp>
          <p:nvSpPr>
            <p:cNvPr name="TextBox 9" id="9"/>
            <p:cNvSpPr txBox="true"/>
            <p:nvPr/>
          </p:nvSpPr>
          <p:spPr>
            <a:xfrm rot="0">
              <a:off x="21023" y="-57150"/>
              <a:ext cx="4633854" cy="626172"/>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BƯỚC 2</a:t>
              </a:r>
            </a:p>
          </p:txBody>
        </p:sp>
        <p:sp>
          <p:nvSpPr>
            <p:cNvPr name="TextBox 10" id="10"/>
            <p:cNvSpPr txBox="true"/>
            <p:nvPr/>
          </p:nvSpPr>
          <p:spPr>
            <a:xfrm rot="0">
              <a:off x="21023" y="2458424"/>
              <a:ext cx="4633854" cy="981075"/>
            </a:xfrm>
            <a:prstGeom prst="rect">
              <a:avLst/>
            </a:prstGeom>
          </p:spPr>
          <p:txBody>
            <a:bodyPr anchor="t" rtlCol="false" tIns="0" lIns="0" bIns="0" rIns="0">
              <a:spAutoFit/>
            </a:bodyPr>
            <a:lstStyle/>
            <a:p>
              <a:pPr algn="l">
                <a:lnSpc>
                  <a:spcPts val="3000"/>
                </a:lnSpc>
              </a:pPr>
              <a:r>
                <a:rPr lang="en-US" sz="2000">
                  <a:solidFill>
                    <a:srgbClr val="FFFFFF"/>
                  </a:solidFill>
                  <a:latin typeface="Clear Sans"/>
                  <a:ea typeface="Clear Sans"/>
                  <a:cs typeface="Clear Sans"/>
                  <a:sym typeface="Clear Sans"/>
                </a:rPr>
                <a:t>C</a:t>
              </a:r>
              <a:r>
                <a:rPr lang="en-US" sz="2000">
                  <a:solidFill>
                    <a:srgbClr val="FFFFFF"/>
                  </a:solidFill>
                  <a:latin typeface="Clear Sans"/>
                  <a:ea typeface="Clear Sans"/>
                  <a:cs typeface="Clear Sans"/>
                  <a:sym typeface="Clear Sans"/>
                </a:rPr>
                <a:t>huyển dịch gánh nặng đo lường</a:t>
              </a:r>
            </a:p>
          </p:txBody>
        </p:sp>
        <p:sp>
          <p:nvSpPr>
            <p:cNvPr name="TextBox 11" id="11"/>
            <p:cNvSpPr txBox="true"/>
            <p:nvPr/>
          </p:nvSpPr>
          <p:spPr>
            <a:xfrm rot="0">
              <a:off x="21023" y="1142915"/>
              <a:ext cx="4633854" cy="11408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Đá</a:t>
              </a:r>
              <a:r>
                <a:rPr lang="en-US" sz="2500">
                  <a:solidFill>
                    <a:srgbClr val="FFFFFF"/>
                  </a:solidFill>
                  <a:latin typeface="Clear Sans"/>
                  <a:ea typeface="Clear Sans"/>
                  <a:cs typeface="Clear Sans"/>
                  <a:sym typeface="Clear Sans"/>
                </a:rPr>
                <a:t>nh giá thời gian chạy và dung lượng bộ nhớ</a:t>
              </a:r>
            </a:p>
          </p:txBody>
        </p:sp>
        <p:sp>
          <p:nvSpPr>
            <p:cNvPr name="AutoShape 12" id="12"/>
            <p:cNvSpPr/>
            <p:nvPr/>
          </p:nvSpPr>
          <p:spPr>
            <a:xfrm>
              <a:off x="0" y="817420"/>
              <a:ext cx="4654877" cy="0"/>
            </a:xfrm>
            <a:prstGeom prst="line">
              <a:avLst/>
            </a:prstGeom>
            <a:ln cap="rnd" w="25400">
              <a:solidFill>
                <a:srgbClr val="64E688"/>
              </a:solidFill>
              <a:prstDash val="solid"/>
              <a:headEnd type="none" len="sm" w="sm"/>
              <a:tailEnd type="none" len="sm" w="sm"/>
            </a:ln>
          </p:spPr>
        </p:sp>
      </p:grpSp>
      <p:grpSp>
        <p:nvGrpSpPr>
          <p:cNvPr name="Group 13" id="13"/>
          <p:cNvGrpSpPr/>
          <p:nvPr/>
        </p:nvGrpSpPr>
        <p:grpSpPr>
          <a:xfrm rot="0">
            <a:off x="8364557" y="5907167"/>
            <a:ext cx="3491158" cy="2978880"/>
            <a:chOff x="0" y="0"/>
            <a:chExt cx="4654877" cy="3971840"/>
          </a:xfrm>
        </p:grpSpPr>
        <p:sp>
          <p:nvSpPr>
            <p:cNvPr name="TextBox 14" id="14"/>
            <p:cNvSpPr txBox="true"/>
            <p:nvPr/>
          </p:nvSpPr>
          <p:spPr>
            <a:xfrm rot="0">
              <a:off x="21023" y="-57150"/>
              <a:ext cx="4633854" cy="616279"/>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BƯỚC 3</a:t>
              </a:r>
            </a:p>
          </p:txBody>
        </p:sp>
        <p:sp>
          <p:nvSpPr>
            <p:cNvPr name="TextBox 15" id="15"/>
            <p:cNvSpPr txBox="true"/>
            <p:nvPr/>
          </p:nvSpPr>
          <p:spPr>
            <a:xfrm rot="0">
              <a:off x="21023" y="2482765"/>
              <a:ext cx="4633854" cy="1489075"/>
            </a:xfrm>
            <a:prstGeom prst="rect">
              <a:avLst/>
            </a:prstGeom>
          </p:spPr>
          <p:txBody>
            <a:bodyPr anchor="t" rtlCol="false" tIns="0" lIns="0" bIns="0" rIns="0">
              <a:spAutoFit/>
            </a:bodyPr>
            <a:lstStyle/>
            <a:p>
              <a:pPr algn="l">
                <a:lnSpc>
                  <a:spcPts val="3000"/>
                </a:lnSpc>
              </a:pPr>
              <a:r>
                <a:rPr lang="en-US" sz="2000">
                  <a:solidFill>
                    <a:srgbClr val="FFFFFF"/>
                  </a:solidFill>
                  <a:latin typeface="Clear Sans"/>
                  <a:ea typeface="Clear Sans"/>
                  <a:cs typeface="Clear Sans"/>
                  <a:sym typeface="Clear Sans"/>
                </a:rPr>
                <a:t>nố</a:t>
              </a:r>
              <a:r>
                <a:rPr lang="en-US" sz="2000">
                  <a:solidFill>
                    <a:srgbClr val="FFFFFF"/>
                  </a:solidFill>
                  <a:latin typeface="Clear Sans"/>
                  <a:ea typeface="Clear Sans"/>
                  <a:cs typeface="Clear Sans"/>
                  <a:sym typeface="Clear Sans"/>
                </a:rPr>
                <a:t>i chuỗi lời nhắc tối ưu hóa với kết quả của lời nhắc công suất tối đa</a:t>
              </a:r>
            </a:p>
          </p:txBody>
        </p:sp>
        <p:sp>
          <p:nvSpPr>
            <p:cNvPr name="TextBox 16" id="16"/>
            <p:cNvSpPr txBox="true"/>
            <p:nvPr/>
          </p:nvSpPr>
          <p:spPr>
            <a:xfrm rot="0">
              <a:off x="21023" y="1133022"/>
              <a:ext cx="4633854" cy="11408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Tối ư</a:t>
              </a:r>
              <a:r>
                <a:rPr lang="en-US" sz="2500">
                  <a:solidFill>
                    <a:srgbClr val="FFFFFF"/>
                  </a:solidFill>
                  <a:latin typeface="Clear Sans"/>
                  <a:ea typeface="Clear Sans"/>
                  <a:cs typeface="Clear Sans"/>
                  <a:sym typeface="Clear Sans"/>
                </a:rPr>
                <a:t>u hóa mã nguồn bằng CoT</a:t>
              </a:r>
            </a:p>
          </p:txBody>
        </p:sp>
        <p:sp>
          <p:nvSpPr>
            <p:cNvPr name="AutoShape 17" id="17"/>
            <p:cNvSpPr/>
            <p:nvPr/>
          </p:nvSpPr>
          <p:spPr>
            <a:xfrm>
              <a:off x="0" y="807527"/>
              <a:ext cx="4654877" cy="0"/>
            </a:xfrm>
            <a:prstGeom prst="line">
              <a:avLst/>
            </a:prstGeom>
            <a:ln cap="rnd" w="25400">
              <a:solidFill>
                <a:srgbClr val="64E688"/>
              </a:solidFill>
              <a:prstDash val="solid"/>
              <a:headEnd type="none" len="sm" w="sm"/>
              <a:tailEnd type="none" len="sm" w="sm"/>
            </a:ln>
          </p:spPr>
        </p:sp>
      </p:grpSp>
      <p:sp>
        <p:nvSpPr>
          <p:cNvPr name="Freeform 18" id="18"/>
          <p:cNvSpPr/>
          <p:nvPr/>
        </p:nvSpPr>
        <p:spPr>
          <a:xfrm flipH="false" flipV="false" rot="6273812">
            <a:off x="-2514705" y="6095822"/>
            <a:ext cx="5720805" cy="5620690"/>
          </a:xfrm>
          <a:custGeom>
            <a:avLst/>
            <a:gdLst/>
            <a:ahLst/>
            <a:cxnLst/>
            <a:rect r="r" b="b" t="t" l="l"/>
            <a:pathLst>
              <a:path h="5620690" w="5720805">
                <a:moveTo>
                  <a:pt x="0" y="0"/>
                </a:moveTo>
                <a:lnTo>
                  <a:pt x="5720805" y="0"/>
                </a:lnTo>
                <a:lnTo>
                  <a:pt x="5720805" y="5620691"/>
                </a:lnTo>
                <a:lnTo>
                  <a:pt x="0" y="5620691"/>
                </a:lnTo>
                <a:lnTo>
                  <a:pt x="0" y="0"/>
                </a:lnTo>
                <a:close/>
              </a:path>
            </a:pathLst>
          </a:custGeom>
          <a:blipFill>
            <a:blip r:embed="rId3"/>
            <a:stretch>
              <a:fillRect l="0" t="0" r="0" b="0"/>
            </a:stretch>
          </a:blipFill>
        </p:spPr>
      </p:sp>
      <p:sp>
        <p:nvSpPr>
          <p:cNvPr name="TextBox 19" id="19"/>
          <p:cNvSpPr txBox="true"/>
          <p:nvPr/>
        </p:nvSpPr>
        <p:spPr>
          <a:xfrm rot="0">
            <a:off x="1455677" y="1371308"/>
            <a:ext cx="5446961" cy="3895725"/>
          </a:xfrm>
          <a:prstGeom prst="rect">
            <a:avLst/>
          </a:prstGeom>
        </p:spPr>
        <p:txBody>
          <a:bodyPr anchor="t" rtlCol="false" tIns="0" lIns="0" bIns="0" rIns="0">
            <a:spAutoFit/>
          </a:bodyPr>
          <a:lstStyle/>
          <a:p>
            <a:pPr algn="l">
              <a:lnSpc>
                <a:spcPts val="7680"/>
              </a:lnSpc>
            </a:pPr>
            <a:r>
              <a:rPr lang="en-US" sz="6400" b="true">
                <a:solidFill>
                  <a:srgbClr val="64E688"/>
                </a:solidFill>
                <a:latin typeface="Fira Sans Ultra-Bold"/>
                <a:ea typeface="Fira Sans Ultra-Bold"/>
                <a:cs typeface="Fira Sans Ultra-Bold"/>
                <a:sym typeface="Fira Sans Ultra-Bold"/>
              </a:rPr>
              <a:t>GenAI</a:t>
            </a:r>
            <a:r>
              <a:rPr lang="en-US" sz="6400" b="true">
                <a:solidFill>
                  <a:srgbClr val="64E688"/>
                </a:solidFill>
                <a:latin typeface="Fira Sans Ultra-Bold"/>
                <a:ea typeface="Fira Sans Ultra-Bold"/>
                <a:cs typeface="Fira Sans Ultra-Bold"/>
                <a:sym typeface="Fira Sans Ultra-Bold"/>
              </a:rPr>
              <a:t> cho Quản lý Thời gian chạy và Bộ nhớ</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650633" y="2806021"/>
            <a:ext cx="6658068" cy="4674958"/>
            <a:chOff x="0" y="0"/>
            <a:chExt cx="8877424" cy="6233277"/>
          </a:xfrm>
        </p:grpSpPr>
        <p:sp>
          <p:nvSpPr>
            <p:cNvPr name="TextBox 3" id="3"/>
            <p:cNvSpPr txBox="true"/>
            <p:nvPr/>
          </p:nvSpPr>
          <p:spPr>
            <a:xfrm rot="0">
              <a:off x="0" y="213783"/>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P</a:t>
              </a:r>
              <a:r>
                <a:rPr lang="en-US" sz="4825" b="true">
                  <a:solidFill>
                    <a:srgbClr val="64E688"/>
                  </a:solidFill>
                  <a:latin typeface="Fira Sans Ultra-Bold"/>
                  <a:ea typeface="Fira Sans Ultra-Bold"/>
                  <a:cs typeface="Fira Sans Ultra-Bold"/>
                  <a:sym typeface="Fira Sans Ultra-Bold"/>
                </a:rPr>
                <a:t>hân tích thời gian và không gian </a:t>
              </a:r>
            </a:p>
          </p:txBody>
        </p:sp>
        <p:grpSp>
          <p:nvGrpSpPr>
            <p:cNvPr name="Group 4" id="4"/>
            <p:cNvGrpSpPr/>
            <p:nvPr/>
          </p:nvGrpSpPr>
          <p:grpSpPr>
            <a:xfrm rot="0">
              <a:off x="0" y="3325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3335686"/>
              <a:ext cx="6403551" cy="11842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NGHỊC</a:t>
              </a:r>
              <a:r>
                <a:rPr lang="en-US" sz="2999">
                  <a:solidFill>
                    <a:srgbClr val="FFFFFF"/>
                  </a:solidFill>
                  <a:latin typeface="Clear Sans"/>
                  <a:ea typeface="Clear Sans"/>
                  <a:cs typeface="Clear Sans"/>
                  <a:sym typeface="Clear Sans"/>
                </a:rPr>
                <a:t>H LÝ CỦA PHẦN CỨNG VÀ HỆ QUẢ KINH TẾ</a:t>
              </a:r>
            </a:p>
          </p:txBody>
        </p:sp>
        <p:sp>
          <p:nvSpPr>
            <p:cNvPr name="TextBox 7" id="7"/>
            <p:cNvSpPr txBox="true"/>
            <p:nvPr/>
          </p:nvSpPr>
          <p:spPr>
            <a:xfrm rot="0">
              <a:off x="0" y="5059797"/>
              <a:ext cx="8877424" cy="11734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Một</a:t>
              </a:r>
              <a:r>
                <a:rPr lang="en-US" sz="2400">
                  <a:solidFill>
                    <a:srgbClr val="FFFFFF"/>
                  </a:solidFill>
                  <a:latin typeface="Clear Sans"/>
                  <a:ea typeface="Clear Sans"/>
                  <a:cs typeface="Clear Sans"/>
                  <a:sym typeface="Clear Sans"/>
                </a:rPr>
                <a:t> thuật toán kém hiệu quả sẽ làm sụp đổ hệ thống bất chấp sức mạnh phần cứng</a:t>
              </a:r>
            </a:p>
          </p:txBody>
        </p:sp>
      </p:grpSp>
      <p:sp>
        <p:nvSpPr>
          <p:cNvPr name="Freeform 8" id="8"/>
          <p:cNvSpPr/>
          <p:nvPr/>
        </p:nvSpPr>
        <p:spPr>
          <a:xfrm flipH="false" flipV="false" rot="0">
            <a:off x="8528162" y="2284400"/>
            <a:ext cx="9412676" cy="5718200"/>
          </a:xfrm>
          <a:custGeom>
            <a:avLst/>
            <a:gdLst/>
            <a:ahLst/>
            <a:cxnLst/>
            <a:rect r="r" b="b" t="t" l="l"/>
            <a:pathLst>
              <a:path h="5718200" w="9412676">
                <a:moveTo>
                  <a:pt x="0" y="0"/>
                </a:moveTo>
                <a:lnTo>
                  <a:pt x="9412676" y="0"/>
                </a:lnTo>
                <a:lnTo>
                  <a:pt x="9412676" y="5718200"/>
                </a:lnTo>
                <a:lnTo>
                  <a:pt x="0" y="5718200"/>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650633" y="2577421"/>
            <a:ext cx="6658068" cy="5132158"/>
            <a:chOff x="0" y="0"/>
            <a:chExt cx="8877424" cy="6842877"/>
          </a:xfrm>
        </p:grpSpPr>
        <p:sp>
          <p:nvSpPr>
            <p:cNvPr name="TextBox 3" id="3"/>
            <p:cNvSpPr txBox="true"/>
            <p:nvPr/>
          </p:nvSpPr>
          <p:spPr>
            <a:xfrm rot="0">
              <a:off x="0" y="213783"/>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P</a:t>
              </a:r>
              <a:r>
                <a:rPr lang="en-US" sz="4825" b="true">
                  <a:solidFill>
                    <a:srgbClr val="64E688"/>
                  </a:solidFill>
                  <a:latin typeface="Fira Sans Ultra-Bold"/>
                  <a:ea typeface="Fira Sans Ultra-Bold"/>
                  <a:cs typeface="Fira Sans Ultra-Bold"/>
                  <a:sym typeface="Fira Sans Ultra-Bold"/>
                </a:rPr>
                <a:t>hân tích thời gian và không gian </a:t>
              </a:r>
            </a:p>
          </p:txBody>
        </p:sp>
        <p:grpSp>
          <p:nvGrpSpPr>
            <p:cNvPr name="Group 4" id="4"/>
            <p:cNvGrpSpPr/>
            <p:nvPr/>
          </p:nvGrpSpPr>
          <p:grpSpPr>
            <a:xfrm rot="0">
              <a:off x="0" y="3325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3335686"/>
              <a:ext cx="6403551" cy="11842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NGÔN</a:t>
              </a:r>
              <a:r>
                <a:rPr lang="en-US" sz="2999">
                  <a:solidFill>
                    <a:srgbClr val="FFFFFF"/>
                  </a:solidFill>
                  <a:latin typeface="Clear Sans"/>
                  <a:ea typeface="Clear Sans"/>
                  <a:cs typeface="Clear Sans"/>
                  <a:sym typeface="Clear Sans"/>
                </a:rPr>
                <a:t> NGỮ CỦA SỰ GIỚI HẠN - BIG-O NOTATION</a:t>
              </a:r>
            </a:p>
          </p:txBody>
        </p:sp>
        <p:sp>
          <p:nvSpPr>
            <p:cNvPr name="TextBox 7" id="7"/>
            <p:cNvSpPr txBox="true"/>
            <p:nvPr/>
          </p:nvSpPr>
          <p:spPr>
            <a:xfrm rot="0">
              <a:off x="0" y="5059797"/>
              <a:ext cx="8877424" cy="17830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H</a:t>
              </a:r>
              <a:r>
                <a:rPr lang="en-US" sz="2400">
                  <a:solidFill>
                    <a:srgbClr val="FFFFFF"/>
                  </a:solidFill>
                  <a:latin typeface="Clear Sans"/>
                  <a:ea typeface="Clear Sans"/>
                  <a:cs typeface="Clear Sans"/>
                  <a:sym typeface="Clear Sans"/>
                </a:rPr>
                <a:t>iệu năng hệ thống bị ràng buộc bởi hai chiều không gian - thời gian, được biểu diễn qua ký hiệu Big-O.</a:t>
              </a:r>
            </a:p>
          </p:txBody>
        </p:sp>
      </p:grpSp>
      <p:sp>
        <p:nvSpPr>
          <p:cNvPr name="Freeform 8" id="8"/>
          <p:cNvSpPr/>
          <p:nvPr/>
        </p:nvSpPr>
        <p:spPr>
          <a:xfrm flipH="false" flipV="false" rot="0">
            <a:off x="8644885" y="2282072"/>
            <a:ext cx="9381730" cy="5722855"/>
          </a:xfrm>
          <a:custGeom>
            <a:avLst/>
            <a:gdLst/>
            <a:ahLst/>
            <a:cxnLst/>
            <a:rect r="r" b="b" t="t" l="l"/>
            <a:pathLst>
              <a:path h="5722855" w="9381730">
                <a:moveTo>
                  <a:pt x="0" y="0"/>
                </a:moveTo>
                <a:lnTo>
                  <a:pt x="9381730" y="0"/>
                </a:lnTo>
                <a:lnTo>
                  <a:pt x="9381730" y="5722856"/>
                </a:lnTo>
                <a:lnTo>
                  <a:pt x="0" y="5722856"/>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738256">
            <a:off x="11093853" y="-1406465"/>
            <a:ext cx="5222621" cy="5242280"/>
          </a:xfrm>
          <a:custGeom>
            <a:avLst/>
            <a:gdLst/>
            <a:ahLst/>
            <a:cxnLst/>
            <a:rect r="r" b="b" t="t" l="l"/>
            <a:pathLst>
              <a:path h="5242280" w="5222621">
                <a:moveTo>
                  <a:pt x="0" y="0"/>
                </a:moveTo>
                <a:lnTo>
                  <a:pt x="5222621" y="0"/>
                </a:lnTo>
                <a:lnTo>
                  <a:pt x="5222621" y="5242279"/>
                </a:lnTo>
                <a:lnTo>
                  <a:pt x="0" y="5242279"/>
                </a:lnTo>
                <a:lnTo>
                  <a:pt x="0" y="0"/>
                </a:lnTo>
                <a:close/>
              </a:path>
            </a:pathLst>
          </a:custGeom>
          <a:blipFill>
            <a:blip r:embed="rId2"/>
            <a:stretch>
              <a:fillRect l="0" t="0" r="0" b="0"/>
            </a:stretch>
          </a:blipFill>
        </p:spPr>
      </p:sp>
      <p:grpSp>
        <p:nvGrpSpPr>
          <p:cNvPr name="Group 3" id="3"/>
          <p:cNvGrpSpPr/>
          <p:nvPr/>
        </p:nvGrpSpPr>
        <p:grpSpPr>
          <a:xfrm rot="0">
            <a:off x="1433839" y="2625516"/>
            <a:ext cx="11653168" cy="5035968"/>
            <a:chOff x="0" y="0"/>
            <a:chExt cx="15537557" cy="6714624"/>
          </a:xfrm>
        </p:grpSpPr>
        <p:sp>
          <p:nvSpPr>
            <p:cNvPr name="TextBox 4" id="4"/>
            <p:cNvSpPr txBox="true"/>
            <p:nvPr/>
          </p:nvSpPr>
          <p:spPr>
            <a:xfrm rot="0">
              <a:off x="0" y="-60325"/>
              <a:ext cx="15537557" cy="3079750"/>
            </a:xfrm>
            <a:prstGeom prst="rect">
              <a:avLst/>
            </a:prstGeom>
          </p:spPr>
          <p:txBody>
            <a:bodyPr anchor="t" rtlCol="false" tIns="0" lIns="0" bIns="0" rIns="0">
              <a:spAutoFit/>
            </a:bodyPr>
            <a:lstStyle/>
            <a:p>
              <a:pPr algn="l">
                <a:lnSpc>
                  <a:spcPts val="9262"/>
                </a:lnSpc>
              </a:pPr>
              <a:r>
                <a:rPr lang="en-US" sz="7124" b="true">
                  <a:solidFill>
                    <a:srgbClr val="64E688"/>
                  </a:solidFill>
                  <a:latin typeface="Fira Sans Ultra-Bold"/>
                  <a:ea typeface="Fira Sans Ultra-Bold"/>
                  <a:cs typeface="Fira Sans Ultra-Bold"/>
                  <a:sym typeface="Fira Sans Ultra-Bold"/>
                </a:rPr>
                <a:t>R</a:t>
              </a:r>
              <a:r>
                <a:rPr lang="en-US" sz="7124" b="true">
                  <a:solidFill>
                    <a:srgbClr val="64E688"/>
                  </a:solidFill>
                  <a:latin typeface="Fira Sans Ultra-Bold"/>
                  <a:ea typeface="Fira Sans Ultra-Bold"/>
                  <a:cs typeface="Fira Sans Ultra-Bold"/>
                  <a:sym typeface="Fira Sans Ultra-Bold"/>
                </a:rPr>
                <a:t>ào cản thời gian chạy (Runtime)</a:t>
              </a:r>
            </a:p>
          </p:txBody>
        </p:sp>
        <p:grpSp>
          <p:nvGrpSpPr>
            <p:cNvPr name="Group 5" id="5"/>
            <p:cNvGrpSpPr/>
            <p:nvPr/>
          </p:nvGrpSpPr>
          <p:grpSpPr>
            <a:xfrm rot="0">
              <a:off x="0" y="3735361"/>
              <a:ext cx="11678531" cy="1037674"/>
              <a:chOff x="0" y="0"/>
              <a:chExt cx="34095059" cy="3029453"/>
            </a:xfrm>
          </p:grpSpPr>
          <p:sp>
            <p:nvSpPr>
              <p:cNvPr name="Freeform 6" id="6"/>
              <p:cNvSpPr/>
              <p:nvPr/>
            </p:nvSpPr>
            <p:spPr>
              <a:xfrm flipH="false" flipV="false" rot="0">
                <a:off x="0" y="0"/>
                <a:ext cx="34095060" cy="3029453"/>
              </a:xfrm>
              <a:custGeom>
                <a:avLst/>
                <a:gdLst/>
                <a:ahLst/>
                <a:cxnLst/>
                <a:rect r="r" b="b" t="t" l="l"/>
                <a:pathLst>
                  <a:path h="3029453" w="34095060">
                    <a:moveTo>
                      <a:pt x="33970599" y="59690"/>
                    </a:moveTo>
                    <a:cubicBezTo>
                      <a:pt x="34006160" y="59690"/>
                      <a:pt x="34035371" y="88900"/>
                      <a:pt x="34035371" y="124460"/>
                    </a:cubicBezTo>
                    <a:lnTo>
                      <a:pt x="34035371" y="2904993"/>
                    </a:lnTo>
                    <a:cubicBezTo>
                      <a:pt x="34035371" y="2940553"/>
                      <a:pt x="34006160" y="2969763"/>
                      <a:pt x="33970599" y="2969763"/>
                    </a:cubicBezTo>
                    <a:lnTo>
                      <a:pt x="124460" y="2969763"/>
                    </a:lnTo>
                    <a:cubicBezTo>
                      <a:pt x="88900" y="2969763"/>
                      <a:pt x="59690" y="2940553"/>
                      <a:pt x="59690" y="2904993"/>
                    </a:cubicBezTo>
                    <a:lnTo>
                      <a:pt x="59690" y="124460"/>
                    </a:lnTo>
                    <a:cubicBezTo>
                      <a:pt x="59690" y="88900"/>
                      <a:pt x="88900" y="59690"/>
                      <a:pt x="124460" y="59690"/>
                    </a:cubicBezTo>
                    <a:lnTo>
                      <a:pt x="33970599" y="59690"/>
                    </a:lnTo>
                    <a:moveTo>
                      <a:pt x="33970599" y="0"/>
                    </a:moveTo>
                    <a:lnTo>
                      <a:pt x="124460" y="0"/>
                    </a:lnTo>
                    <a:cubicBezTo>
                      <a:pt x="55880" y="0"/>
                      <a:pt x="0" y="55880"/>
                      <a:pt x="0" y="124460"/>
                    </a:cubicBezTo>
                    <a:lnTo>
                      <a:pt x="0" y="2904993"/>
                    </a:lnTo>
                    <a:cubicBezTo>
                      <a:pt x="0" y="2973573"/>
                      <a:pt x="55880" y="3029453"/>
                      <a:pt x="124460" y="3029453"/>
                    </a:cubicBezTo>
                    <a:lnTo>
                      <a:pt x="33970599" y="3029453"/>
                    </a:lnTo>
                    <a:cubicBezTo>
                      <a:pt x="34039178" y="3029453"/>
                      <a:pt x="34095060" y="2973573"/>
                      <a:pt x="34095060" y="2904993"/>
                    </a:cubicBezTo>
                    <a:lnTo>
                      <a:pt x="34095060" y="124460"/>
                    </a:lnTo>
                    <a:cubicBezTo>
                      <a:pt x="34095060" y="55880"/>
                      <a:pt x="34039178" y="0"/>
                      <a:pt x="33970599" y="0"/>
                    </a:cubicBezTo>
                    <a:close/>
                  </a:path>
                </a:pathLst>
              </a:custGeom>
              <a:solidFill>
                <a:srgbClr val="64E688">
                  <a:alpha val="49804"/>
                </a:srgbClr>
              </a:solidFill>
            </p:spPr>
          </p:sp>
        </p:grpSp>
        <p:sp>
          <p:nvSpPr>
            <p:cNvPr name="TextBox 7" id="7"/>
            <p:cNvSpPr txBox="true"/>
            <p:nvPr/>
          </p:nvSpPr>
          <p:spPr>
            <a:xfrm rot="0">
              <a:off x="254000" y="3956807"/>
              <a:ext cx="11089057" cy="547158"/>
            </a:xfrm>
            <a:prstGeom prst="rect">
              <a:avLst/>
            </a:prstGeom>
          </p:spPr>
          <p:txBody>
            <a:bodyPr anchor="t" rtlCol="false" tIns="0" lIns="0" bIns="0" rIns="0">
              <a:spAutoFit/>
            </a:bodyPr>
            <a:lstStyle/>
            <a:p>
              <a:pPr algn="l">
                <a:lnSpc>
                  <a:spcPts val="3499"/>
                </a:lnSpc>
              </a:pPr>
              <a:r>
                <a:rPr lang="en-US" b="true" sz="2499">
                  <a:solidFill>
                    <a:srgbClr val="FFFFFF"/>
                  </a:solidFill>
                  <a:latin typeface="Clear Sans Medium"/>
                  <a:ea typeface="Clear Sans Medium"/>
                  <a:cs typeface="Clear Sans Medium"/>
                  <a:sym typeface="Clear Sans Medium"/>
                </a:rPr>
                <a:t>TI</a:t>
              </a:r>
              <a:r>
                <a:rPr lang="en-US" b="true" sz="2499">
                  <a:solidFill>
                    <a:srgbClr val="FFFFFF"/>
                  </a:solidFill>
                  <a:latin typeface="Clear Sans Medium"/>
                  <a:ea typeface="Clear Sans Medium"/>
                  <a:cs typeface="Clear Sans Medium"/>
                  <a:sym typeface="Clear Sans Medium"/>
                </a:rPr>
                <a:t>ME TO RUN WITH SPECIFIC HARDWARE</a:t>
              </a:r>
            </a:p>
          </p:txBody>
        </p:sp>
        <p:sp>
          <p:nvSpPr>
            <p:cNvPr name="TextBox 8" id="8"/>
            <p:cNvSpPr txBox="true"/>
            <p:nvPr/>
          </p:nvSpPr>
          <p:spPr>
            <a:xfrm rot="0">
              <a:off x="0" y="5104899"/>
              <a:ext cx="15537557" cy="1954742"/>
            </a:xfrm>
            <a:prstGeom prst="rect">
              <a:avLst/>
            </a:prstGeom>
          </p:spPr>
          <p:txBody>
            <a:bodyPr anchor="t" rtlCol="false" tIns="0" lIns="0" bIns="0" rIns="0">
              <a:spAutoFit/>
            </a:bodyPr>
            <a:lstStyle/>
            <a:p>
              <a:pPr algn="l">
                <a:lnSpc>
                  <a:spcPts val="4000"/>
                </a:lnSpc>
              </a:pPr>
              <a:r>
                <a:rPr lang="en-US" sz="2500">
                  <a:solidFill>
                    <a:srgbClr val="FFFFFF"/>
                  </a:solidFill>
                  <a:latin typeface="Clear Sans"/>
                  <a:ea typeface="Clear Sans"/>
                  <a:cs typeface="Clear Sans"/>
                  <a:sym typeface="Clear Sans"/>
                </a:rPr>
                <a:t>Thờ</a:t>
              </a:r>
              <a:r>
                <a:rPr lang="en-US" sz="2500">
                  <a:solidFill>
                    <a:srgbClr val="FFFFFF"/>
                  </a:solidFill>
                  <a:latin typeface="Clear Sans"/>
                  <a:ea typeface="Clear Sans"/>
                  <a:cs typeface="Clear Sans"/>
                  <a:sym typeface="Clear Sans"/>
                </a:rPr>
                <a:t>i gian chạy của một chương trình là thời gian cần thiết để thực thi các tác vụ được định nghĩa trong mã nguồn trên một cấu hình phần cứng cụ thể với một đầu vào nhất định.</a:t>
              </a:r>
            </a:p>
          </p:txBody>
        </p:sp>
      </p:grpSp>
      <p:sp>
        <p:nvSpPr>
          <p:cNvPr name="Freeform 9" id="9"/>
          <p:cNvSpPr/>
          <p:nvPr/>
        </p:nvSpPr>
        <p:spPr>
          <a:xfrm flipH="false" flipV="false" rot="2550716">
            <a:off x="15983983" y="5561797"/>
            <a:ext cx="3615482" cy="3290089"/>
          </a:xfrm>
          <a:custGeom>
            <a:avLst/>
            <a:gdLst/>
            <a:ahLst/>
            <a:cxnLst/>
            <a:rect r="r" b="b" t="t" l="l"/>
            <a:pathLst>
              <a:path h="3290089" w="3615482">
                <a:moveTo>
                  <a:pt x="0" y="0"/>
                </a:moveTo>
                <a:lnTo>
                  <a:pt x="3615482" y="0"/>
                </a:lnTo>
                <a:lnTo>
                  <a:pt x="3615482" y="3290089"/>
                </a:lnTo>
                <a:lnTo>
                  <a:pt x="0" y="3290089"/>
                </a:lnTo>
                <a:lnTo>
                  <a:pt x="0" y="0"/>
                </a:lnTo>
                <a:close/>
              </a:path>
            </a:pathLst>
          </a:custGeom>
          <a:blipFill>
            <a:blip r:embed="rId3"/>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738256">
            <a:off x="11093853" y="-1406465"/>
            <a:ext cx="5222621" cy="5242280"/>
          </a:xfrm>
          <a:custGeom>
            <a:avLst/>
            <a:gdLst/>
            <a:ahLst/>
            <a:cxnLst/>
            <a:rect r="r" b="b" t="t" l="l"/>
            <a:pathLst>
              <a:path h="5242280" w="5222621">
                <a:moveTo>
                  <a:pt x="0" y="0"/>
                </a:moveTo>
                <a:lnTo>
                  <a:pt x="5222621" y="0"/>
                </a:lnTo>
                <a:lnTo>
                  <a:pt x="5222621" y="5242279"/>
                </a:lnTo>
                <a:lnTo>
                  <a:pt x="0" y="5242279"/>
                </a:lnTo>
                <a:lnTo>
                  <a:pt x="0" y="0"/>
                </a:lnTo>
                <a:close/>
              </a:path>
            </a:pathLst>
          </a:custGeom>
          <a:blipFill>
            <a:blip r:embed="rId2"/>
            <a:stretch>
              <a:fillRect l="0" t="0" r="0" b="0"/>
            </a:stretch>
          </a:blipFill>
        </p:spPr>
      </p:sp>
      <p:grpSp>
        <p:nvGrpSpPr>
          <p:cNvPr name="Group 3" id="3"/>
          <p:cNvGrpSpPr/>
          <p:nvPr/>
        </p:nvGrpSpPr>
        <p:grpSpPr>
          <a:xfrm rot="0">
            <a:off x="563089" y="335841"/>
            <a:ext cx="11653168" cy="4026318"/>
            <a:chOff x="0" y="0"/>
            <a:chExt cx="15537557" cy="5368424"/>
          </a:xfrm>
        </p:grpSpPr>
        <p:sp>
          <p:nvSpPr>
            <p:cNvPr name="TextBox 4" id="4"/>
            <p:cNvSpPr txBox="true"/>
            <p:nvPr/>
          </p:nvSpPr>
          <p:spPr>
            <a:xfrm rot="0">
              <a:off x="0" y="-60325"/>
              <a:ext cx="15537557" cy="3079750"/>
            </a:xfrm>
            <a:prstGeom prst="rect">
              <a:avLst/>
            </a:prstGeom>
          </p:spPr>
          <p:txBody>
            <a:bodyPr anchor="t" rtlCol="false" tIns="0" lIns="0" bIns="0" rIns="0">
              <a:spAutoFit/>
            </a:bodyPr>
            <a:lstStyle/>
            <a:p>
              <a:pPr algn="l">
                <a:lnSpc>
                  <a:spcPts val="9262"/>
                </a:lnSpc>
              </a:pPr>
              <a:r>
                <a:rPr lang="en-US" sz="7124" b="true">
                  <a:solidFill>
                    <a:srgbClr val="64E688"/>
                  </a:solidFill>
                  <a:latin typeface="Fira Sans Ultra-Bold"/>
                  <a:ea typeface="Fira Sans Ultra-Bold"/>
                  <a:cs typeface="Fira Sans Ultra-Bold"/>
                  <a:sym typeface="Fira Sans Ultra-Bold"/>
                </a:rPr>
                <a:t>R</a:t>
              </a:r>
              <a:r>
                <a:rPr lang="en-US" sz="7124" b="true">
                  <a:solidFill>
                    <a:srgbClr val="64E688"/>
                  </a:solidFill>
                  <a:latin typeface="Fira Sans Ultra-Bold"/>
                  <a:ea typeface="Fira Sans Ultra-Bold"/>
                  <a:cs typeface="Fira Sans Ultra-Bold"/>
                  <a:sym typeface="Fira Sans Ultra-Bold"/>
                </a:rPr>
                <a:t>ào cản thời gian chạy (Runtime)</a:t>
              </a:r>
            </a:p>
          </p:txBody>
        </p:sp>
        <p:grpSp>
          <p:nvGrpSpPr>
            <p:cNvPr name="Group 5" id="5"/>
            <p:cNvGrpSpPr/>
            <p:nvPr/>
          </p:nvGrpSpPr>
          <p:grpSpPr>
            <a:xfrm rot="0">
              <a:off x="0" y="3735361"/>
              <a:ext cx="11678531" cy="1037674"/>
              <a:chOff x="0" y="0"/>
              <a:chExt cx="34095059" cy="3029453"/>
            </a:xfrm>
          </p:grpSpPr>
          <p:sp>
            <p:nvSpPr>
              <p:cNvPr name="Freeform 6" id="6"/>
              <p:cNvSpPr/>
              <p:nvPr/>
            </p:nvSpPr>
            <p:spPr>
              <a:xfrm flipH="false" flipV="false" rot="0">
                <a:off x="0" y="0"/>
                <a:ext cx="34095060" cy="3029453"/>
              </a:xfrm>
              <a:custGeom>
                <a:avLst/>
                <a:gdLst/>
                <a:ahLst/>
                <a:cxnLst/>
                <a:rect r="r" b="b" t="t" l="l"/>
                <a:pathLst>
                  <a:path h="3029453" w="34095060">
                    <a:moveTo>
                      <a:pt x="33970599" y="59690"/>
                    </a:moveTo>
                    <a:cubicBezTo>
                      <a:pt x="34006160" y="59690"/>
                      <a:pt x="34035371" y="88900"/>
                      <a:pt x="34035371" y="124460"/>
                    </a:cubicBezTo>
                    <a:lnTo>
                      <a:pt x="34035371" y="2904993"/>
                    </a:lnTo>
                    <a:cubicBezTo>
                      <a:pt x="34035371" y="2940553"/>
                      <a:pt x="34006160" y="2969763"/>
                      <a:pt x="33970599" y="2969763"/>
                    </a:cubicBezTo>
                    <a:lnTo>
                      <a:pt x="124460" y="2969763"/>
                    </a:lnTo>
                    <a:cubicBezTo>
                      <a:pt x="88900" y="2969763"/>
                      <a:pt x="59690" y="2940553"/>
                      <a:pt x="59690" y="2904993"/>
                    </a:cubicBezTo>
                    <a:lnTo>
                      <a:pt x="59690" y="124460"/>
                    </a:lnTo>
                    <a:cubicBezTo>
                      <a:pt x="59690" y="88900"/>
                      <a:pt x="88900" y="59690"/>
                      <a:pt x="124460" y="59690"/>
                    </a:cubicBezTo>
                    <a:lnTo>
                      <a:pt x="33970599" y="59690"/>
                    </a:lnTo>
                    <a:moveTo>
                      <a:pt x="33970599" y="0"/>
                    </a:moveTo>
                    <a:lnTo>
                      <a:pt x="124460" y="0"/>
                    </a:lnTo>
                    <a:cubicBezTo>
                      <a:pt x="55880" y="0"/>
                      <a:pt x="0" y="55880"/>
                      <a:pt x="0" y="124460"/>
                    </a:cubicBezTo>
                    <a:lnTo>
                      <a:pt x="0" y="2904993"/>
                    </a:lnTo>
                    <a:cubicBezTo>
                      <a:pt x="0" y="2973573"/>
                      <a:pt x="55880" y="3029453"/>
                      <a:pt x="124460" y="3029453"/>
                    </a:cubicBezTo>
                    <a:lnTo>
                      <a:pt x="33970599" y="3029453"/>
                    </a:lnTo>
                    <a:cubicBezTo>
                      <a:pt x="34039178" y="3029453"/>
                      <a:pt x="34095060" y="2973573"/>
                      <a:pt x="34095060" y="2904993"/>
                    </a:cubicBezTo>
                    <a:lnTo>
                      <a:pt x="34095060" y="124460"/>
                    </a:lnTo>
                    <a:cubicBezTo>
                      <a:pt x="34095060" y="55880"/>
                      <a:pt x="34039178" y="0"/>
                      <a:pt x="33970599" y="0"/>
                    </a:cubicBezTo>
                    <a:close/>
                  </a:path>
                </a:pathLst>
              </a:custGeom>
              <a:solidFill>
                <a:srgbClr val="64E688">
                  <a:alpha val="49804"/>
                </a:srgbClr>
              </a:solidFill>
            </p:spPr>
          </p:sp>
        </p:grpSp>
        <p:sp>
          <p:nvSpPr>
            <p:cNvPr name="TextBox 7" id="7"/>
            <p:cNvSpPr txBox="true"/>
            <p:nvPr/>
          </p:nvSpPr>
          <p:spPr>
            <a:xfrm rot="0">
              <a:off x="254000" y="3956807"/>
              <a:ext cx="11089057" cy="547158"/>
            </a:xfrm>
            <a:prstGeom prst="rect">
              <a:avLst/>
            </a:prstGeom>
          </p:spPr>
          <p:txBody>
            <a:bodyPr anchor="t" rtlCol="false" tIns="0" lIns="0" bIns="0" rIns="0">
              <a:spAutoFit/>
            </a:bodyPr>
            <a:lstStyle/>
            <a:p>
              <a:pPr algn="l">
                <a:lnSpc>
                  <a:spcPts val="3499"/>
                </a:lnSpc>
              </a:pPr>
              <a:r>
                <a:rPr lang="en-US" b="true" sz="2499">
                  <a:solidFill>
                    <a:srgbClr val="FFFFFF"/>
                  </a:solidFill>
                  <a:latin typeface="Clear Sans Medium"/>
                  <a:ea typeface="Clear Sans Medium"/>
                  <a:cs typeface="Clear Sans Medium"/>
                  <a:sym typeface="Clear Sans Medium"/>
                </a:rPr>
                <a:t>TI</a:t>
              </a:r>
              <a:r>
                <a:rPr lang="en-US" b="true" sz="2499">
                  <a:solidFill>
                    <a:srgbClr val="FFFFFF"/>
                  </a:solidFill>
                  <a:latin typeface="Clear Sans Medium"/>
                  <a:ea typeface="Clear Sans Medium"/>
                  <a:cs typeface="Clear Sans Medium"/>
                  <a:sym typeface="Clear Sans Medium"/>
                </a:rPr>
                <a:t>ME TO RUN WITH SPECIFIC HARDWARE</a:t>
              </a:r>
            </a:p>
          </p:txBody>
        </p:sp>
        <p:sp>
          <p:nvSpPr>
            <p:cNvPr name="TextBox 8" id="8"/>
            <p:cNvSpPr txBox="true"/>
            <p:nvPr/>
          </p:nvSpPr>
          <p:spPr>
            <a:xfrm rot="0">
              <a:off x="0" y="5104899"/>
              <a:ext cx="15537557" cy="608542"/>
            </a:xfrm>
            <a:prstGeom prst="rect">
              <a:avLst/>
            </a:prstGeom>
          </p:spPr>
          <p:txBody>
            <a:bodyPr anchor="t" rtlCol="false" tIns="0" lIns="0" bIns="0" rIns="0">
              <a:spAutoFit/>
            </a:bodyPr>
            <a:lstStyle/>
            <a:p>
              <a:pPr algn="l">
                <a:lnSpc>
                  <a:spcPts val="4000"/>
                </a:lnSpc>
              </a:pPr>
            </a:p>
          </p:txBody>
        </p:sp>
      </p:grpSp>
      <p:sp>
        <p:nvSpPr>
          <p:cNvPr name="Freeform 9" id="9"/>
          <p:cNvSpPr/>
          <p:nvPr/>
        </p:nvSpPr>
        <p:spPr>
          <a:xfrm flipH="false" flipV="false" rot="2550716">
            <a:off x="15983983" y="5561797"/>
            <a:ext cx="3615482" cy="3290089"/>
          </a:xfrm>
          <a:custGeom>
            <a:avLst/>
            <a:gdLst/>
            <a:ahLst/>
            <a:cxnLst/>
            <a:rect r="r" b="b" t="t" l="l"/>
            <a:pathLst>
              <a:path h="3290089" w="3615482">
                <a:moveTo>
                  <a:pt x="0" y="0"/>
                </a:moveTo>
                <a:lnTo>
                  <a:pt x="3615482" y="0"/>
                </a:lnTo>
                <a:lnTo>
                  <a:pt x="3615482" y="3290089"/>
                </a:lnTo>
                <a:lnTo>
                  <a:pt x="0" y="3290089"/>
                </a:lnTo>
                <a:lnTo>
                  <a:pt x="0" y="0"/>
                </a:lnTo>
                <a:close/>
              </a:path>
            </a:pathLst>
          </a:custGeom>
          <a:blipFill>
            <a:blip r:embed="rId3"/>
            <a:stretch>
              <a:fillRect l="0" t="0" r="0" b="0"/>
            </a:stretch>
          </a:blipFill>
        </p:spPr>
      </p:sp>
      <p:sp>
        <p:nvSpPr>
          <p:cNvPr name="Freeform 10" id="10"/>
          <p:cNvSpPr/>
          <p:nvPr/>
        </p:nvSpPr>
        <p:spPr>
          <a:xfrm flipH="false" flipV="false" rot="0">
            <a:off x="563089" y="4362159"/>
            <a:ext cx="10804726" cy="1640595"/>
          </a:xfrm>
          <a:custGeom>
            <a:avLst/>
            <a:gdLst/>
            <a:ahLst/>
            <a:cxnLst/>
            <a:rect r="r" b="b" t="t" l="l"/>
            <a:pathLst>
              <a:path h="1640595" w="10804726">
                <a:moveTo>
                  <a:pt x="0" y="0"/>
                </a:moveTo>
                <a:lnTo>
                  <a:pt x="10804726" y="0"/>
                </a:lnTo>
                <a:lnTo>
                  <a:pt x="10804726" y="1640595"/>
                </a:lnTo>
                <a:lnTo>
                  <a:pt x="0" y="1640595"/>
                </a:lnTo>
                <a:lnTo>
                  <a:pt x="0" y="0"/>
                </a:lnTo>
                <a:close/>
              </a:path>
            </a:pathLst>
          </a:custGeom>
          <a:blipFill>
            <a:blip r:embed="rId4"/>
            <a:stretch>
              <a:fillRect l="0" t="0" r="0" b="0"/>
            </a:stretch>
          </a:blipFill>
        </p:spPr>
      </p:sp>
      <p:sp>
        <p:nvSpPr>
          <p:cNvPr name="Freeform 11" id="11"/>
          <p:cNvSpPr/>
          <p:nvPr/>
        </p:nvSpPr>
        <p:spPr>
          <a:xfrm flipH="false" flipV="false" rot="0">
            <a:off x="626621" y="7009017"/>
            <a:ext cx="10677662" cy="1695966"/>
          </a:xfrm>
          <a:custGeom>
            <a:avLst/>
            <a:gdLst/>
            <a:ahLst/>
            <a:cxnLst/>
            <a:rect r="r" b="b" t="t" l="l"/>
            <a:pathLst>
              <a:path h="1695966" w="10677662">
                <a:moveTo>
                  <a:pt x="0" y="0"/>
                </a:moveTo>
                <a:lnTo>
                  <a:pt x="10677662" y="0"/>
                </a:lnTo>
                <a:lnTo>
                  <a:pt x="10677662" y="1695966"/>
                </a:lnTo>
                <a:lnTo>
                  <a:pt x="0" y="1695966"/>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738256">
            <a:off x="11093853" y="-1406465"/>
            <a:ext cx="5222621" cy="5242280"/>
          </a:xfrm>
          <a:custGeom>
            <a:avLst/>
            <a:gdLst/>
            <a:ahLst/>
            <a:cxnLst/>
            <a:rect r="r" b="b" t="t" l="l"/>
            <a:pathLst>
              <a:path h="5242280" w="5222621">
                <a:moveTo>
                  <a:pt x="0" y="0"/>
                </a:moveTo>
                <a:lnTo>
                  <a:pt x="5222621" y="0"/>
                </a:lnTo>
                <a:lnTo>
                  <a:pt x="5222621" y="5242279"/>
                </a:lnTo>
                <a:lnTo>
                  <a:pt x="0" y="5242279"/>
                </a:lnTo>
                <a:lnTo>
                  <a:pt x="0" y="0"/>
                </a:lnTo>
                <a:close/>
              </a:path>
            </a:pathLst>
          </a:custGeom>
          <a:blipFill>
            <a:blip r:embed="rId2"/>
            <a:stretch>
              <a:fillRect l="0" t="0" r="0" b="0"/>
            </a:stretch>
          </a:blipFill>
        </p:spPr>
      </p:sp>
      <p:grpSp>
        <p:nvGrpSpPr>
          <p:cNvPr name="Group 3" id="3"/>
          <p:cNvGrpSpPr/>
          <p:nvPr/>
        </p:nvGrpSpPr>
        <p:grpSpPr>
          <a:xfrm rot="0">
            <a:off x="1433839" y="3211303"/>
            <a:ext cx="11653168" cy="3864393"/>
            <a:chOff x="0" y="0"/>
            <a:chExt cx="15537557" cy="5152524"/>
          </a:xfrm>
        </p:grpSpPr>
        <p:sp>
          <p:nvSpPr>
            <p:cNvPr name="TextBox 4" id="4"/>
            <p:cNvSpPr txBox="true"/>
            <p:nvPr/>
          </p:nvSpPr>
          <p:spPr>
            <a:xfrm rot="0">
              <a:off x="0" y="-60325"/>
              <a:ext cx="15537557" cy="1517650"/>
            </a:xfrm>
            <a:prstGeom prst="rect">
              <a:avLst/>
            </a:prstGeom>
          </p:spPr>
          <p:txBody>
            <a:bodyPr anchor="t" rtlCol="false" tIns="0" lIns="0" bIns="0" rIns="0">
              <a:spAutoFit/>
            </a:bodyPr>
            <a:lstStyle/>
            <a:p>
              <a:pPr algn="l">
                <a:lnSpc>
                  <a:spcPts val="9262"/>
                </a:lnSpc>
              </a:pPr>
              <a:r>
                <a:rPr lang="en-US" sz="7124" b="true">
                  <a:solidFill>
                    <a:srgbClr val="64E688"/>
                  </a:solidFill>
                  <a:latin typeface="Fira Sans Ultra-Bold"/>
                  <a:ea typeface="Fira Sans Ultra-Bold"/>
                  <a:cs typeface="Fira Sans Ultra-Bold"/>
                  <a:sym typeface="Fira Sans Ultra-Bold"/>
                </a:rPr>
                <a:t>R</a:t>
              </a:r>
              <a:r>
                <a:rPr lang="en-US" sz="7124" b="true">
                  <a:solidFill>
                    <a:srgbClr val="64E688"/>
                  </a:solidFill>
                  <a:latin typeface="Fira Sans Ultra-Bold"/>
                  <a:ea typeface="Fira Sans Ultra-Bold"/>
                  <a:cs typeface="Fira Sans Ultra-Bold"/>
                  <a:sym typeface="Fira Sans Ultra-Bold"/>
                </a:rPr>
                <a:t>ào cản không gian </a:t>
              </a:r>
            </a:p>
          </p:txBody>
        </p:sp>
        <p:grpSp>
          <p:nvGrpSpPr>
            <p:cNvPr name="Group 5" id="5"/>
            <p:cNvGrpSpPr/>
            <p:nvPr/>
          </p:nvGrpSpPr>
          <p:grpSpPr>
            <a:xfrm rot="0">
              <a:off x="0" y="2173261"/>
              <a:ext cx="11678531" cy="1037674"/>
              <a:chOff x="0" y="0"/>
              <a:chExt cx="34095059" cy="3029453"/>
            </a:xfrm>
          </p:grpSpPr>
          <p:sp>
            <p:nvSpPr>
              <p:cNvPr name="Freeform 6" id="6"/>
              <p:cNvSpPr/>
              <p:nvPr/>
            </p:nvSpPr>
            <p:spPr>
              <a:xfrm flipH="false" flipV="false" rot="0">
                <a:off x="0" y="0"/>
                <a:ext cx="34095060" cy="3029453"/>
              </a:xfrm>
              <a:custGeom>
                <a:avLst/>
                <a:gdLst/>
                <a:ahLst/>
                <a:cxnLst/>
                <a:rect r="r" b="b" t="t" l="l"/>
                <a:pathLst>
                  <a:path h="3029453" w="34095060">
                    <a:moveTo>
                      <a:pt x="33970599" y="59690"/>
                    </a:moveTo>
                    <a:cubicBezTo>
                      <a:pt x="34006160" y="59690"/>
                      <a:pt x="34035371" y="88900"/>
                      <a:pt x="34035371" y="124460"/>
                    </a:cubicBezTo>
                    <a:lnTo>
                      <a:pt x="34035371" y="2904993"/>
                    </a:lnTo>
                    <a:cubicBezTo>
                      <a:pt x="34035371" y="2940553"/>
                      <a:pt x="34006160" y="2969763"/>
                      <a:pt x="33970599" y="2969763"/>
                    </a:cubicBezTo>
                    <a:lnTo>
                      <a:pt x="124460" y="2969763"/>
                    </a:lnTo>
                    <a:cubicBezTo>
                      <a:pt x="88900" y="2969763"/>
                      <a:pt x="59690" y="2940553"/>
                      <a:pt x="59690" y="2904993"/>
                    </a:cubicBezTo>
                    <a:lnTo>
                      <a:pt x="59690" y="124460"/>
                    </a:lnTo>
                    <a:cubicBezTo>
                      <a:pt x="59690" y="88900"/>
                      <a:pt x="88900" y="59690"/>
                      <a:pt x="124460" y="59690"/>
                    </a:cubicBezTo>
                    <a:lnTo>
                      <a:pt x="33970599" y="59690"/>
                    </a:lnTo>
                    <a:moveTo>
                      <a:pt x="33970599" y="0"/>
                    </a:moveTo>
                    <a:lnTo>
                      <a:pt x="124460" y="0"/>
                    </a:lnTo>
                    <a:cubicBezTo>
                      <a:pt x="55880" y="0"/>
                      <a:pt x="0" y="55880"/>
                      <a:pt x="0" y="124460"/>
                    </a:cubicBezTo>
                    <a:lnTo>
                      <a:pt x="0" y="2904993"/>
                    </a:lnTo>
                    <a:cubicBezTo>
                      <a:pt x="0" y="2973573"/>
                      <a:pt x="55880" y="3029453"/>
                      <a:pt x="124460" y="3029453"/>
                    </a:cubicBezTo>
                    <a:lnTo>
                      <a:pt x="33970599" y="3029453"/>
                    </a:lnTo>
                    <a:cubicBezTo>
                      <a:pt x="34039178" y="3029453"/>
                      <a:pt x="34095060" y="2973573"/>
                      <a:pt x="34095060" y="2904993"/>
                    </a:cubicBezTo>
                    <a:lnTo>
                      <a:pt x="34095060" y="124460"/>
                    </a:lnTo>
                    <a:cubicBezTo>
                      <a:pt x="34095060" y="55880"/>
                      <a:pt x="34039178" y="0"/>
                      <a:pt x="33970599" y="0"/>
                    </a:cubicBezTo>
                    <a:close/>
                  </a:path>
                </a:pathLst>
              </a:custGeom>
              <a:solidFill>
                <a:srgbClr val="64E688">
                  <a:alpha val="49804"/>
                </a:srgbClr>
              </a:solidFill>
            </p:spPr>
          </p:sp>
        </p:grpSp>
        <p:sp>
          <p:nvSpPr>
            <p:cNvPr name="TextBox 7" id="7"/>
            <p:cNvSpPr txBox="true"/>
            <p:nvPr/>
          </p:nvSpPr>
          <p:spPr>
            <a:xfrm rot="0">
              <a:off x="254000" y="2394707"/>
              <a:ext cx="11089057" cy="547158"/>
            </a:xfrm>
            <a:prstGeom prst="rect">
              <a:avLst/>
            </a:prstGeom>
          </p:spPr>
          <p:txBody>
            <a:bodyPr anchor="t" rtlCol="false" tIns="0" lIns="0" bIns="0" rIns="0">
              <a:spAutoFit/>
            </a:bodyPr>
            <a:lstStyle/>
            <a:p>
              <a:pPr algn="l">
                <a:lnSpc>
                  <a:spcPts val="3499"/>
                </a:lnSpc>
              </a:pPr>
              <a:r>
                <a:rPr lang="en-US" sz="2499">
                  <a:solidFill>
                    <a:srgbClr val="FFFFFF"/>
                  </a:solidFill>
                  <a:latin typeface="Clear Sans"/>
                  <a:ea typeface="Clear Sans"/>
                  <a:cs typeface="Clear Sans"/>
                  <a:sym typeface="Clear Sans"/>
                </a:rPr>
                <a:t>MEMORY COST TO RUN</a:t>
              </a:r>
            </a:p>
          </p:txBody>
        </p:sp>
        <p:sp>
          <p:nvSpPr>
            <p:cNvPr name="TextBox 8" id="8"/>
            <p:cNvSpPr txBox="true"/>
            <p:nvPr/>
          </p:nvSpPr>
          <p:spPr>
            <a:xfrm rot="0">
              <a:off x="0" y="3542799"/>
              <a:ext cx="15537557" cy="1954742"/>
            </a:xfrm>
            <a:prstGeom prst="rect">
              <a:avLst/>
            </a:prstGeom>
          </p:spPr>
          <p:txBody>
            <a:bodyPr anchor="t" rtlCol="false" tIns="0" lIns="0" bIns="0" rIns="0">
              <a:spAutoFit/>
            </a:bodyPr>
            <a:lstStyle/>
            <a:p>
              <a:pPr algn="l">
                <a:lnSpc>
                  <a:spcPts val="4000"/>
                </a:lnSpc>
              </a:pPr>
              <a:r>
                <a:rPr lang="en-US" sz="2500">
                  <a:solidFill>
                    <a:srgbClr val="FFFFFF"/>
                  </a:solidFill>
                  <a:latin typeface="Clear Sans"/>
                  <a:ea typeface="Clear Sans"/>
                  <a:cs typeface="Clear Sans"/>
                  <a:sym typeface="Clear Sans"/>
                </a:rPr>
                <a:t>RAM</a:t>
              </a:r>
              <a:r>
                <a:rPr lang="en-US" sz="2500">
                  <a:solidFill>
                    <a:srgbClr val="FFFFFF"/>
                  </a:solidFill>
                  <a:latin typeface="Clear Sans"/>
                  <a:ea typeface="Clear Sans"/>
                  <a:cs typeface="Clear Sans"/>
                  <a:sym typeface="Clear Sans"/>
                </a:rPr>
                <a:t> mà một chương trình tiêu thụ trong quá trình thực thi phản ánh việc sử dụng không gian bộ nhớ của nó. Big-O dùng để mô tả cách sử dụng bộ nhớ thay đổi theo kích thước của cấu trúc dữ liệu.</a:t>
              </a:r>
            </a:p>
          </p:txBody>
        </p:sp>
      </p:grpSp>
      <p:sp>
        <p:nvSpPr>
          <p:cNvPr name="Freeform 9" id="9"/>
          <p:cNvSpPr/>
          <p:nvPr/>
        </p:nvSpPr>
        <p:spPr>
          <a:xfrm flipH="false" flipV="false" rot="2550716">
            <a:off x="15983983" y="5561797"/>
            <a:ext cx="3615482" cy="3290089"/>
          </a:xfrm>
          <a:custGeom>
            <a:avLst/>
            <a:gdLst/>
            <a:ahLst/>
            <a:cxnLst/>
            <a:rect r="r" b="b" t="t" l="l"/>
            <a:pathLst>
              <a:path h="3290089" w="3615482">
                <a:moveTo>
                  <a:pt x="0" y="0"/>
                </a:moveTo>
                <a:lnTo>
                  <a:pt x="3615482" y="0"/>
                </a:lnTo>
                <a:lnTo>
                  <a:pt x="3615482" y="3290089"/>
                </a:lnTo>
                <a:lnTo>
                  <a:pt x="0" y="3290089"/>
                </a:lnTo>
                <a:lnTo>
                  <a:pt x="0" y="0"/>
                </a:lnTo>
                <a:close/>
              </a:path>
            </a:pathLst>
          </a:custGeom>
          <a:blipFill>
            <a:blip r:embed="rId3"/>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738256">
            <a:off x="11093853" y="-1406465"/>
            <a:ext cx="5222621" cy="5242280"/>
          </a:xfrm>
          <a:custGeom>
            <a:avLst/>
            <a:gdLst/>
            <a:ahLst/>
            <a:cxnLst/>
            <a:rect r="r" b="b" t="t" l="l"/>
            <a:pathLst>
              <a:path h="5242280" w="5222621">
                <a:moveTo>
                  <a:pt x="0" y="0"/>
                </a:moveTo>
                <a:lnTo>
                  <a:pt x="5222621" y="0"/>
                </a:lnTo>
                <a:lnTo>
                  <a:pt x="5222621" y="5242279"/>
                </a:lnTo>
                <a:lnTo>
                  <a:pt x="0" y="5242279"/>
                </a:lnTo>
                <a:lnTo>
                  <a:pt x="0" y="0"/>
                </a:lnTo>
                <a:close/>
              </a:path>
            </a:pathLst>
          </a:custGeom>
          <a:blipFill>
            <a:blip r:embed="rId2"/>
            <a:stretch>
              <a:fillRect l="0" t="0" r="0" b="0"/>
            </a:stretch>
          </a:blipFill>
        </p:spPr>
      </p:sp>
      <p:grpSp>
        <p:nvGrpSpPr>
          <p:cNvPr name="Group 3" id="3"/>
          <p:cNvGrpSpPr/>
          <p:nvPr/>
        </p:nvGrpSpPr>
        <p:grpSpPr>
          <a:xfrm rot="0">
            <a:off x="401089" y="273629"/>
            <a:ext cx="11653168" cy="2854743"/>
            <a:chOff x="0" y="0"/>
            <a:chExt cx="15537557" cy="3806324"/>
          </a:xfrm>
        </p:grpSpPr>
        <p:sp>
          <p:nvSpPr>
            <p:cNvPr name="TextBox 4" id="4"/>
            <p:cNvSpPr txBox="true"/>
            <p:nvPr/>
          </p:nvSpPr>
          <p:spPr>
            <a:xfrm rot="0">
              <a:off x="0" y="-60325"/>
              <a:ext cx="15537557" cy="1517650"/>
            </a:xfrm>
            <a:prstGeom prst="rect">
              <a:avLst/>
            </a:prstGeom>
          </p:spPr>
          <p:txBody>
            <a:bodyPr anchor="t" rtlCol="false" tIns="0" lIns="0" bIns="0" rIns="0">
              <a:spAutoFit/>
            </a:bodyPr>
            <a:lstStyle/>
            <a:p>
              <a:pPr algn="l">
                <a:lnSpc>
                  <a:spcPts val="9262"/>
                </a:lnSpc>
              </a:pPr>
              <a:r>
                <a:rPr lang="en-US" sz="7124" b="true">
                  <a:solidFill>
                    <a:srgbClr val="64E688"/>
                  </a:solidFill>
                  <a:latin typeface="Fira Sans Ultra-Bold"/>
                  <a:ea typeface="Fira Sans Ultra-Bold"/>
                  <a:cs typeface="Fira Sans Ultra-Bold"/>
                  <a:sym typeface="Fira Sans Ultra-Bold"/>
                </a:rPr>
                <a:t>R</a:t>
              </a:r>
              <a:r>
                <a:rPr lang="en-US" sz="7124" b="true">
                  <a:solidFill>
                    <a:srgbClr val="64E688"/>
                  </a:solidFill>
                  <a:latin typeface="Fira Sans Ultra-Bold"/>
                  <a:ea typeface="Fira Sans Ultra-Bold"/>
                  <a:cs typeface="Fira Sans Ultra-Bold"/>
                  <a:sym typeface="Fira Sans Ultra-Bold"/>
                </a:rPr>
                <a:t>ào cản không gian </a:t>
              </a:r>
            </a:p>
          </p:txBody>
        </p:sp>
        <p:grpSp>
          <p:nvGrpSpPr>
            <p:cNvPr name="Group 5" id="5"/>
            <p:cNvGrpSpPr/>
            <p:nvPr/>
          </p:nvGrpSpPr>
          <p:grpSpPr>
            <a:xfrm rot="0">
              <a:off x="0" y="2173261"/>
              <a:ext cx="11678531" cy="1037674"/>
              <a:chOff x="0" y="0"/>
              <a:chExt cx="34095059" cy="3029453"/>
            </a:xfrm>
          </p:grpSpPr>
          <p:sp>
            <p:nvSpPr>
              <p:cNvPr name="Freeform 6" id="6"/>
              <p:cNvSpPr/>
              <p:nvPr/>
            </p:nvSpPr>
            <p:spPr>
              <a:xfrm flipH="false" flipV="false" rot="0">
                <a:off x="0" y="0"/>
                <a:ext cx="34095060" cy="3029453"/>
              </a:xfrm>
              <a:custGeom>
                <a:avLst/>
                <a:gdLst/>
                <a:ahLst/>
                <a:cxnLst/>
                <a:rect r="r" b="b" t="t" l="l"/>
                <a:pathLst>
                  <a:path h="3029453" w="34095060">
                    <a:moveTo>
                      <a:pt x="33970599" y="59690"/>
                    </a:moveTo>
                    <a:cubicBezTo>
                      <a:pt x="34006160" y="59690"/>
                      <a:pt x="34035371" y="88900"/>
                      <a:pt x="34035371" y="124460"/>
                    </a:cubicBezTo>
                    <a:lnTo>
                      <a:pt x="34035371" y="2904993"/>
                    </a:lnTo>
                    <a:cubicBezTo>
                      <a:pt x="34035371" y="2940553"/>
                      <a:pt x="34006160" y="2969763"/>
                      <a:pt x="33970599" y="2969763"/>
                    </a:cubicBezTo>
                    <a:lnTo>
                      <a:pt x="124460" y="2969763"/>
                    </a:lnTo>
                    <a:cubicBezTo>
                      <a:pt x="88900" y="2969763"/>
                      <a:pt x="59690" y="2940553"/>
                      <a:pt x="59690" y="2904993"/>
                    </a:cubicBezTo>
                    <a:lnTo>
                      <a:pt x="59690" y="124460"/>
                    </a:lnTo>
                    <a:cubicBezTo>
                      <a:pt x="59690" y="88900"/>
                      <a:pt x="88900" y="59690"/>
                      <a:pt x="124460" y="59690"/>
                    </a:cubicBezTo>
                    <a:lnTo>
                      <a:pt x="33970599" y="59690"/>
                    </a:lnTo>
                    <a:moveTo>
                      <a:pt x="33970599" y="0"/>
                    </a:moveTo>
                    <a:lnTo>
                      <a:pt x="124460" y="0"/>
                    </a:lnTo>
                    <a:cubicBezTo>
                      <a:pt x="55880" y="0"/>
                      <a:pt x="0" y="55880"/>
                      <a:pt x="0" y="124460"/>
                    </a:cubicBezTo>
                    <a:lnTo>
                      <a:pt x="0" y="2904993"/>
                    </a:lnTo>
                    <a:cubicBezTo>
                      <a:pt x="0" y="2973573"/>
                      <a:pt x="55880" y="3029453"/>
                      <a:pt x="124460" y="3029453"/>
                    </a:cubicBezTo>
                    <a:lnTo>
                      <a:pt x="33970599" y="3029453"/>
                    </a:lnTo>
                    <a:cubicBezTo>
                      <a:pt x="34039178" y="3029453"/>
                      <a:pt x="34095060" y="2973573"/>
                      <a:pt x="34095060" y="2904993"/>
                    </a:cubicBezTo>
                    <a:lnTo>
                      <a:pt x="34095060" y="124460"/>
                    </a:lnTo>
                    <a:cubicBezTo>
                      <a:pt x="34095060" y="55880"/>
                      <a:pt x="34039178" y="0"/>
                      <a:pt x="33970599" y="0"/>
                    </a:cubicBezTo>
                    <a:close/>
                  </a:path>
                </a:pathLst>
              </a:custGeom>
              <a:solidFill>
                <a:srgbClr val="64E688">
                  <a:alpha val="49804"/>
                </a:srgbClr>
              </a:solidFill>
            </p:spPr>
          </p:sp>
        </p:grpSp>
        <p:sp>
          <p:nvSpPr>
            <p:cNvPr name="TextBox 7" id="7"/>
            <p:cNvSpPr txBox="true"/>
            <p:nvPr/>
          </p:nvSpPr>
          <p:spPr>
            <a:xfrm rot="0">
              <a:off x="254000" y="2394707"/>
              <a:ext cx="11089057" cy="547158"/>
            </a:xfrm>
            <a:prstGeom prst="rect">
              <a:avLst/>
            </a:prstGeom>
          </p:spPr>
          <p:txBody>
            <a:bodyPr anchor="t" rtlCol="false" tIns="0" lIns="0" bIns="0" rIns="0">
              <a:spAutoFit/>
            </a:bodyPr>
            <a:lstStyle/>
            <a:p>
              <a:pPr algn="l">
                <a:lnSpc>
                  <a:spcPts val="3499"/>
                </a:lnSpc>
              </a:pPr>
              <a:r>
                <a:rPr lang="en-US" sz="2499">
                  <a:solidFill>
                    <a:srgbClr val="FFFFFF"/>
                  </a:solidFill>
                  <a:latin typeface="Clear Sans"/>
                  <a:ea typeface="Clear Sans"/>
                  <a:cs typeface="Clear Sans"/>
                  <a:sym typeface="Clear Sans"/>
                </a:rPr>
                <a:t>MEMORY COST TO RUN</a:t>
              </a:r>
            </a:p>
          </p:txBody>
        </p:sp>
        <p:sp>
          <p:nvSpPr>
            <p:cNvPr name="TextBox 8" id="8"/>
            <p:cNvSpPr txBox="true"/>
            <p:nvPr/>
          </p:nvSpPr>
          <p:spPr>
            <a:xfrm rot="0">
              <a:off x="0" y="3542799"/>
              <a:ext cx="15537557" cy="608542"/>
            </a:xfrm>
            <a:prstGeom prst="rect">
              <a:avLst/>
            </a:prstGeom>
          </p:spPr>
          <p:txBody>
            <a:bodyPr anchor="t" rtlCol="false" tIns="0" lIns="0" bIns="0" rIns="0">
              <a:spAutoFit/>
            </a:bodyPr>
            <a:lstStyle/>
            <a:p>
              <a:pPr algn="l">
                <a:lnSpc>
                  <a:spcPts val="4000"/>
                </a:lnSpc>
              </a:pPr>
            </a:p>
          </p:txBody>
        </p:sp>
      </p:grpSp>
      <p:sp>
        <p:nvSpPr>
          <p:cNvPr name="Freeform 9" id="9"/>
          <p:cNvSpPr/>
          <p:nvPr/>
        </p:nvSpPr>
        <p:spPr>
          <a:xfrm flipH="false" flipV="false" rot="2550716">
            <a:off x="15983983" y="5561797"/>
            <a:ext cx="3615482" cy="3290089"/>
          </a:xfrm>
          <a:custGeom>
            <a:avLst/>
            <a:gdLst/>
            <a:ahLst/>
            <a:cxnLst/>
            <a:rect r="r" b="b" t="t" l="l"/>
            <a:pathLst>
              <a:path h="3290089" w="3615482">
                <a:moveTo>
                  <a:pt x="0" y="0"/>
                </a:moveTo>
                <a:lnTo>
                  <a:pt x="3615482" y="0"/>
                </a:lnTo>
                <a:lnTo>
                  <a:pt x="3615482" y="3290089"/>
                </a:lnTo>
                <a:lnTo>
                  <a:pt x="0" y="3290089"/>
                </a:lnTo>
                <a:lnTo>
                  <a:pt x="0" y="0"/>
                </a:lnTo>
                <a:close/>
              </a:path>
            </a:pathLst>
          </a:custGeom>
          <a:blipFill>
            <a:blip r:embed="rId3"/>
            <a:stretch>
              <a:fillRect l="0" t="0" r="0" b="0"/>
            </a:stretch>
          </a:blipFill>
        </p:spPr>
      </p:sp>
      <p:sp>
        <p:nvSpPr>
          <p:cNvPr name="Freeform 10" id="10"/>
          <p:cNvSpPr/>
          <p:nvPr/>
        </p:nvSpPr>
        <p:spPr>
          <a:xfrm flipH="false" flipV="false" rot="0">
            <a:off x="6940782" y="3919929"/>
            <a:ext cx="10850942" cy="1745941"/>
          </a:xfrm>
          <a:custGeom>
            <a:avLst/>
            <a:gdLst/>
            <a:ahLst/>
            <a:cxnLst/>
            <a:rect r="r" b="b" t="t" l="l"/>
            <a:pathLst>
              <a:path h="1745941" w="10850942">
                <a:moveTo>
                  <a:pt x="0" y="0"/>
                </a:moveTo>
                <a:lnTo>
                  <a:pt x="10850942" y="0"/>
                </a:lnTo>
                <a:lnTo>
                  <a:pt x="10850942" y="1745941"/>
                </a:lnTo>
                <a:lnTo>
                  <a:pt x="0" y="1745941"/>
                </a:lnTo>
                <a:lnTo>
                  <a:pt x="0" y="0"/>
                </a:lnTo>
                <a:close/>
              </a:path>
            </a:pathLst>
          </a:custGeom>
          <a:blipFill>
            <a:blip r:embed="rId4"/>
            <a:stretch>
              <a:fillRect l="0" t="0" r="0" b="0"/>
            </a:stretch>
          </a:blipFill>
        </p:spPr>
      </p:sp>
      <p:sp>
        <p:nvSpPr>
          <p:cNvPr name="Freeform 11" id="11"/>
          <p:cNvSpPr/>
          <p:nvPr/>
        </p:nvSpPr>
        <p:spPr>
          <a:xfrm flipH="false" flipV="false" rot="0">
            <a:off x="7010899" y="6315610"/>
            <a:ext cx="10710708" cy="2070281"/>
          </a:xfrm>
          <a:custGeom>
            <a:avLst/>
            <a:gdLst/>
            <a:ahLst/>
            <a:cxnLst/>
            <a:rect r="r" b="b" t="t" l="l"/>
            <a:pathLst>
              <a:path h="2070281" w="10710708">
                <a:moveTo>
                  <a:pt x="0" y="0"/>
                </a:moveTo>
                <a:lnTo>
                  <a:pt x="10710708" y="0"/>
                </a:lnTo>
                <a:lnTo>
                  <a:pt x="10710708" y="2070280"/>
                </a:lnTo>
                <a:lnTo>
                  <a:pt x="0" y="2070280"/>
                </a:lnTo>
                <a:lnTo>
                  <a:pt x="0" y="0"/>
                </a:lnTo>
                <a:close/>
              </a:path>
            </a:pathLst>
          </a:custGeom>
          <a:blipFill>
            <a:blip r:embed="rId5"/>
            <a:stretch>
              <a:fillRect l="0" t="0" r="0" b="0"/>
            </a:stretch>
          </a:blipFill>
        </p:spPr>
      </p:sp>
      <p:sp>
        <p:nvSpPr>
          <p:cNvPr name="TextBox 12" id="12"/>
          <p:cNvSpPr txBox="true"/>
          <p:nvPr/>
        </p:nvSpPr>
        <p:spPr>
          <a:xfrm rot="0">
            <a:off x="563089" y="4554742"/>
            <a:ext cx="4582836" cy="2454275"/>
          </a:xfrm>
          <a:prstGeom prst="rect">
            <a:avLst/>
          </a:prstGeom>
        </p:spPr>
        <p:txBody>
          <a:bodyPr anchor="t" rtlCol="false" tIns="0" lIns="0" bIns="0" rIns="0">
            <a:spAutoFit/>
          </a:bodyPr>
          <a:lstStyle/>
          <a:p>
            <a:pPr algn="ctr">
              <a:lnSpc>
                <a:spcPts val="3249"/>
              </a:lnSpc>
              <a:spcBef>
                <a:spcPct val="0"/>
              </a:spcBef>
            </a:pPr>
            <a:r>
              <a:rPr lang="en-US" sz="2499">
                <a:solidFill>
                  <a:srgbClr val="FFFFFF"/>
                </a:solidFill>
                <a:latin typeface="Clear Sans"/>
                <a:ea typeface="Clear Sans"/>
                <a:cs typeface="Clear Sans"/>
                <a:sym typeface="Clear Sans"/>
              </a:rPr>
              <a:t>H</a:t>
            </a:r>
            <a:r>
              <a:rPr lang="en-US" sz="2499">
                <a:solidFill>
                  <a:srgbClr val="FFFFFF"/>
                </a:solidFill>
                <a:latin typeface="Clear Sans"/>
                <a:ea typeface="Clear Sans"/>
                <a:cs typeface="Clear Sans"/>
                <a:sym typeface="Clear Sans"/>
              </a:rPr>
              <a:t>àm </a:t>
            </a:r>
            <a:r>
              <a:rPr lang="en-US" sz="2499" i="true">
                <a:solidFill>
                  <a:srgbClr val="FFFFFF"/>
                </a:solidFill>
                <a:latin typeface="Clear Sans Italics"/>
                <a:ea typeface="Clear Sans Italics"/>
                <a:cs typeface="Clear Sans Italics"/>
                <a:sym typeface="Clear Sans Italics"/>
              </a:rPr>
              <a:t>get_top_video</a:t>
            </a:r>
            <a:r>
              <a:rPr lang="en-US" sz="2499">
                <a:solidFill>
                  <a:srgbClr val="FFFFFF"/>
                </a:solidFill>
                <a:latin typeface="Clear Sans"/>
                <a:ea typeface="Clear Sans"/>
                <a:cs typeface="Clear Sans"/>
                <a:sym typeface="Clear Sans"/>
              </a:rPr>
              <a:t> tải toàn bộ ma trận dữ liệu vào bộ nhớ có độ phức tạp O(m x n). Với ma trận 50.000 x 50.000, dung lượng yêu cầu sẽ đánh sập giới hạn 16GB RAM tiêu chuẩn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9891800" y="2993466"/>
            <a:ext cx="6817383" cy="5385733"/>
          </a:xfrm>
          <a:custGeom>
            <a:avLst/>
            <a:gdLst/>
            <a:ahLst/>
            <a:cxnLst/>
            <a:rect r="r" b="b" t="t" l="l"/>
            <a:pathLst>
              <a:path h="5385733" w="6817383">
                <a:moveTo>
                  <a:pt x="0" y="0"/>
                </a:moveTo>
                <a:lnTo>
                  <a:pt x="6817383" y="0"/>
                </a:lnTo>
                <a:lnTo>
                  <a:pt x="6817383" y="5385733"/>
                </a:lnTo>
                <a:lnTo>
                  <a:pt x="0" y="5385733"/>
                </a:lnTo>
                <a:lnTo>
                  <a:pt x="0" y="0"/>
                </a:lnTo>
                <a:close/>
              </a:path>
            </a:pathLst>
          </a:custGeom>
          <a:blipFill>
            <a:blip r:embed="rId5"/>
            <a:stretch>
              <a:fillRect l="0" t="0" r="0" b="0"/>
            </a:stretch>
          </a:blipFill>
        </p:spPr>
      </p:sp>
      <p:sp>
        <p:nvSpPr>
          <p:cNvPr name="TextBox 10" id="10"/>
          <p:cNvSpPr txBox="true"/>
          <p:nvPr/>
        </p:nvSpPr>
        <p:spPr>
          <a:xfrm rot="0">
            <a:off x="1849044" y="1890909"/>
            <a:ext cx="6276929" cy="628650"/>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ĐỊNH LUẬT CÂN BẰNG</a:t>
            </a:r>
          </a:p>
        </p:txBody>
      </p:sp>
      <p:sp>
        <p:nvSpPr>
          <p:cNvPr name="TextBox 11" id="11"/>
          <p:cNvSpPr txBox="true"/>
          <p:nvPr/>
        </p:nvSpPr>
        <p:spPr>
          <a:xfrm rot="0">
            <a:off x="1849044" y="3208337"/>
            <a:ext cx="6276929" cy="372745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Khi thiết kế chương trình, thông thường ta sẽ gặp phải sự đánh đổi giữa việc sử dụng bộ nhớ và hiệu quả thời gian chạy.</a:t>
            </a:r>
          </a:p>
          <a:p>
            <a:pPr algn="l">
              <a:lnSpc>
                <a:spcPts val="5014"/>
              </a:lnSpc>
            </a:pPr>
            <a:r>
              <a:rPr lang="en-US" sz="2949">
                <a:solidFill>
                  <a:srgbClr val="FFFFFF"/>
                </a:solidFill>
                <a:latin typeface="Clear Sans"/>
                <a:ea typeface="Clear Sans"/>
                <a:cs typeface="Clear Sans"/>
                <a:sym typeface="Clear Sans"/>
              </a:rPr>
              <a:t>VD: RAM &lt;=&gt; Tốc Độ </a:t>
            </a:r>
          </a:p>
          <a:p>
            <a:pPr algn="l">
              <a:lnSpc>
                <a:spcPts val="5015"/>
              </a:lnSpc>
            </a:pPr>
          </a:p>
        </p:txBody>
      </p:sp>
      <p:sp>
        <p:nvSpPr>
          <p:cNvPr name="TextBox 12" id="12"/>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TRADE-OFFS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510547" y="1872723"/>
            <a:ext cx="6629597" cy="6541553"/>
            <a:chOff x="0" y="0"/>
            <a:chExt cx="25806498" cy="25463779"/>
          </a:xfrm>
        </p:grpSpPr>
        <p:sp>
          <p:nvSpPr>
            <p:cNvPr name="Freeform 3" id="3"/>
            <p:cNvSpPr/>
            <p:nvPr/>
          </p:nvSpPr>
          <p:spPr>
            <a:xfrm flipH="false" flipV="false" rot="0">
              <a:off x="0" y="0"/>
              <a:ext cx="25806498" cy="25463779"/>
            </a:xfrm>
            <a:custGeom>
              <a:avLst/>
              <a:gdLst/>
              <a:ahLst/>
              <a:cxnLst/>
              <a:rect r="r" b="b" t="t" l="l"/>
              <a:pathLst>
                <a:path h="25463779" w="25806498">
                  <a:moveTo>
                    <a:pt x="25682039" y="59690"/>
                  </a:moveTo>
                  <a:cubicBezTo>
                    <a:pt x="25717598" y="59690"/>
                    <a:pt x="25746808" y="88900"/>
                    <a:pt x="25746808" y="124460"/>
                  </a:cubicBezTo>
                  <a:lnTo>
                    <a:pt x="25746808" y="25339318"/>
                  </a:lnTo>
                  <a:cubicBezTo>
                    <a:pt x="25746808" y="25374879"/>
                    <a:pt x="25717598" y="25404088"/>
                    <a:pt x="25682039" y="25404088"/>
                  </a:cubicBezTo>
                  <a:lnTo>
                    <a:pt x="124460" y="25404088"/>
                  </a:lnTo>
                  <a:cubicBezTo>
                    <a:pt x="88900" y="25404088"/>
                    <a:pt x="59690" y="25374879"/>
                    <a:pt x="59690" y="25339318"/>
                  </a:cubicBezTo>
                  <a:lnTo>
                    <a:pt x="59690" y="124460"/>
                  </a:lnTo>
                  <a:cubicBezTo>
                    <a:pt x="59690" y="88900"/>
                    <a:pt x="88900" y="59690"/>
                    <a:pt x="124460" y="59690"/>
                  </a:cubicBezTo>
                  <a:lnTo>
                    <a:pt x="25682039" y="59690"/>
                  </a:lnTo>
                  <a:moveTo>
                    <a:pt x="25682039" y="0"/>
                  </a:moveTo>
                  <a:lnTo>
                    <a:pt x="124460" y="0"/>
                  </a:lnTo>
                  <a:cubicBezTo>
                    <a:pt x="55880" y="0"/>
                    <a:pt x="0" y="55880"/>
                    <a:pt x="0" y="124460"/>
                  </a:cubicBezTo>
                  <a:lnTo>
                    <a:pt x="0" y="25339318"/>
                  </a:lnTo>
                  <a:cubicBezTo>
                    <a:pt x="0" y="25407899"/>
                    <a:pt x="55880" y="25463779"/>
                    <a:pt x="124460" y="25463779"/>
                  </a:cubicBezTo>
                  <a:lnTo>
                    <a:pt x="25682039" y="25463779"/>
                  </a:lnTo>
                  <a:cubicBezTo>
                    <a:pt x="25750619" y="25463779"/>
                    <a:pt x="25806498" y="25407899"/>
                    <a:pt x="25806498" y="25339318"/>
                  </a:cubicBezTo>
                  <a:lnTo>
                    <a:pt x="25806498" y="124460"/>
                  </a:lnTo>
                  <a:cubicBezTo>
                    <a:pt x="25806498" y="55880"/>
                    <a:pt x="25750619" y="0"/>
                    <a:pt x="25682039" y="0"/>
                  </a:cubicBezTo>
                  <a:close/>
                </a:path>
              </a:pathLst>
            </a:custGeom>
            <a:solidFill>
              <a:srgbClr val="64E688">
                <a:alpha val="49804"/>
              </a:srgbClr>
            </a:solidFill>
          </p:spPr>
        </p:sp>
      </p:grpSp>
      <p:sp>
        <p:nvSpPr>
          <p:cNvPr name="Freeform 4" id="4"/>
          <p:cNvSpPr/>
          <p:nvPr/>
        </p:nvSpPr>
        <p:spPr>
          <a:xfrm flipH="false" flipV="false" rot="2465065">
            <a:off x="16247530" y="7302882"/>
            <a:ext cx="1056828" cy="1833975"/>
          </a:xfrm>
          <a:custGeom>
            <a:avLst/>
            <a:gdLst/>
            <a:ahLst/>
            <a:cxnLst/>
            <a:rect r="r" b="b" t="t" l="l"/>
            <a:pathLst>
              <a:path h="1833975" w="1056828">
                <a:moveTo>
                  <a:pt x="0" y="0"/>
                </a:moveTo>
                <a:lnTo>
                  <a:pt x="1056829" y="0"/>
                </a:lnTo>
                <a:lnTo>
                  <a:pt x="1056829" y="1833975"/>
                </a:lnTo>
                <a:lnTo>
                  <a:pt x="0" y="1833975"/>
                </a:lnTo>
                <a:lnTo>
                  <a:pt x="0" y="0"/>
                </a:lnTo>
                <a:close/>
              </a:path>
            </a:pathLst>
          </a:custGeom>
          <a:blipFill>
            <a:blip r:embed="rId2"/>
            <a:stretch>
              <a:fillRect l="0" t="0" r="0" b="0"/>
            </a:stretch>
          </a:blipFill>
        </p:spPr>
      </p:sp>
      <p:sp>
        <p:nvSpPr>
          <p:cNvPr name="Freeform 5" id="5"/>
          <p:cNvSpPr/>
          <p:nvPr/>
        </p:nvSpPr>
        <p:spPr>
          <a:xfrm flipH="false" flipV="false" rot="-4397849">
            <a:off x="10019893" y="1576371"/>
            <a:ext cx="1709706" cy="1568656"/>
          </a:xfrm>
          <a:custGeom>
            <a:avLst/>
            <a:gdLst/>
            <a:ahLst/>
            <a:cxnLst/>
            <a:rect r="r" b="b" t="t" l="l"/>
            <a:pathLst>
              <a:path h="1568656" w="1709706">
                <a:moveTo>
                  <a:pt x="0" y="0"/>
                </a:moveTo>
                <a:lnTo>
                  <a:pt x="1709706" y="0"/>
                </a:lnTo>
                <a:lnTo>
                  <a:pt x="1709706" y="1568656"/>
                </a:lnTo>
                <a:lnTo>
                  <a:pt x="0" y="1568656"/>
                </a:lnTo>
                <a:lnTo>
                  <a:pt x="0" y="0"/>
                </a:lnTo>
                <a:close/>
              </a:path>
            </a:pathLst>
          </a:custGeom>
          <a:blipFill>
            <a:blip r:embed="rId3"/>
            <a:stretch>
              <a:fillRect l="0" t="0" r="0" b="0"/>
            </a:stretch>
          </a:blipFill>
        </p:spPr>
      </p:sp>
      <p:sp>
        <p:nvSpPr>
          <p:cNvPr name="Freeform 6" id="6"/>
          <p:cNvSpPr/>
          <p:nvPr/>
        </p:nvSpPr>
        <p:spPr>
          <a:xfrm flipH="false" flipV="false" rot="0">
            <a:off x="9476656" y="2093902"/>
            <a:ext cx="8697378" cy="2622004"/>
          </a:xfrm>
          <a:custGeom>
            <a:avLst/>
            <a:gdLst/>
            <a:ahLst/>
            <a:cxnLst/>
            <a:rect r="r" b="b" t="t" l="l"/>
            <a:pathLst>
              <a:path h="2622004" w="8697378">
                <a:moveTo>
                  <a:pt x="0" y="0"/>
                </a:moveTo>
                <a:lnTo>
                  <a:pt x="8697379" y="0"/>
                </a:lnTo>
                <a:lnTo>
                  <a:pt x="8697379" y="2622004"/>
                </a:lnTo>
                <a:lnTo>
                  <a:pt x="0" y="2622004"/>
                </a:lnTo>
                <a:lnTo>
                  <a:pt x="0" y="0"/>
                </a:lnTo>
                <a:close/>
              </a:path>
            </a:pathLst>
          </a:custGeom>
          <a:blipFill>
            <a:blip r:embed="rId4"/>
            <a:stretch>
              <a:fillRect l="0" t="0" r="0" b="0"/>
            </a:stretch>
          </a:blipFill>
        </p:spPr>
      </p:sp>
      <p:sp>
        <p:nvSpPr>
          <p:cNvPr name="Freeform 7" id="7"/>
          <p:cNvSpPr/>
          <p:nvPr/>
        </p:nvSpPr>
        <p:spPr>
          <a:xfrm flipH="false" flipV="false" rot="0">
            <a:off x="9476656" y="5493522"/>
            <a:ext cx="8697378" cy="2920755"/>
          </a:xfrm>
          <a:custGeom>
            <a:avLst/>
            <a:gdLst/>
            <a:ahLst/>
            <a:cxnLst/>
            <a:rect r="r" b="b" t="t" l="l"/>
            <a:pathLst>
              <a:path h="2920755" w="8697378">
                <a:moveTo>
                  <a:pt x="0" y="0"/>
                </a:moveTo>
                <a:lnTo>
                  <a:pt x="8697379" y="0"/>
                </a:lnTo>
                <a:lnTo>
                  <a:pt x="8697379" y="2920755"/>
                </a:lnTo>
                <a:lnTo>
                  <a:pt x="0" y="2920755"/>
                </a:lnTo>
                <a:lnTo>
                  <a:pt x="0" y="0"/>
                </a:lnTo>
                <a:close/>
              </a:path>
            </a:pathLst>
          </a:custGeom>
          <a:blipFill>
            <a:blip r:embed="rId5"/>
            <a:stretch>
              <a:fillRect l="-939" t="0" r="0" b="0"/>
            </a:stretch>
          </a:blipFill>
        </p:spPr>
      </p:sp>
      <p:grpSp>
        <p:nvGrpSpPr>
          <p:cNvPr name="Group 8" id="8"/>
          <p:cNvGrpSpPr/>
          <p:nvPr/>
        </p:nvGrpSpPr>
        <p:grpSpPr>
          <a:xfrm rot="0">
            <a:off x="1480072" y="2242338"/>
            <a:ext cx="7138441" cy="5802325"/>
            <a:chOff x="0" y="0"/>
            <a:chExt cx="9517921" cy="7736433"/>
          </a:xfrm>
        </p:grpSpPr>
        <p:sp>
          <p:nvSpPr>
            <p:cNvPr name="TextBox 9" id="9"/>
            <p:cNvSpPr txBox="true"/>
            <p:nvPr/>
          </p:nvSpPr>
          <p:spPr>
            <a:xfrm rot="0">
              <a:off x="0" y="-9525"/>
              <a:ext cx="9517921" cy="4479925"/>
            </a:xfrm>
            <a:prstGeom prst="rect">
              <a:avLst/>
            </a:prstGeom>
          </p:spPr>
          <p:txBody>
            <a:bodyPr anchor="t" rtlCol="false" tIns="0" lIns="0" bIns="0" rIns="0">
              <a:spAutoFit/>
            </a:bodyPr>
            <a:lstStyle/>
            <a:p>
              <a:pPr algn="l">
                <a:lnSpc>
                  <a:spcPts val="6600"/>
                </a:lnSpc>
              </a:pPr>
              <a:r>
                <a:rPr lang="en-US" sz="5500" b="true">
                  <a:solidFill>
                    <a:srgbClr val="FFFFFF"/>
                  </a:solidFill>
                  <a:latin typeface="Fira Sans Ultra-Bold"/>
                  <a:ea typeface="Fira Sans Ultra-Bold"/>
                  <a:cs typeface="Fira Sans Ultra-Bold"/>
                  <a:sym typeface="Fira Sans Ultra-Bold"/>
                </a:rPr>
                <a:t>Đánh giá thời gian chạy và dung lượng bộ nhớ với GitHub Copilot </a:t>
              </a:r>
            </a:p>
          </p:txBody>
        </p:sp>
        <p:sp>
          <p:nvSpPr>
            <p:cNvPr name="TextBox 10" id="10"/>
            <p:cNvSpPr txBox="true"/>
            <p:nvPr/>
          </p:nvSpPr>
          <p:spPr>
            <a:xfrm rot="0">
              <a:off x="0" y="5104630"/>
              <a:ext cx="9517921" cy="644737"/>
            </a:xfrm>
            <a:prstGeom prst="rect">
              <a:avLst/>
            </a:prstGeom>
          </p:spPr>
          <p:txBody>
            <a:bodyPr anchor="t" rtlCol="false" tIns="0" lIns="0" bIns="0" rIns="0">
              <a:spAutoFit/>
            </a:bodyPr>
            <a:lstStyle/>
            <a:p>
              <a:pPr algn="l">
                <a:lnSpc>
                  <a:spcPts val="4059"/>
                </a:lnSpc>
              </a:pPr>
              <a:r>
                <a:rPr lang="en-US" sz="2899">
                  <a:solidFill>
                    <a:srgbClr val="64E688"/>
                  </a:solidFill>
                  <a:latin typeface="Clear Sans"/>
                  <a:ea typeface="Clear Sans"/>
                  <a:cs typeface="Clear Sans"/>
                  <a:sym typeface="Clear Sans"/>
                </a:rPr>
                <a:t>PROFILING WITH MODULE TIME</a:t>
              </a:r>
            </a:p>
          </p:txBody>
        </p:sp>
        <p:sp>
          <p:nvSpPr>
            <p:cNvPr name="TextBox 11" id="11"/>
            <p:cNvSpPr txBox="true"/>
            <p:nvPr/>
          </p:nvSpPr>
          <p:spPr>
            <a:xfrm rot="0">
              <a:off x="0" y="6592798"/>
              <a:ext cx="9517921" cy="1107440"/>
            </a:xfrm>
            <a:prstGeom prst="rect">
              <a:avLst/>
            </a:prstGeom>
          </p:spPr>
          <p:txBody>
            <a:bodyPr anchor="t" rtlCol="false" tIns="0" lIns="0" bIns="0" rIns="0">
              <a:spAutoFit/>
            </a:bodyPr>
            <a:lstStyle/>
            <a:p>
              <a:pPr algn="l">
                <a:lnSpc>
                  <a:spcPts val="3487"/>
                </a:lnSpc>
              </a:pPr>
              <a:r>
                <a:rPr lang="en-US" sz="2325">
                  <a:solidFill>
                    <a:srgbClr val="FFFFFF"/>
                  </a:solidFill>
                  <a:latin typeface="Clear Sans"/>
                  <a:ea typeface="Clear Sans"/>
                  <a:cs typeface="Clear Sans"/>
                  <a:sym typeface="Clear Sans"/>
                </a:rPr>
                <a:t>C</a:t>
              </a:r>
              <a:r>
                <a:rPr lang="en-US" sz="2325">
                  <a:solidFill>
                    <a:srgbClr val="FFFFFF"/>
                  </a:solidFill>
                  <a:latin typeface="Clear Sans"/>
                  <a:ea typeface="Clear Sans"/>
                  <a:cs typeface="Clear Sans"/>
                  <a:sym typeface="Clear Sans"/>
                </a:rPr>
                <a:t>húng ta có thể đo thời gian chạy bằng cách ghi lại thời gian trước và sau khi thực thi.</a:t>
              </a:r>
            </a:p>
          </p:txBody>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510547" y="1872723"/>
            <a:ext cx="6629597" cy="6541553"/>
            <a:chOff x="0" y="0"/>
            <a:chExt cx="25806498" cy="25463779"/>
          </a:xfrm>
        </p:grpSpPr>
        <p:sp>
          <p:nvSpPr>
            <p:cNvPr name="Freeform 3" id="3"/>
            <p:cNvSpPr/>
            <p:nvPr/>
          </p:nvSpPr>
          <p:spPr>
            <a:xfrm flipH="false" flipV="false" rot="0">
              <a:off x="0" y="0"/>
              <a:ext cx="25806498" cy="25463779"/>
            </a:xfrm>
            <a:custGeom>
              <a:avLst/>
              <a:gdLst/>
              <a:ahLst/>
              <a:cxnLst/>
              <a:rect r="r" b="b" t="t" l="l"/>
              <a:pathLst>
                <a:path h="25463779" w="25806498">
                  <a:moveTo>
                    <a:pt x="25682039" y="59690"/>
                  </a:moveTo>
                  <a:cubicBezTo>
                    <a:pt x="25717598" y="59690"/>
                    <a:pt x="25746808" y="88900"/>
                    <a:pt x="25746808" y="124460"/>
                  </a:cubicBezTo>
                  <a:lnTo>
                    <a:pt x="25746808" y="25339318"/>
                  </a:lnTo>
                  <a:cubicBezTo>
                    <a:pt x="25746808" y="25374879"/>
                    <a:pt x="25717598" y="25404088"/>
                    <a:pt x="25682039" y="25404088"/>
                  </a:cubicBezTo>
                  <a:lnTo>
                    <a:pt x="124460" y="25404088"/>
                  </a:lnTo>
                  <a:cubicBezTo>
                    <a:pt x="88900" y="25404088"/>
                    <a:pt x="59690" y="25374879"/>
                    <a:pt x="59690" y="25339318"/>
                  </a:cubicBezTo>
                  <a:lnTo>
                    <a:pt x="59690" y="124460"/>
                  </a:lnTo>
                  <a:cubicBezTo>
                    <a:pt x="59690" y="88900"/>
                    <a:pt x="88900" y="59690"/>
                    <a:pt x="124460" y="59690"/>
                  </a:cubicBezTo>
                  <a:lnTo>
                    <a:pt x="25682039" y="59690"/>
                  </a:lnTo>
                  <a:moveTo>
                    <a:pt x="25682039" y="0"/>
                  </a:moveTo>
                  <a:lnTo>
                    <a:pt x="124460" y="0"/>
                  </a:lnTo>
                  <a:cubicBezTo>
                    <a:pt x="55880" y="0"/>
                    <a:pt x="0" y="55880"/>
                    <a:pt x="0" y="124460"/>
                  </a:cubicBezTo>
                  <a:lnTo>
                    <a:pt x="0" y="25339318"/>
                  </a:lnTo>
                  <a:cubicBezTo>
                    <a:pt x="0" y="25407899"/>
                    <a:pt x="55880" y="25463779"/>
                    <a:pt x="124460" y="25463779"/>
                  </a:cubicBezTo>
                  <a:lnTo>
                    <a:pt x="25682039" y="25463779"/>
                  </a:lnTo>
                  <a:cubicBezTo>
                    <a:pt x="25750619" y="25463779"/>
                    <a:pt x="25806498" y="25407899"/>
                    <a:pt x="25806498" y="25339318"/>
                  </a:cubicBezTo>
                  <a:lnTo>
                    <a:pt x="25806498" y="124460"/>
                  </a:lnTo>
                  <a:cubicBezTo>
                    <a:pt x="25806498" y="55880"/>
                    <a:pt x="25750619" y="0"/>
                    <a:pt x="25682039" y="0"/>
                  </a:cubicBezTo>
                  <a:close/>
                </a:path>
              </a:pathLst>
            </a:custGeom>
            <a:solidFill>
              <a:srgbClr val="64E688">
                <a:alpha val="49804"/>
              </a:srgbClr>
            </a:solidFill>
          </p:spPr>
        </p:sp>
      </p:grpSp>
      <p:sp>
        <p:nvSpPr>
          <p:cNvPr name="Freeform 4" id="4"/>
          <p:cNvSpPr/>
          <p:nvPr/>
        </p:nvSpPr>
        <p:spPr>
          <a:xfrm flipH="false" flipV="false" rot="2465065">
            <a:off x="16247530" y="7302882"/>
            <a:ext cx="1056828" cy="1833975"/>
          </a:xfrm>
          <a:custGeom>
            <a:avLst/>
            <a:gdLst/>
            <a:ahLst/>
            <a:cxnLst/>
            <a:rect r="r" b="b" t="t" l="l"/>
            <a:pathLst>
              <a:path h="1833975" w="1056828">
                <a:moveTo>
                  <a:pt x="0" y="0"/>
                </a:moveTo>
                <a:lnTo>
                  <a:pt x="1056829" y="0"/>
                </a:lnTo>
                <a:lnTo>
                  <a:pt x="1056829" y="1833975"/>
                </a:lnTo>
                <a:lnTo>
                  <a:pt x="0" y="1833975"/>
                </a:lnTo>
                <a:lnTo>
                  <a:pt x="0" y="0"/>
                </a:lnTo>
                <a:close/>
              </a:path>
            </a:pathLst>
          </a:custGeom>
          <a:blipFill>
            <a:blip r:embed="rId2"/>
            <a:stretch>
              <a:fillRect l="0" t="0" r="0" b="0"/>
            </a:stretch>
          </a:blipFill>
        </p:spPr>
      </p:sp>
      <p:sp>
        <p:nvSpPr>
          <p:cNvPr name="Freeform 5" id="5"/>
          <p:cNvSpPr/>
          <p:nvPr/>
        </p:nvSpPr>
        <p:spPr>
          <a:xfrm flipH="false" flipV="false" rot="-4397849">
            <a:off x="10019893" y="1576371"/>
            <a:ext cx="1709706" cy="1568656"/>
          </a:xfrm>
          <a:custGeom>
            <a:avLst/>
            <a:gdLst/>
            <a:ahLst/>
            <a:cxnLst/>
            <a:rect r="r" b="b" t="t" l="l"/>
            <a:pathLst>
              <a:path h="1568656" w="1709706">
                <a:moveTo>
                  <a:pt x="0" y="0"/>
                </a:moveTo>
                <a:lnTo>
                  <a:pt x="1709706" y="0"/>
                </a:lnTo>
                <a:lnTo>
                  <a:pt x="1709706" y="1568656"/>
                </a:lnTo>
                <a:lnTo>
                  <a:pt x="0" y="1568656"/>
                </a:lnTo>
                <a:lnTo>
                  <a:pt x="0" y="0"/>
                </a:lnTo>
                <a:close/>
              </a:path>
            </a:pathLst>
          </a:custGeom>
          <a:blipFill>
            <a:blip r:embed="rId3"/>
            <a:stretch>
              <a:fillRect l="0" t="0" r="0" b="0"/>
            </a:stretch>
          </a:blipFill>
        </p:spPr>
      </p:sp>
      <p:sp>
        <p:nvSpPr>
          <p:cNvPr name="Freeform 6" id="6"/>
          <p:cNvSpPr/>
          <p:nvPr/>
        </p:nvSpPr>
        <p:spPr>
          <a:xfrm flipH="false" flipV="false" rot="0">
            <a:off x="8618514" y="4829123"/>
            <a:ext cx="9466197" cy="628754"/>
          </a:xfrm>
          <a:custGeom>
            <a:avLst/>
            <a:gdLst/>
            <a:ahLst/>
            <a:cxnLst/>
            <a:rect r="r" b="b" t="t" l="l"/>
            <a:pathLst>
              <a:path h="628754" w="9466197">
                <a:moveTo>
                  <a:pt x="0" y="0"/>
                </a:moveTo>
                <a:lnTo>
                  <a:pt x="9466196" y="0"/>
                </a:lnTo>
                <a:lnTo>
                  <a:pt x="9466196" y="628754"/>
                </a:lnTo>
                <a:lnTo>
                  <a:pt x="0" y="628754"/>
                </a:lnTo>
                <a:lnTo>
                  <a:pt x="0" y="0"/>
                </a:lnTo>
                <a:close/>
              </a:path>
            </a:pathLst>
          </a:custGeom>
          <a:blipFill>
            <a:blip r:embed="rId4"/>
            <a:stretch>
              <a:fillRect l="0" t="0" r="-5561" b="0"/>
            </a:stretch>
          </a:blipFill>
        </p:spPr>
      </p:sp>
      <p:grpSp>
        <p:nvGrpSpPr>
          <p:cNvPr name="Group 7" id="7"/>
          <p:cNvGrpSpPr/>
          <p:nvPr/>
        </p:nvGrpSpPr>
        <p:grpSpPr>
          <a:xfrm rot="0">
            <a:off x="1480072" y="2242338"/>
            <a:ext cx="7138441" cy="5802325"/>
            <a:chOff x="0" y="0"/>
            <a:chExt cx="9517921" cy="7736433"/>
          </a:xfrm>
        </p:grpSpPr>
        <p:sp>
          <p:nvSpPr>
            <p:cNvPr name="TextBox 8" id="8"/>
            <p:cNvSpPr txBox="true"/>
            <p:nvPr/>
          </p:nvSpPr>
          <p:spPr>
            <a:xfrm rot="0">
              <a:off x="0" y="-9525"/>
              <a:ext cx="9517921" cy="4479925"/>
            </a:xfrm>
            <a:prstGeom prst="rect">
              <a:avLst/>
            </a:prstGeom>
          </p:spPr>
          <p:txBody>
            <a:bodyPr anchor="t" rtlCol="false" tIns="0" lIns="0" bIns="0" rIns="0">
              <a:spAutoFit/>
            </a:bodyPr>
            <a:lstStyle/>
            <a:p>
              <a:pPr algn="l">
                <a:lnSpc>
                  <a:spcPts val="6600"/>
                </a:lnSpc>
              </a:pPr>
              <a:r>
                <a:rPr lang="en-US" sz="5500" b="true">
                  <a:solidFill>
                    <a:srgbClr val="FFFFFF"/>
                  </a:solidFill>
                  <a:latin typeface="Fira Sans Ultra-Bold"/>
                  <a:ea typeface="Fira Sans Ultra-Bold"/>
                  <a:cs typeface="Fira Sans Ultra-Bold"/>
                  <a:sym typeface="Fira Sans Ultra-Bold"/>
                </a:rPr>
                <a:t>Đánh giá thời gian chạy và dung lượng bộ nhớ với GitHub Copilot </a:t>
              </a:r>
            </a:p>
          </p:txBody>
        </p:sp>
        <p:sp>
          <p:nvSpPr>
            <p:cNvPr name="TextBox 9" id="9"/>
            <p:cNvSpPr txBox="true"/>
            <p:nvPr/>
          </p:nvSpPr>
          <p:spPr>
            <a:xfrm rot="0">
              <a:off x="0" y="5104630"/>
              <a:ext cx="9517921" cy="644737"/>
            </a:xfrm>
            <a:prstGeom prst="rect">
              <a:avLst/>
            </a:prstGeom>
          </p:spPr>
          <p:txBody>
            <a:bodyPr anchor="t" rtlCol="false" tIns="0" lIns="0" bIns="0" rIns="0">
              <a:spAutoFit/>
            </a:bodyPr>
            <a:lstStyle/>
            <a:p>
              <a:pPr algn="l">
                <a:lnSpc>
                  <a:spcPts val="4059"/>
                </a:lnSpc>
              </a:pPr>
              <a:r>
                <a:rPr lang="en-US" sz="2899">
                  <a:solidFill>
                    <a:srgbClr val="64E688"/>
                  </a:solidFill>
                  <a:latin typeface="Clear Sans"/>
                  <a:ea typeface="Clear Sans"/>
                  <a:cs typeface="Clear Sans"/>
                  <a:sym typeface="Clear Sans"/>
                </a:rPr>
                <a:t>PROFILING WITH MODULE TIME</a:t>
              </a:r>
            </a:p>
          </p:txBody>
        </p:sp>
        <p:sp>
          <p:nvSpPr>
            <p:cNvPr name="TextBox 10" id="10"/>
            <p:cNvSpPr txBox="true"/>
            <p:nvPr/>
          </p:nvSpPr>
          <p:spPr>
            <a:xfrm rot="0">
              <a:off x="0" y="6592798"/>
              <a:ext cx="9517921" cy="1107440"/>
            </a:xfrm>
            <a:prstGeom prst="rect">
              <a:avLst/>
            </a:prstGeom>
          </p:spPr>
          <p:txBody>
            <a:bodyPr anchor="t" rtlCol="false" tIns="0" lIns="0" bIns="0" rIns="0">
              <a:spAutoFit/>
            </a:bodyPr>
            <a:lstStyle/>
            <a:p>
              <a:pPr algn="l">
                <a:lnSpc>
                  <a:spcPts val="3487"/>
                </a:lnSpc>
              </a:pPr>
              <a:r>
                <a:rPr lang="en-US" sz="2325">
                  <a:solidFill>
                    <a:srgbClr val="FFFFFF"/>
                  </a:solidFill>
                  <a:latin typeface="Clear Sans"/>
                  <a:ea typeface="Clear Sans"/>
                  <a:cs typeface="Clear Sans"/>
                  <a:sym typeface="Clear Sans"/>
                </a:rPr>
                <a:t>C</a:t>
              </a:r>
              <a:r>
                <a:rPr lang="en-US" sz="2325">
                  <a:solidFill>
                    <a:srgbClr val="FFFFFF"/>
                  </a:solidFill>
                  <a:latin typeface="Clear Sans"/>
                  <a:ea typeface="Clear Sans"/>
                  <a:cs typeface="Clear Sans"/>
                  <a:sym typeface="Clear Sans"/>
                </a:rPr>
                <a:t>húng ta có thể đo thời gian chạy bằng cách ghi lại thời gian trước và sau khi thực thi.</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510547" y="1872723"/>
            <a:ext cx="6629597" cy="6541553"/>
            <a:chOff x="0" y="0"/>
            <a:chExt cx="25806498" cy="25463779"/>
          </a:xfrm>
        </p:grpSpPr>
        <p:sp>
          <p:nvSpPr>
            <p:cNvPr name="Freeform 3" id="3"/>
            <p:cNvSpPr/>
            <p:nvPr/>
          </p:nvSpPr>
          <p:spPr>
            <a:xfrm flipH="false" flipV="false" rot="0">
              <a:off x="0" y="0"/>
              <a:ext cx="25806498" cy="25463779"/>
            </a:xfrm>
            <a:custGeom>
              <a:avLst/>
              <a:gdLst/>
              <a:ahLst/>
              <a:cxnLst/>
              <a:rect r="r" b="b" t="t" l="l"/>
              <a:pathLst>
                <a:path h="25463779" w="25806498">
                  <a:moveTo>
                    <a:pt x="25682039" y="59690"/>
                  </a:moveTo>
                  <a:cubicBezTo>
                    <a:pt x="25717598" y="59690"/>
                    <a:pt x="25746808" y="88900"/>
                    <a:pt x="25746808" y="124460"/>
                  </a:cubicBezTo>
                  <a:lnTo>
                    <a:pt x="25746808" y="25339318"/>
                  </a:lnTo>
                  <a:cubicBezTo>
                    <a:pt x="25746808" y="25374879"/>
                    <a:pt x="25717598" y="25404088"/>
                    <a:pt x="25682039" y="25404088"/>
                  </a:cubicBezTo>
                  <a:lnTo>
                    <a:pt x="124460" y="25404088"/>
                  </a:lnTo>
                  <a:cubicBezTo>
                    <a:pt x="88900" y="25404088"/>
                    <a:pt x="59690" y="25374879"/>
                    <a:pt x="59690" y="25339318"/>
                  </a:cubicBezTo>
                  <a:lnTo>
                    <a:pt x="59690" y="124460"/>
                  </a:lnTo>
                  <a:cubicBezTo>
                    <a:pt x="59690" y="88900"/>
                    <a:pt x="88900" y="59690"/>
                    <a:pt x="124460" y="59690"/>
                  </a:cubicBezTo>
                  <a:lnTo>
                    <a:pt x="25682039" y="59690"/>
                  </a:lnTo>
                  <a:moveTo>
                    <a:pt x="25682039" y="0"/>
                  </a:moveTo>
                  <a:lnTo>
                    <a:pt x="124460" y="0"/>
                  </a:lnTo>
                  <a:cubicBezTo>
                    <a:pt x="55880" y="0"/>
                    <a:pt x="0" y="55880"/>
                    <a:pt x="0" y="124460"/>
                  </a:cubicBezTo>
                  <a:lnTo>
                    <a:pt x="0" y="25339318"/>
                  </a:lnTo>
                  <a:cubicBezTo>
                    <a:pt x="0" y="25407899"/>
                    <a:pt x="55880" y="25463779"/>
                    <a:pt x="124460" y="25463779"/>
                  </a:cubicBezTo>
                  <a:lnTo>
                    <a:pt x="25682039" y="25463779"/>
                  </a:lnTo>
                  <a:cubicBezTo>
                    <a:pt x="25750619" y="25463779"/>
                    <a:pt x="25806498" y="25407899"/>
                    <a:pt x="25806498" y="25339318"/>
                  </a:cubicBezTo>
                  <a:lnTo>
                    <a:pt x="25806498" y="124460"/>
                  </a:lnTo>
                  <a:cubicBezTo>
                    <a:pt x="25806498" y="55880"/>
                    <a:pt x="25750619" y="0"/>
                    <a:pt x="25682039" y="0"/>
                  </a:cubicBezTo>
                  <a:close/>
                </a:path>
              </a:pathLst>
            </a:custGeom>
            <a:solidFill>
              <a:srgbClr val="64E688">
                <a:alpha val="49804"/>
              </a:srgbClr>
            </a:solidFill>
          </p:spPr>
        </p:sp>
      </p:grpSp>
      <p:sp>
        <p:nvSpPr>
          <p:cNvPr name="Freeform 4" id="4"/>
          <p:cNvSpPr/>
          <p:nvPr/>
        </p:nvSpPr>
        <p:spPr>
          <a:xfrm flipH="false" flipV="false" rot="2465065">
            <a:off x="16247530" y="7302882"/>
            <a:ext cx="1056828" cy="1833975"/>
          </a:xfrm>
          <a:custGeom>
            <a:avLst/>
            <a:gdLst/>
            <a:ahLst/>
            <a:cxnLst/>
            <a:rect r="r" b="b" t="t" l="l"/>
            <a:pathLst>
              <a:path h="1833975" w="1056828">
                <a:moveTo>
                  <a:pt x="0" y="0"/>
                </a:moveTo>
                <a:lnTo>
                  <a:pt x="1056829" y="0"/>
                </a:lnTo>
                <a:lnTo>
                  <a:pt x="1056829" y="1833975"/>
                </a:lnTo>
                <a:lnTo>
                  <a:pt x="0" y="1833975"/>
                </a:lnTo>
                <a:lnTo>
                  <a:pt x="0" y="0"/>
                </a:lnTo>
                <a:close/>
              </a:path>
            </a:pathLst>
          </a:custGeom>
          <a:blipFill>
            <a:blip r:embed="rId2"/>
            <a:stretch>
              <a:fillRect l="0" t="0" r="0" b="0"/>
            </a:stretch>
          </a:blipFill>
        </p:spPr>
      </p:sp>
      <p:sp>
        <p:nvSpPr>
          <p:cNvPr name="Freeform 5" id="5"/>
          <p:cNvSpPr/>
          <p:nvPr/>
        </p:nvSpPr>
        <p:spPr>
          <a:xfrm flipH="false" flipV="false" rot="-4397849">
            <a:off x="10019893" y="1576371"/>
            <a:ext cx="1709706" cy="1568656"/>
          </a:xfrm>
          <a:custGeom>
            <a:avLst/>
            <a:gdLst/>
            <a:ahLst/>
            <a:cxnLst/>
            <a:rect r="r" b="b" t="t" l="l"/>
            <a:pathLst>
              <a:path h="1568656" w="1709706">
                <a:moveTo>
                  <a:pt x="0" y="0"/>
                </a:moveTo>
                <a:lnTo>
                  <a:pt x="1709706" y="0"/>
                </a:lnTo>
                <a:lnTo>
                  <a:pt x="1709706" y="1568656"/>
                </a:lnTo>
                <a:lnTo>
                  <a:pt x="0" y="1568656"/>
                </a:lnTo>
                <a:lnTo>
                  <a:pt x="0" y="0"/>
                </a:lnTo>
                <a:close/>
              </a:path>
            </a:pathLst>
          </a:custGeom>
          <a:blipFill>
            <a:blip r:embed="rId3"/>
            <a:stretch>
              <a:fillRect l="0" t="0" r="0" b="0"/>
            </a:stretch>
          </a:blipFill>
        </p:spPr>
      </p:sp>
      <p:sp>
        <p:nvSpPr>
          <p:cNvPr name="Freeform 6" id="6"/>
          <p:cNvSpPr/>
          <p:nvPr/>
        </p:nvSpPr>
        <p:spPr>
          <a:xfrm flipH="false" flipV="false" rot="0">
            <a:off x="9877822" y="1872723"/>
            <a:ext cx="7770121" cy="6824707"/>
          </a:xfrm>
          <a:custGeom>
            <a:avLst/>
            <a:gdLst/>
            <a:ahLst/>
            <a:cxnLst/>
            <a:rect r="r" b="b" t="t" l="l"/>
            <a:pathLst>
              <a:path h="6824707" w="7770121">
                <a:moveTo>
                  <a:pt x="0" y="0"/>
                </a:moveTo>
                <a:lnTo>
                  <a:pt x="7770122" y="0"/>
                </a:lnTo>
                <a:lnTo>
                  <a:pt x="7770122" y="6824708"/>
                </a:lnTo>
                <a:lnTo>
                  <a:pt x="0" y="6824708"/>
                </a:lnTo>
                <a:lnTo>
                  <a:pt x="0" y="0"/>
                </a:lnTo>
                <a:close/>
              </a:path>
            </a:pathLst>
          </a:custGeom>
          <a:blipFill>
            <a:blip r:embed="rId4"/>
            <a:stretch>
              <a:fillRect l="0" t="0" r="0" b="0"/>
            </a:stretch>
          </a:blipFill>
        </p:spPr>
      </p:sp>
      <p:grpSp>
        <p:nvGrpSpPr>
          <p:cNvPr name="Group 7" id="7"/>
          <p:cNvGrpSpPr/>
          <p:nvPr/>
        </p:nvGrpSpPr>
        <p:grpSpPr>
          <a:xfrm rot="0">
            <a:off x="1480072" y="2242338"/>
            <a:ext cx="7138441" cy="5802325"/>
            <a:chOff x="0" y="0"/>
            <a:chExt cx="9517921" cy="7736433"/>
          </a:xfrm>
        </p:grpSpPr>
        <p:sp>
          <p:nvSpPr>
            <p:cNvPr name="TextBox 8" id="8"/>
            <p:cNvSpPr txBox="true"/>
            <p:nvPr/>
          </p:nvSpPr>
          <p:spPr>
            <a:xfrm rot="0">
              <a:off x="0" y="-9525"/>
              <a:ext cx="9517921" cy="4479925"/>
            </a:xfrm>
            <a:prstGeom prst="rect">
              <a:avLst/>
            </a:prstGeom>
          </p:spPr>
          <p:txBody>
            <a:bodyPr anchor="t" rtlCol="false" tIns="0" lIns="0" bIns="0" rIns="0">
              <a:spAutoFit/>
            </a:bodyPr>
            <a:lstStyle/>
            <a:p>
              <a:pPr algn="l">
                <a:lnSpc>
                  <a:spcPts val="6600"/>
                </a:lnSpc>
              </a:pPr>
              <a:r>
                <a:rPr lang="en-US" sz="5500" b="true">
                  <a:solidFill>
                    <a:srgbClr val="FFFFFF"/>
                  </a:solidFill>
                  <a:latin typeface="Fira Sans Ultra-Bold"/>
                  <a:ea typeface="Fira Sans Ultra-Bold"/>
                  <a:cs typeface="Fira Sans Ultra-Bold"/>
                  <a:sym typeface="Fira Sans Ultra-Bold"/>
                </a:rPr>
                <a:t>Đánh giá thời gian chạy và dung lượng bộ nhớ với GitHub Copilot </a:t>
              </a:r>
            </a:p>
          </p:txBody>
        </p:sp>
        <p:sp>
          <p:nvSpPr>
            <p:cNvPr name="TextBox 9" id="9"/>
            <p:cNvSpPr txBox="true"/>
            <p:nvPr/>
          </p:nvSpPr>
          <p:spPr>
            <a:xfrm rot="0">
              <a:off x="0" y="5104630"/>
              <a:ext cx="9517921" cy="644737"/>
            </a:xfrm>
            <a:prstGeom prst="rect">
              <a:avLst/>
            </a:prstGeom>
          </p:spPr>
          <p:txBody>
            <a:bodyPr anchor="t" rtlCol="false" tIns="0" lIns="0" bIns="0" rIns="0">
              <a:spAutoFit/>
            </a:bodyPr>
            <a:lstStyle/>
            <a:p>
              <a:pPr algn="l">
                <a:lnSpc>
                  <a:spcPts val="4059"/>
                </a:lnSpc>
              </a:pPr>
              <a:r>
                <a:rPr lang="en-US" sz="2899">
                  <a:solidFill>
                    <a:srgbClr val="64E688"/>
                  </a:solidFill>
                  <a:latin typeface="Clear Sans"/>
                  <a:ea typeface="Clear Sans"/>
                  <a:cs typeface="Clear Sans"/>
                  <a:sym typeface="Clear Sans"/>
                </a:rPr>
                <a:t>PROFILING WITH MODULE TIME</a:t>
              </a:r>
            </a:p>
          </p:txBody>
        </p:sp>
        <p:sp>
          <p:nvSpPr>
            <p:cNvPr name="TextBox 10" id="10"/>
            <p:cNvSpPr txBox="true"/>
            <p:nvPr/>
          </p:nvSpPr>
          <p:spPr>
            <a:xfrm rot="0">
              <a:off x="0" y="6592798"/>
              <a:ext cx="9517921" cy="1107440"/>
            </a:xfrm>
            <a:prstGeom prst="rect">
              <a:avLst/>
            </a:prstGeom>
          </p:spPr>
          <p:txBody>
            <a:bodyPr anchor="t" rtlCol="false" tIns="0" lIns="0" bIns="0" rIns="0">
              <a:spAutoFit/>
            </a:bodyPr>
            <a:lstStyle/>
            <a:p>
              <a:pPr algn="l">
                <a:lnSpc>
                  <a:spcPts val="3487"/>
                </a:lnSpc>
              </a:pPr>
              <a:r>
                <a:rPr lang="en-US" sz="2325">
                  <a:solidFill>
                    <a:srgbClr val="FFFFFF"/>
                  </a:solidFill>
                  <a:latin typeface="Clear Sans"/>
                  <a:ea typeface="Clear Sans"/>
                  <a:cs typeface="Clear Sans"/>
                  <a:sym typeface="Clear Sans"/>
                </a:rPr>
                <a:t>C</a:t>
              </a:r>
              <a:r>
                <a:rPr lang="en-US" sz="2325">
                  <a:solidFill>
                    <a:srgbClr val="FFFFFF"/>
                  </a:solidFill>
                  <a:latin typeface="Clear Sans"/>
                  <a:ea typeface="Clear Sans"/>
                  <a:cs typeface="Clear Sans"/>
                  <a:sym typeface="Clear Sans"/>
                </a:rPr>
                <a:t>húng ta có thể đo thời gian chạy bằng cách ghi lại thời gian trước và sau khi thực thi.</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510547" y="1872723"/>
            <a:ext cx="6629597" cy="6541553"/>
            <a:chOff x="0" y="0"/>
            <a:chExt cx="25806498" cy="25463779"/>
          </a:xfrm>
        </p:grpSpPr>
        <p:sp>
          <p:nvSpPr>
            <p:cNvPr name="Freeform 3" id="3"/>
            <p:cNvSpPr/>
            <p:nvPr/>
          </p:nvSpPr>
          <p:spPr>
            <a:xfrm flipH="false" flipV="false" rot="0">
              <a:off x="0" y="0"/>
              <a:ext cx="25806498" cy="25463779"/>
            </a:xfrm>
            <a:custGeom>
              <a:avLst/>
              <a:gdLst/>
              <a:ahLst/>
              <a:cxnLst/>
              <a:rect r="r" b="b" t="t" l="l"/>
              <a:pathLst>
                <a:path h="25463779" w="25806498">
                  <a:moveTo>
                    <a:pt x="25682039" y="59690"/>
                  </a:moveTo>
                  <a:cubicBezTo>
                    <a:pt x="25717598" y="59690"/>
                    <a:pt x="25746808" y="88900"/>
                    <a:pt x="25746808" y="124460"/>
                  </a:cubicBezTo>
                  <a:lnTo>
                    <a:pt x="25746808" y="25339318"/>
                  </a:lnTo>
                  <a:cubicBezTo>
                    <a:pt x="25746808" y="25374879"/>
                    <a:pt x="25717598" y="25404088"/>
                    <a:pt x="25682039" y="25404088"/>
                  </a:cubicBezTo>
                  <a:lnTo>
                    <a:pt x="124460" y="25404088"/>
                  </a:lnTo>
                  <a:cubicBezTo>
                    <a:pt x="88900" y="25404088"/>
                    <a:pt x="59690" y="25374879"/>
                    <a:pt x="59690" y="25339318"/>
                  </a:cubicBezTo>
                  <a:lnTo>
                    <a:pt x="59690" y="124460"/>
                  </a:lnTo>
                  <a:cubicBezTo>
                    <a:pt x="59690" y="88900"/>
                    <a:pt x="88900" y="59690"/>
                    <a:pt x="124460" y="59690"/>
                  </a:cubicBezTo>
                  <a:lnTo>
                    <a:pt x="25682039" y="59690"/>
                  </a:lnTo>
                  <a:moveTo>
                    <a:pt x="25682039" y="0"/>
                  </a:moveTo>
                  <a:lnTo>
                    <a:pt x="124460" y="0"/>
                  </a:lnTo>
                  <a:cubicBezTo>
                    <a:pt x="55880" y="0"/>
                    <a:pt x="0" y="55880"/>
                    <a:pt x="0" y="124460"/>
                  </a:cubicBezTo>
                  <a:lnTo>
                    <a:pt x="0" y="25339318"/>
                  </a:lnTo>
                  <a:cubicBezTo>
                    <a:pt x="0" y="25407899"/>
                    <a:pt x="55880" y="25463779"/>
                    <a:pt x="124460" y="25463779"/>
                  </a:cubicBezTo>
                  <a:lnTo>
                    <a:pt x="25682039" y="25463779"/>
                  </a:lnTo>
                  <a:cubicBezTo>
                    <a:pt x="25750619" y="25463779"/>
                    <a:pt x="25806498" y="25407899"/>
                    <a:pt x="25806498" y="25339318"/>
                  </a:cubicBezTo>
                  <a:lnTo>
                    <a:pt x="25806498" y="124460"/>
                  </a:lnTo>
                  <a:cubicBezTo>
                    <a:pt x="25806498" y="55880"/>
                    <a:pt x="25750619" y="0"/>
                    <a:pt x="25682039" y="0"/>
                  </a:cubicBezTo>
                  <a:close/>
                </a:path>
              </a:pathLst>
            </a:custGeom>
            <a:solidFill>
              <a:srgbClr val="64E688">
                <a:alpha val="49804"/>
              </a:srgbClr>
            </a:solidFill>
          </p:spPr>
        </p:sp>
      </p:grpSp>
      <p:sp>
        <p:nvSpPr>
          <p:cNvPr name="Freeform 4" id="4"/>
          <p:cNvSpPr/>
          <p:nvPr/>
        </p:nvSpPr>
        <p:spPr>
          <a:xfrm flipH="false" flipV="false" rot="2465065">
            <a:off x="16247530" y="7302882"/>
            <a:ext cx="1056828" cy="1833975"/>
          </a:xfrm>
          <a:custGeom>
            <a:avLst/>
            <a:gdLst/>
            <a:ahLst/>
            <a:cxnLst/>
            <a:rect r="r" b="b" t="t" l="l"/>
            <a:pathLst>
              <a:path h="1833975" w="1056828">
                <a:moveTo>
                  <a:pt x="0" y="0"/>
                </a:moveTo>
                <a:lnTo>
                  <a:pt x="1056829" y="0"/>
                </a:lnTo>
                <a:lnTo>
                  <a:pt x="1056829" y="1833975"/>
                </a:lnTo>
                <a:lnTo>
                  <a:pt x="0" y="1833975"/>
                </a:lnTo>
                <a:lnTo>
                  <a:pt x="0" y="0"/>
                </a:lnTo>
                <a:close/>
              </a:path>
            </a:pathLst>
          </a:custGeom>
          <a:blipFill>
            <a:blip r:embed="rId2"/>
            <a:stretch>
              <a:fillRect l="0" t="0" r="0" b="0"/>
            </a:stretch>
          </a:blipFill>
        </p:spPr>
      </p:sp>
      <p:sp>
        <p:nvSpPr>
          <p:cNvPr name="Freeform 5" id="5"/>
          <p:cNvSpPr/>
          <p:nvPr/>
        </p:nvSpPr>
        <p:spPr>
          <a:xfrm flipH="false" flipV="false" rot="-4397849">
            <a:off x="10019893" y="1576371"/>
            <a:ext cx="1709706" cy="1568656"/>
          </a:xfrm>
          <a:custGeom>
            <a:avLst/>
            <a:gdLst/>
            <a:ahLst/>
            <a:cxnLst/>
            <a:rect r="r" b="b" t="t" l="l"/>
            <a:pathLst>
              <a:path h="1568656" w="1709706">
                <a:moveTo>
                  <a:pt x="0" y="0"/>
                </a:moveTo>
                <a:lnTo>
                  <a:pt x="1709706" y="0"/>
                </a:lnTo>
                <a:lnTo>
                  <a:pt x="1709706" y="1568656"/>
                </a:lnTo>
                <a:lnTo>
                  <a:pt x="0" y="1568656"/>
                </a:lnTo>
                <a:lnTo>
                  <a:pt x="0" y="0"/>
                </a:lnTo>
                <a:close/>
              </a:path>
            </a:pathLst>
          </a:custGeom>
          <a:blipFill>
            <a:blip r:embed="rId3"/>
            <a:stretch>
              <a:fillRect l="0" t="0" r="0" b="0"/>
            </a:stretch>
          </a:blipFill>
        </p:spPr>
      </p:sp>
      <p:sp>
        <p:nvSpPr>
          <p:cNvPr name="Freeform 6" id="6"/>
          <p:cNvSpPr/>
          <p:nvPr/>
        </p:nvSpPr>
        <p:spPr>
          <a:xfrm flipH="false" flipV="false" rot="0">
            <a:off x="9940285" y="1731146"/>
            <a:ext cx="7770121" cy="6824707"/>
          </a:xfrm>
          <a:custGeom>
            <a:avLst/>
            <a:gdLst/>
            <a:ahLst/>
            <a:cxnLst/>
            <a:rect r="r" b="b" t="t" l="l"/>
            <a:pathLst>
              <a:path h="6824707" w="7770121">
                <a:moveTo>
                  <a:pt x="0" y="0"/>
                </a:moveTo>
                <a:lnTo>
                  <a:pt x="7770121" y="0"/>
                </a:lnTo>
                <a:lnTo>
                  <a:pt x="7770121" y="6824708"/>
                </a:lnTo>
                <a:lnTo>
                  <a:pt x="0" y="6824708"/>
                </a:lnTo>
                <a:lnTo>
                  <a:pt x="0" y="0"/>
                </a:lnTo>
                <a:close/>
              </a:path>
            </a:pathLst>
          </a:custGeom>
          <a:blipFill>
            <a:blip r:embed="rId4"/>
            <a:stretch>
              <a:fillRect l="0" t="0" r="0" b="0"/>
            </a:stretch>
          </a:blipFill>
        </p:spPr>
      </p:sp>
      <p:sp>
        <p:nvSpPr>
          <p:cNvPr name="Freeform 7" id="7"/>
          <p:cNvSpPr/>
          <p:nvPr/>
        </p:nvSpPr>
        <p:spPr>
          <a:xfrm flipH="false" flipV="false" rot="0">
            <a:off x="844499" y="7298678"/>
            <a:ext cx="8409588" cy="921192"/>
          </a:xfrm>
          <a:custGeom>
            <a:avLst/>
            <a:gdLst/>
            <a:ahLst/>
            <a:cxnLst/>
            <a:rect r="r" b="b" t="t" l="l"/>
            <a:pathLst>
              <a:path h="921192" w="8409588">
                <a:moveTo>
                  <a:pt x="0" y="0"/>
                </a:moveTo>
                <a:lnTo>
                  <a:pt x="8409588" y="0"/>
                </a:lnTo>
                <a:lnTo>
                  <a:pt x="8409588" y="921192"/>
                </a:lnTo>
                <a:lnTo>
                  <a:pt x="0" y="921192"/>
                </a:lnTo>
                <a:lnTo>
                  <a:pt x="0" y="0"/>
                </a:lnTo>
                <a:close/>
              </a:path>
            </a:pathLst>
          </a:custGeom>
          <a:blipFill>
            <a:blip r:embed="rId5"/>
            <a:stretch>
              <a:fillRect l="0" t="0" r="0" b="0"/>
            </a:stretch>
          </a:blipFill>
        </p:spPr>
      </p:sp>
      <p:grpSp>
        <p:nvGrpSpPr>
          <p:cNvPr name="Group 8" id="8"/>
          <p:cNvGrpSpPr/>
          <p:nvPr/>
        </p:nvGrpSpPr>
        <p:grpSpPr>
          <a:xfrm rot="0">
            <a:off x="1480072" y="2461413"/>
            <a:ext cx="7138441" cy="5364175"/>
            <a:chOff x="0" y="0"/>
            <a:chExt cx="9517921" cy="7152233"/>
          </a:xfrm>
        </p:grpSpPr>
        <p:sp>
          <p:nvSpPr>
            <p:cNvPr name="TextBox 9" id="9"/>
            <p:cNvSpPr txBox="true"/>
            <p:nvPr/>
          </p:nvSpPr>
          <p:spPr>
            <a:xfrm rot="0">
              <a:off x="0" y="-9525"/>
              <a:ext cx="9517921" cy="4479925"/>
            </a:xfrm>
            <a:prstGeom prst="rect">
              <a:avLst/>
            </a:prstGeom>
          </p:spPr>
          <p:txBody>
            <a:bodyPr anchor="t" rtlCol="false" tIns="0" lIns="0" bIns="0" rIns="0">
              <a:spAutoFit/>
            </a:bodyPr>
            <a:lstStyle/>
            <a:p>
              <a:pPr algn="l">
                <a:lnSpc>
                  <a:spcPts val="6600"/>
                </a:lnSpc>
              </a:pPr>
              <a:r>
                <a:rPr lang="en-US" sz="5500" b="true">
                  <a:solidFill>
                    <a:srgbClr val="FFFFFF"/>
                  </a:solidFill>
                  <a:latin typeface="Fira Sans Ultra-Bold"/>
                  <a:ea typeface="Fira Sans Ultra-Bold"/>
                  <a:cs typeface="Fira Sans Ultra-Bold"/>
                  <a:sym typeface="Fira Sans Ultra-Bold"/>
                </a:rPr>
                <a:t>Đánh giá thời gian chạy và dung lượng bộ nhớ với GitHub Copilot </a:t>
              </a:r>
            </a:p>
          </p:txBody>
        </p:sp>
        <p:sp>
          <p:nvSpPr>
            <p:cNvPr name="TextBox 10" id="10"/>
            <p:cNvSpPr txBox="true"/>
            <p:nvPr/>
          </p:nvSpPr>
          <p:spPr>
            <a:xfrm rot="0">
              <a:off x="0" y="5104630"/>
              <a:ext cx="9517921" cy="644737"/>
            </a:xfrm>
            <a:prstGeom prst="rect">
              <a:avLst/>
            </a:prstGeom>
          </p:spPr>
          <p:txBody>
            <a:bodyPr anchor="t" rtlCol="false" tIns="0" lIns="0" bIns="0" rIns="0">
              <a:spAutoFit/>
            </a:bodyPr>
            <a:lstStyle/>
            <a:p>
              <a:pPr algn="l">
                <a:lnSpc>
                  <a:spcPts val="4059"/>
                </a:lnSpc>
              </a:pPr>
              <a:r>
                <a:rPr lang="en-US" sz="2899">
                  <a:solidFill>
                    <a:srgbClr val="64E688"/>
                  </a:solidFill>
                  <a:latin typeface="Clear Sans"/>
                  <a:ea typeface="Clear Sans"/>
                  <a:cs typeface="Clear Sans"/>
                  <a:sym typeface="Clear Sans"/>
                </a:rPr>
                <a:t>PROFILING WITH MODULE TIME</a:t>
              </a:r>
            </a:p>
          </p:txBody>
        </p:sp>
        <p:sp>
          <p:nvSpPr>
            <p:cNvPr name="TextBox 11" id="11"/>
            <p:cNvSpPr txBox="true"/>
            <p:nvPr/>
          </p:nvSpPr>
          <p:spPr>
            <a:xfrm rot="0">
              <a:off x="0" y="6592798"/>
              <a:ext cx="9517921" cy="523240"/>
            </a:xfrm>
            <a:prstGeom prst="rect">
              <a:avLst/>
            </a:prstGeom>
          </p:spPr>
          <p:txBody>
            <a:bodyPr anchor="t" rtlCol="false" tIns="0" lIns="0" bIns="0" rIns="0">
              <a:spAutoFit/>
            </a:bodyPr>
            <a:lstStyle/>
            <a:p>
              <a:pPr algn="l">
                <a:lnSpc>
                  <a:spcPts val="3487"/>
                </a:lnSpc>
              </a:pPr>
            </a:p>
          </p:txBody>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7728670" y="1028700"/>
            <a:ext cx="10259958" cy="5099743"/>
          </a:xfrm>
          <a:custGeom>
            <a:avLst/>
            <a:gdLst/>
            <a:ahLst/>
            <a:cxnLst/>
            <a:rect r="r" b="b" t="t" l="l"/>
            <a:pathLst>
              <a:path h="5099743" w="10259958">
                <a:moveTo>
                  <a:pt x="0" y="0"/>
                </a:moveTo>
                <a:lnTo>
                  <a:pt x="10259958" y="0"/>
                </a:lnTo>
                <a:lnTo>
                  <a:pt x="10259958" y="5099743"/>
                </a:lnTo>
                <a:lnTo>
                  <a:pt x="0" y="5099743"/>
                </a:lnTo>
                <a:lnTo>
                  <a:pt x="0" y="0"/>
                </a:lnTo>
                <a:close/>
              </a:path>
            </a:pathLst>
          </a:custGeom>
          <a:blipFill>
            <a:blip r:embed="rId2"/>
            <a:stretch>
              <a:fillRect l="0" t="0" r="0" b="0"/>
            </a:stretch>
          </a:blipFill>
        </p:spPr>
      </p:sp>
      <p:sp>
        <p:nvSpPr>
          <p:cNvPr name="Freeform 3" id="3"/>
          <p:cNvSpPr/>
          <p:nvPr/>
        </p:nvSpPr>
        <p:spPr>
          <a:xfrm flipH="false" flipV="false" rot="0">
            <a:off x="7102491" y="6788998"/>
            <a:ext cx="10886137" cy="2338504"/>
          </a:xfrm>
          <a:custGeom>
            <a:avLst/>
            <a:gdLst/>
            <a:ahLst/>
            <a:cxnLst/>
            <a:rect r="r" b="b" t="t" l="l"/>
            <a:pathLst>
              <a:path h="2338504" w="10886137">
                <a:moveTo>
                  <a:pt x="0" y="0"/>
                </a:moveTo>
                <a:lnTo>
                  <a:pt x="10886137" y="0"/>
                </a:lnTo>
                <a:lnTo>
                  <a:pt x="10886137" y="2338504"/>
                </a:lnTo>
                <a:lnTo>
                  <a:pt x="0" y="2338504"/>
                </a:lnTo>
                <a:lnTo>
                  <a:pt x="0" y="0"/>
                </a:lnTo>
                <a:close/>
              </a:path>
            </a:pathLst>
          </a:custGeom>
          <a:blipFill>
            <a:blip r:embed="rId3"/>
            <a:stretch>
              <a:fillRect l="0" t="0" r="0" b="0"/>
            </a:stretch>
          </a:blipFill>
        </p:spPr>
      </p:sp>
      <p:grpSp>
        <p:nvGrpSpPr>
          <p:cNvPr name="Group 4" id="4"/>
          <p:cNvGrpSpPr/>
          <p:nvPr/>
        </p:nvGrpSpPr>
        <p:grpSpPr>
          <a:xfrm rot="0">
            <a:off x="1386169" y="1440728"/>
            <a:ext cx="6342501" cy="3671941"/>
            <a:chOff x="0" y="0"/>
            <a:chExt cx="8456668" cy="4895922"/>
          </a:xfrm>
        </p:grpSpPr>
        <p:sp>
          <p:nvSpPr>
            <p:cNvPr name="TextBox 5" id="5"/>
            <p:cNvSpPr txBox="true"/>
            <p:nvPr/>
          </p:nvSpPr>
          <p:spPr>
            <a:xfrm rot="0">
              <a:off x="0" y="0"/>
              <a:ext cx="8456668" cy="3946960"/>
            </a:xfrm>
            <a:prstGeom prst="rect">
              <a:avLst/>
            </a:prstGeom>
          </p:spPr>
          <p:txBody>
            <a:bodyPr anchor="t" rtlCol="false" tIns="0" lIns="0" bIns="0" rIns="0">
              <a:spAutoFit/>
            </a:bodyPr>
            <a:lstStyle/>
            <a:p>
              <a:pPr algn="l">
                <a:lnSpc>
                  <a:spcPts val="7843"/>
                </a:lnSpc>
              </a:pPr>
              <a:r>
                <a:rPr lang="en-US" sz="6536" b="true">
                  <a:solidFill>
                    <a:srgbClr val="FFFFFF"/>
                  </a:solidFill>
                  <a:latin typeface="Fira Sans Ultra-Bold"/>
                  <a:ea typeface="Fira Sans Ultra-Bold"/>
                  <a:cs typeface="Fira Sans Ultra-Bold"/>
                  <a:sym typeface="Fira Sans Ultra-Bold"/>
                </a:rPr>
                <a:t>Phân</a:t>
              </a:r>
              <a:r>
                <a:rPr lang="en-US" sz="6536" b="true">
                  <a:solidFill>
                    <a:srgbClr val="FFFFFF"/>
                  </a:solidFill>
                  <a:latin typeface="Fira Sans Ultra-Bold"/>
                  <a:ea typeface="Fira Sans Ultra-Bold"/>
                  <a:cs typeface="Fira Sans Ultra-Bold"/>
                  <a:sym typeface="Fira Sans Ultra-Bold"/>
                </a:rPr>
                <a:t> tích việc sử dụng không gian</a:t>
              </a:r>
            </a:p>
          </p:txBody>
        </p:sp>
        <p:sp>
          <p:nvSpPr>
            <p:cNvPr name="TextBox 6" id="6"/>
            <p:cNvSpPr txBox="true"/>
            <p:nvPr/>
          </p:nvSpPr>
          <p:spPr>
            <a:xfrm rot="0">
              <a:off x="0" y="4288862"/>
              <a:ext cx="8456668" cy="1244600"/>
            </a:xfrm>
            <a:prstGeom prst="rect">
              <a:avLst/>
            </a:prstGeom>
          </p:spPr>
          <p:txBody>
            <a:bodyPr anchor="t" rtlCol="false" tIns="0" lIns="0" bIns="0" rIns="0">
              <a:spAutoFit/>
            </a:bodyPr>
            <a:lstStyle/>
            <a:p>
              <a:pPr algn="l">
                <a:lnSpc>
                  <a:spcPts val="3719"/>
                </a:lnSpc>
              </a:pPr>
              <a:r>
                <a:rPr lang="en-US" sz="3099">
                  <a:solidFill>
                    <a:srgbClr val="64E688"/>
                  </a:solidFill>
                  <a:latin typeface="Clear Sans"/>
                  <a:ea typeface="Clear Sans"/>
                  <a:cs typeface="Clear Sans"/>
                  <a:sym typeface="Clear Sans"/>
                </a:rPr>
                <a:t>Sử</a:t>
              </a:r>
              <a:r>
                <a:rPr lang="en-US" sz="3099">
                  <a:solidFill>
                    <a:srgbClr val="64E688"/>
                  </a:solidFill>
                  <a:latin typeface="Clear Sans"/>
                  <a:ea typeface="Clear Sans"/>
                  <a:cs typeface="Clear Sans"/>
                  <a:sym typeface="Clear Sans"/>
                </a:rPr>
                <a:t> dụng decorator @profile từ thư viện memory_profiler</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8955995" y="3688889"/>
            <a:ext cx="9017612" cy="3670886"/>
          </a:xfrm>
          <a:custGeom>
            <a:avLst/>
            <a:gdLst/>
            <a:ahLst/>
            <a:cxnLst/>
            <a:rect r="r" b="b" t="t" l="l"/>
            <a:pathLst>
              <a:path h="3670886" w="9017612">
                <a:moveTo>
                  <a:pt x="0" y="0"/>
                </a:moveTo>
                <a:lnTo>
                  <a:pt x="9017612" y="0"/>
                </a:lnTo>
                <a:lnTo>
                  <a:pt x="9017612" y="3670887"/>
                </a:lnTo>
                <a:lnTo>
                  <a:pt x="0" y="3670887"/>
                </a:lnTo>
                <a:lnTo>
                  <a:pt x="0" y="0"/>
                </a:lnTo>
                <a:close/>
              </a:path>
            </a:pathLst>
          </a:custGeom>
          <a:blipFill>
            <a:blip r:embed="rId5"/>
            <a:stretch>
              <a:fillRect l="0" t="0" r="0" b="0"/>
            </a:stretch>
          </a:blipFill>
        </p:spPr>
      </p:sp>
      <p:sp>
        <p:nvSpPr>
          <p:cNvPr name="TextBox 10" id="10"/>
          <p:cNvSpPr txBox="true"/>
          <p:nvPr/>
        </p:nvSpPr>
        <p:spPr>
          <a:xfrm rot="0">
            <a:off x="1849044" y="1890909"/>
            <a:ext cx="6276929" cy="1247775"/>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Phân tích công suất tối đa với ChatGPT</a:t>
            </a:r>
          </a:p>
        </p:txBody>
      </p:sp>
      <p:sp>
        <p:nvSpPr>
          <p:cNvPr name="TextBox 11" id="11"/>
          <p:cNvSpPr txBox="true"/>
          <p:nvPr/>
        </p:nvSpPr>
        <p:spPr>
          <a:xfrm rot="0">
            <a:off x="1849044" y="390349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Copilot có thể hỗ trợ tạo một vòng lặp phân tích cho các đầu vào khác nhau, ví dụ từ 10 đến 40 với bước nhảy là 5 cho hàm fibonacci_recursive.</a:t>
            </a:r>
          </a:p>
          <a:p>
            <a:pPr algn="l">
              <a:lnSpc>
                <a:spcPts val="5014"/>
              </a:lnSpc>
            </a:pPr>
          </a:p>
          <a:p>
            <a:pPr algn="l">
              <a:lnSpc>
                <a:spcPts val="5015"/>
              </a:lnSpc>
            </a:pPr>
            <a:r>
              <a:rPr lang="en-US" sz="2950">
                <a:solidFill>
                  <a:srgbClr val="FFFFFF"/>
                </a:solidFill>
                <a:latin typeface="Clear Sans"/>
                <a:ea typeface="Clear Sans"/>
                <a:cs typeface="Clear Sans"/>
                <a:sym typeface="Clear Sans"/>
              </a:rPr>
              <a:t>Prompt: “print the runtime of fibonacci_recursive for n=10:41:5”</a:t>
            </a:r>
          </a:p>
        </p:txBody>
      </p:sp>
      <p:sp>
        <p:nvSpPr>
          <p:cNvPr name="TextBox 12" id="12"/>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Multiple Runs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9144000" y="4022989"/>
            <a:ext cx="8807734" cy="2241021"/>
          </a:xfrm>
          <a:custGeom>
            <a:avLst/>
            <a:gdLst/>
            <a:ahLst/>
            <a:cxnLst/>
            <a:rect r="r" b="b" t="t" l="l"/>
            <a:pathLst>
              <a:path h="2241021" w="8807734">
                <a:moveTo>
                  <a:pt x="0" y="0"/>
                </a:moveTo>
                <a:lnTo>
                  <a:pt x="8807734" y="0"/>
                </a:lnTo>
                <a:lnTo>
                  <a:pt x="8807734" y="2241022"/>
                </a:lnTo>
                <a:lnTo>
                  <a:pt x="0" y="2241022"/>
                </a:lnTo>
                <a:lnTo>
                  <a:pt x="0" y="0"/>
                </a:lnTo>
                <a:close/>
              </a:path>
            </a:pathLst>
          </a:custGeom>
          <a:blipFill>
            <a:blip r:embed="rId5"/>
            <a:stretch>
              <a:fillRect l="0" t="0" r="0" b="0"/>
            </a:stretch>
          </a:blipFill>
        </p:spPr>
      </p:sp>
      <p:sp>
        <p:nvSpPr>
          <p:cNvPr name="TextBox 10" id="10"/>
          <p:cNvSpPr txBox="true"/>
          <p:nvPr/>
        </p:nvSpPr>
        <p:spPr>
          <a:xfrm rot="0">
            <a:off x="1849044" y="1890909"/>
            <a:ext cx="6276929" cy="1247775"/>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Phân tích công suất tối đa với ChatGPT</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Multiple Runs</a:t>
            </a:r>
          </a:p>
        </p:txBody>
      </p:sp>
      <p:sp>
        <p:nvSpPr>
          <p:cNvPr name="TextBox 12" id="12"/>
          <p:cNvSpPr txBox="true"/>
          <p:nvPr/>
        </p:nvSpPr>
        <p:spPr>
          <a:xfrm rot="0">
            <a:off x="1849044" y="390349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Copilot có thể hỗ trợ tạo một vòng lặp phân tích cho các đầu vào khác nhau, ví dụ từ 10 đến 40 với bước nhảy là 5 cho hàm fibonacci_recursive.</a:t>
            </a:r>
          </a:p>
          <a:p>
            <a:pPr algn="l">
              <a:lnSpc>
                <a:spcPts val="5014"/>
              </a:lnSpc>
            </a:pPr>
          </a:p>
          <a:p>
            <a:pPr algn="l">
              <a:lnSpc>
                <a:spcPts val="5015"/>
              </a:lnSpc>
            </a:pPr>
            <a:r>
              <a:rPr lang="en-US" sz="2950">
                <a:solidFill>
                  <a:srgbClr val="FFFFFF"/>
                </a:solidFill>
                <a:latin typeface="Clear Sans"/>
                <a:ea typeface="Clear Sans"/>
                <a:cs typeface="Clear Sans"/>
                <a:sym typeface="Clear Sans"/>
              </a:rPr>
              <a:t>Prompt: “print the runtime of fibonacci_recursive for n=10:41:5”</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8961750" y="3138684"/>
            <a:ext cx="8924376" cy="5370147"/>
          </a:xfrm>
          <a:custGeom>
            <a:avLst/>
            <a:gdLst/>
            <a:ahLst/>
            <a:cxnLst/>
            <a:rect r="r" b="b" t="t" l="l"/>
            <a:pathLst>
              <a:path h="5370147" w="8924376">
                <a:moveTo>
                  <a:pt x="0" y="0"/>
                </a:moveTo>
                <a:lnTo>
                  <a:pt x="8924376" y="0"/>
                </a:lnTo>
                <a:lnTo>
                  <a:pt x="8924376" y="5370146"/>
                </a:lnTo>
                <a:lnTo>
                  <a:pt x="0" y="5370146"/>
                </a:lnTo>
                <a:lnTo>
                  <a:pt x="0" y="0"/>
                </a:lnTo>
                <a:close/>
              </a:path>
            </a:pathLst>
          </a:custGeom>
          <a:blipFill>
            <a:blip r:embed="rId5"/>
            <a:stretch>
              <a:fillRect l="0" t="0" r="0" b="0"/>
            </a:stretch>
          </a:blipFill>
        </p:spPr>
      </p:sp>
      <p:sp>
        <p:nvSpPr>
          <p:cNvPr name="TextBox 10" id="10"/>
          <p:cNvSpPr txBox="true"/>
          <p:nvPr/>
        </p:nvSpPr>
        <p:spPr>
          <a:xfrm rot="0">
            <a:off x="1849044" y="1890909"/>
            <a:ext cx="6276929" cy="1247775"/>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Phân tích công suất tối đa với ChatGPT</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Multiple Runs</a:t>
            </a:r>
          </a:p>
        </p:txBody>
      </p:sp>
      <p:sp>
        <p:nvSpPr>
          <p:cNvPr name="TextBox 12" id="12"/>
          <p:cNvSpPr txBox="true"/>
          <p:nvPr/>
        </p:nvSpPr>
        <p:spPr>
          <a:xfrm rot="0">
            <a:off x="1849044" y="390349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Copilot có thể hỗ trợ tạo một vòng lặp phân tích cho các đầu vào khác nhau, ví dụ từ 10 đến 40 với bước nhảy là 5 cho hàm fibonacci_recursive.</a:t>
            </a:r>
          </a:p>
          <a:p>
            <a:pPr algn="l">
              <a:lnSpc>
                <a:spcPts val="5014"/>
              </a:lnSpc>
            </a:pPr>
          </a:p>
          <a:p>
            <a:pPr algn="l">
              <a:lnSpc>
                <a:spcPts val="5015"/>
              </a:lnSpc>
            </a:pPr>
            <a:r>
              <a:rPr lang="en-US" sz="2950">
                <a:solidFill>
                  <a:srgbClr val="FFFFFF"/>
                </a:solidFill>
                <a:latin typeface="Clear Sans"/>
                <a:ea typeface="Clear Sans"/>
                <a:cs typeface="Clear Sans"/>
                <a:sym typeface="Clear Sans"/>
              </a:rPr>
              <a:t>Prompt: “print the runtime of fibonacci_recursive for n=10:41:5”</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9220284" y="2635150"/>
            <a:ext cx="8334933" cy="7035664"/>
          </a:xfrm>
          <a:custGeom>
            <a:avLst/>
            <a:gdLst/>
            <a:ahLst/>
            <a:cxnLst/>
            <a:rect r="r" b="b" t="t" l="l"/>
            <a:pathLst>
              <a:path h="7035664" w="8334933">
                <a:moveTo>
                  <a:pt x="0" y="0"/>
                </a:moveTo>
                <a:lnTo>
                  <a:pt x="8334933" y="0"/>
                </a:lnTo>
                <a:lnTo>
                  <a:pt x="8334933" y="7035664"/>
                </a:lnTo>
                <a:lnTo>
                  <a:pt x="0" y="7035664"/>
                </a:lnTo>
                <a:lnTo>
                  <a:pt x="0" y="0"/>
                </a:lnTo>
                <a:close/>
              </a:path>
            </a:pathLst>
          </a:custGeom>
          <a:blipFill>
            <a:blip r:embed="rId5"/>
            <a:stretch>
              <a:fillRect l="0" t="0" r="0" b="0"/>
            </a:stretch>
          </a:blipFill>
        </p:spPr>
      </p:sp>
      <p:sp>
        <p:nvSpPr>
          <p:cNvPr name="TextBox 10" id="10"/>
          <p:cNvSpPr txBox="true"/>
          <p:nvPr/>
        </p:nvSpPr>
        <p:spPr>
          <a:xfrm rot="0">
            <a:off x="1849044" y="1890909"/>
            <a:ext cx="6276929" cy="1247775"/>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Phân tích công suất tối đa với ChatGPT</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Multiple Runs</a:t>
            </a:r>
          </a:p>
        </p:txBody>
      </p:sp>
      <p:sp>
        <p:nvSpPr>
          <p:cNvPr name="TextBox 12" id="12"/>
          <p:cNvSpPr txBox="true"/>
          <p:nvPr/>
        </p:nvSpPr>
        <p:spPr>
          <a:xfrm rot="0">
            <a:off x="1849044" y="390349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Copilot có thể hỗ trợ tạo một vòng lặp phân tích cho các đầu vào khác nhau, ví dụ từ 10 đến 40 với bước nhảy là 5 cho hàm fibonacci_recursive.</a:t>
            </a:r>
          </a:p>
          <a:p>
            <a:pPr algn="l">
              <a:lnSpc>
                <a:spcPts val="5014"/>
              </a:lnSpc>
            </a:pPr>
          </a:p>
          <a:p>
            <a:pPr algn="l">
              <a:lnSpc>
                <a:spcPts val="5015"/>
              </a:lnSpc>
            </a:pPr>
            <a:r>
              <a:rPr lang="en-US" sz="2950">
                <a:solidFill>
                  <a:srgbClr val="FFFFFF"/>
                </a:solidFill>
                <a:latin typeface="Clear Sans"/>
                <a:ea typeface="Clear Sans"/>
                <a:cs typeface="Clear Sans"/>
                <a:sym typeface="Clear Sans"/>
              </a:rPr>
              <a:t>Prompt: “print the runtime of fibonacci_recursive for n=10:41:5”</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9144000" y="2829121"/>
            <a:ext cx="8757932" cy="3683999"/>
          </a:xfrm>
          <a:custGeom>
            <a:avLst/>
            <a:gdLst/>
            <a:ahLst/>
            <a:cxnLst/>
            <a:rect r="r" b="b" t="t" l="l"/>
            <a:pathLst>
              <a:path h="3683999" w="8757932">
                <a:moveTo>
                  <a:pt x="0" y="0"/>
                </a:moveTo>
                <a:lnTo>
                  <a:pt x="8757932" y="0"/>
                </a:lnTo>
                <a:lnTo>
                  <a:pt x="8757932" y="3683999"/>
                </a:lnTo>
                <a:lnTo>
                  <a:pt x="0" y="3683999"/>
                </a:lnTo>
                <a:lnTo>
                  <a:pt x="0" y="0"/>
                </a:lnTo>
                <a:close/>
              </a:path>
            </a:pathLst>
          </a:custGeom>
          <a:blipFill>
            <a:blip r:embed="rId5"/>
            <a:stretch>
              <a:fillRect l="0" t="0" r="0" b="0"/>
            </a:stretch>
          </a:blipFill>
        </p:spPr>
      </p:sp>
      <p:sp>
        <p:nvSpPr>
          <p:cNvPr name="TextBox 10" id="10"/>
          <p:cNvSpPr txBox="true"/>
          <p:nvPr/>
        </p:nvSpPr>
        <p:spPr>
          <a:xfrm rot="0">
            <a:off x="1849044" y="1890909"/>
            <a:ext cx="6276929" cy="1866900"/>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Xác định công suất tối đa trong giới hạn thời gian chạy</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Prompt</a:t>
            </a:r>
          </a:p>
        </p:txBody>
      </p:sp>
      <p:sp>
        <p:nvSpPr>
          <p:cNvPr name="TextBox 12" id="12"/>
          <p:cNvSpPr txBox="true"/>
          <p:nvPr/>
        </p:nvSpPr>
        <p:spPr>
          <a:xfrm rot="0">
            <a:off x="1849044" y="3903495"/>
            <a:ext cx="6681111" cy="372745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Mô hình GPT-4o1 đặc biệt hiệu quả trong việc suy luận chuỗi tư duy (chain-of-thought), giúp xác định công suất tối đa. </a:t>
            </a:r>
          </a:p>
          <a:p>
            <a:pPr algn="l">
              <a:lnSpc>
                <a:spcPts val="5014"/>
              </a:lnSpc>
            </a:pPr>
          </a:p>
          <a:p>
            <a:pPr algn="l">
              <a:lnSpc>
                <a:spcPts val="5015"/>
              </a:lnSpc>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8958084" y="3569875"/>
            <a:ext cx="8684815" cy="3147249"/>
          </a:xfrm>
          <a:custGeom>
            <a:avLst/>
            <a:gdLst/>
            <a:ahLst/>
            <a:cxnLst/>
            <a:rect r="r" b="b" t="t" l="l"/>
            <a:pathLst>
              <a:path h="3147249" w="8684815">
                <a:moveTo>
                  <a:pt x="0" y="0"/>
                </a:moveTo>
                <a:lnTo>
                  <a:pt x="8684815" y="0"/>
                </a:lnTo>
                <a:lnTo>
                  <a:pt x="8684815" y="3147250"/>
                </a:lnTo>
                <a:lnTo>
                  <a:pt x="0" y="3147250"/>
                </a:lnTo>
                <a:lnTo>
                  <a:pt x="0" y="0"/>
                </a:lnTo>
                <a:close/>
              </a:path>
            </a:pathLst>
          </a:custGeom>
          <a:blipFill>
            <a:blip r:embed="rId5"/>
            <a:stretch>
              <a:fillRect l="0" t="0" r="0" b="0"/>
            </a:stretch>
          </a:blipFill>
        </p:spPr>
      </p:sp>
      <p:sp>
        <p:nvSpPr>
          <p:cNvPr name="TextBox 10" id="10"/>
          <p:cNvSpPr txBox="true"/>
          <p:nvPr/>
        </p:nvSpPr>
        <p:spPr>
          <a:xfrm rot="0">
            <a:off x="1849044" y="1890909"/>
            <a:ext cx="6276929" cy="1866900"/>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Xác định công suất tối đa trong giới hạn thời gian chạy</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Result</a:t>
            </a:r>
          </a:p>
        </p:txBody>
      </p:sp>
      <p:sp>
        <p:nvSpPr>
          <p:cNvPr name="TextBox 12" id="12"/>
          <p:cNvSpPr txBox="true"/>
          <p:nvPr/>
        </p:nvSpPr>
        <p:spPr>
          <a:xfrm rot="0">
            <a:off x="1849044" y="390349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Mô hình GPT-4o1 đặc biệt hiệu quả trong việc suy luận chuỗi tư duy (chain-of-thought), giúp xác định công suất tối đa. </a:t>
            </a:r>
          </a:p>
          <a:p>
            <a:pPr algn="l">
              <a:lnSpc>
                <a:spcPts val="5014"/>
              </a:lnSpc>
            </a:pPr>
          </a:p>
          <a:p>
            <a:pPr algn="l">
              <a:lnSpc>
                <a:spcPts val="5015"/>
              </a:lnSpc>
            </a:pPr>
            <a:r>
              <a:rPr lang="en-US" sz="2950">
                <a:solidFill>
                  <a:srgbClr val="FFFFFF"/>
                </a:solidFill>
                <a:latin typeface="Clear Sans"/>
                <a:ea typeface="Clear Sans"/>
                <a:cs typeface="Clear Sans"/>
                <a:sym typeface="Clear Sans"/>
              </a:rPr>
              <a:t>Prompt: “print the runtime of fibonacci_recursive for n=10:41:5”</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650633" y="2577421"/>
            <a:ext cx="6658068" cy="5132158"/>
            <a:chOff x="0" y="0"/>
            <a:chExt cx="8877424" cy="6842877"/>
          </a:xfrm>
        </p:grpSpPr>
        <p:sp>
          <p:nvSpPr>
            <p:cNvPr name="TextBox 3" id="3"/>
            <p:cNvSpPr txBox="true"/>
            <p:nvPr/>
          </p:nvSpPr>
          <p:spPr>
            <a:xfrm rot="0">
              <a:off x="0" y="213783"/>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mã nguồn bằng CoT prompt</a:t>
              </a:r>
            </a:p>
          </p:txBody>
        </p:sp>
        <p:grpSp>
          <p:nvGrpSpPr>
            <p:cNvPr name="Group 4" id="4"/>
            <p:cNvGrpSpPr/>
            <p:nvPr/>
          </p:nvGrpSpPr>
          <p:grpSpPr>
            <a:xfrm rot="0">
              <a:off x="0" y="3325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3634136"/>
              <a:ext cx="6403551"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PARADIGM</a:t>
              </a:r>
              <a:r>
                <a:rPr lang="en-US" sz="2999">
                  <a:solidFill>
                    <a:srgbClr val="FFFFFF"/>
                  </a:solidFill>
                  <a:latin typeface="Clear Sans"/>
                  <a:ea typeface="Clear Sans"/>
                  <a:cs typeface="Clear Sans"/>
                  <a:sym typeface="Clear Sans"/>
                </a:rPr>
                <a:t> SHIFT</a:t>
              </a:r>
            </a:p>
          </p:txBody>
        </p:sp>
        <p:sp>
          <p:nvSpPr>
            <p:cNvPr name="TextBox 7" id="7"/>
            <p:cNvSpPr txBox="true"/>
            <p:nvPr/>
          </p:nvSpPr>
          <p:spPr>
            <a:xfrm rot="0">
              <a:off x="0" y="5059797"/>
              <a:ext cx="8877424" cy="17830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Thay vì chỉ</a:t>
              </a:r>
              <a:r>
                <a:rPr lang="en-US" sz="2400">
                  <a:solidFill>
                    <a:srgbClr val="FFFFFF"/>
                  </a:solidFill>
                  <a:latin typeface="Clear Sans"/>
                  <a:ea typeface="Clear Sans"/>
                  <a:cs typeface="Clear Sans"/>
                  <a:sym typeface="Clear Sans"/>
                </a:rPr>
                <a:t> "tinh chỉnh" (micro-optimization), ta ép GenAI phải thay đổi hoàn toàn cách tiếp cận cốt lõi của bài toán.</a:t>
              </a:r>
            </a:p>
          </p:txBody>
        </p:sp>
      </p:grpSp>
      <p:sp>
        <p:nvSpPr>
          <p:cNvPr name="Freeform 8" id="8"/>
          <p:cNvSpPr/>
          <p:nvPr/>
        </p:nvSpPr>
        <p:spPr>
          <a:xfrm flipH="false" flipV="false" rot="0">
            <a:off x="10542688" y="2806021"/>
            <a:ext cx="6716612" cy="6062272"/>
          </a:xfrm>
          <a:custGeom>
            <a:avLst/>
            <a:gdLst/>
            <a:ahLst/>
            <a:cxnLst/>
            <a:rect r="r" b="b" t="t" l="l"/>
            <a:pathLst>
              <a:path h="6062272" w="6716612">
                <a:moveTo>
                  <a:pt x="0" y="0"/>
                </a:moveTo>
                <a:lnTo>
                  <a:pt x="6716612" y="0"/>
                </a:lnTo>
                <a:lnTo>
                  <a:pt x="6716612" y="6062272"/>
                </a:lnTo>
                <a:lnTo>
                  <a:pt x="0" y="6062272"/>
                </a:lnTo>
                <a:lnTo>
                  <a:pt x="0" y="0"/>
                </a:lnTo>
                <a:close/>
              </a:path>
            </a:pathLst>
          </a:custGeom>
          <a:blipFill>
            <a:blip r:embed="rId2"/>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650633" y="2577421"/>
            <a:ext cx="6658068" cy="5132158"/>
            <a:chOff x="0" y="0"/>
            <a:chExt cx="8877424" cy="6842877"/>
          </a:xfrm>
        </p:grpSpPr>
        <p:sp>
          <p:nvSpPr>
            <p:cNvPr name="TextBox 3" id="3"/>
            <p:cNvSpPr txBox="true"/>
            <p:nvPr/>
          </p:nvSpPr>
          <p:spPr>
            <a:xfrm rot="0">
              <a:off x="0" y="213783"/>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thời gian chạy</a:t>
              </a:r>
            </a:p>
          </p:txBody>
        </p:sp>
        <p:grpSp>
          <p:nvGrpSpPr>
            <p:cNvPr name="Group 4" id="4"/>
            <p:cNvGrpSpPr/>
            <p:nvPr/>
          </p:nvGrpSpPr>
          <p:grpSpPr>
            <a:xfrm rot="0">
              <a:off x="0" y="3325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3634136"/>
              <a:ext cx="6403551"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FAST-DOUBLING</a:t>
              </a:r>
            </a:p>
          </p:txBody>
        </p:sp>
        <p:sp>
          <p:nvSpPr>
            <p:cNvPr name="TextBox 7" id="7"/>
            <p:cNvSpPr txBox="true"/>
            <p:nvPr/>
          </p:nvSpPr>
          <p:spPr>
            <a:xfrm rot="0">
              <a:off x="0" y="5059797"/>
              <a:ext cx="8877424" cy="17830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Thay vì chỉ</a:t>
              </a:r>
              <a:r>
                <a:rPr lang="en-US" sz="2400">
                  <a:solidFill>
                    <a:srgbClr val="FFFFFF"/>
                  </a:solidFill>
                  <a:latin typeface="Clear Sans"/>
                  <a:ea typeface="Clear Sans"/>
                  <a:cs typeface="Clear Sans"/>
                  <a:sym typeface="Clear Sans"/>
                </a:rPr>
                <a:t> "tinh chỉnh" (micro-optimization), ta ép GenAI phải thay đổi hoàn toàn cách tiếp cận cốt lõi của bài toán.</a:t>
              </a:r>
            </a:p>
          </p:txBody>
        </p:sp>
      </p:grpSp>
      <p:sp>
        <p:nvSpPr>
          <p:cNvPr name="Freeform 8" id="8"/>
          <p:cNvSpPr/>
          <p:nvPr/>
        </p:nvSpPr>
        <p:spPr>
          <a:xfrm flipH="false" flipV="false" rot="0">
            <a:off x="10969216" y="642313"/>
            <a:ext cx="4922480" cy="9002373"/>
          </a:xfrm>
          <a:custGeom>
            <a:avLst/>
            <a:gdLst/>
            <a:ahLst/>
            <a:cxnLst/>
            <a:rect r="r" b="b" t="t" l="l"/>
            <a:pathLst>
              <a:path h="9002373" w="4922480">
                <a:moveTo>
                  <a:pt x="0" y="0"/>
                </a:moveTo>
                <a:lnTo>
                  <a:pt x="4922480" y="0"/>
                </a:lnTo>
                <a:lnTo>
                  <a:pt x="4922480" y="9002374"/>
                </a:lnTo>
                <a:lnTo>
                  <a:pt x="0" y="9002374"/>
                </a:lnTo>
                <a:lnTo>
                  <a:pt x="0" y="0"/>
                </a:lnTo>
                <a:close/>
              </a:path>
            </a:pathLst>
          </a:custGeom>
          <a:blipFill>
            <a:blip r:embed="rId2"/>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650633" y="2577421"/>
            <a:ext cx="6658068" cy="5132158"/>
            <a:chOff x="0" y="0"/>
            <a:chExt cx="8877424" cy="6842877"/>
          </a:xfrm>
        </p:grpSpPr>
        <p:sp>
          <p:nvSpPr>
            <p:cNvPr name="TextBox 3" id="3"/>
            <p:cNvSpPr txBox="true"/>
            <p:nvPr/>
          </p:nvSpPr>
          <p:spPr>
            <a:xfrm rot="0">
              <a:off x="0" y="213783"/>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thời gian chạy</a:t>
              </a:r>
            </a:p>
          </p:txBody>
        </p:sp>
        <p:grpSp>
          <p:nvGrpSpPr>
            <p:cNvPr name="Group 4" id="4"/>
            <p:cNvGrpSpPr/>
            <p:nvPr/>
          </p:nvGrpSpPr>
          <p:grpSpPr>
            <a:xfrm rot="0">
              <a:off x="0" y="3325044"/>
              <a:ext cx="7082362" cy="1196034"/>
              <a:chOff x="0" y="0"/>
              <a:chExt cx="20676706" cy="3491780"/>
            </a:xfrm>
          </p:grpSpPr>
          <p:sp>
            <p:nvSpPr>
              <p:cNvPr name="Freeform 5" id="5"/>
              <p:cNvSpPr/>
              <p:nvPr/>
            </p:nvSpPr>
            <p:spPr>
              <a:xfrm flipH="false" flipV="false" rot="0">
                <a:off x="0" y="0"/>
                <a:ext cx="20676705" cy="3491780"/>
              </a:xfrm>
              <a:custGeom>
                <a:avLst/>
                <a:gdLst/>
                <a:ahLst/>
                <a:cxnLst/>
                <a:rect r="r" b="b" t="t" l="l"/>
                <a:pathLst>
                  <a:path h="3491780" w="20676705">
                    <a:moveTo>
                      <a:pt x="20552246" y="59690"/>
                    </a:moveTo>
                    <a:cubicBezTo>
                      <a:pt x="20587805" y="59690"/>
                      <a:pt x="20617016" y="88900"/>
                      <a:pt x="20617016" y="124460"/>
                    </a:cubicBezTo>
                    <a:lnTo>
                      <a:pt x="20617016" y="3367320"/>
                    </a:lnTo>
                    <a:cubicBezTo>
                      <a:pt x="20617016" y="3402880"/>
                      <a:pt x="20587805" y="3432090"/>
                      <a:pt x="20552246" y="3432090"/>
                    </a:cubicBezTo>
                    <a:lnTo>
                      <a:pt x="124460" y="3432090"/>
                    </a:lnTo>
                    <a:cubicBezTo>
                      <a:pt x="88900" y="3432090"/>
                      <a:pt x="59690" y="3402880"/>
                      <a:pt x="59690" y="3367320"/>
                    </a:cubicBezTo>
                    <a:lnTo>
                      <a:pt x="59690" y="124460"/>
                    </a:lnTo>
                    <a:cubicBezTo>
                      <a:pt x="59690" y="88900"/>
                      <a:pt x="88900" y="59690"/>
                      <a:pt x="124460" y="59690"/>
                    </a:cubicBezTo>
                    <a:lnTo>
                      <a:pt x="20552246" y="59690"/>
                    </a:lnTo>
                    <a:moveTo>
                      <a:pt x="20552246" y="0"/>
                    </a:moveTo>
                    <a:lnTo>
                      <a:pt x="124460" y="0"/>
                    </a:lnTo>
                    <a:cubicBezTo>
                      <a:pt x="55880" y="0"/>
                      <a:pt x="0" y="55880"/>
                      <a:pt x="0" y="124460"/>
                    </a:cubicBezTo>
                    <a:lnTo>
                      <a:pt x="0" y="3367320"/>
                    </a:lnTo>
                    <a:cubicBezTo>
                      <a:pt x="0" y="3435900"/>
                      <a:pt x="55880" y="3491780"/>
                      <a:pt x="124460" y="3491780"/>
                    </a:cubicBezTo>
                    <a:lnTo>
                      <a:pt x="20552246" y="3491780"/>
                    </a:lnTo>
                    <a:cubicBezTo>
                      <a:pt x="20620825" y="3491780"/>
                      <a:pt x="20676705" y="3435900"/>
                      <a:pt x="20676705" y="3367320"/>
                    </a:cubicBezTo>
                    <a:lnTo>
                      <a:pt x="20676705" y="124460"/>
                    </a:lnTo>
                    <a:cubicBezTo>
                      <a:pt x="20676705" y="55880"/>
                      <a:pt x="20620825" y="0"/>
                      <a:pt x="20552246" y="0"/>
                    </a:cubicBezTo>
                    <a:close/>
                  </a:path>
                </a:pathLst>
              </a:custGeom>
              <a:solidFill>
                <a:srgbClr val="64E688">
                  <a:alpha val="49804"/>
                </a:srgbClr>
              </a:solidFill>
            </p:spPr>
          </p:sp>
        </p:grpSp>
        <p:sp>
          <p:nvSpPr>
            <p:cNvPr name="TextBox 6" id="6"/>
            <p:cNvSpPr txBox="true"/>
            <p:nvPr/>
          </p:nvSpPr>
          <p:spPr>
            <a:xfrm rot="0">
              <a:off x="335840" y="3634136"/>
              <a:ext cx="6403551"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FAST-DOUBLING</a:t>
              </a:r>
            </a:p>
          </p:txBody>
        </p:sp>
        <p:sp>
          <p:nvSpPr>
            <p:cNvPr name="TextBox 7" id="7"/>
            <p:cNvSpPr txBox="true"/>
            <p:nvPr/>
          </p:nvSpPr>
          <p:spPr>
            <a:xfrm rot="0">
              <a:off x="0" y="5059797"/>
              <a:ext cx="8877424" cy="17830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Thay vì chỉ</a:t>
              </a:r>
              <a:r>
                <a:rPr lang="en-US" sz="2400">
                  <a:solidFill>
                    <a:srgbClr val="FFFFFF"/>
                  </a:solidFill>
                  <a:latin typeface="Clear Sans"/>
                  <a:ea typeface="Clear Sans"/>
                  <a:cs typeface="Clear Sans"/>
                  <a:sym typeface="Clear Sans"/>
                </a:rPr>
                <a:t> "tinh chỉnh" (micro-optimization), ta ép GenAI phải thay đổi hoàn toàn cách tiếp cận cốt lõi của bài toán.</a:t>
              </a:r>
            </a:p>
          </p:txBody>
        </p:sp>
      </p:grpSp>
      <p:sp>
        <p:nvSpPr>
          <p:cNvPr name="Freeform 8" id="8"/>
          <p:cNvSpPr/>
          <p:nvPr/>
        </p:nvSpPr>
        <p:spPr>
          <a:xfrm flipH="false" flipV="false" rot="0">
            <a:off x="9016998" y="2880482"/>
            <a:ext cx="8962742" cy="4526036"/>
          </a:xfrm>
          <a:custGeom>
            <a:avLst/>
            <a:gdLst/>
            <a:ahLst/>
            <a:cxnLst/>
            <a:rect r="r" b="b" t="t" l="l"/>
            <a:pathLst>
              <a:path h="4526036" w="8962742">
                <a:moveTo>
                  <a:pt x="0" y="0"/>
                </a:moveTo>
                <a:lnTo>
                  <a:pt x="8962742" y="0"/>
                </a:lnTo>
                <a:lnTo>
                  <a:pt x="8962742" y="4526036"/>
                </a:lnTo>
                <a:lnTo>
                  <a:pt x="0" y="4526036"/>
                </a:lnTo>
                <a:lnTo>
                  <a:pt x="0" y="0"/>
                </a:lnTo>
                <a:close/>
              </a:path>
            </a:pathLst>
          </a:custGeom>
          <a:blipFill>
            <a:blip r:embed="rId2"/>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901383" y="2809196"/>
            <a:ext cx="6354318" cy="4900383"/>
            <a:chOff x="0" y="0"/>
            <a:chExt cx="8472424" cy="6533844"/>
          </a:xfrm>
        </p:grpSpPr>
        <p:sp>
          <p:nvSpPr>
            <p:cNvPr name="TextBox 3" id="3"/>
            <p:cNvSpPr txBox="true"/>
            <p:nvPr/>
          </p:nvSpPr>
          <p:spPr>
            <a:xfrm rot="0">
              <a:off x="0" y="-95250"/>
              <a:ext cx="8472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thời gian chạy</a:t>
              </a:r>
            </a:p>
          </p:txBody>
        </p:sp>
        <p:grpSp>
          <p:nvGrpSpPr>
            <p:cNvPr name="Group 4" id="4"/>
            <p:cNvGrpSpPr/>
            <p:nvPr/>
          </p:nvGrpSpPr>
          <p:grpSpPr>
            <a:xfrm rot="0">
              <a:off x="0" y="3016011"/>
              <a:ext cx="6759255" cy="1196034"/>
              <a:chOff x="0" y="0"/>
              <a:chExt cx="19733407" cy="3491780"/>
            </a:xfrm>
          </p:grpSpPr>
          <p:sp>
            <p:nvSpPr>
              <p:cNvPr name="Freeform 5" id="5"/>
              <p:cNvSpPr/>
              <p:nvPr/>
            </p:nvSpPr>
            <p:spPr>
              <a:xfrm flipH="false" flipV="false" rot="0">
                <a:off x="0" y="0"/>
                <a:ext cx="19733406" cy="3491780"/>
              </a:xfrm>
              <a:custGeom>
                <a:avLst/>
                <a:gdLst/>
                <a:ahLst/>
                <a:cxnLst/>
                <a:rect r="r" b="b" t="t" l="l"/>
                <a:pathLst>
                  <a:path h="3491780" w="19733406">
                    <a:moveTo>
                      <a:pt x="19608947" y="59690"/>
                    </a:moveTo>
                    <a:cubicBezTo>
                      <a:pt x="19644506" y="59690"/>
                      <a:pt x="19673717" y="88900"/>
                      <a:pt x="19673717" y="124460"/>
                    </a:cubicBezTo>
                    <a:lnTo>
                      <a:pt x="19673717" y="3367320"/>
                    </a:lnTo>
                    <a:cubicBezTo>
                      <a:pt x="19673717" y="3402880"/>
                      <a:pt x="19644506" y="3432090"/>
                      <a:pt x="19608947" y="3432090"/>
                    </a:cubicBezTo>
                    <a:lnTo>
                      <a:pt x="124460" y="3432090"/>
                    </a:lnTo>
                    <a:cubicBezTo>
                      <a:pt x="88900" y="3432090"/>
                      <a:pt x="59690" y="3402880"/>
                      <a:pt x="59690" y="3367320"/>
                    </a:cubicBezTo>
                    <a:lnTo>
                      <a:pt x="59690" y="124460"/>
                    </a:lnTo>
                    <a:cubicBezTo>
                      <a:pt x="59690" y="88900"/>
                      <a:pt x="88900" y="59690"/>
                      <a:pt x="124460" y="59690"/>
                    </a:cubicBezTo>
                    <a:lnTo>
                      <a:pt x="19608947" y="59690"/>
                    </a:lnTo>
                    <a:moveTo>
                      <a:pt x="19608947" y="0"/>
                    </a:moveTo>
                    <a:lnTo>
                      <a:pt x="124460" y="0"/>
                    </a:lnTo>
                    <a:cubicBezTo>
                      <a:pt x="55880" y="0"/>
                      <a:pt x="0" y="55880"/>
                      <a:pt x="0" y="124460"/>
                    </a:cubicBezTo>
                    <a:lnTo>
                      <a:pt x="0" y="3367320"/>
                    </a:lnTo>
                    <a:cubicBezTo>
                      <a:pt x="0" y="3435900"/>
                      <a:pt x="55880" y="3491780"/>
                      <a:pt x="124460" y="3491780"/>
                    </a:cubicBezTo>
                    <a:lnTo>
                      <a:pt x="19608947" y="3491780"/>
                    </a:lnTo>
                    <a:cubicBezTo>
                      <a:pt x="19677526" y="3491780"/>
                      <a:pt x="19733406" y="3435900"/>
                      <a:pt x="19733406" y="3367320"/>
                    </a:cubicBezTo>
                    <a:lnTo>
                      <a:pt x="19733406" y="124460"/>
                    </a:lnTo>
                    <a:cubicBezTo>
                      <a:pt x="19733406" y="55880"/>
                      <a:pt x="19677526" y="0"/>
                      <a:pt x="19608947" y="0"/>
                    </a:cubicBezTo>
                    <a:close/>
                  </a:path>
                </a:pathLst>
              </a:custGeom>
              <a:solidFill>
                <a:srgbClr val="64E688">
                  <a:alpha val="49804"/>
                </a:srgbClr>
              </a:solidFill>
            </p:spPr>
          </p:sp>
        </p:grpSp>
        <p:sp>
          <p:nvSpPr>
            <p:cNvPr name="TextBox 6" id="6"/>
            <p:cNvSpPr txBox="true"/>
            <p:nvPr/>
          </p:nvSpPr>
          <p:spPr>
            <a:xfrm rot="0">
              <a:off x="320518" y="3325103"/>
              <a:ext cx="6111413"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FAST-DOUBLING</a:t>
              </a:r>
            </a:p>
          </p:txBody>
        </p:sp>
        <p:sp>
          <p:nvSpPr>
            <p:cNvPr name="TextBox 7" id="7"/>
            <p:cNvSpPr txBox="true"/>
            <p:nvPr/>
          </p:nvSpPr>
          <p:spPr>
            <a:xfrm rot="0">
              <a:off x="0" y="4750764"/>
              <a:ext cx="8472424" cy="17830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Việc</a:t>
              </a:r>
              <a:r>
                <a:rPr lang="en-US" sz="2400">
                  <a:solidFill>
                    <a:srgbClr val="FFFFFF"/>
                  </a:solidFill>
                  <a:latin typeface="Clear Sans"/>
                  <a:ea typeface="Clear Sans"/>
                  <a:cs typeface="Clear Sans"/>
                  <a:sym typeface="Clear Sans"/>
                </a:rPr>
                <a:t> tính số Fibonacci thứ 1.000.000 chỉ mất 0,04 giây so với 8.44 giây của phương pháp lặp.</a:t>
              </a:r>
            </a:p>
          </p:txBody>
        </p:sp>
      </p:grpSp>
      <p:sp>
        <p:nvSpPr>
          <p:cNvPr name="Freeform 8" id="8"/>
          <p:cNvSpPr/>
          <p:nvPr/>
        </p:nvSpPr>
        <p:spPr>
          <a:xfrm flipH="false" flipV="false" rot="0">
            <a:off x="7255700" y="2348605"/>
            <a:ext cx="10854475" cy="4172291"/>
          </a:xfrm>
          <a:custGeom>
            <a:avLst/>
            <a:gdLst/>
            <a:ahLst/>
            <a:cxnLst/>
            <a:rect r="r" b="b" t="t" l="l"/>
            <a:pathLst>
              <a:path h="4172291" w="10854475">
                <a:moveTo>
                  <a:pt x="0" y="0"/>
                </a:moveTo>
                <a:lnTo>
                  <a:pt x="10854475" y="0"/>
                </a:lnTo>
                <a:lnTo>
                  <a:pt x="10854475" y="4172290"/>
                </a:lnTo>
                <a:lnTo>
                  <a:pt x="0" y="4172290"/>
                </a:lnTo>
                <a:lnTo>
                  <a:pt x="0" y="0"/>
                </a:lnTo>
                <a:close/>
              </a:path>
            </a:pathLst>
          </a:custGeom>
          <a:blipFill>
            <a:blip r:embed="rId2"/>
            <a:stretch>
              <a:fillRect l="0" t="0" r="0" b="0"/>
            </a:stretch>
          </a:blipFill>
        </p:spPr>
      </p:sp>
      <p:sp>
        <p:nvSpPr>
          <p:cNvPr name="Freeform 9" id="9"/>
          <p:cNvSpPr/>
          <p:nvPr/>
        </p:nvSpPr>
        <p:spPr>
          <a:xfrm flipH="false" flipV="false" rot="0">
            <a:off x="8323963" y="7082573"/>
            <a:ext cx="9786212" cy="1254012"/>
          </a:xfrm>
          <a:custGeom>
            <a:avLst/>
            <a:gdLst/>
            <a:ahLst/>
            <a:cxnLst/>
            <a:rect r="r" b="b" t="t" l="l"/>
            <a:pathLst>
              <a:path h="1254012" w="9786212">
                <a:moveTo>
                  <a:pt x="0" y="0"/>
                </a:moveTo>
                <a:lnTo>
                  <a:pt x="9786212" y="0"/>
                </a:lnTo>
                <a:lnTo>
                  <a:pt x="9786212" y="1254012"/>
                </a:lnTo>
                <a:lnTo>
                  <a:pt x="0" y="1254012"/>
                </a:lnTo>
                <a:lnTo>
                  <a:pt x="0" y="0"/>
                </a:lnTo>
                <a:close/>
              </a:path>
            </a:pathLst>
          </a:custGeom>
          <a:blipFill>
            <a:blip r:embed="rId3"/>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901383" y="2552021"/>
            <a:ext cx="6354318" cy="5414733"/>
            <a:chOff x="0" y="0"/>
            <a:chExt cx="8472424" cy="7219644"/>
          </a:xfrm>
        </p:grpSpPr>
        <p:sp>
          <p:nvSpPr>
            <p:cNvPr name="TextBox 3" id="3"/>
            <p:cNvSpPr txBox="true"/>
            <p:nvPr/>
          </p:nvSpPr>
          <p:spPr>
            <a:xfrm rot="0">
              <a:off x="0" y="-95250"/>
              <a:ext cx="8472424" cy="1074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không gian</a:t>
              </a:r>
            </a:p>
          </p:txBody>
        </p:sp>
        <p:grpSp>
          <p:nvGrpSpPr>
            <p:cNvPr name="Group 4" id="4"/>
            <p:cNvGrpSpPr/>
            <p:nvPr/>
          </p:nvGrpSpPr>
          <p:grpSpPr>
            <a:xfrm rot="0">
              <a:off x="0" y="1873011"/>
              <a:ext cx="6759255" cy="1196034"/>
              <a:chOff x="0" y="0"/>
              <a:chExt cx="19733407" cy="3491780"/>
            </a:xfrm>
          </p:grpSpPr>
          <p:sp>
            <p:nvSpPr>
              <p:cNvPr name="Freeform 5" id="5"/>
              <p:cNvSpPr/>
              <p:nvPr/>
            </p:nvSpPr>
            <p:spPr>
              <a:xfrm flipH="false" flipV="false" rot="0">
                <a:off x="0" y="0"/>
                <a:ext cx="19733406" cy="3491780"/>
              </a:xfrm>
              <a:custGeom>
                <a:avLst/>
                <a:gdLst/>
                <a:ahLst/>
                <a:cxnLst/>
                <a:rect r="r" b="b" t="t" l="l"/>
                <a:pathLst>
                  <a:path h="3491780" w="19733406">
                    <a:moveTo>
                      <a:pt x="19608947" y="59690"/>
                    </a:moveTo>
                    <a:cubicBezTo>
                      <a:pt x="19644506" y="59690"/>
                      <a:pt x="19673717" y="88900"/>
                      <a:pt x="19673717" y="124460"/>
                    </a:cubicBezTo>
                    <a:lnTo>
                      <a:pt x="19673717" y="3367320"/>
                    </a:lnTo>
                    <a:cubicBezTo>
                      <a:pt x="19673717" y="3402880"/>
                      <a:pt x="19644506" y="3432090"/>
                      <a:pt x="19608947" y="3432090"/>
                    </a:cubicBezTo>
                    <a:lnTo>
                      <a:pt x="124460" y="3432090"/>
                    </a:lnTo>
                    <a:cubicBezTo>
                      <a:pt x="88900" y="3432090"/>
                      <a:pt x="59690" y="3402880"/>
                      <a:pt x="59690" y="3367320"/>
                    </a:cubicBezTo>
                    <a:lnTo>
                      <a:pt x="59690" y="124460"/>
                    </a:lnTo>
                    <a:cubicBezTo>
                      <a:pt x="59690" y="88900"/>
                      <a:pt x="88900" y="59690"/>
                      <a:pt x="124460" y="59690"/>
                    </a:cubicBezTo>
                    <a:lnTo>
                      <a:pt x="19608947" y="59690"/>
                    </a:lnTo>
                    <a:moveTo>
                      <a:pt x="19608947" y="0"/>
                    </a:moveTo>
                    <a:lnTo>
                      <a:pt x="124460" y="0"/>
                    </a:lnTo>
                    <a:cubicBezTo>
                      <a:pt x="55880" y="0"/>
                      <a:pt x="0" y="55880"/>
                      <a:pt x="0" y="124460"/>
                    </a:cubicBezTo>
                    <a:lnTo>
                      <a:pt x="0" y="3367320"/>
                    </a:lnTo>
                    <a:cubicBezTo>
                      <a:pt x="0" y="3435900"/>
                      <a:pt x="55880" y="3491780"/>
                      <a:pt x="124460" y="3491780"/>
                    </a:cubicBezTo>
                    <a:lnTo>
                      <a:pt x="19608947" y="3491780"/>
                    </a:lnTo>
                    <a:cubicBezTo>
                      <a:pt x="19677526" y="3491780"/>
                      <a:pt x="19733406" y="3435900"/>
                      <a:pt x="19733406" y="3367320"/>
                    </a:cubicBezTo>
                    <a:lnTo>
                      <a:pt x="19733406" y="124460"/>
                    </a:lnTo>
                    <a:cubicBezTo>
                      <a:pt x="19733406" y="55880"/>
                      <a:pt x="19677526" y="0"/>
                      <a:pt x="19608947" y="0"/>
                    </a:cubicBezTo>
                    <a:close/>
                  </a:path>
                </a:pathLst>
              </a:custGeom>
              <a:solidFill>
                <a:srgbClr val="64E688">
                  <a:alpha val="49804"/>
                </a:srgbClr>
              </a:solidFill>
            </p:spPr>
          </p:sp>
        </p:grpSp>
        <p:sp>
          <p:nvSpPr>
            <p:cNvPr name="TextBox 6" id="6"/>
            <p:cNvSpPr txBox="true"/>
            <p:nvPr/>
          </p:nvSpPr>
          <p:spPr>
            <a:xfrm rot="0">
              <a:off x="320518" y="2182103"/>
              <a:ext cx="6111413"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CHUNKING</a:t>
              </a:r>
            </a:p>
          </p:txBody>
        </p:sp>
        <p:sp>
          <p:nvSpPr>
            <p:cNvPr name="TextBox 7" id="7"/>
            <p:cNvSpPr txBox="true"/>
            <p:nvPr/>
          </p:nvSpPr>
          <p:spPr>
            <a:xfrm rot="0">
              <a:off x="0" y="3607764"/>
              <a:ext cx="8472424" cy="36118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Với yêu cầu</a:t>
              </a:r>
              <a:r>
                <a:rPr lang="en-US" sz="2400">
                  <a:solidFill>
                    <a:srgbClr val="FFFFFF"/>
                  </a:solidFill>
                  <a:latin typeface="Clear Sans"/>
                  <a:ea typeface="Clear Sans"/>
                  <a:cs typeface="Clear Sans"/>
                  <a:sym typeface="Clear Sans"/>
                </a:rPr>
                <a:t> xử lý ma trận 100.000 x 100.000 nhưng chỉ có 5GB RAM, LLM hiểu rằng việc tải toàn bộ dữ liệu là bất khả thi.</a:t>
              </a:r>
            </a:p>
            <a:p>
              <a:pPr algn="l">
                <a:lnSpc>
                  <a:spcPts val="3600"/>
                </a:lnSpc>
              </a:pPr>
            </a:p>
            <a:p>
              <a:pPr algn="l">
                <a:lnSpc>
                  <a:spcPts val="3600"/>
                </a:lnSpc>
              </a:pPr>
              <a:r>
                <a:rPr lang="en-US" sz="2400">
                  <a:solidFill>
                    <a:srgbClr val="FFFFFF"/>
                  </a:solidFill>
                  <a:latin typeface="Clear Sans"/>
                  <a:ea typeface="Clear Sans"/>
                  <a:cs typeface="Clear Sans"/>
                  <a:sym typeface="Clear Sans"/>
                </a:rPr>
                <a:t>Chia nhỏ bài toán (Chunking) bằng tham số chunksize=1000 trong pd.read_csv </a:t>
              </a:r>
            </a:p>
          </p:txBody>
        </p:sp>
      </p:grpSp>
      <p:sp>
        <p:nvSpPr>
          <p:cNvPr name="Freeform 8" id="8"/>
          <p:cNvSpPr/>
          <p:nvPr/>
        </p:nvSpPr>
        <p:spPr>
          <a:xfrm flipH="false" flipV="false" rot="0">
            <a:off x="8923200" y="2274196"/>
            <a:ext cx="8872863" cy="5970384"/>
          </a:xfrm>
          <a:custGeom>
            <a:avLst/>
            <a:gdLst/>
            <a:ahLst/>
            <a:cxnLst/>
            <a:rect r="r" b="b" t="t" l="l"/>
            <a:pathLst>
              <a:path h="5970384" w="8872863">
                <a:moveTo>
                  <a:pt x="0" y="0"/>
                </a:moveTo>
                <a:lnTo>
                  <a:pt x="8872863" y="0"/>
                </a:lnTo>
                <a:lnTo>
                  <a:pt x="8872863" y="5970383"/>
                </a:lnTo>
                <a:lnTo>
                  <a:pt x="0" y="5970383"/>
                </a:lnTo>
                <a:lnTo>
                  <a:pt x="0" y="0"/>
                </a:lnTo>
                <a:close/>
              </a:path>
            </a:pathLst>
          </a:custGeom>
          <a:blipFill>
            <a:blip r:embed="rId2"/>
            <a:stretch>
              <a:fillRect l="0" t="0" r="0" b="0"/>
            </a:stretch>
          </a:blipFill>
        </p:spPr>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901383" y="2552021"/>
            <a:ext cx="6354318" cy="5414733"/>
            <a:chOff x="0" y="0"/>
            <a:chExt cx="8472424" cy="7219644"/>
          </a:xfrm>
        </p:grpSpPr>
        <p:sp>
          <p:nvSpPr>
            <p:cNvPr name="TextBox 3" id="3"/>
            <p:cNvSpPr txBox="true"/>
            <p:nvPr/>
          </p:nvSpPr>
          <p:spPr>
            <a:xfrm rot="0">
              <a:off x="0" y="-95250"/>
              <a:ext cx="8472424" cy="1074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không gian</a:t>
              </a:r>
            </a:p>
          </p:txBody>
        </p:sp>
        <p:grpSp>
          <p:nvGrpSpPr>
            <p:cNvPr name="Group 4" id="4"/>
            <p:cNvGrpSpPr/>
            <p:nvPr/>
          </p:nvGrpSpPr>
          <p:grpSpPr>
            <a:xfrm rot="0">
              <a:off x="0" y="1873011"/>
              <a:ext cx="6759255" cy="1196034"/>
              <a:chOff x="0" y="0"/>
              <a:chExt cx="19733407" cy="3491780"/>
            </a:xfrm>
          </p:grpSpPr>
          <p:sp>
            <p:nvSpPr>
              <p:cNvPr name="Freeform 5" id="5"/>
              <p:cNvSpPr/>
              <p:nvPr/>
            </p:nvSpPr>
            <p:spPr>
              <a:xfrm flipH="false" flipV="false" rot="0">
                <a:off x="0" y="0"/>
                <a:ext cx="19733406" cy="3491780"/>
              </a:xfrm>
              <a:custGeom>
                <a:avLst/>
                <a:gdLst/>
                <a:ahLst/>
                <a:cxnLst/>
                <a:rect r="r" b="b" t="t" l="l"/>
                <a:pathLst>
                  <a:path h="3491780" w="19733406">
                    <a:moveTo>
                      <a:pt x="19608947" y="59690"/>
                    </a:moveTo>
                    <a:cubicBezTo>
                      <a:pt x="19644506" y="59690"/>
                      <a:pt x="19673717" y="88900"/>
                      <a:pt x="19673717" y="124460"/>
                    </a:cubicBezTo>
                    <a:lnTo>
                      <a:pt x="19673717" y="3367320"/>
                    </a:lnTo>
                    <a:cubicBezTo>
                      <a:pt x="19673717" y="3402880"/>
                      <a:pt x="19644506" y="3432090"/>
                      <a:pt x="19608947" y="3432090"/>
                    </a:cubicBezTo>
                    <a:lnTo>
                      <a:pt x="124460" y="3432090"/>
                    </a:lnTo>
                    <a:cubicBezTo>
                      <a:pt x="88900" y="3432090"/>
                      <a:pt x="59690" y="3402880"/>
                      <a:pt x="59690" y="3367320"/>
                    </a:cubicBezTo>
                    <a:lnTo>
                      <a:pt x="59690" y="124460"/>
                    </a:lnTo>
                    <a:cubicBezTo>
                      <a:pt x="59690" y="88900"/>
                      <a:pt x="88900" y="59690"/>
                      <a:pt x="124460" y="59690"/>
                    </a:cubicBezTo>
                    <a:lnTo>
                      <a:pt x="19608947" y="59690"/>
                    </a:lnTo>
                    <a:moveTo>
                      <a:pt x="19608947" y="0"/>
                    </a:moveTo>
                    <a:lnTo>
                      <a:pt x="124460" y="0"/>
                    </a:lnTo>
                    <a:cubicBezTo>
                      <a:pt x="55880" y="0"/>
                      <a:pt x="0" y="55880"/>
                      <a:pt x="0" y="124460"/>
                    </a:cubicBezTo>
                    <a:lnTo>
                      <a:pt x="0" y="3367320"/>
                    </a:lnTo>
                    <a:cubicBezTo>
                      <a:pt x="0" y="3435900"/>
                      <a:pt x="55880" y="3491780"/>
                      <a:pt x="124460" y="3491780"/>
                    </a:cubicBezTo>
                    <a:lnTo>
                      <a:pt x="19608947" y="3491780"/>
                    </a:lnTo>
                    <a:cubicBezTo>
                      <a:pt x="19677526" y="3491780"/>
                      <a:pt x="19733406" y="3435900"/>
                      <a:pt x="19733406" y="3367320"/>
                    </a:cubicBezTo>
                    <a:lnTo>
                      <a:pt x="19733406" y="124460"/>
                    </a:lnTo>
                    <a:cubicBezTo>
                      <a:pt x="19733406" y="55880"/>
                      <a:pt x="19677526" y="0"/>
                      <a:pt x="19608947" y="0"/>
                    </a:cubicBezTo>
                    <a:close/>
                  </a:path>
                </a:pathLst>
              </a:custGeom>
              <a:solidFill>
                <a:srgbClr val="64E688">
                  <a:alpha val="49804"/>
                </a:srgbClr>
              </a:solidFill>
            </p:spPr>
          </p:sp>
        </p:grpSp>
        <p:sp>
          <p:nvSpPr>
            <p:cNvPr name="TextBox 6" id="6"/>
            <p:cNvSpPr txBox="true"/>
            <p:nvPr/>
          </p:nvSpPr>
          <p:spPr>
            <a:xfrm rot="0">
              <a:off x="320518" y="2182103"/>
              <a:ext cx="6111413"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CHUNKING</a:t>
              </a:r>
            </a:p>
          </p:txBody>
        </p:sp>
        <p:sp>
          <p:nvSpPr>
            <p:cNvPr name="TextBox 7" id="7"/>
            <p:cNvSpPr txBox="true"/>
            <p:nvPr/>
          </p:nvSpPr>
          <p:spPr>
            <a:xfrm rot="0">
              <a:off x="0" y="3607764"/>
              <a:ext cx="8472424" cy="36118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Với yêu cầu</a:t>
              </a:r>
              <a:r>
                <a:rPr lang="en-US" sz="2400">
                  <a:solidFill>
                    <a:srgbClr val="FFFFFF"/>
                  </a:solidFill>
                  <a:latin typeface="Clear Sans"/>
                  <a:ea typeface="Clear Sans"/>
                  <a:cs typeface="Clear Sans"/>
                  <a:sym typeface="Clear Sans"/>
                </a:rPr>
                <a:t> xử lý ma trận 100.000 x 100.000 nhưng chỉ có 5GB RAM, LLM hiểu rằng việc tải toàn bộ dữ liệu là bất khả thi.</a:t>
              </a:r>
            </a:p>
            <a:p>
              <a:pPr algn="l">
                <a:lnSpc>
                  <a:spcPts val="3600"/>
                </a:lnSpc>
              </a:pPr>
            </a:p>
            <a:p>
              <a:pPr algn="l">
                <a:lnSpc>
                  <a:spcPts val="3600"/>
                </a:lnSpc>
              </a:pPr>
              <a:r>
                <a:rPr lang="en-US" sz="2400">
                  <a:solidFill>
                    <a:srgbClr val="FFFFFF"/>
                  </a:solidFill>
                  <a:latin typeface="Clear Sans"/>
                  <a:ea typeface="Clear Sans"/>
                  <a:cs typeface="Clear Sans"/>
                  <a:sym typeface="Clear Sans"/>
                </a:rPr>
                <a:t>Chia nhỏ bài toán (Chunking) bằng tham số chunksize=1000 trong pd.read_csv </a:t>
              </a:r>
            </a:p>
          </p:txBody>
        </p:sp>
      </p:grpSp>
      <p:sp>
        <p:nvSpPr>
          <p:cNvPr name="Freeform 8" id="8"/>
          <p:cNvSpPr/>
          <p:nvPr/>
        </p:nvSpPr>
        <p:spPr>
          <a:xfrm flipH="false" flipV="false" rot="0">
            <a:off x="7518498" y="2339219"/>
            <a:ext cx="10622003" cy="5840337"/>
          </a:xfrm>
          <a:custGeom>
            <a:avLst/>
            <a:gdLst/>
            <a:ahLst/>
            <a:cxnLst/>
            <a:rect r="r" b="b" t="t" l="l"/>
            <a:pathLst>
              <a:path h="5840337" w="10622003">
                <a:moveTo>
                  <a:pt x="0" y="0"/>
                </a:moveTo>
                <a:lnTo>
                  <a:pt x="10622003" y="0"/>
                </a:lnTo>
                <a:lnTo>
                  <a:pt x="10622003" y="5840337"/>
                </a:lnTo>
                <a:lnTo>
                  <a:pt x="0" y="5840337"/>
                </a:lnTo>
                <a:lnTo>
                  <a:pt x="0" y="0"/>
                </a:lnTo>
                <a:close/>
              </a:path>
            </a:pathLst>
          </a:custGeom>
          <a:blipFill>
            <a:blip r:embed="rId2"/>
            <a:stretch>
              <a:fillRect l="0" t="0" r="0" b="0"/>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901383" y="2552021"/>
            <a:ext cx="6354318" cy="5414733"/>
            <a:chOff x="0" y="0"/>
            <a:chExt cx="8472424" cy="7219644"/>
          </a:xfrm>
        </p:grpSpPr>
        <p:sp>
          <p:nvSpPr>
            <p:cNvPr name="TextBox 3" id="3"/>
            <p:cNvSpPr txBox="true"/>
            <p:nvPr/>
          </p:nvSpPr>
          <p:spPr>
            <a:xfrm rot="0">
              <a:off x="0" y="-95250"/>
              <a:ext cx="8472424" cy="1074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không gian</a:t>
              </a:r>
            </a:p>
          </p:txBody>
        </p:sp>
        <p:grpSp>
          <p:nvGrpSpPr>
            <p:cNvPr name="Group 4" id="4"/>
            <p:cNvGrpSpPr/>
            <p:nvPr/>
          </p:nvGrpSpPr>
          <p:grpSpPr>
            <a:xfrm rot="0">
              <a:off x="0" y="1873011"/>
              <a:ext cx="6759255" cy="1196034"/>
              <a:chOff x="0" y="0"/>
              <a:chExt cx="19733407" cy="3491780"/>
            </a:xfrm>
          </p:grpSpPr>
          <p:sp>
            <p:nvSpPr>
              <p:cNvPr name="Freeform 5" id="5"/>
              <p:cNvSpPr/>
              <p:nvPr/>
            </p:nvSpPr>
            <p:spPr>
              <a:xfrm flipH="false" flipV="false" rot="0">
                <a:off x="0" y="0"/>
                <a:ext cx="19733406" cy="3491780"/>
              </a:xfrm>
              <a:custGeom>
                <a:avLst/>
                <a:gdLst/>
                <a:ahLst/>
                <a:cxnLst/>
                <a:rect r="r" b="b" t="t" l="l"/>
                <a:pathLst>
                  <a:path h="3491780" w="19733406">
                    <a:moveTo>
                      <a:pt x="19608947" y="59690"/>
                    </a:moveTo>
                    <a:cubicBezTo>
                      <a:pt x="19644506" y="59690"/>
                      <a:pt x="19673717" y="88900"/>
                      <a:pt x="19673717" y="124460"/>
                    </a:cubicBezTo>
                    <a:lnTo>
                      <a:pt x="19673717" y="3367320"/>
                    </a:lnTo>
                    <a:cubicBezTo>
                      <a:pt x="19673717" y="3402880"/>
                      <a:pt x="19644506" y="3432090"/>
                      <a:pt x="19608947" y="3432090"/>
                    </a:cubicBezTo>
                    <a:lnTo>
                      <a:pt x="124460" y="3432090"/>
                    </a:lnTo>
                    <a:cubicBezTo>
                      <a:pt x="88900" y="3432090"/>
                      <a:pt x="59690" y="3402880"/>
                      <a:pt x="59690" y="3367320"/>
                    </a:cubicBezTo>
                    <a:lnTo>
                      <a:pt x="59690" y="124460"/>
                    </a:lnTo>
                    <a:cubicBezTo>
                      <a:pt x="59690" y="88900"/>
                      <a:pt x="88900" y="59690"/>
                      <a:pt x="124460" y="59690"/>
                    </a:cubicBezTo>
                    <a:lnTo>
                      <a:pt x="19608947" y="59690"/>
                    </a:lnTo>
                    <a:moveTo>
                      <a:pt x="19608947" y="0"/>
                    </a:moveTo>
                    <a:lnTo>
                      <a:pt x="124460" y="0"/>
                    </a:lnTo>
                    <a:cubicBezTo>
                      <a:pt x="55880" y="0"/>
                      <a:pt x="0" y="55880"/>
                      <a:pt x="0" y="124460"/>
                    </a:cubicBezTo>
                    <a:lnTo>
                      <a:pt x="0" y="3367320"/>
                    </a:lnTo>
                    <a:cubicBezTo>
                      <a:pt x="0" y="3435900"/>
                      <a:pt x="55880" y="3491780"/>
                      <a:pt x="124460" y="3491780"/>
                    </a:cubicBezTo>
                    <a:lnTo>
                      <a:pt x="19608947" y="3491780"/>
                    </a:lnTo>
                    <a:cubicBezTo>
                      <a:pt x="19677526" y="3491780"/>
                      <a:pt x="19733406" y="3435900"/>
                      <a:pt x="19733406" y="3367320"/>
                    </a:cubicBezTo>
                    <a:lnTo>
                      <a:pt x="19733406" y="124460"/>
                    </a:lnTo>
                    <a:cubicBezTo>
                      <a:pt x="19733406" y="55880"/>
                      <a:pt x="19677526" y="0"/>
                      <a:pt x="19608947" y="0"/>
                    </a:cubicBezTo>
                    <a:close/>
                  </a:path>
                </a:pathLst>
              </a:custGeom>
              <a:solidFill>
                <a:srgbClr val="64E688">
                  <a:alpha val="49804"/>
                </a:srgbClr>
              </a:solidFill>
            </p:spPr>
          </p:sp>
        </p:grpSp>
        <p:sp>
          <p:nvSpPr>
            <p:cNvPr name="TextBox 6" id="6"/>
            <p:cNvSpPr txBox="true"/>
            <p:nvPr/>
          </p:nvSpPr>
          <p:spPr>
            <a:xfrm rot="0">
              <a:off x="320518" y="2182103"/>
              <a:ext cx="6111413"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CHUNKING</a:t>
              </a:r>
            </a:p>
          </p:txBody>
        </p:sp>
        <p:sp>
          <p:nvSpPr>
            <p:cNvPr name="TextBox 7" id="7"/>
            <p:cNvSpPr txBox="true"/>
            <p:nvPr/>
          </p:nvSpPr>
          <p:spPr>
            <a:xfrm rot="0">
              <a:off x="0" y="3607764"/>
              <a:ext cx="8472424" cy="36118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Với yêu cầu</a:t>
              </a:r>
              <a:r>
                <a:rPr lang="en-US" sz="2400">
                  <a:solidFill>
                    <a:srgbClr val="FFFFFF"/>
                  </a:solidFill>
                  <a:latin typeface="Clear Sans"/>
                  <a:ea typeface="Clear Sans"/>
                  <a:cs typeface="Clear Sans"/>
                  <a:sym typeface="Clear Sans"/>
                </a:rPr>
                <a:t> xử lý ma trận 100.000 x 100.000 nhưng chỉ có 5GB RAM, LLM hiểu rằng việc tải toàn bộ dữ liệu là bất khả thi.</a:t>
              </a:r>
            </a:p>
            <a:p>
              <a:pPr algn="l">
                <a:lnSpc>
                  <a:spcPts val="3600"/>
                </a:lnSpc>
              </a:pPr>
            </a:p>
            <a:p>
              <a:pPr algn="l">
                <a:lnSpc>
                  <a:spcPts val="3600"/>
                </a:lnSpc>
              </a:pPr>
              <a:r>
                <a:rPr lang="en-US" sz="2400">
                  <a:solidFill>
                    <a:srgbClr val="FFFFFF"/>
                  </a:solidFill>
                  <a:latin typeface="Clear Sans"/>
                  <a:ea typeface="Clear Sans"/>
                  <a:cs typeface="Clear Sans"/>
                  <a:sym typeface="Clear Sans"/>
                </a:rPr>
                <a:t>Chia nhỏ bài toán (Chunking) bằng tham số chunksize=1000 trong pd.read_csv </a:t>
              </a:r>
            </a:p>
          </p:txBody>
        </p:sp>
      </p:grpSp>
      <p:sp>
        <p:nvSpPr>
          <p:cNvPr name="Freeform 8" id="8"/>
          <p:cNvSpPr/>
          <p:nvPr/>
        </p:nvSpPr>
        <p:spPr>
          <a:xfrm flipH="false" flipV="false" rot="0">
            <a:off x="8624337" y="2230213"/>
            <a:ext cx="8895431" cy="6058350"/>
          </a:xfrm>
          <a:custGeom>
            <a:avLst/>
            <a:gdLst/>
            <a:ahLst/>
            <a:cxnLst/>
            <a:rect r="r" b="b" t="t" l="l"/>
            <a:pathLst>
              <a:path h="6058350" w="8895431">
                <a:moveTo>
                  <a:pt x="0" y="0"/>
                </a:moveTo>
                <a:lnTo>
                  <a:pt x="8895431" y="0"/>
                </a:lnTo>
                <a:lnTo>
                  <a:pt x="8895431" y="6058349"/>
                </a:lnTo>
                <a:lnTo>
                  <a:pt x="0" y="6058349"/>
                </a:lnTo>
                <a:lnTo>
                  <a:pt x="0" y="0"/>
                </a:lnTo>
                <a:close/>
              </a:path>
            </a:pathLst>
          </a:custGeom>
          <a:blipFill>
            <a:blip r:embed="rId2"/>
            <a:stretch>
              <a:fillRect l="0" t="0" r="0" b="0"/>
            </a:stretch>
          </a:blipFill>
        </p:spPr>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901383" y="2552021"/>
            <a:ext cx="6354318" cy="5414733"/>
            <a:chOff x="0" y="0"/>
            <a:chExt cx="8472424" cy="7219644"/>
          </a:xfrm>
        </p:grpSpPr>
        <p:sp>
          <p:nvSpPr>
            <p:cNvPr name="TextBox 3" id="3"/>
            <p:cNvSpPr txBox="true"/>
            <p:nvPr/>
          </p:nvSpPr>
          <p:spPr>
            <a:xfrm rot="0">
              <a:off x="0" y="-95250"/>
              <a:ext cx="8472424" cy="1074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Tối</a:t>
              </a:r>
              <a:r>
                <a:rPr lang="en-US" sz="4825" b="true">
                  <a:solidFill>
                    <a:srgbClr val="64E688"/>
                  </a:solidFill>
                  <a:latin typeface="Fira Sans Ultra-Bold"/>
                  <a:ea typeface="Fira Sans Ultra-Bold"/>
                  <a:cs typeface="Fira Sans Ultra-Bold"/>
                  <a:sym typeface="Fira Sans Ultra-Bold"/>
                </a:rPr>
                <a:t> ưu hóa không gian</a:t>
              </a:r>
            </a:p>
          </p:txBody>
        </p:sp>
        <p:grpSp>
          <p:nvGrpSpPr>
            <p:cNvPr name="Group 4" id="4"/>
            <p:cNvGrpSpPr/>
            <p:nvPr/>
          </p:nvGrpSpPr>
          <p:grpSpPr>
            <a:xfrm rot="0">
              <a:off x="0" y="1873011"/>
              <a:ext cx="6759255" cy="1196034"/>
              <a:chOff x="0" y="0"/>
              <a:chExt cx="19733407" cy="3491780"/>
            </a:xfrm>
          </p:grpSpPr>
          <p:sp>
            <p:nvSpPr>
              <p:cNvPr name="Freeform 5" id="5"/>
              <p:cNvSpPr/>
              <p:nvPr/>
            </p:nvSpPr>
            <p:spPr>
              <a:xfrm flipH="false" flipV="false" rot="0">
                <a:off x="0" y="0"/>
                <a:ext cx="19733406" cy="3491780"/>
              </a:xfrm>
              <a:custGeom>
                <a:avLst/>
                <a:gdLst/>
                <a:ahLst/>
                <a:cxnLst/>
                <a:rect r="r" b="b" t="t" l="l"/>
                <a:pathLst>
                  <a:path h="3491780" w="19733406">
                    <a:moveTo>
                      <a:pt x="19608947" y="59690"/>
                    </a:moveTo>
                    <a:cubicBezTo>
                      <a:pt x="19644506" y="59690"/>
                      <a:pt x="19673717" y="88900"/>
                      <a:pt x="19673717" y="124460"/>
                    </a:cubicBezTo>
                    <a:lnTo>
                      <a:pt x="19673717" y="3367320"/>
                    </a:lnTo>
                    <a:cubicBezTo>
                      <a:pt x="19673717" y="3402880"/>
                      <a:pt x="19644506" y="3432090"/>
                      <a:pt x="19608947" y="3432090"/>
                    </a:cubicBezTo>
                    <a:lnTo>
                      <a:pt x="124460" y="3432090"/>
                    </a:lnTo>
                    <a:cubicBezTo>
                      <a:pt x="88900" y="3432090"/>
                      <a:pt x="59690" y="3402880"/>
                      <a:pt x="59690" y="3367320"/>
                    </a:cubicBezTo>
                    <a:lnTo>
                      <a:pt x="59690" y="124460"/>
                    </a:lnTo>
                    <a:cubicBezTo>
                      <a:pt x="59690" y="88900"/>
                      <a:pt x="88900" y="59690"/>
                      <a:pt x="124460" y="59690"/>
                    </a:cubicBezTo>
                    <a:lnTo>
                      <a:pt x="19608947" y="59690"/>
                    </a:lnTo>
                    <a:moveTo>
                      <a:pt x="19608947" y="0"/>
                    </a:moveTo>
                    <a:lnTo>
                      <a:pt x="124460" y="0"/>
                    </a:lnTo>
                    <a:cubicBezTo>
                      <a:pt x="55880" y="0"/>
                      <a:pt x="0" y="55880"/>
                      <a:pt x="0" y="124460"/>
                    </a:cubicBezTo>
                    <a:lnTo>
                      <a:pt x="0" y="3367320"/>
                    </a:lnTo>
                    <a:cubicBezTo>
                      <a:pt x="0" y="3435900"/>
                      <a:pt x="55880" y="3491780"/>
                      <a:pt x="124460" y="3491780"/>
                    </a:cubicBezTo>
                    <a:lnTo>
                      <a:pt x="19608947" y="3491780"/>
                    </a:lnTo>
                    <a:cubicBezTo>
                      <a:pt x="19677526" y="3491780"/>
                      <a:pt x="19733406" y="3435900"/>
                      <a:pt x="19733406" y="3367320"/>
                    </a:cubicBezTo>
                    <a:lnTo>
                      <a:pt x="19733406" y="124460"/>
                    </a:lnTo>
                    <a:cubicBezTo>
                      <a:pt x="19733406" y="55880"/>
                      <a:pt x="19677526" y="0"/>
                      <a:pt x="19608947" y="0"/>
                    </a:cubicBezTo>
                    <a:close/>
                  </a:path>
                </a:pathLst>
              </a:custGeom>
              <a:solidFill>
                <a:srgbClr val="64E688">
                  <a:alpha val="49804"/>
                </a:srgbClr>
              </a:solidFill>
            </p:spPr>
          </p:sp>
        </p:grpSp>
        <p:sp>
          <p:nvSpPr>
            <p:cNvPr name="TextBox 6" id="6"/>
            <p:cNvSpPr txBox="true"/>
            <p:nvPr/>
          </p:nvSpPr>
          <p:spPr>
            <a:xfrm rot="0">
              <a:off x="320518" y="2182103"/>
              <a:ext cx="6111413" cy="587375"/>
            </a:xfrm>
            <a:prstGeom prst="rect">
              <a:avLst/>
            </a:prstGeom>
          </p:spPr>
          <p:txBody>
            <a:bodyPr anchor="t" rtlCol="false" tIns="0" lIns="0" bIns="0" rIns="0">
              <a:spAutoFit/>
            </a:bodyPr>
            <a:lstStyle/>
            <a:p>
              <a:pPr algn="l">
                <a:lnSpc>
                  <a:spcPts val="3599"/>
                </a:lnSpc>
              </a:pPr>
              <a:r>
                <a:rPr lang="en-US" sz="2999">
                  <a:solidFill>
                    <a:srgbClr val="FFFFFF"/>
                  </a:solidFill>
                  <a:latin typeface="Clear Sans"/>
                  <a:ea typeface="Clear Sans"/>
                  <a:cs typeface="Clear Sans"/>
                  <a:sym typeface="Clear Sans"/>
                </a:rPr>
                <a:t>CHUNKING</a:t>
              </a:r>
            </a:p>
          </p:txBody>
        </p:sp>
        <p:sp>
          <p:nvSpPr>
            <p:cNvPr name="TextBox 7" id="7"/>
            <p:cNvSpPr txBox="true"/>
            <p:nvPr/>
          </p:nvSpPr>
          <p:spPr>
            <a:xfrm rot="0">
              <a:off x="0" y="3607764"/>
              <a:ext cx="8472424" cy="3611880"/>
            </a:xfrm>
            <a:prstGeom prst="rect">
              <a:avLst/>
            </a:prstGeom>
          </p:spPr>
          <p:txBody>
            <a:bodyPr anchor="t" rtlCol="false" tIns="0" lIns="0" bIns="0" rIns="0">
              <a:spAutoFit/>
            </a:bodyPr>
            <a:lstStyle/>
            <a:p>
              <a:pPr algn="l">
                <a:lnSpc>
                  <a:spcPts val="3600"/>
                </a:lnSpc>
              </a:pPr>
              <a:r>
                <a:rPr lang="en-US" sz="2400">
                  <a:solidFill>
                    <a:srgbClr val="FFFFFF"/>
                  </a:solidFill>
                  <a:latin typeface="Clear Sans"/>
                  <a:ea typeface="Clear Sans"/>
                  <a:cs typeface="Clear Sans"/>
                  <a:sym typeface="Clear Sans"/>
                </a:rPr>
                <a:t>Với yêu cầu</a:t>
              </a:r>
              <a:r>
                <a:rPr lang="en-US" sz="2400">
                  <a:solidFill>
                    <a:srgbClr val="FFFFFF"/>
                  </a:solidFill>
                  <a:latin typeface="Clear Sans"/>
                  <a:ea typeface="Clear Sans"/>
                  <a:cs typeface="Clear Sans"/>
                  <a:sym typeface="Clear Sans"/>
                </a:rPr>
                <a:t> xử lý ma trận 100.000 x 100.000 nhưng chỉ có 5GB RAM, LLM hiểu rằng việc tải toàn bộ dữ liệu là bất khả thi.</a:t>
              </a:r>
            </a:p>
            <a:p>
              <a:pPr algn="l">
                <a:lnSpc>
                  <a:spcPts val="3600"/>
                </a:lnSpc>
              </a:pPr>
            </a:p>
            <a:p>
              <a:pPr algn="l">
                <a:lnSpc>
                  <a:spcPts val="3600"/>
                </a:lnSpc>
              </a:pPr>
              <a:r>
                <a:rPr lang="en-US" sz="2400">
                  <a:solidFill>
                    <a:srgbClr val="FFFFFF"/>
                  </a:solidFill>
                  <a:latin typeface="Clear Sans"/>
                  <a:ea typeface="Clear Sans"/>
                  <a:cs typeface="Clear Sans"/>
                  <a:sym typeface="Clear Sans"/>
                </a:rPr>
                <a:t>Chia nhỏ bài toán (Chunking) bằng tham số chunksize=1000 trong pd.read_csv </a:t>
              </a:r>
            </a:p>
          </p:txBody>
        </p:sp>
      </p:grpSp>
      <p:sp>
        <p:nvSpPr>
          <p:cNvPr name="Freeform 8" id="8"/>
          <p:cNvSpPr/>
          <p:nvPr/>
        </p:nvSpPr>
        <p:spPr>
          <a:xfrm flipH="false" flipV="false" rot="0">
            <a:off x="8396240" y="2321805"/>
            <a:ext cx="9685119" cy="6342467"/>
          </a:xfrm>
          <a:custGeom>
            <a:avLst/>
            <a:gdLst/>
            <a:ahLst/>
            <a:cxnLst/>
            <a:rect r="r" b="b" t="t" l="l"/>
            <a:pathLst>
              <a:path h="6342467" w="9685119">
                <a:moveTo>
                  <a:pt x="0" y="0"/>
                </a:moveTo>
                <a:lnTo>
                  <a:pt x="9685119" y="0"/>
                </a:lnTo>
                <a:lnTo>
                  <a:pt x="9685119" y="6342467"/>
                </a:lnTo>
                <a:lnTo>
                  <a:pt x="0" y="6342467"/>
                </a:lnTo>
                <a:lnTo>
                  <a:pt x="0" y="0"/>
                </a:lnTo>
                <a:close/>
              </a:path>
            </a:pathLst>
          </a:custGeom>
          <a:blipFill>
            <a:blip r:embed="rId2"/>
            <a:stretch>
              <a:fillRect l="0" t="0" r="0"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6866682"/>
            <a:ext cx="16230600" cy="2391618"/>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028700" y="2411272"/>
            <a:ext cx="11667464" cy="2352787"/>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ĐƯA</a:t>
            </a:r>
            <a:r>
              <a:rPr lang="en-US" sz="7749" b="true">
                <a:solidFill>
                  <a:srgbClr val="64E688"/>
                </a:solidFill>
                <a:latin typeface="Fira Sans Ultra-Bold"/>
                <a:ea typeface="Fira Sans Ultra-Bold"/>
                <a:cs typeface="Fira Sans Ultra-Bold"/>
                <a:sym typeface="Fira Sans Ultra-Bold"/>
              </a:rPr>
              <a:t> GenAI VÀO</a:t>
            </a:r>
            <a:r>
              <a:rPr lang="en-US" sz="7749" b="true">
                <a:solidFill>
                  <a:srgbClr val="64E688"/>
                </a:solidFill>
                <a:latin typeface="Fira Sans Ultra-Bold"/>
                <a:ea typeface="Fira Sans Ultra-Bold"/>
                <a:cs typeface="Fira Sans Ultra-Bold"/>
                <a:sym typeface="Fira Sans Ultra-Bold"/>
              </a:rPr>
              <a:t> HOẠT ĐỘNG</a:t>
            </a:r>
          </a:p>
        </p:txBody>
      </p:sp>
      <p:sp>
        <p:nvSpPr>
          <p:cNvPr name="TextBox 6" id="6"/>
          <p:cNvSpPr txBox="true"/>
          <p:nvPr/>
        </p:nvSpPr>
        <p:spPr>
          <a:xfrm rot="0">
            <a:off x="1594692" y="7748166"/>
            <a:ext cx="1509861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GHI NHẬT KÝ, GIÁM SÁT VÀ LỖI</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231200" y="627266"/>
            <a:ext cx="12601533" cy="1856866"/>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594692" y="1280150"/>
            <a:ext cx="1509861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GHI NHẬT KÝ, GIÁM SÁT VÀ LỖI</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5237310" y="1251460"/>
            <a:ext cx="7813380" cy="7784080"/>
          </a:xfrm>
          <a:custGeom>
            <a:avLst/>
            <a:gdLst/>
            <a:ahLst/>
            <a:cxnLst/>
            <a:rect r="r" b="b" t="t" l="l"/>
            <a:pathLst>
              <a:path h="7784080" w="7813380">
                <a:moveTo>
                  <a:pt x="0" y="0"/>
                </a:moveTo>
                <a:lnTo>
                  <a:pt x="7813380" y="0"/>
                </a:lnTo>
                <a:lnTo>
                  <a:pt x="7813380" y="7784080"/>
                </a:lnTo>
                <a:lnTo>
                  <a:pt x="0" y="7784080"/>
                </a:lnTo>
                <a:lnTo>
                  <a:pt x="0" y="0"/>
                </a:lnTo>
                <a:close/>
              </a:path>
            </a:pathLst>
          </a:custGeom>
          <a:blipFill>
            <a:blip r:embed="rId2">
              <a:alphaModFix amt="12000"/>
            </a:blip>
            <a:stretch>
              <a:fillRect l="0" t="0" r="0" b="0"/>
            </a:stretch>
          </a:blipFill>
        </p:spPr>
      </p:sp>
      <p:grpSp>
        <p:nvGrpSpPr>
          <p:cNvPr name="Group 3" id="3"/>
          <p:cNvGrpSpPr/>
          <p:nvPr/>
        </p:nvGrpSpPr>
        <p:grpSpPr>
          <a:xfrm rot="0">
            <a:off x="2652177" y="3757225"/>
            <a:ext cx="12983647" cy="2772551"/>
            <a:chOff x="0" y="0"/>
            <a:chExt cx="17311529" cy="3696734"/>
          </a:xfrm>
        </p:grpSpPr>
        <p:sp>
          <p:nvSpPr>
            <p:cNvPr name="TextBox 4" id="4"/>
            <p:cNvSpPr txBox="true"/>
            <p:nvPr/>
          </p:nvSpPr>
          <p:spPr>
            <a:xfrm rot="0">
              <a:off x="0" y="-9525"/>
              <a:ext cx="17311529" cy="1635125"/>
            </a:xfrm>
            <a:prstGeom prst="rect">
              <a:avLst/>
            </a:prstGeom>
          </p:spPr>
          <p:txBody>
            <a:bodyPr anchor="t" rtlCol="false" tIns="0" lIns="0" bIns="0" rIns="0">
              <a:spAutoFit/>
            </a:bodyPr>
            <a:lstStyle/>
            <a:p>
              <a:pPr algn="ctr">
                <a:lnSpc>
                  <a:spcPts val="9600"/>
                </a:lnSpc>
              </a:pPr>
              <a:r>
                <a:rPr lang="en-US" b="true" sz="8000">
                  <a:solidFill>
                    <a:srgbClr val="FFFFFF"/>
                  </a:solidFill>
                  <a:latin typeface="Fira Sans Bold"/>
                  <a:ea typeface="Fira Sans Bold"/>
                  <a:cs typeface="Fira Sans Bold"/>
                  <a:sym typeface="Fira Sans Bold"/>
                </a:rPr>
                <a:t>Các khái niệm cốt lõi</a:t>
              </a:r>
            </a:p>
          </p:txBody>
        </p:sp>
        <p:sp>
          <p:nvSpPr>
            <p:cNvPr name="TextBox 5" id="5"/>
            <p:cNvSpPr txBox="true"/>
            <p:nvPr/>
          </p:nvSpPr>
          <p:spPr>
            <a:xfrm rot="0">
              <a:off x="0" y="3029984"/>
              <a:ext cx="17311529" cy="666750"/>
            </a:xfrm>
            <a:prstGeom prst="rect">
              <a:avLst/>
            </a:prstGeom>
          </p:spPr>
          <p:txBody>
            <a:bodyPr anchor="t" rtlCol="false" tIns="0" lIns="0" bIns="0" rIns="0">
              <a:spAutoFit/>
            </a:bodyPr>
            <a:lstStyle/>
            <a:p>
              <a:pPr algn="ctr">
                <a:lnSpc>
                  <a:spcPts val="4200"/>
                </a:lnSpc>
              </a:pPr>
              <a:r>
                <a:rPr lang="en-US" b="true" sz="3000">
                  <a:solidFill>
                    <a:srgbClr val="64E688"/>
                  </a:solidFill>
                  <a:latin typeface="Clear Sans Medium"/>
                  <a:ea typeface="Clear Sans Medium"/>
                  <a:cs typeface="Clear Sans Medium"/>
                  <a:sym typeface="Clear Sans Medium"/>
                </a:rPr>
                <a:t>Bài toán Fizz Buzz</a:t>
              </a:r>
            </a:p>
          </p:txBody>
        </p:sp>
        <p:sp>
          <p:nvSpPr>
            <p:cNvPr name="AutoShape 6" id="6"/>
            <p:cNvSpPr/>
            <p:nvPr/>
          </p:nvSpPr>
          <p:spPr>
            <a:xfrm>
              <a:off x="0" y="2356367"/>
              <a:ext cx="17311529"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0">
            <a:off x="15363440" y="560457"/>
            <a:ext cx="2308255" cy="2100512"/>
          </a:xfrm>
          <a:custGeom>
            <a:avLst/>
            <a:gdLst/>
            <a:ahLst/>
            <a:cxnLst/>
            <a:rect r="r" b="b" t="t" l="l"/>
            <a:pathLst>
              <a:path h="2100512" w="2308255">
                <a:moveTo>
                  <a:pt x="0" y="0"/>
                </a:moveTo>
                <a:lnTo>
                  <a:pt x="2308255" y="0"/>
                </a:lnTo>
                <a:lnTo>
                  <a:pt x="2308255" y="2100512"/>
                </a:lnTo>
                <a:lnTo>
                  <a:pt x="0" y="2100512"/>
                </a:lnTo>
                <a:lnTo>
                  <a:pt x="0" y="0"/>
                </a:lnTo>
                <a:close/>
              </a:path>
            </a:pathLst>
          </a:custGeom>
          <a:blipFill>
            <a:blip r:embed="rId3"/>
            <a:stretch>
              <a:fillRect l="0" t="0" r="0" b="0"/>
            </a:stretch>
          </a:blipFill>
        </p:spPr>
      </p:sp>
      <p:sp>
        <p:nvSpPr>
          <p:cNvPr name="Freeform 8" id="8"/>
          <p:cNvSpPr/>
          <p:nvPr/>
        </p:nvSpPr>
        <p:spPr>
          <a:xfrm flipH="false" flipV="false" rot="0">
            <a:off x="882225" y="8681592"/>
            <a:ext cx="2421194" cy="2230525"/>
          </a:xfrm>
          <a:custGeom>
            <a:avLst/>
            <a:gdLst/>
            <a:ahLst/>
            <a:cxnLst/>
            <a:rect r="r" b="b" t="t" l="l"/>
            <a:pathLst>
              <a:path h="2230525" w="2421194">
                <a:moveTo>
                  <a:pt x="0" y="0"/>
                </a:moveTo>
                <a:lnTo>
                  <a:pt x="2421194" y="0"/>
                </a:lnTo>
                <a:lnTo>
                  <a:pt x="2421194" y="2230525"/>
                </a:lnTo>
                <a:lnTo>
                  <a:pt x="0" y="2230525"/>
                </a:lnTo>
                <a:lnTo>
                  <a:pt x="0" y="0"/>
                </a:lnTo>
                <a:close/>
              </a:path>
            </a:pathLst>
          </a:custGeom>
          <a:blipFill>
            <a:blip r:embed="rId4"/>
            <a:stretch>
              <a:fillRect l="0" t="0" r="0" b="0"/>
            </a:stretch>
          </a:blipFill>
        </p:spPr>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5237310" y="1251460"/>
            <a:ext cx="7813380" cy="7784080"/>
          </a:xfrm>
          <a:custGeom>
            <a:avLst/>
            <a:gdLst/>
            <a:ahLst/>
            <a:cxnLst/>
            <a:rect r="r" b="b" t="t" l="l"/>
            <a:pathLst>
              <a:path h="7784080" w="7813380">
                <a:moveTo>
                  <a:pt x="0" y="0"/>
                </a:moveTo>
                <a:lnTo>
                  <a:pt x="7813380" y="0"/>
                </a:lnTo>
                <a:lnTo>
                  <a:pt x="7813380" y="7784080"/>
                </a:lnTo>
                <a:lnTo>
                  <a:pt x="0" y="7784080"/>
                </a:lnTo>
                <a:lnTo>
                  <a:pt x="0" y="0"/>
                </a:lnTo>
                <a:close/>
              </a:path>
            </a:pathLst>
          </a:custGeom>
          <a:blipFill>
            <a:blip r:embed="rId2">
              <a:alphaModFix amt="12000"/>
            </a:blip>
            <a:stretch>
              <a:fillRect l="0" t="0" r="0" b="0"/>
            </a:stretch>
          </a:blipFill>
        </p:spPr>
      </p:sp>
      <p:grpSp>
        <p:nvGrpSpPr>
          <p:cNvPr name="Group 3" id="3"/>
          <p:cNvGrpSpPr/>
          <p:nvPr/>
        </p:nvGrpSpPr>
        <p:grpSpPr>
          <a:xfrm rot="0">
            <a:off x="2379793" y="560457"/>
            <a:ext cx="12983647" cy="2772551"/>
            <a:chOff x="0" y="0"/>
            <a:chExt cx="17311529" cy="3696734"/>
          </a:xfrm>
        </p:grpSpPr>
        <p:sp>
          <p:nvSpPr>
            <p:cNvPr name="TextBox 4" id="4"/>
            <p:cNvSpPr txBox="true"/>
            <p:nvPr/>
          </p:nvSpPr>
          <p:spPr>
            <a:xfrm rot="0">
              <a:off x="0" y="-9525"/>
              <a:ext cx="17311529" cy="1635125"/>
            </a:xfrm>
            <a:prstGeom prst="rect">
              <a:avLst/>
            </a:prstGeom>
          </p:spPr>
          <p:txBody>
            <a:bodyPr anchor="t" rtlCol="false" tIns="0" lIns="0" bIns="0" rIns="0">
              <a:spAutoFit/>
            </a:bodyPr>
            <a:lstStyle/>
            <a:p>
              <a:pPr algn="ctr">
                <a:lnSpc>
                  <a:spcPts val="9600"/>
                </a:lnSpc>
              </a:pPr>
              <a:r>
                <a:rPr lang="en-US" b="true" sz="8000">
                  <a:solidFill>
                    <a:srgbClr val="FFFFFF"/>
                  </a:solidFill>
                  <a:latin typeface="Fira Sans Bold"/>
                  <a:ea typeface="Fira Sans Bold"/>
                  <a:cs typeface="Fira Sans Bold"/>
                  <a:sym typeface="Fira Sans Bold"/>
                </a:rPr>
                <a:t>Bài toán Fizz Buzz</a:t>
              </a:r>
            </a:p>
          </p:txBody>
        </p:sp>
        <p:sp>
          <p:nvSpPr>
            <p:cNvPr name="TextBox 5" id="5"/>
            <p:cNvSpPr txBox="true"/>
            <p:nvPr/>
          </p:nvSpPr>
          <p:spPr>
            <a:xfrm rot="0">
              <a:off x="0" y="3029984"/>
              <a:ext cx="17311529" cy="666750"/>
            </a:xfrm>
            <a:prstGeom prst="rect">
              <a:avLst/>
            </a:prstGeom>
          </p:spPr>
          <p:txBody>
            <a:bodyPr anchor="t" rtlCol="false" tIns="0" lIns="0" bIns="0" rIns="0">
              <a:spAutoFit/>
            </a:bodyPr>
            <a:lstStyle/>
            <a:p>
              <a:pPr algn="ctr">
                <a:lnSpc>
                  <a:spcPts val="4200"/>
                </a:lnSpc>
              </a:pPr>
            </a:p>
          </p:txBody>
        </p:sp>
        <p:sp>
          <p:nvSpPr>
            <p:cNvPr name="AutoShape 6" id="6"/>
            <p:cNvSpPr/>
            <p:nvPr/>
          </p:nvSpPr>
          <p:spPr>
            <a:xfrm>
              <a:off x="0" y="2356367"/>
              <a:ext cx="17311529"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0">
            <a:off x="15363440" y="560457"/>
            <a:ext cx="2308255" cy="2100512"/>
          </a:xfrm>
          <a:custGeom>
            <a:avLst/>
            <a:gdLst/>
            <a:ahLst/>
            <a:cxnLst/>
            <a:rect r="r" b="b" t="t" l="l"/>
            <a:pathLst>
              <a:path h="2100512" w="2308255">
                <a:moveTo>
                  <a:pt x="0" y="0"/>
                </a:moveTo>
                <a:lnTo>
                  <a:pt x="2308255" y="0"/>
                </a:lnTo>
                <a:lnTo>
                  <a:pt x="2308255" y="2100512"/>
                </a:lnTo>
                <a:lnTo>
                  <a:pt x="0" y="2100512"/>
                </a:lnTo>
                <a:lnTo>
                  <a:pt x="0" y="0"/>
                </a:lnTo>
                <a:close/>
              </a:path>
            </a:pathLst>
          </a:custGeom>
          <a:blipFill>
            <a:blip r:embed="rId3"/>
            <a:stretch>
              <a:fillRect l="0" t="0" r="0" b="0"/>
            </a:stretch>
          </a:blipFill>
        </p:spPr>
      </p:sp>
      <p:sp>
        <p:nvSpPr>
          <p:cNvPr name="Freeform 8" id="8"/>
          <p:cNvSpPr/>
          <p:nvPr/>
        </p:nvSpPr>
        <p:spPr>
          <a:xfrm flipH="false" flipV="false" rot="0">
            <a:off x="882225" y="8681592"/>
            <a:ext cx="2421194" cy="2230525"/>
          </a:xfrm>
          <a:custGeom>
            <a:avLst/>
            <a:gdLst/>
            <a:ahLst/>
            <a:cxnLst/>
            <a:rect r="r" b="b" t="t" l="l"/>
            <a:pathLst>
              <a:path h="2230525" w="2421194">
                <a:moveTo>
                  <a:pt x="0" y="0"/>
                </a:moveTo>
                <a:lnTo>
                  <a:pt x="2421194" y="0"/>
                </a:lnTo>
                <a:lnTo>
                  <a:pt x="2421194" y="2230525"/>
                </a:lnTo>
                <a:lnTo>
                  <a:pt x="0" y="2230525"/>
                </a:lnTo>
                <a:lnTo>
                  <a:pt x="0" y="0"/>
                </a:lnTo>
                <a:close/>
              </a:path>
            </a:pathLst>
          </a:custGeom>
          <a:blipFill>
            <a:blip r:embed="rId4"/>
            <a:stretch>
              <a:fillRect l="0" t="0" r="0" b="0"/>
            </a:stretch>
          </a:blipFill>
        </p:spPr>
      </p:sp>
      <p:sp>
        <p:nvSpPr>
          <p:cNvPr name="Freeform 9" id="9"/>
          <p:cNvSpPr/>
          <p:nvPr/>
        </p:nvSpPr>
        <p:spPr>
          <a:xfrm flipH="false" flipV="false" rot="0">
            <a:off x="2379793" y="2660969"/>
            <a:ext cx="7742044" cy="5192158"/>
          </a:xfrm>
          <a:custGeom>
            <a:avLst/>
            <a:gdLst/>
            <a:ahLst/>
            <a:cxnLst/>
            <a:rect r="r" b="b" t="t" l="l"/>
            <a:pathLst>
              <a:path h="5192158" w="7742044">
                <a:moveTo>
                  <a:pt x="0" y="0"/>
                </a:moveTo>
                <a:lnTo>
                  <a:pt x="7742044" y="0"/>
                </a:lnTo>
                <a:lnTo>
                  <a:pt x="7742044" y="5192158"/>
                </a:lnTo>
                <a:lnTo>
                  <a:pt x="0" y="5192158"/>
                </a:lnTo>
                <a:lnTo>
                  <a:pt x="0" y="0"/>
                </a:lnTo>
                <a:close/>
              </a:path>
            </a:pathLst>
          </a:custGeom>
          <a:blipFill>
            <a:blip r:embed="rId5"/>
            <a:stretch>
              <a:fillRect l="0" t="0" r="0" b="0"/>
            </a:stretch>
          </a:blipFill>
        </p:spPr>
      </p:sp>
      <p:sp>
        <p:nvSpPr>
          <p:cNvPr name="TextBox 10" id="10"/>
          <p:cNvSpPr txBox="true"/>
          <p:nvPr/>
        </p:nvSpPr>
        <p:spPr>
          <a:xfrm rot="0">
            <a:off x="10601685" y="2777438"/>
            <a:ext cx="4898009" cy="4247492"/>
          </a:xfrm>
          <a:prstGeom prst="rect">
            <a:avLst/>
          </a:prstGeom>
        </p:spPr>
        <p:txBody>
          <a:bodyPr anchor="t" rtlCol="false" tIns="0" lIns="0" bIns="0" rIns="0">
            <a:spAutoFit/>
          </a:bodyPr>
          <a:lstStyle/>
          <a:p>
            <a:pPr algn="just">
              <a:lnSpc>
                <a:spcPts val="4236"/>
              </a:lnSpc>
              <a:spcBef>
                <a:spcPct val="0"/>
              </a:spcBef>
            </a:pPr>
            <a:r>
              <a:rPr lang="en-US" b="true" sz="3025">
                <a:solidFill>
                  <a:srgbClr val="FFFFFF"/>
                </a:solidFill>
                <a:latin typeface="Clear Sans Medium"/>
                <a:ea typeface="Clear Sans Medium"/>
                <a:cs typeface="Clear Sans Medium"/>
                <a:sym typeface="Clear Sans Medium"/>
              </a:rPr>
              <a:t>I</a:t>
            </a:r>
            <a:r>
              <a:rPr lang="en-US" b="true" sz="3025">
                <a:solidFill>
                  <a:srgbClr val="FFFFFF"/>
                </a:solidFill>
                <a:latin typeface="Clear Sans Medium"/>
                <a:ea typeface="Clear Sans Medium"/>
                <a:cs typeface="Clear Sans Medium"/>
                <a:sym typeface="Clear Sans Medium"/>
              </a:rPr>
              <a:t>n các số từ 1 đến n và thay số:</a:t>
            </a:r>
          </a:p>
          <a:p>
            <a:pPr algn="l" marL="653291" indent="-326646" lvl="1">
              <a:lnSpc>
                <a:spcPts val="4236"/>
              </a:lnSpc>
              <a:buFont typeface="Arial"/>
              <a:buChar char="•"/>
            </a:pPr>
            <a:r>
              <a:rPr lang="en-US" b="true" sz="3025">
                <a:solidFill>
                  <a:srgbClr val="FFFFFF"/>
                </a:solidFill>
                <a:latin typeface="Clear Sans Medium"/>
                <a:ea typeface="Clear Sans Medium"/>
                <a:cs typeface="Clear Sans Medium"/>
                <a:sym typeface="Clear Sans Medium"/>
              </a:rPr>
              <a:t>C</a:t>
            </a:r>
            <a:r>
              <a:rPr lang="en-US" b="true" sz="3025">
                <a:solidFill>
                  <a:srgbClr val="FFFFFF"/>
                </a:solidFill>
                <a:latin typeface="Clear Sans Medium"/>
                <a:ea typeface="Clear Sans Medium"/>
                <a:cs typeface="Clear Sans Medium"/>
                <a:sym typeface="Clear Sans Medium"/>
              </a:rPr>
              <a:t>hia hết cho 3 bằng "Fizz"</a:t>
            </a:r>
          </a:p>
          <a:p>
            <a:pPr algn="l" marL="653291" indent="-326646" lvl="1">
              <a:lnSpc>
                <a:spcPts val="4236"/>
              </a:lnSpc>
              <a:buFont typeface="Arial"/>
              <a:buChar char="•"/>
            </a:pPr>
            <a:r>
              <a:rPr lang="en-US" b="true" sz="3025">
                <a:solidFill>
                  <a:srgbClr val="FFFFFF"/>
                </a:solidFill>
                <a:latin typeface="Clear Sans Medium"/>
                <a:ea typeface="Clear Sans Medium"/>
                <a:cs typeface="Clear Sans Medium"/>
                <a:sym typeface="Clear Sans Medium"/>
              </a:rPr>
              <a:t>Chia hết cho 5 bằng "Buzz"</a:t>
            </a:r>
          </a:p>
          <a:p>
            <a:pPr algn="l" marL="653291" indent="-326646" lvl="1">
              <a:lnSpc>
                <a:spcPts val="4236"/>
              </a:lnSpc>
              <a:buFont typeface="Arial"/>
              <a:buChar char="•"/>
            </a:pPr>
            <a:r>
              <a:rPr lang="en-US" b="true" sz="3025">
                <a:solidFill>
                  <a:srgbClr val="FFFFFF"/>
                </a:solidFill>
                <a:latin typeface="Clear Sans Medium"/>
                <a:ea typeface="Clear Sans Medium"/>
                <a:cs typeface="Clear Sans Medium"/>
                <a:sym typeface="Clear Sans Medium"/>
              </a:rPr>
              <a:t>Chia hết cho cả 3 và 5 bằng "FizzBuzz".</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5237310" y="1251460"/>
            <a:ext cx="7813380" cy="7784080"/>
          </a:xfrm>
          <a:custGeom>
            <a:avLst/>
            <a:gdLst/>
            <a:ahLst/>
            <a:cxnLst/>
            <a:rect r="r" b="b" t="t" l="l"/>
            <a:pathLst>
              <a:path h="7784080" w="7813380">
                <a:moveTo>
                  <a:pt x="0" y="0"/>
                </a:moveTo>
                <a:lnTo>
                  <a:pt x="7813380" y="0"/>
                </a:lnTo>
                <a:lnTo>
                  <a:pt x="7813380" y="7784080"/>
                </a:lnTo>
                <a:lnTo>
                  <a:pt x="0" y="7784080"/>
                </a:lnTo>
                <a:lnTo>
                  <a:pt x="0" y="0"/>
                </a:lnTo>
                <a:close/>
              </a:path>
            </a:pathLst>
          </a:custGeom>
          <a:blipFill>
            <a:blip r:embed="rId2">
              <a:alphaModFix amt="12000"/>
            </a:blip>
            <a:stretch>
              <a:fillRect l="0" t="0" r="0" b="0"/>
            </a:stretch>
          </a:blipFill>
        </p:spPr>
      </p:sp>
      <p:grpSp>
        <p:nvGrpSpPr>
          <p:cNvPr name="Group 3" id="3"/>
          <p:cNvGrpSpPr/>
          <p:nvPr/>
        </p:nvGrpSpPr>
        <p:grpSpPr>
          <a:xfrm rot="0">
            <a:off x="-499957" y="222250"/>
            <a:ext cx="13773397" cy="2776925"/>
            <a:chOff x="0" y="0"/>
            <a:chExt cx="18364529" cy="3702567"/>
          </a:xfrm>
        </p:grpSpPr>
        <p:sp>
          <p:nvSpPr>
            <p:cNvPr name="TextBox 4" id="4"/>
            <p:cNvSpPr txBox="true"/>
            <p:nvPr/>
          </p:nvSpPr>
          <p:spPr>
            <a:xfrm rot="0">
              <a:off x="0" y="-9525"/>
              <a:ext cx="15951312" cy="1635125"/>
            </a:xfrm>
            <a:prstGeom prst="rect">
              <a:avLst/>
            </a:prstGeom>
          </p:spPr>
          <p:txBody>
            <a:bodyPr anchor="t" rtlCol="false" tIns="0" lIns="0" bIns="0" rIns="0">
              <a:spAutoFit/>
            </a:bodyPr>
            <a:lstStyle/>
            <a:p>
              <a:pPr algn="ctr">
                <a:lnSpc>
                  <a:spcPts val="9600"/>
                </a:lnSpc>
              </a:pPr>
              <a:r>
                <a:rPr lang="en-US" b="true" sz="8000">
                  <a:solidFill>
                    <a:srgbClr val="FFFFFF"/>
                  </a:solidFill>
                  <a:latin typeface="Fira Sans Bold"/>
                  <a:ea typeface="Fira Sans Bold"/>
                  <a:cs typeface="Fira Sans Bold"/>
                  <a:sym typeface="Fira Sans Bold"/>
                </a:rPr>
                <a:t>Bài toán Fizz Buzz</a:t>
              </a:r>
            </a:p>
          </p:txBody>
        </p:sp>
        <p:sp>
          <p:nvSpPr>
            <p:cNvPr name="TextBox 5" id="5"/>
            <p:cNvSpPr txBox="true"/>
            <p:nvPr/>
          </p:nvSpPr>
          <p:spPr>
            <a:xfrm rot="0">
              <a:off x="2413217" y="3035817"/>
              <a:ext cx="15951312" cy="666750"/>
            </a:xfrm>
            <a:prstGeom prst="rect">
              <a:avLst/>
            </a:prstGeom>
          </p:spPr>
          <p:txBody>
            <a:bodyPr anchor="t" rtlCol="false" tIns="0" lIns="0" bIns="0" rIns="0">
              <a:spAutoFit/>
            </a:bodyPr>
            <a:lstStyle/>
            <a:p>
              <a:pPr algn="ctr">
                <a:lnSpc>
                  <a:spcPts val="4200"/>
                </a:lnSpc>
              </a:pPr>
            </a:p>
          </p:txBody>
        </p:sp>
        <p:sp>
          <p:nvSpPr>
            <p:cNvPr name="AutoShape 6" id="6"/>
            <p:cNvSpPr/>
            <p:nvPr/>
          </p:nvSpPr>
          <p:spPr>
            <a:xfrm>
              <a:off x="2413217" y="2359284"/>
              <a:ext cx="7554360"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0">
            <a:off x="15363440" y="560457"/>
            <a:ext cx="2308255" cy="2100512"/>
          </a:xfrm>
          <a:custGeom>
            <a:avLst/>
            <a:gdLst/>
            <a:ahLst/>
            <a:cxnLst/>
            <a:rect r="r" b="b" t="t" l="l"/>
            <a:pathLst>
              <a:path h="2100512" w="2308255">
                <a:moveTo>
                  <a:pt x="0" y="0"/>
                </a:moveTo>
                <a:lnTo>
                  <a:pt x="2308255" y="0"/>
                </a:lnTo>
                <a:lnTo>
                  <a:pt x="2308255" y="2100512"/>
                </a:lnTo>
                <a:lnTo>
                  <a:pt x="0" y="2100512"/>
                </a:lnTo>
                <a:lnTo>
                  <a:pt x="0" y="0"/>
                </a:lnTo>
                <a:close/>
              </a:path>
            </a:pathLst>
          </a:custGeom>
          <a:blipFill>
            <a:blip r:embed="rId3"/>
            <a:stretch>
              <a:fillRect l="0" t="0" r="0" b="0"/>
            </a:stretch>
          </a:blipFill>
        </p:spPr>
      </p:sp>
      <p:sp>
        <p:nvSpPr>
          <p:cNvPr name="Freeform 8" id="8"/>
          <p:cNvSpPr/>
          <p:nvPr/>
        </p:nvSpPr>
        <p:spPr>
          <a:xfrm flipH="false" flipV="false" rot="0">
            <a:off x="882225" y="8681592"/>
            <a:ext cx="2421194" cy="2230525"/>
          </a:xfrm>
          <a:custGeom>
            <a:avLst/>
            <a:gdLst/>
            <a:ahLst/>
            <a:cxnLst/>
            <a:rect r="r" b="b" t="t" l="l"/>
            <a:pathLst>
              <a:path h="2230525" w="2421194">
                <a:moveTo>
                  <a:pt x="0" y="0"/>
                </a:moveTo>
                <a:lnTo>
                  <a:pt x="2421194" y="0"/>
                </a:lnTo>
                <a:lnTo>
                  <a:pt x="2421194" y="2230525"/>
                </a:lnTo>
                <a:lnTo>
                  <a:pt x="0" y="2230525"/>
                </a:lnTo>
                <a:lnTo>
                  <a:pt x="0" y="0"/>
                </a:lnTo>
                <a:close/>
              </a:path>
            </a:pathLst>
          </a:custGeom>
          <a:blipFill>
            <a:blip r:embed="rId4"/>
            <a:stretch>
              <a:fillRect l="0" t="0" r="0" b="0"/>
            </a:stretch>
          </a:blipFill>
        </p:spPr>
      </p:sp>
      <p:sp>
        <p:nvSpPr>
          <p:cNvPr name="Freeform 9" id="9"/>
          <p:cNvSpPr/>
          <p:nvPr/>
        </p:nvSpPr>
        <p:spPr>
          <a:xfrm flipH="false" flipV="false" rot="0">
            <a:off x="10053173" y="1251460"/>
            <a:ext cx="7343275" cy="8475083"/>
          </a:xfrm>
          <a:custGeom>
            <a:avLst/>
            <a:gdLst/>
            <a:ahLst/>
            <a:cxnLst/>
            <a:rect r="r" b="b" t="t" l="l"/>
            <a:pathLst>
              <a:path h="8475083" w="7343275">
                <a:moveTo>
                  <a:pt x="0" y="0"/>
                </a:moveTo>
                <a:lnTo>
                  <a:pt x="7343275" y="0"/>
                </a:lnTo>
                <a:lnTo>
                  <a:pt x="7343275" y="8475083"/>
                </a:lnTo>
                <a:lnTo>
                  <a:pt x="0" y="8475083"/>
                </a:lnTo>
                <a:lnTo>
                  <a:pt x="0" y="0"/>
                </a:lnTo>
                <a:close/>
              </a:path>
            </a:pathLst>
          </a:custGeom>
          <a:blipFill>
            <a:blip r:embed="rId5"/>
            <a:stretch>
              <a:fillRect l="0" t="0" r="0" b="0"/>
            </a:stretch>
          </a:blipFill>
        </p:spPr>
      </p:sp>
      <p:sp>
        <p:nvSpPr>
          <p:cNvPr name="TextBox 10" id="10"/>
          <p:cNvSpPr txBox="true"/>
          <p:nvPr/>
        </p:nvSpPr>
        <p:spPr>
          <a:xfrm rot="0">
            <a:off x="1488732" y="2942026"/>
            <a:ext cx="4898009" cy="3714092"/>
          </a:xfrm>
          <a:prstGeom prst="rect">
            <a:avLst/>
          </a:prstGeom>
        </p:spPr>
        <p:txBody>
          <a:bodyPr anchor="t" rtlCol="false" tIns="0" lIns="0" bIns="0" rIns="0">
            <a:spAutoFit/>
          </a:bodyPr>
          <a:lstStyle/>
          <a:p>
            <a:pPr algn="l">
              <a:lnSpc>
                <a:spcPts val="4236"/>
              </a:lnSpc>
            </a:pPr>
            <a:r>
              <a:rPr lang="en-US" sz="3025" b="true">
                <a:solidFill>
                  <a:srgbClr val="FFFFFF"/>
                </a:solidFill>
                <a:latin typeface="Clear Sans Medium"/>
                <a:ea typeface="Clear Sans Medium"/>
                <a:cs typeface="Clear Sans Medium"/>
                <a:sym typeface="Clear Sans Medium"/>
              </a:rPr>
              <a:t>Business logic, logging, error handling và monitoring trộn lẫn nhau.</a:t>
            </a:r>
          </a:p>
          <a:p>
            <a:pPr algn="l">
              <a:lnSpc>
                <a:spcPts val="4236"/>
              </a:lnSpc>
            </a:pPr>
          </a:p>
          <a:p>
            <a:pPr algn="l">
              <a:lnSpc>
                <a:spcPts val="4236"/>
              </a:lnSpc>
            </a:pPr>
            <a:r>
              <a:rPr lang="en-US" sz="3025" b="true">
                <a:solidFill>
                  <a:srgbClr val="FFFFFF"/>
                </a:solidFill>
                <a:latin typeface="Clear Sans Medium"/>
                <a:ea typeface="Clear Sans Medium"/>
                <a:cs typeface="Clear Sans Medium"/>
                <a:sym typeface="Clear Sans Medium"/>
              </a:rPr>
              <a:t>=&gt; Vi phạm nguyên tắc Single Responsibility Principle (SRP).</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graphicFrame>
        <p:nvGraphicFramePr>
          <p:cNvPr name="Object 3" id="3"/>
          <p:cNvGraphicFramePr/>
          <p:nvPr/>
        </p:nvGraphicFramePr>
        <p:xfrm>
          <a:off x="786852" y="3217950"/>
          <a:ext cx="8601075" cy="2514600"/>
        </p:xfrm>
        <a:graphic>
          <a:graphicData uri="http://schemas.openxmlformats.org/presentationml/2006/ole">
            <p:oleObj imgW="10325100" imgH="42291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4" id="4"/>
          <p:cNvGrpSpPr/>
          <p:nvPr/>
        </p:nvGrpSpPr>
        <p:grpSpPr>
          <a:xfrm rot="0">
            <a:off x="1028700" y="1287681"/>
            <a:ext cx="12084767" cy="866337"/>
            <a:chOff x="0" y="0"/>
            <a:chExt cx="16113022" cy="1155117"/>
          </a:xfrm>
        </p:grpSpPr>
        <p:sp>
          <p:nvSpPr>
            <p:cNvPr name="TextBox 5" id="5"/>
            <p:cNvSpPr txBox="true"/>
            <p:nvPr/>
          </p:nvSpPr>
          <p:spPr>
            <a:xfrm rot="0">
              <a:off x="0" y="-9525"/>
              <a:ext cx="16113022" cy="14446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Ba</a:t>
              </a:r>
              <a:r>
                <a:rPr lang="en-US" sz="7099" b="true">
                  <a:solidFill>
                    <a:srgbClr val="64E688"/>
                  </a:solidFill>
                  <a:latin typeface="Fira Sans Ultra-Bold"/>
                  <a:ea typeface="Fira Sans Ultra-Bold"/>
                  <a:cs typeface="Fira Sans Ultra-Bold"/>
                  <a:sym typeface="Fira Sans Ultra-Bold"/>
                </a:rPr>
                <a:t> thành phần Production</a:t>
              </a:r>
            </a:p>
          </p:txBody>
        </p:sp>
        <p:sp>
          <p:nvSpPr>
            <p:cNvPr name="TextBox 6" id="6"/>
            <p:cNvSpPr txBox="true"/>
            <p:nvPr/>
          </p:nvSpPr>
          <p:spPr>
            <a:xfrm rot="0">
              <a:off x="0" y="1786942"/>
              <a:ext cx="16113022" cy="587375"/>
            </a:xfrm>
            <a:prstGeom prst="rect">
              <a:avLst/>
            </a:prstGeom>
          </p:spPr>
          <p:txBody>
            <a:bodyPr anchor="t" rtlCol="false" tIns="0" lIns="0" bIns="0" rIns="0">
              <a:spAutoFit/>
            </a:bodyPr>
            <a:lstStyle/>
            <a:p>
              <a:pPr algn="l">
                <a:lnSpc>
                  <a:spcPts val="3599"/>
                </a:lnSpc>
              </a:pPr>
            </a:p>
          </p:txBody>
        </p:sp>
      </p:gr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sp>
        <p:nvSpPr>
          <p:cNvPr name="Freeform 3" id="3"/>
          <p:cNvSpPr/>
          <p:nvPr/>
        </p:nvSpPr>
        <p:spPr>
          <a:xfrm flipH="false" flipV="false" rot="0">
            <a:off x="1028700" y="3271597"/>
            <a:ext cx="9642494" cy="4877778"/>
          </a:xfrm>
          <a:custGeom>
            <a:avLst/>
            <a:gdLst/>
            <a:ahLst/>
            <a:cxnLst/>
            <a:rect r="r" b="b" t="t" l="l"/>
            <a:pathLst>
              <a:path h="4877778" w="9642494">
                <a:moveTo>
                  <a:pt x="0" y="0"/>
                </a:moveTo>
                <a:lnTo>
                  <a:pt x="9642494" y="0"/>
                </a:lnTo>
                <a:lnTo>
                  <a:pt x="9642494" y="4877777"/>
                </a:lnTo>
                <a:lnTo>
                  <a:pt x="0" y="4877777"/>
                </a:lnTo>
                <a:lnTo>
                  <a:pt x="0" y="0"/>
                </a:lnTo>
                <a:close/>
              </a:path>
            </a:pathLst>
          </a:custGeom>
          <a:blipFill>
            <a:blip r:embed="rId3"/>
            <a:stretch>
              <a:fillRect l="0" t="0" r="0" b="0"/>
            </a:stretch>
          </a:blipFill>
        </p:spPr>
      </p:sp>
      <p:grpSp>
        <p:nvGrpSpPr>
          <p:cNvPr name="Group 4" id="4"/>
          <p:cNvGrpSpPr/>
          <p:nvPr/>
        </p:nvGrpSpPr>
        <p:grpSpPr>
          <a:xfrm rot="0">
            <a:off x="1028700" y="1287681"/>
            <a:ext cx="12084767" cy="866337"/>
            <a:chOff x="0" y="0"/>
            <a:chExt cx="16113022" cy="1155117"/>
          </a:xfrm>
        </p:grpSpPr>
        <p:sp>
          <p:nvSpPr>
            <p:cNvPr name="TextBox 5" id="5"/>
            <p:cNvSpPr txBox="true"/>
            <p:nvPr/>
          </p:nvSpPr>
          <p:spPr>
            <a:xfrm rot="0">
              <a:off x="0" y="-9525"/>
              <a:ext cx="16113022" cy="14446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Decora</a:t>
              </a:r>
              <a:r>
                <a:rPr lang="en-US" sz="7099" b="true">
                  <a:solidFill>
                    <a:srgbClr val="64E688"/>
                  </a:solidFill>
                  <a:latin typeface="Fira Sans Ultra-Bold"/>
                  <a:ea typeface="Fira Sans Ultra-Bold"/>
                  <a:cs typeface="Fira Sans Ultra-Bold"/>
                  <a:sym typeface="Fira Sans Ultra-Bold"/>
                </a:rPr>
                <a:t>tor Pattern</a:t>
              </a:r>
            </a:p>
          </p:txBody>
        </p:sp>
        <p:sp>
          <p:nvSpPr>
            <p:cNvPr name="TextBox 6" id="6"/>
            <p:cNvSpPr txBox="true"/>
            <p:nvPr/>
          </p:nvSpPr>
          <p:spPr>
            <a:xfrm rot="0">
              <a:off x="0" y="1786942"/>
              <a:ext cx="16113022" cy="587375"/>
            </a:xfrm>
            <a:prstGeom prst="rect">
              <a:avLst/>
            </a:prstGeom>
          </p:spPr>
          <p:txBody>
            <a:bodyPr anchor="t" rtlCol="false" tIns="0" lIns="0" bIns="0" rIns="0">
              <a:spAutoFit/>
            </a:bodyPr>
            <a:lstStyle/>
            <a:p>
              <a:pPr algn="l">
                <a:lnSpc>
                  <a:spcPts val="3599"/>
                </a:lnSpc>
              </a:pPr>
            </a:p>
          </p:txBody>
        </p:sp>
      </p:grpSp>
      <p:sp>
        <p:nvSpPr>
          <p:cNvPr name="TextBox 7" id="7"/>
          <p:cNvSpPr txBox="true"/>
          <p:nvPr/>
        </p:nvSpPr>
        <p:spPr>
          <a:xfrm rot="0">
            <a:off x="11375005" y="4055422"/>
            <a:ext cx="5576326" cy="3015522"/>
          </a:xfrm>
          <a:prstGeom prst="rect">
            <a:avLst/>
          </a:prstGeom>
        </p:spPr>
        <p:txBody>
          <a:bodyPr anchor="t" rtlCol="false" tIns="0" lIns="0" bIns="0" rIns="0">
            <a:spAutoFit/>
          </a:bodyPr>
          <a:lstStyle/>
          <a:p>
            <a:pPr algn="l">
              <a:lnSpc>
                <a:spcPts val="4822"/>
              </a:lnSpc>
            </a:pPr>
            <a:r>
              <a:rPr lang="en-US" sz="3444" b="true">
                <a:solidFill>
                  <a:srgbClr val="FFFFFF"/>
                </a:solidFill>
                <a:latin typeface="Clear Sans Medium"/>
                <a:ea typeface="Clear Sans Medium"/>
                <a:cs typeface="Clear Sans Medium"/>
                <a:sym typeface="Clear Sans Medium"/>
              </a:rPr>
              <a:t>Decorator pattern : </a:t>
            </a:r>
          </a:p>
          <a:p>
            <a:pPr algn="l">
              <a:lnSpc>
                <a:spcPts val="4822"/>
              </a:lnSpc>
            </a:pPr>
            <a:r>
              <a:rPr lang="en-US" sz="3444" b="true">
                <a:solidFill>
                  <a:srgbClr val="FFFFFF"/>
                </a:solidFill>
                <a:latin typeface="Clear Sans Medium"/>
                <a:ea typeface="Clear Sans Medium"/>
                <a:cs typeface="Clear Sans Medium"/>
                <a:sym typeface="Clear Sans Medium"/>
              </a:rPr>
              <a:t>tách biệt hoàn toàn cross-cutting concerns (logging, monitoring, error handling) khỏi business logic.</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4356569"/>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grpSp>
        <p:nvGrpSpPr>
          <p:cNvPr name="Group 4" id="4"/>
          <p:cNvGrpSpPr/>
          <p:nvPr/>
        </p:nvGrpSpPr>
        <p:grpSpPr>
          <a:xfrm rot="0">
            <a:off x="6701301" y="4356569"/>
            <a:ext cx="4885398" cy="4901731"/>
            <a:chOff x="0" y="0"/>
            <a:chExt cx="19016997" cy="19080574"/>
          </a:xfrm>
        </p:grpSpPr>
        <p:sp>
          <p:nvSpPr>
            <p:cNvPr name="Freeform 5" id="5"/>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FFFFFF">
                <a:alpha val="49804"/>
              </a:srgbClr>
            </a:solidFill>
          </p:spPr>
        </p:sp>
      </p:grpSp>
      <p:grpSp>
        <p:nvGrpSpPr>
          <p:cNvPr name="Group 6" id="6"/>
          <p:cNvGrpSpPr/>
          <p:nvPr/>
        </p:nvGrpSpPr>
        <p:grpSpPr>
          <a:xfrm rot="0">
            <a:off x="12373902" y="4356569"/>
            <a:ext cx="4885398" cy="4901731"/>
            <a:chOff x="0" y="0"/>
            <a:chExt cx="19016997" cy="19080574"/>
          </a:xfrm>
        </p:grpSpPr>
        <p:sp>
          <p:nvSpPr>
            <p:cNvPr name="Freeform 7" id="7"/>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8" id="8"/>
          <p:cNvSpPr/>
          <p:nvPr/>
        </p:nvSpPr>
        <p:spPr>
          <a:xfrm flipH="false" flipV="false" rot="0">
            <a:off x="1355661" y="4825636"/>
            <a:ext cx="637676" cy="460286"/>
          </a:xfrm>
          <a:custGeom>
            <a:avLst/>
            <a:gdLst/>
            <a:ahLst/>
            <a:cxnLst/>
            <a:rect r="r" b="b" t="t" l="l"/>
            <a:pathLst>
              <a:path h="460286" w="637676">
                <a:moveTo>
                  <a:pt x="0" y="0"/>
                </a:moveTo>
                <a:lnTo>
                  <a:pt x="637677" y="0"/>
                </a:lnTo>
                <a:lnTo>
                  <a:pt x="637677" y="460287"/>
                </a:lnTo>
                <a:lnTo>
                  <a:pt x="0" y="460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830653" y="4723380"/>
            <a:ext cx="565628" cy="562543"/>
          </a:xfrm>
          <a:custGeom>
            <a:avLst/>
            <a:gdLst/>
            <a:ahLst/>
            <a:cxnLst/>
            <a:rect r="r" b="b" t="t" l="l"/>
            <a:pathLst>
              <a:path h="562543" w="565628">
                <a:moveTo>
                  <a:pt x="0" y="0"/>
                </a:moveTo>
                <a:lnTo>
                  <a:pt x="565628" y="0"/>
                </a:lnTo>
                <a:lnTo>
                  <a:pt x="565628" y="562543"/>
                </a:lnTo>
                <a:lnTo>
                  <a:pt x="0" y="5625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7071083" y="4701930"/>
            <a:ext cx="599246" cy="583992"/>
          </a:xfrm>
          <a:custGeom>
            <a:avLst/>
            <a:gdLst/>
            <a:ahLst/>
            <a:cxnLst/>
            <a:rect r="r" b="b" t="t" l="l"/>
            <a:pathLst>
              <a:path h="583992" w="599246">
                <a:moveTo>
                  <a:pt x="0" y="0"/>
                </a:moveTo>
                <a:lnTo>
                  <a:pt x="599246" y="0"/>
                </a:lnTo>
                <a:lnTo>
                  <a:pt x="599246" y="583993"/>
                </a:lnTo>
                <a:lnTo>
                  <a:pt x="0" y="5839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8"/>
            <a:stretch>
              <a:fillRect l="0" t="0" r="0" b="0"/>
            </a:stretch>
          </a:blipFill>
        </p:spPr>
      </p:sp>
      <p:grpSp>
        <p:nvGrpSpPr>
          <p:cNvPr name="Group 12" id="12"/>
          <p:cNvGrpSpPr/>
          <p:nvPr/>
        </p:nvGrpSpPr>
        <p:grpSpPr>
          <a:xfrm rot="0">
            <a:off x="1028700" y="1287681"/>
            <a:ext cx="12084767" cy="1942662"/>
            <a:chOff x="0" y="0"/>
            <a:chExt cx="16113022" cy="2590217"/>
          </a:xfrm>
        </p:grpSpPr>
        <p:sp>
          <p:nvSpPr>
            <p:cNvPr name="TextBox 13" id="13"/>
            <p:cNvSpPr txBox="true"/>
            <p:nvPr/>
          </p:nvSpPr>
          <p:spPr>
            <a:xfrm rot="0">
              <a:off x="0" y="-9525"/>
              <a:ext cx="16113022" cy="28797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Kỹ</a:t>
              </a:r>
              <a:r>
                <a:rPr lang="en-US" sz="7099" b="true">
                  <a:solidFill>
                    <a:srgbClr val="64E688"/>
                  </a:solidFill>
                  <a:latin typeface="Fira Sans Ultra-Bold"/>
                  <a:ea typeface="Fira Sans Ultra-Bold"/>
                  <a:cs typeface="Fira Sans Ultra-Bold"/>
                  <a:sym typeface="Fira Sans Ultra-Bold"/>
                </a:rPr>
                <a:t> thuật Inverse CoT cho Decorator</a:t>
              </a:r>
            </a:p>
          </p:txBody>
        </p:sp>
        <p:sp>
          <p:nvSpPr>
            <p:cNvPr name="TextBox 14" id="14"/>
            <p:cNvSpPr txBox="true"/>
            <p:nvPr/>
          </p:nvSpPr>
          <p:spPr>
            <a:xfrm rot="0">
              <a:off x="0" y="3222042"/>
              <a:ext cx="16113022" cy="587375"/>
            </a:xfrm>
            <a:prstGeom prst="rect">
              <a:avLst/>
            </a:prstGeom>
          </p:spPr>
          <p:txBody>
            <a:bodyPr anchor="t" rtlCol="false" tIns="0" lIns="0" bIns="0" rIns="0">
              <a:spAutoFit/>
            </a:bodyPr>
            <a:lstStyle/>
            <a:p>
              <a:pPr algn="l">
                <a:lnSpc>
                  <a:spcPts val="3599"/>
                </a:lnSpc>
              </a:pPr>
            </a:p>
          </p:txBody>
        </p:sp>
      </p:grpSp>
      <p:grpSp>
        <p:nvGrpSpPr>
          <p:cNvPr name="Group 15" id="15"/>
          <p:cNvGrpSpPr/>
          <p:nvPr/>
        </p:nvGrpSpPr>
        <p:grpSpPr>
          <a:xfrm rot="0">
            <a:off x="1355661" y="5770666"/>
            <a:ext cx="3973304" cy="3069597"/>
            <a:chOff x="0" y="0"/>
            <a:chExt cx="5297739" cy="4092796"/>
          </a:xfrm>
        </p:grpSpPr>
        <p:sp>
          <p:nvSpPr>
            <p:cNvPr name="TextBox 16" id="16"/>
            <p:cNvSpPr txBox="true"/>
            <p:nvPr/>
          </p:nvSpPr>
          <p:spPr>
            <a:xfrm rot="0">
              <a:off x="0" y="-51647"/>
              <a:ext cx="5297739" cy="1169247"/>
            </a:xfrm>
            <a:prstGeom prst="rect">
              <a:avLst/>
            </a:prstGeom>
          </p:spPr>
          <p:txBody>
            <a:bodyPr anchor="t" rtlCol="false" tIns="0" lIns="0" bIns="0" rIns="0">
              <a:spAutoFit/>
            </a:bodyPr>
            <a:lstStyle/>
            <a:p>
              <a:pPr algn="l">
                <a:lnSpc>
                  <a:spcPts val="3640"/>
                </a:lnSpc>
              </a:pPr>
              <a:r>
                <a:rPr lang="en-US" sz="2600" b="true">
                  <a:solidFill>
                    <a:srgbClr val="FFFFFF"/>
                  </a:solidFill>
                  <a:latin typeface="Clear Sans Medium"/>
                  <a:ea typeface="Clear Sans Medium"/>
                  <a:cs typeface="Clear Sans Medium"/>
                  <a:sym typeface="Clear Sans Medium"/>
                </a:rPr>
                <a:t>Phươ</a:t>
              </a:r>
              <a:r>
                <a:rPr lang="en-US" sz="2600" b="true">
                  <a:solidFill>
                    <a:srgbClr val="FFFFFF"/>
                  </a:solidFill>
                  <a:latin typeface="Clear Sans Medium"/>
                  <a:ea typeface="Clear Sans Medium"/>
                  <a:cs typeface="Clear Sans Medium"/>
                  <a:sym typeface="Clear Sans Medium"/>
                </a:rPr>
                <a:t>ng pháp luận Inverse CoT</a:t>
              </a:r>
            </a:p>
          </p:txBody>
        </p:sp>
        <p:sp>
          <p:nvSpPr>
            <p:cNvPr name="TextBox 17" id="17"/>
            <p:cNvSpPr txBox="true"/>
            <p:nvPr/>
          </p:nvSpPr>
          <p:spPr>
            <a:xfrm rot="0">
              <a:off x="0" y="1525703"/>
              <a:ext cx="5297739" cy="25670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C</a:t>
              </a:r>
              <a:r>
                <a:rPr lang="en-US" sz="2200">
                  <a:solidFill>
                    <a:srgbClr val="FFFFFF"/>
                  </a:solidFill>
                  <a:latin typeface="Clear Sans"/>
                  <a:ea typeface="Clear Sans"/>
                  <a:cs typeface="Clear Sans"/>
                  <a:sym typeface="Clear Sans"/>
                </a:rPr>
                <a:t>ung cấp cho LLM kết quả mong muốn (hàm đã được decorate) và yêu cầu sinh code cho các phần còn thiếu (các decorator)</a:t>
              </a:r>
            </a:p>
          </p:txBody>
        </p:sp>
      </p:grpSp>
      <p:grpSp>
        <p:nvGrpSpPr>
          <p:cNvPr name="Group 18" id="18"/>
          <p:cNvGrpSpPr/>
          <p:nvPr/>
        </p:nvGrpSpPr>
        <p:grpSpPr>
          <a:xfrm rot="0">
            <a:off x="7071083" y="5697701"/>
            <a:ext cx="3973304" cy="3075887"/>
            <a:chOff x="0" y="0"/>
            <a:chExt cx="5297739" cy="4101183"/>
          </a:xfrm>
        </p:grpSpPr>
        <p:sp>
          <p:nvSpPr>
            <p:cNvPr name="TextBox 19" id="19"/>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FFFFFF"/>
                  </a:solidFill>
                  <a:latin typeface="Clear Sans Medium"/>
                  <a:ea typeface="Clear Sans Medium"/>
                  <a:cs typeface="Clear Sans Medium"/>
                  <a:sym typeface="Clear Sans Medium"/>
                </a:rPr>
                <a:t>Inverse Co</a:t>
              </a:r>
              <a:r>
                <a:rPr lang="en-US" sz="2600" b="true">
                  <a:solidFill>
                    <a:srgbClr val="FFFFFF"/>
                  </a:solidFill>
                  <a:latin typeface="Clear Sans Medium"/>
                  <a:ea typeface="Clear Sans Medium"/>
                  <a:cs typeface="Clear Sans Medium"/>
                  <a:sym typeface="Clear Sans Medium"/>
                </a:rPr>
                <a:t>T với GitHub Copilot</a:t>
              </a:r>
            </a:p>
          </p:txBody>
        </p:sp>
        <p:sp>
          <p:nvSpPr>
            <p:cNvPr name="TextBox 20" id="20"/>
            <p:cNvSpPr txBox="true"/>
            <p:nvPr/>
          </p:nvSpPr>
          <p:spPr>
            <a:xfrm rot="0">
              <a:off x="0" y="1534089"/>
              <a:ext cx="5297739" cy="25670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de</a:t>
              </a:r>
              <a:r>
                <a:rPr lang="en-US" sz="2200">
                  <a:solidFill>
                    <a:srgbClr val="FFFFFF"/>
                  </a:solidFill>
                  <a:latin typeface="Clear Sans"/>
                  <a:ea typeface="Clear Sans"/>
                  <a:cs typeface="Clear Sans"/>
                  <a:sym typeface="Clear Sans"/>
                </a:rPr>
                <a:t>corate với @log_execution, @monitor_time, và @handle_errors, để Copilot tự sinh code cho từng decorator dựa trên ngữ cảnh file.</a:t>
              </a:r>
            </a:p>
          </p:txBody>
        </p:sp>
      </p:grpSp>
      <p:grpSp>
        <p:nvGrpSpPr>
          <p:cNvPr name="Group 21" id="21"/>
          <p:cNvGrpSpPr/>
          <p:nvPr/>
        </p:nvGrpSpPr>
        <p:grpSpPr>
          <a:xfrm rot="0">
            <a:off x="12830653" y="5679991"/>
            <a:ext cx="3973304" cy="2546847"/>
            <a:chOff x="0" y="0"/>
            <a:chExt cx="5297739" cy="3395796"/>
          </a:xfrm>
        </p:grpSpPr>
        <p:sp>
          <p:nvSpPr>
            <p:cNvPr name="TextBox 22" id="22"/>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FFFFFF"/>
                  </a:solidFill>
                  <a:latin typeface="Clear Sans Medium"/>
                  <a:ea typeface="Clear Sans Medium"/>
                  <a:cs typeface="Clear Sans Medium"/>
                  <a:sym typeface="Clear Sans Medium"/>
                </a:rPr>
                <a:t>I</a:t>
              </a:r>
              <a:r>
                <a:rPr lang="en-US" sz="2600" b="true">
                  <a:solidFill>
                    <a:srgbClr val="FFFFFF"/>
                  </a:solidFill>
                  <a:latin typeface="Clear Sans Medium"/>
                  <a:ea typeface="Clear Sans Medium"/>
                  <a:cs typeface="Clear Sans Medium"/>
                  <a:sym typeface="Clear Sans Medium"/>
                </a:rPr>
                <a:t>nverse CoT với ChatGPT và OpenAI API</a:t>
              </a:r>
            </a:p>
          </p:txBody>
        </p:sp>
        <p:sp>
          <p:nvSpPr>
            <p:cNvPr name="TextBox 23" id="23"/>
            <p:cNvSpPr txBox="true"/>
            <p:nvPr/>
          </p:nvSpPr>
          <p:spPr>
            <a:xfrm rot="0">
              <a:off x="0" y="1349403"/>
              <a:ext cx="5297739" cy="20463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promp</a:t>
              </a:r>
              <a:r>
                <a:rPr lang="en-US" sz="2200">
                  <a:solidFill>
                    <a:srgbClr val="FFFFFF"/>
                  </a:solidFill>
                  <a:latin typeface="Clear Sans"/>
                  <a:ea typeface="Clear Sans"/>
                  <a:cs typeface="Clear Sans"/>
                  <a:sym typeface="Clear Sans"/>
                </a:rPr>
                <a:t>t được cấu trúc theo nguyên tắc 5S với hai phần chính: DECORATED_FUNCTION và TASK.</a:t>
              </a:r>
            </a:p>
          </p:txBody>
        </p:sp>
      </p:gr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360450" y="2857912"/>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4" id="4"/>
          <p:cNvSpPr/>
          <p:nvPr/>
        </p:nvSpPr>
        <p:spPr>
          <a:xfrm flipH="false" flipV="false" rot="0">
            <a:off x="687411" y="3326979"/>
            <a:ext cx="637676" cy="460286"/>
          </a:xfrm>
          <a:custGeom>
            <a:avLst/>
            <a:gdLst/>
            <a:ahLst/>
            <a:cxnLst/>
            <a:rect r="r" b="b" t="t" l="l"/>
            <a:pathLst>
              <a:path h="460286" w="637676">
                <a:moveTo>
                  <a:pt x="0" y="0"/>
                </a:moveTo>
                <a:lnTo>
                  <a:pt x="637677" y="0"/>
                </a:lnTo>
                <a:lnTo>
                  <a:pt x="637677" y="460287"/>
                </a:lnTo>
                <a:lnTo>
                  <a:pt x="0" y="460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4"/>
            <a:stretch>
              <a:fillRect l="0" t="0" r="0" b="0"/>
            </a:stretch>
          </a:blipFill>
        </p:spPr>
      </p:sp>
      <p:graphicFrame>
        <p:nvGraphicFramePr>
          <p:cNvPr name="Object 6" id="6"/>
          <p:cNvGraphicFramePr/>
          <p:nvPr/>
        </p:nvGraphicFramePr>
        <p:xfrm>
          <a:off x="5989950" y="2372069"/>
          <a:ext cx="16230600" cy="8222417"/>
        </p:xfrm>
        <a:graphic>
          <a:graphicData uri="http://schemas.openxmlformats.org/presentationml/2006/ole">
            <p:oleObj imgW="19469100" imgH="114681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pSp>
        <p:nvGrpSpPr>
          <p:cNvPr name="Group 7" id="7"/>
          <p:cNvGrpSpPr/>
          <p:nvPr/>
        </p:nvGrpSpPr>
        <p:grpSpPr>
          <a:xfrm rot="0">
            <a:off x="687411" y="4272009"/>
            <a:ext cx="3973304" cy="3069597"/>
            <a:chOff x="0" y="0"/>
            <a:chExt cx="5297739" cy="4092796"/>
          </a:xfrm>
        </p:grpSpPr>
        <p:sp>
          <p:nvSpPr>
            <p:cNvPr name="TextBox 8" id="8"/>
            <p:cNvSpPr txBox="true"/>
            <p:nvPr/>
          </p:nvSpPr>
          <p:spPr>
            <a:xfrm rot="0">
              <a:off x="0" y="-51647"/>
              <a:ext cx="5297739" cy="1169247"/>
            </a:xfrm>
            <a:prstGeom prst="rect">
              <a:avLst/>
            </a:prstGeom>
          </p:spPr>
          <p:txBody>
            <a:bodyPr anchor="t" rtlCol="false" tIns="0" lIns="0" bIns="0" rIns="0">
              <a:spAutoFit/>
            </a:bodyPr>
            <a:lstStyle/>
            <a:p>
              <a:pPr algn="l">
                <a:lnSpc>
                  <a:spcPts val="3640"/>
                </a:lnSpc>
              </a:pPr>
              <a:r>
                <a:rPr lang="en-US" sz="2600" b="true">
                  <a:solidFill>
                    <a:srgbClr val="FFFFFF"/>
                  </a:solidFill>
                  <a:latin typeface="Clear Sans Medium"/>
                  <a:ea typeface="Clear Sans Medium"/>
                  <a:cs typeface="Clear Sans Medium"/>
                  <a:sym typeface="Clear Sans Medium"/>
                </a:rPr>
                <a:t>Phươ</a:t>
              </a:r>
              <a:r>
                <a:rPr lang="en-US" sz="2600" b="true">
                  <a:solidFill>
                    <a:srgbClr val="FFFFFF"/>
                  </a:solidFill>
                  <a:latin typeface="Clear Sans Medium"/>
                  <a:ea typeface="Clear Sans Medium"/>
                  <a:cs typeface="Clear Sans Medium"/>
                  <a:sym typeface="Clear Sans Medium"/>
                </a:rPr>
                <a:t>ng pháp luận Inverse CoT</a:t>
              </a:r>
            </a:p>
          </p:txBody>
        </p:sp>
        <p:sp>
          <p:nvSpPr>
            <p:cNvPr name="TextBox 9" id="9"/>
            <p:cNvSpPr txBox="true"/>
            <p:nvPr/>
          </p:nvSpPr>
          <p:spPr>
            <a:xfrm rot="0">
              <a:off x="0" y="1525703"/>
              <a:ext cx="5297739" cy="25670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C</a:t>
              </a:r>
              <a:r>
                <a:rPr lang="en-US" sz="2200">
                  <a:solidFill>
                    <a:srgbClr val="FFFFFF"/>
                  </a:solidFill>
                  <a:latin typeface="Clear Sans"/>
                  <a:ea typeface="Clear Sans"/>
                  <a:cs typeface="Clear Sans"/>
                  <a:sym typeface="Clear Sans"/>
                </a:rPr>
                <a:t>ung cấp cho LLM kết quả mong muốn (hàm đã được decorate) và yêu cầu sinh code cho các phần còn thiếu (các decorator)</a:t>
              </a:r>
            </a:p>
          </p:txBody>
        </p:sp>
      </p:gr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2473319"/>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FFFFFF">
                <a:alpha val="49804"/>
              </a:srgbClr>
            </a:solidFill>
          </p:spPr>
        </p:sp>
      </p:grpSp>
      <p:sp>
        <p:nvSpPr>
          <p:cNvPr name="Freeform 4" id="4"/>
          <p:cNvSpPr/>
          <p:nvPr/>
        </p:nvSpPr>
        <p:spPr>
          <a:xfrm flipH="false" flipV="false" rot="0">
            <a:off x="1398482" y="2818681"/>
            <a:ext cx="599246" cy="583992"/>
          </a:xfrm>
          <a:custGeom>
            <a:avLst/>
            <a:gdLst/>
            <a:ahLst/>
            <a:cxnLst/>
            <a:rect r="r" b="b" t="t" l="l"/>
            <a:pathLst>
              <a:path h="583992" w="599246">
                <a:moveTo>
                  <a:pt x="0" y="0"/>
                </a:moveTo>
                <a:lnTo>
                  <a:pt x="599246" y="0"/>
                </a:lnTo>
                <a:lnTo>
                  <a:pt x="599246" y="583992"/>
                </a:lnTo>
                <a:lnTo>
                  <a:pt x="0" y="583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4"/>
            <a:stretch>
              <a:fillRect l="0" t="0" r="0" b="0"/>
            </a:stretch>
          </a:blipFill>
        </p:spPr>
      </p:sp>
      <p:sp>
        <p:nvSpPr>
          <p:cNvPr name="Freeform 6" id="6"/>
          <p:cNvSpPr/>
          <p:nvPr/>
        </p:nvSpPr>
        <p:spPr>
          <a:xfrm flipH="false" flipV="false" rot="0">
            <a:off x="8595971" y="835660"/>
            <a:ext cx="8339329" cy="8615681"/>
          </a:xfrm>
          <a:custGeom>
            <a:avLst/>
            <a:gdLst/>
            <a:ahLst/>
            <a:cxnLst/>
            <a:rect r="r" b="b" t="t" l="l"/>
            <a:pathLst>
              <a:path h="8615681" w="8339329">
                <a:moveTo>
                  <a:pt x="0" y="0"/>
                </a:moveTo>
                <a:lnTo>
                  <a:pt x="8339329" y="0"/>
                </a:lnTo>
                <a:lnTo>
                  <a:pt x="8339329" y="8615680"/>
                </a:lnTo>
                <a:lnTo>
                  <a:pt x="0" y="8615680"/>
                </a:lnTo>
                <a:lnTo>
                  <a:pt x="0" y="0"/>
                </a:lnTo>
                <a:close/>
              </a:path>
            </a:pathLst>
          </a:custGeom>
          <a:blipFill>
            <a:blip r:embed="rId5"/>
            <a:stretch>
              <a:fillRect l="0" t="0" r="0" b="0"/>
            </a:stretch>
          </a:blipFill>
        </p:spPr>
      </p:sp>
      <p:grpSp>
        <p:nvGrpSpPr>
          <p:cNvPr name="Group 7" id="7"/>
          <p:cNvGrpSpPr/>
          <p:nvPr/>
        </p:nvGrpSpPr>
        <p:grpSpPr>
          <a:xfrm rot="0">
            <a:off x="1398482" y="3814451"/>
            <a:ext cx="3973304" cy="3075887"/>
            <a:chOff x="0" y="0"/>
            <a:chExt cx="5297739" cy="4101183"/>
          </a:xfrm>
        </p:grpSpPr>
        <p:sp>
          <p:nvSpPr>
            <p:cNvPr name="TextBox 8" id="8"/>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FFFFFF"/>
                  </a:solidFill>
                  <a:latin typeface="Clear Sans Medium"/>
                  <a:ea typeface="Clear Sans Medium"/>
                  <a:cs typeface="Clear Sans Medium"/>
                  <a:sym typeface="Clear Sans Medium"/>
                </a:rPr>
                <a:t>Inverse Co</a:t>
              </a:r>
              <a:r>
                <a:rPr lang="en-US" sz="2600" b="true">
                  <a:solidFill>
                    <a:srgbClr val="FFFFFF"/>
                  </a:solidFill>
                  <a:latin typeface="Clear Sans Medium"/>
                  <a:ea typeface="Clear Sans Medium"/>
                  <a:cs typeface="Clear Sans Medium"/>
                  <a:sym typeface="Clear Sans Medium"/>
                </a:rPr>
                <a:t>T với GitHub Copilot</a:t>
              </a:r>
            </a:p>
          </p:txBody>
        </p:sp>
        <p:sp>
          <p:nvSpPr>
            <p:cNvPr name="TextBox 9" id="9"/>
            <p:cNvSpPr txBox="true"/>
            <p:nvPr/>
          </p:nvSpPr>
          <p:spPr>
            <a:xfrm rot="0">
              <a:off x="0" y="1534089"/>
              <a:ext cx="5297739" cy="25670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de</a:t>
              </a:r>
              <a:r>
                <a:rPr lang="en-US" sz="2200">
                  <a:solidFill>
                    <a:srgbClr val="FFFFFF"/>
                  </a:solidFill>
                  <a:latin typeface="Clear Sans"/>
                  <a:ea typeface="Clear Sans"/>
                  <a:cs typeface="Clear Sans"/>
                  <a:sym typeface="Clear Sans"/>
                </a:rPr>
                <a:t>corate với @log_execution, @monitor_time, và @handle_errors, để Copilot tự sinh code cho từng decorator dựa trên ngữ cảnh file.</a:t>
              </a:r>
            </a:p>
          </p:txBody>
        </p:sp>
      </p:gr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2453069"/>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4" id="4"/>
          <p:cNvSpPr/>
          <p:nvPr/>
        </p:nvSpPr>
        <p:spPr>
          <a:xfrm flipH="false" flipV="false" rot="0">
            <a:off x="1485451" y="2819880"/>
            <a:ext cx="565628" cy="562543"/>
          </a:xfrm>
          <a:custGeom>
            <a:avLst/>
            <a:gdLst/>
            <a:ahLst/>
            <a:cxnLst/>
            <a:rect r="r" b="b" t="t" l="l"/>
            <a:pathLst>
              <a:path h="562543" w="565628">
                <a:moveTo>
                  <a:pt x="0" y="0"/>
                </a:moveTo>
                <a:lnTo>
                  <a:pt x="565628" y="0"/>
                </a:lnTo>
                <a:lnTo>
                  <a:pt x="565628" y="562543"/>
                </a:lnTo>
                <a:lnTo>
                  <a:pt x="0" y="5625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4"/>
            <a:stretch>
              <a:fillRect l="0" t="0" r="0" b="0"/>
            </a:stretch>
          </a:blipFill>
        </p:spPr>
      </p:sp>
      <p:sp>
        <p:nvSpPr>
          <p:cNvPr name="Freeform 6" id="6"/>
          <p:cNvSpPr/>
          <p:nvPr/>
        </p:nvSpPr>
        <p:spPr>
          <a:xfrm flipH="false" flipV="false" rot="0">
            <a:off x="8261276" y="739780"/>
            <a:ext cx="8184333" cy="8620268"/>
          </a:xfrm>
          <a:custGeom>
            <a:avLst/>
            <a:gdLst/>
            <a:ahLst/>
            <a:cxnLst/>
            <a:rect r="r" b="b" t="t" l="l"/>
            <a:pathLst>
              <a:path h="8620268" w="8184333">
                <a:moveTo>
                  <a:pt x="0" y="0"/>
                </a:moveTo>
                <a:lnTo>
                  <a:pt x="8184333" y="0"/>
                </a:lnTo>
                <a:lnTo>
                  <a:pt x="8184333" y="8620269"/>
                </a:lnTo>
                <a:lnTo>
                  <a:pt x="0" y="8620269"/>
                </a:lnTo>
                <a:lnTo>
                  <a:pt x="0" y="0"/>
                </a:lnTo>
                <a:close/>
              </a:path>
            </a:pathLst>
          </a:custGeom>
          <a:blipFill>
            <a:blip r:embed="rId5"/>
            <a:stretch>
              <a:fillRect l="0" t="0" r="0" b="0"/>
            </a:stretch>
          </a:blipFill>
        </p:spPr>
      </p:sp>
      <p:grpSp>
        <p:nvGrpSpPr>
          <p:cNvPr name="Group 7" id="7"/>
          <p:cNvGrpSpPr/>
          <p:nvPr/>
        </p:nvGrpSpPr>
        <p:grpSpPr>
          <a:xfrm rot="0">
            <a:off x="1485451" y="3776491"/>
            <a:ext cx="3973304" cy="2546847"/>
            <a:chOff x="0" y="0"/>
            <a:chExt cx="5297739" cy="3395796"/>
          </a:xfrm>
        </p:grpSpPr>
        <p:sp>
          <p:nvSpPr>
            <p:cNvPr name="TextBox 8" id="8"/>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FFFFFF"/>
                  </a:solidFill>
                  <a:latin typeface="Clear Sans Medium"/>
                  <a:ea typeface="Clear Sans Medium"/>
                  <a:cs typeface="Clear Sans Medium"/>
                  <a:sym typeface="Clear Sans Medium"/>
                </a:rPr>
                <a:t>I</a:t>
              </a:r>
              <a:r>
                <a:rPr lang="en-US" sz="2600" b="true">
                  <a:solidFill>
                    <a:srgbClr val="FFFFFF"/>
                  </a:solidFill>
                  <a:latin typeface="Clear Sans Medium"/>
                  <a:ea typeface="Clear Sans Medium"/>
                  <a:cs typeface="Clear Sans Medium"/>
                  <a:sym typeface="Clear Sans Medium"/>
                </a:rPr>
                <a:t>nverse CoT với ChatGPT và OpenAI API</a:t>
              </a:r>
            </a:p>
          </p:txBody>
        </p:sp>
        <p:sp>
          <p:nvSpPr>
            <p:cNvPr name="TextBox 9" id="9"/>
            <p:cNvSpPr txBox="true"/>
            <p:nvPr/>
          </p:nvSpPr>
          <p:spPr>
            <a:xfrm rot="0">
              <a:off x="0" y="1349403"/>
              <a:ext cx="5297739" cy="2046393"/>
            </a:xfrm>
            <a:prstGeom prst="rect">
              <a:avLst/>
            </a:prstGeom>
          </p:spPr>
          <p:txBody>
            <a:bodyPr anchor="t" rtlCol="false" tIns="0" lIns="0" bIns="0" rIns="0">
              <a:spAutoFit/>
            </a:bodyPr>
            <a:lstStyle/>
            <a:p>
              <a:pPr algn="l">
                <a:lnSpc>
                  <a:spcPts val="3079"/>
                </a:lnSpc>
              </a:pPr>
              <a:r>
                <a:rPr lang="en-US" sz="2200">
                  <a:solidFill>
                    <a:srgbClr val="FFFFFF"/>
                  </a:solidFill>
                  <a:latin typeface="Clear Sans"/>
                  <a:ea typeface="Clear Sans"/>
                  <a:cs typeface="Clear Sans"/>
                  <a:sym typeface="Clear Sans"/>
                </a:rPr>
                <a:t>promp</a:t>
              </a:r>
              <a:r>
                <a:rPr lang="en-US" sz="2200">
                  <a:solidFill>
                    <a:srgbClr val="FFFFFF"/>
                  </a:solidFill>
                  <a:latin typeface="Clear Sans"/>
                  <a:ea typeface="Clear Sans"/>
                  <a:cs typeface="Clear Sans"/>
                  <a:sym typeface="Clear Sans"/>
                </a:rPr>
                <a:t>t được cấu trúc theo nguyên tắc 5S với hai phần chính: DECORATED_FUNCTION và TASK.</a:t>
              </a:r>
            </a:p>
          </p:txBody>
        </p:sp>
      </p:gr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10162027" y="2738291"/>
            <a:ext cx="6276929" cy="6090628"/>
          </a:xfrm>
          <a:custGeom>
            <a:avLst/>
            <a:gdLst/>
            <a:ahLst/>
            <a:cxnLst/>
            <a:rect r="r" b="b" t="t" l="l"/>
            <a:pathLst>
              <a:path h="6090628" w="6276929">
                <a:moveTo>
                  <a:pt x="0" y="0"/>
                </a:moveTo>
                <a:lnTo>
                  <a:pt x="6276929" y="0"/>
                </a:lnTo>
                <a:lnTo>
                  <a:pt x="6276929" y="6090627"/>
                </a:lnTo>
                <a:lnTo>
                  <a:pt x="0" y="6090627"/>
                </a:lnTo>
                <a:lnTo>
                  <a:pt x="0" y="0"/>
                </a:lnTo>
                <a:close/>
              </a:path>
            </a:pathLst>
          </a:custGeom>
          <a:blipFill>
            <a:blip r:embed="rId5"/>
            <a:stretch>
              <a:fillRect l="0" t="0" r="0" b="0"/>
            </a:stretch>
          </a:blipFill>
        </p:spPr>
      </p:sp>
      <p:sp>
        <p:nvSpPr>
          <p:cNvPr name="TextBox 10" id="10"/>
          <p:cNvSpPr txBox="true"/>
          <p:nvPr/>
        </p:nvSpPr>
        <p:spPr>
          <a:xfrm rot="0">
            <a:off x="1849044" y="1890909"/>
            <a:ext cx="6276929" cy="628650"/>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Decorator log_execution</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Implementation</a:t>
            </a:r>
          </a:p>
        </p:txBody>
      </p:sp>
      <p:sp>
        <p:nvSpPr>
          <p:cNvPr name="TextBox 12" id="12"/>
          <p:cNvSpPr txBox="true"/>
          <p:nvPr/>
        </p:nvSpPr>
        <p:spPr>
          <a:xfrm rot="0">
            <a:off x="1893760" y="327484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Decorator này ghi nhật ký khi hàm được gọi (tên hàm, tham số) và khi hoàn thành (kiểu kết quả, độ dài nếu có). </a:t>
            </a:r>
          </a:p>
          <a:p>
            <a:pPr algn="l">
              <a:lnSpc>
                <a:spcPts val="5014"/>
              </a:lnSpc>
            </a:pPr>
          </a:p>
          <a:p>
            <a:pPr algn="l">
              <a:lnSpc>
                <a:spcPts val="5015"/>
              </a:lnSpc>
            </a:pPr>
            <a:r>
              <a:rPr lang="en-US" sz="2950">
                <a:solidFill>
                  <a:srgbClr val="FFFFFF"/>
                </a:solidFill>
                <a:latin typeface="Clear Sans"/>
                <a:ea typeface="Clear Sans"/>
                <a:cs typeface="Clear Sans"/>
                <a:sym typeface="Clear Sans"/>
              </a:rPr>
              <a:t>Sử dụng module logging của Python chuẩn, hỗ trợ ghi ra cả console và file.</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10162027" y="2519559"/>
            <a:ext cx="5782041" cy="6476935"/>
          </a:xfrm>
          <a:custGeom>
            <a:avLst/>
            <a:gdLst/>
            <a:ahLst/>
            <a:cxnLst/>
            <a:rect r="r" b="b" t="t" l="l"/>
            <a:pathLst>
              <a:path h="6476935" w="5782041">
                <a:moveTo>
                  <a:pt x="0" y="0"/>
                </a:moveTo>
                <a:lnTo>
                  <a:pt x="5782041" y="0"/>
                </a:lnTo>
                <a:lnTo>
                  <a:pt x="5782041" y="6476934"/>
                </a:lnTo>
                <a:lnTo>
                  <a:pt x="0" y="6476934"/>
                </a:lnTo>
                <a:lnTo>
                  <a:pt x="0" y="0"/>
                </a:lnTo>
                <a:close/>
              </a:path>
            </a:pathLst>
          </a:custGeom>
          <a:blipFill>
            <a:blip r:embed="rId5"/>
            <a:stretch>
              <a:fillRect l="0" t="0" r="0" b="0"/>
            </a:stretch>
          </a:blipFill>
        </p:spPr>
      </p:sp>
      <p:sp>
        <p:nvSpPr>
          <p:cNvPr name="TextBox 10" id="10"/>
          <p:cNvSpPr txBox="true"/>
          <p:nvPr/>
        </p:nvSpPr>
        <p:spPr>
          <a:xfrm rot="0">
            <a:off x="1849044" y="1890909"/>
            <a:ext cx="6276929" cy="628650"/>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Decorator monitor_time</a:t>
            </a:r>
          </a:p>
        </p:txBody>
      </p:sp>
      <p:sp>
        <p:nvSpPr>
          <p:cNvPr name="TextBox 11" id="11"/>
          <p:cNvSpPr txBox="true"/>
          <p:nvPr/>
        </p:nvSpPr>
        <p:spPr>
          <a:xfrm rot="0">
            <a:off x="10162027" y="1728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Implementation</a:t>
            </a:r>
          </a:p>
        </p:txBody>
      </p:sp>
      <p:sp>
        <p:nvSpPr>
          <p:cNvPr name="TextBox 12" id="12"/>
          <p:cNvSpPr txBox="true"/>
          <p:nvPr/>
        </p:nvSpPr>
        <p:spPr>
          <a:xfrm rot="0">
            <a:off x="1646953" y="3194213"/>
            <a:ext cx="6681111" cy="498475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Decorator factory đo thời gian thực thi và cảnh báo khi vượt ngưỡng cho phép. </a:t>
            </a:r>
          </a:p>
          <a:p>
            <a:pPr algn="l">
              <a:lnSpc>
                <a:spcPts val="5014"/>
              </a:lnSpc>
            </a:pPr>
          </a:p>
          <a:p>
            <a:pPr algn="l">
              <a:lnSpc>
                <a:spcPts val="5015"/>
              </a:lnSpc>
            </a:pPr>
            <a:r>
              <a:rPr lang="en-US" sz="2950">
                <a:solidFill>
                  <a:srgbClr val="FFFFFF"/>
                </a:solidFill>
                <a:latin typeface="Clear Sans"/>
                <a:ea typeface="Clear Sans"/>
                <a:cs typeface="Clear Sans"/>
                <a:sym typeface="Clear Sans"/>
              </a:rPr>
              <a:t>Sử dụng tham số threshold để cấu hình ngưỡng cảnh báo, giúp linh hoạt áp dụng cho các hàm có yêu cầu hiệu suất khác nhau.</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400145" y="1028700"/>
            <a:ext cx="7174726" cy="8229600"/>
            <a:chOff x="0" y="0"/>
            <a:chExt cx="27928479" cy="32034703"/>
          </a:xfrm>
        </p:grpSpPr>
        <p:sp>
          <p:nvSpPr>
            <p:cNvPr name="Freeform 3" id="3"/>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FFFFFF">
                <a:alpha val="49804"/>
              </a:srgbClr>
            </a:solidFill>
          </p:spPr>
        </p:sp>
      </p:grpSp>
      <p:grpSp>
        <p:nvGrpSpPr>
          <p:cNvPr name="Group 4" id="4"/>
          <p:cNvGrpSpPr/>
          <p:nvPr/>
        </p:nvGrpSpPr>
        <p:grpSpPr>
          <a:xfrm rot="0">
            <a:off x="9713129" y="1028700"/>
            <a:ext cx="7174726" cy="8229600"/>
            <a:chOff x="0" y="0"/>
            <a:chExt cx="27928479" cy="32034703"/>
          </a:xfrm>
        </p:grpSpPr>
        <p:sp>
          <p:nvSpPr>
            <p:cNvPr name="Freeform 5" id="5"/>
            <p:cNvSpPr/>
            <p:nvPr/>
          </p:nvSpPr>
          <p:spPr>
            <a:xfrm flipH="false" flipV="false" rot="0">
              <a:off x="0" y="0"/>
              <a:ext cx="27928478" cy="32034702"/>
            </a:xfrm>
            <a:custGeom>
              <a:avLst/>
              <a:gdLst/>
              <a:ahLst/>
              <a:cxnLst/>
              <a:rect r="r" b="b" t="t" l="l"/>
              <a:pathLst>
                <a:path h="32034702" w="27928478">
                  <a:moveTo>
                    <a:pt x="27804018" y="59690"/>
                  </a:moveTo>
                  <a:cubicBezTo>
                    <a:pt x="27839578" y="59690"/>
                    <a:pt x="27868789" y="88900"/>
                    <a:pt x="27868789" y="124460"/>
                  </a:cubicBezTo>
                  <a:lnTo>
                    <a:pt x="27868789" y="31910241"/>
                  </a:lnTo>
                  <a:cubicBezTo>
                    <a:pt x="27868789" y="31945802"/>
                    <a:pt x="27839578" y="31975013"/>
                    <a:pt x="27804018" y="31975013"/>
                  </a:cubicBezTo>
                  <a:lnTo>
                    <a:pt x="124460" y="31975013"/>
                  </a:lnTo>
                  <a:cubicBezTo>
                    <a:pt x="88900" y="31975013"/>
                    <a:pt x="59690" y="31945802"/>
                    <a:pt x="59690" y="31910241"/>
                  </a:cubicBezTo>
                  <a:lnTo>
                    <a:pt x="59690" y="124460"/>
                  </a:lnTo>
                  <a:cubicBezTo>
                    <a:pt x="59690" y="88900"/>
                    <a:pt x="88900" y="59690"/>
                    <a:pt x="124460" y="59690"/>
                  </a:cubicBezTo>
                  <a:lnTo>
                    <a:pt x="27804018" y="59690"/>
                  </a:lnTo>
                  <a:moveTo>
                    <a:pt x="27804018" y="0"/>
                  </a:moveTo>
                  <a:lnTo>
                    <a:pt x="124460" y="0"/>
                  </a:lnTo>
                  <a:cubicBezTo>
                    <a:pt x="55880" y="0"/>
                    <a:pt x="0" y="55880"/>
                    <a:pt x="0" y="124460"/>
                  </a:cubicBezTo>
                  <a:lnTo>
                    <a:pt x="0" y="31910241"/>
                  </a:lnTo>
                  <a:cubicBezTo>
                    <a:pt x="0" y="31978823"/>
                    <a:pt x="55880" y="32034702"/>
                    <a:pt x="124460" y="32034702"/>
                  </a:cubicBezTo>
                  <a:lnTo>
                    <a:pt x="27804021" y="32034702"/>
                  </a:lnTo>
                  <a:cubicBezTo>
                    <a:pt x="27872599" y="32034702"/>
                    <a:pt x="27928478" y="31978823"/>
                    <a:pt x="27928478" y="31910241"/>
                  </a:cubicBezTo>
                  <a:lnTo>
                    <a:pt x="27928478" y="124460"/>
                  </a:lnTo>
                  <a:cubicBezTo>
                    <a:pt x="27928478" y="55880"/>
                    <a:pt x="27872599" y="0"/>
                    <a:pt x="27804018" y="0"/>
                  </a:cubicBezTo>
                  <a:close/>
                </a:path>
              </a:pathLst>
            </a:custGeom>
            <a:solidFill>
              <a:srgbClr val="64E688">
                <a:alpha val="49804"/>
              </a:srgbClr>
            </a:solidFill>
          </p:spPr>
        </p:sp>
      </p:grpSp>
      <p:sp>
        <p:nvSpPr>
          <p:cNvPr name="Freeform 6" id="6"/>
          <p:cNvSpPr/>
          <p:nvPr/>
        </p:nvSpPr>
        <p:spPr>
          <a:xfrm flipH="false" flipV="false" rot="4930990">
            <a:off x="331140" y="8100056"/>
            <a:ext cx="2138011" cy="1985678"/>
          </a:xfrm>
          <a:custGeom>
            <a:avLst/>
            <a:gdLst/>
            <a:ahLst/>
            <a:cxnLst/>
            <a:rect r="r" b="b" t="t" l="l"/>
            <a:pathLst>
              <a:path h="1985678" w="2138011">
                <a:moveTo>
                  <a:pt x="0" y="0"/>
                </a:moveTo>
                <a:lnTo>
                  <a:pt x="2138011" y="0"/>
                </a:lnTo>
                <a:lnTo>
                  <a:pt x="2138011" y="1985678"/>
                </a:lnTo>
                <a:lnTo>
                  <a:pt x="0" y="1985678"/>
                </a:lnTo>
                <a:lnTo>
                  <a:pt x="0" y="0"/>
                </a:lnTo>
                <a:close/>
              </a:path>
            </a:pathLst>
          </a:custGeom>
          <a:blipFill>
            <a:blip r:embed="rId2"/>
            <a:stretch>
              <a:fillRect l="0" t="0" r="0" b="0"/>
            </a:stretch>
          </a:blipFill>
        </p:spPr>
      </p:sp>
      <p:sp>
        <p:nvSpPr>
          <p:cNvPr name="Freeform 7" id="7"/>
          <p:cNvSpPr/>
          <p:nvPr/>
        </p:nvSpPr>
        <p:spPr>
          <a:xfrm flipH="false" flipV="false" rot="-7362718">
            <a:off x="7751989" y="-150177"/>
            <a:ext cx="1556330" cy="1812321"/>
          </a:xfrm>
          <a:custGeom>
            <a:avLst/>
            <a:gdLst/>
            <a:ahLst/>
            <a:cxnLst/>
            <a:rect r="r" b="b" t="t" l="l"/>
            <a:pathLst>
              <a:path h="1812321" w="1556330">
                <a:moveTo>
                  <a:pt x="0" y="0"/>
                </a:moveTo>
                <a:lnTo>
                  <a:pt x="1556331" y="0"/>
                </a:lnTo>
                <a:lnTo>
                  <a:pt x="1556331" y="1812321"/>
                </a:lnTo>
                <a:lnTo>
                  <a:pt x="0" y="1812321"/>
                </a:lnTo>
                <a:lnTo>
                  <a:pt x="0" y="0"/>
                </a:lnTo>
                <a:close/>
              </a:path>
            </a:pathLst>
          </a:custGeom>
          <a:blipFill>
            <a:blip r:embed="rId3"/>
            <a:stretch>
              <a:fillRect l="0" t="0" r="0" b="0"/>
            </a:stretch>
          </a:blipFill>
        </p:spPr>
      </p:sp>
      <p:sp>
        <p:nvSpPr>
          <p:cNvPr name="Freeform 8" id="8"/>
          <p:cNvSpPr/>
          <p:nvPr/>
        </p:nvSpPr>
        <p:spPr>
          <a:xfrm flipH="false" flipV="false" rot="0">
            <a:off x="16438956" y="3623899"/>
            <a:ext cx="2232521" cy="1900434"/>
          </a:xfrm>
          <a:custGeom>
            <a:avLst/>
            <a:gdLst/>
            <a:ahLst/>
            <a:cxnLst/>
            <a:rect r="r" b="b" t="t" l="l"/>
            <a:pathLst>
              <a:path h="1900434" w="2232521">
                <a:moveTo>
                  <a:pt x="0" y="0"/>
                </a:moveTo>
                <a:lnTo>
                  <a:pt x="2232522" y="0"/>
                </a:lnTo>
                <a:lnTo>
                  <a:pt x="2232522" y="1900433"/>
                </a:lnTo>
                <a:lnTo>
                  <a:pt x="0" y="1900433"/>
                </a:lnTo>
                <a:lnTo>
                  <a:pt x="0" y="0"/>
                </a:lnTo>
                <a:close/>
              </a:path>
            </a:pathLst>
          </a:custGeom>
          <a:blipFill>
            <a:blip r:embed="rId4"/>
            <a:stretch>
              <a:fillRect l="0" t="0" r="0" b="0"/>
            </a:stretch>
          </a:blipFill>
        </p:spPr>
      </p:sp>
      <p:sp>
        <p:nvSpPr>
          <p:cNvPr name="Freeform 9" id="9"/>
          <p:cNvSpPr/>
          <p:nvPr/>
        </p:nvSpPr>
        <p:spPr>
          <a:xfrm flipH="false" flipV="false" rot="0">
            <a:off x="10162027" y="2660582"/>
            <a:ext cx="5959735" cy="6432313"/>
          </a:xfrm>
          <a:custGeom>
            <a:avLst/>
            <a:gdLst/>
            <a:ahLst/>
            <a:cxnLst/>
            <a:rect r="r" b="b" t="t" l="l"/>
            <a:pathLst>
              <a:path h="6432313" w="5959735">
                <a:moveTo>
                  <a:pt x="0" y="0"/>
                </a:moveTo>
                <a:lnTo>
                  <a:pt x="5959735" y="0"/>
                </a:lnTo>
                <a:lnTo>
                  <a:pt x="5959735" y="6432313"/>
                </a:lnTo>
                <a:lnTo>
                  <a:pt x="0" y="6432313"/>
                </a:lnTo>
                <a:lnTo>
                  <a:pt x="0" y="0"/>
                </a:lnTo>
                <a:close/>
              </a:path>
            </a:pathLst>
          </a:custGeom>
          <a:blipFill>
            <a:blip r:embed="rId5"/>
            <a:stretch>
              <a:fillRect l="0" t="0" r="0" b="0"/>
            </a:stretch>
          </a:blipFill>
        </p:spPr>
      </p:sp>
      <p:sp>
        <p:nvSpPr>
          <p:cNvPr name="TextBox 10" id="10"/>
          <p:cNvSpPr txBox="true"/>
          <p:nvPr/>
        </p:nvSpPr>
        <p:spPr>
          <a:xfrm rot="0">
            <a:off x="1849044" y="1890909"/>
            <a:ext cx="6276929" cy="628650"/>
          </a:xfrm>
          <a:prstGeom prst="rect">
            <a:avLst/>
          </a:prstGeom>
        </p:spPr>
        <p:txBody>
          <a:bodyPr anchor="t" rtlCol="false" tIns="0" lIns="0" bIns="0" rIns="0">
            <a:spAutoFit/>
          </a:bodyPr>
          <a:lstStyle/>
          <a:p>
            <a:pPr algn="l">
              <a:lnSpc>
                <a:spcPts val="4920"/>
              </a:lnSpc>
            </a:pPr>
            <a:r>
              <a:rPr lang="en-US" sz="4100">
                <a:solidFill>
                  <a:srgbClr val="FFFFFF"/>
                </a:solidFill>
                <a:latin typeface="Fira Sans"/>
                <a:ea typeface="Fira Sans"/>
                <a:cs typeface="Fira Sans"/>
                <a:sym typeface="Fira Sans"/>
              </a:rPr>
              <a:t>Decorator handle_errors</a:t>
            </a:r>
          </a:p>
        </p:txBody>
      </p:sp>
      <p:sp>
        <p:nvSpPr>
          <p:cNvPr name="TextBox 11" id="11"/>
          <p:cNvSpPr txBox="true"/>
          <p:nvPr/>
        </p:nvSpPr>
        <p:spPr>
          <a:xfrm rot="0">
            <a:off x="10162027" y="1890909"/>
            <a:ext cx="6276929" cy="628650"/>
          </a:xfrm>
          <a:prstGeom prst="rect">
            <a:avLst/>
          </a:prstGeom>
        </p:spPr>
        <p:txBody>
          <a:bodyPr anchor="t" rtlCol="false" tIns="0" lIns="0" bIns="0" rIns="0">
            <a:spAutoFit/>
          </a:bodyPr>
          <a:lstStyle/>
          <a:p>
            <a:pPr algn="l">
              <a:lnSpc>
                <a:spcPts val="4920"/>
              </a:lnSpc>
            </a:pPr>
            <a:r>
              <a:rPr lang="en-US" sz="4100" b="true">
                <a:solidFill>
                  <a:srgbClr val="FFFFFF"/>
                </a:solidFill>
                <a:latin typeface="Fira Sans Bold"/>
                <a:ea typeface="Fira Sans Bold"/>
                <a:cs typeface="Fira Sans Bold"/>
                <a:sym typeface="Fira Sans Bold"/>
              </a:rPr>
              <a:t>Implementation</a:t>
            </a:r>
          </a:p>
        </p:txBody>
      </p:sp>
      <p:sp>
        <p:nvSpPr>
          <p:cNvPr name="TextBox 12" id="12"/>
          <p:cNvSpPr txBox="true"/>
          <p:nvPr/>
        </p:nvSpPr>
        <p:spPr>
          <a:xfrm rot="0">
            <a:off x="1646953" y="3274845"/>
            <a:ext cx="6681111" cy="4356100"/>
          </a:xfrm>
          <a:prstGeom prst="rect">
            <a:avLst/>
          </a:prstGeom>
        </p:spPr>
        <p:txBody>
          <a:bodyPr anchor="t" rtlCol="false" tIns="0" lIns="0" bIns="0" rIns="0">
            <a:spAutoFit/>
          </a:bodyPr>
          <a:lstStyle/>
          <a:p>
            <a:pPr algn="l">
              <a:lnSpc>
                <a:spcPts val="5014"/>
              </a:lnSpc>
            </a:pPr>
            <a:r>
              <a:rPr lang="en-US" sz="2949">
                <a:solidFill>
                  <a:srgbClr val="FFFFFF"/>
                </a:solidFill>
                <a:latin typeface="Clear Sans"/>
                <a:ea typeface="Clear Sans"/>
                <a:cs typeface="Clear Sans"/>
                <a:sym typeface="Clear Sans"/>
              </a:rPr>
              <a:t>Decorator factory xử lý ngoại lệ, ghi log lỗi chi tiết, và trả về giá trị mặc định thay vì để ứng dụng crash. </a:t>
            </a:r>
          </a:p>
          <a:p>
            <a:pPr algn="l">
              <a:lnSpc>
                <a:spcPts val="5014"/>
              </a:lnSpc>
            </a:pPr>
          </a:p>
          <a:p>
            <a:pPr algn="l">
              <a:lnSpc>
                <a:spcPts val="5015"/>
              </a:lnSpc>
            </a:pPr>
            <a:r>
              <a:rPr lang="en-US" sz="2950">
                <a:solidFill>
                  <a:srgbClr val="FFFFFF"/>
                </a:solidFill>
                <a:latin typeface="Clear Sans"/>
                <a:ea typeface="Clear Sans"/>
                <a:cs typeface="Clear Sans"/>
                <a:sym typeface="Clear Sans"/>
              </a:rPr>
              <a:t>Phân loại lỗi theo loại (TypeError, ValueError, Exception chung) giúp việc debug dễ dàng hơn.</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4356569"/>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grpSp>
        <p:nvGrpSpPr>
          <p:cNvPr name="Group 4" id="4"/>
          <p:cNvGrpSpPr/>
          <p:nvPr/>
        </p:nvGrpSpPr>
        <p:grpSpPr>
          <a:xfrm rot="0">
            <a:off x="6701301" y="4356569"/>
            <a:ext cx="4885398" cy="4901731"/>
            <a:chOff x="0" y="0"/>
            <a:chExt cx="19016997" cy="19080574"/>
          </a:xfrm>
        </p:grpSpPr>
        <p:sp>
          <p:nvSpPr>
            <p:cNvPr name="Freeform 5" id="5"/>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FFFFFF">
                <a:alpha val="49804"/>
              </a:srgbClr>
            </a:solidFill>
          </p:spPr>
        </p:sp>
      </p:grpSp>
      <p:grpSp>
        <p:nvGrpSpPr>
          <p:cNvPr name="Group 6" id="6"/>
          <p:cNvGrpSpPr/>
          <p:nvPr/>
        </p:nvGrpSpPr>
        <p:grpSpPr>
          <a:xfrm rot="0">
            <a:off x="12373902" y="4356569"/>
            <a:ext cx="4885398" cy="4901731"/>
            <a:chOff x="0" y="0"/>
            <a:chExt cx="19016997" cy="19080574"/>
          </a:xfrm>
        </p:grpSpPr>
        <p:sp>
          <p:nvSpPr>
            <p:cNvPr name="Freeform 7" id="7"/>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8" id="8"/>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grpSp>
        <p:nvGrpSpPr>
          <p:cNvPr name="Group 9" id="9"/>
          <p:cNvGrpSpPr/>
          <p:nvPr/>
        </p:nvGrpSpPr>
        <p:grpSpPr>
          <a:xfrm rot="0">
            <a:off x="1028700" y="1287681"/>
            <a:ext cx="12084767" cy="1942662"/>
            <a:chOff x="0" y="0"/>
            <a:chExt cx="16113022" cy="2590217"/>
          </a:xfrm>
        </p:grpSpPr>
        <p:sp>
          <p:nvSpPr>
            <p:cNvPr name="TextBox 10" id="10"/>
            <p:cNvSpPr txBox="true"/>
            <p:nvPr/>
          </p:nvSpPr>
          <p:spPr>
            <a:xfrm rot="0">
              <a:off x="0" y="-9525"/>
              <a:ext cx="16113022" cy="28797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Few-s</a:t>
              </a:r>
              <a:r>
                <a:rPr lang="en-US" sz="7099" b="true">
                  <a:solidFill>
                    <a:srgbClr val="64E688"/>
                  </a:solidFill>
                  <a:latin typeface="Fira Sans Ultra-Bold"/>
                  <a:ea typeface="Fira Sans Ultra-Bold"/>
                  <a:cs typeface="Fira Sans Ultra-Bold"/>
                  <a:sym typeface="Fira Sans Ultra-Bold"/>
                </a:rPr>
                <a:t>hot Learning và Fine-tuning cho Style Guide</a:t>
              </a:r>
            </a:p>
          </p:txBody>
        </p:sp>
        <p:sp>
          <p:nvSpPr>
            <p:cNvPr name="TextBox 11" id="11"/>
            <p:cNvSpPr txBox="true"/>
            <p:nvPr/>
          </p:nvSpPr>
          <p:spPr>
            <a:xfrm rot="0">
              <a:off x="0" y="3222042"/>
              <a:ext cx="16113022" cy="587375"/>
            </a:xfrm>
            <a:prstGeom prst="rect">
              <a:avLst/>
            </a:prstGeom>
          </p:spPr>
          <p:txBody>
            <a:bodyPr anchor="t" rtlCol="false" tIns="0" lIns="0" bIns="0" rIns="0">
              <a:spAutoFit/>
            </a:bodyPr>
            <a:lstStyle/>
            <a:p>
              <a:pPr algn="l">
                <a:lnSpc>
                  <a:spcPts val="3599"/>
                </a:lnSpc>
              </a:pPr>
            </a:p>
          </p:txBody>
        </p:sp>
      </p:grpSp>
      <p:grpSp>
        <p:nvGrpSpPr>
          <p:cNvPr name="Group 12" id="12"/>
          <p:cNvGrpSpPr/>
          <p:nvPr/>
        </p:nvGrpSpPr>
        <p:grpSpPr>
          <a:xfrm rot="0">
            <a:off x="1355661" y="4721981"/>
            <a:ext cx="3973304" cy="3774032"/>
            <a:chOff x="0" y="0"/>
            <a:chExt cx="5297739" cy="5032043"/>
          </a:xfrm>
        </p:grpSpPr>
        <p:sp>
          <p:nvSpPr>
            <p:cNvPr name="TextBox 13" id="13"/>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Few-shot Decorator Style</a:t>
              </a:r>
              <a:r>
                <a:rPr lang="en-US" sz="2600" b="true">
                  <a:solidFill>
                    <a:srgbClr val="64E688"/>
                  </a:solidFill>
                  <a:latin typeface="Clear Sans Medium"/>
                  <a:ea typeface="Clear Sans Medium"/>
                  <a:cs typeface="Clear Sans Medium"/>
                  <a:sym typeface="Clear Sans Medium"/>
                </a:rPr>
                <a:t> cho GitHub Copilot</a:t>
              </a:r>
            </a:p>
          </p:txBody>
        </p:sp>
        <p:sp>
          <p:nvSpPr>
            <p:cNvPr name="TextBox 14" id="14"/>
            <p:cNvSpPr txBox="true"/>
            <p:nvPr/>
          </p:nvSpPr>
          <p:spPr>
            <a:xfrm rot="0">
              <a:off x="0" y="1944249"/>
              <a:ext cx="5297739" cy="30877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Vi</a:t>
              </a:r>
              <a:r>
                <a:rPr lang="en-US" sz="2199">
                  <a:solidFill>
                    <a:srgbClr val="FFFFFF"/>
                  </a:solidFill>
                  <a:latin typeface="Clear Sans"/>
                  <a:ea typeface="Clear Sans"/>
                  <a:cs typeface="Clear Sans"/>
                  <a:sym typeface="Clear Sans"/>
                </a:rPr>
                <a:t>ết sẵn 2-3 decorator mẫu trong cùng file.</a:t>
              </a:r>
            </a:p>
            <a:p>
              <a:pPr algn="l">
                <a:lnSpc>
                  <a:spcPts val="3079"/>
                </a:lnSpc>
              </a:pPr>
            </a:p>
            <a:p>
              <a:pPr algn="l">
                <a:lnSpc>
                  <a:spcPts val="3079"/>
                </a:lnSpc>
              </a:pPr>
              <a:r>
                <a:rPr lang="en-US" sz="2200">
                  <a:solidFill>
                    <a:srgbClr val="FFFFFF"/>
                  </a:solidFill>
                  <a:latin typeface="Clear Sans"/>
                  <a:ea typeface="Clear Sans"/>
                  <a:cs typeface="Clear Sans"/>
                  <a:sym typeface="Clear Sans"/>
                </a:rPr>
                <a:t>Copilot sẽ học được pattern từ các decorator đã viết và áp dụng khi sinh decorator.</a:t>
              </a:r>
            </a:p>
          </p:txBody>
        </p:sp>
      </p:grpSp>
      <p:grpSp>
        <p:nvGrpSpPr>
          <p:cNvPr name="Group 15" id="15"/>
          <p:cNvGrpSpPr/>
          <p:nvPr/>
        </p:nvGrpSpPr>
        <p:grpSpPr>
          <a:xfrm rot="0">
            <a:off x="7071083" y="4647626"/>
            <a:ext cx="3973304" cy="4125962"/>
            <a:chOff x="0" y="0"/>
            <a:chExt cx="5297739" cy="5501283"/>
          </a:xfrm>
        </p:grpSpPr>
        <p:sp>
          <p:nvSpPr>
            <p:cNvPr name="TextBox 16" id="16"/>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Few-shot</a:t>
              </a:r>
              <a:r>
                <a:rPr lang="en-US" sz="2600" b="true">
                  <a:solidFill>
                    <a:srgbClr val="64E688"/>
                  </a:solidFill>
                  <a:latin typeface="Clear Sans Medium"/>
                  <a:ea typeface="Clear Sans Medium"/>
                  <a:cs typeface="Clear Sans Medium"/>
                  <a:sym typeface="Clear Sans Medium"/>
                </a:rPr>
                <a:t> Learning trong ChatGPT</a:t>
              </a:r>
            </a:p>
          </p:txBody>
        </p:sp>
        <p:sp>
          <p:nvSpPr>
            <p:cNvPr name="TextBox 17" id="17"/>
            <p:cNvSpPr txBox="true"/>
            <p:nvPr/>
          </p:nvSpPr>
          <p:spPr>
            <a:xfrm rot="0">
              <a:off x="0" y="1372089"/>
              <a:ext cx="5297739" cy="41291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cung cấp các cặp ví dụ (user request → assistant response) trong prompt.</a:t>
              </a:r>
            </a:p>
            <a:p>
              <a:pPr algn="l">
                <a:lnSpc>
                  <a:spcPts val="3079"/>
                </a:lnSpc>
              </a:pPr>
            </a:p>
            <a:p>
              <a:pPr algn="l">
                <a:lnSpc>
                  <a:spcPts val="3079"/>
                </a:lnSpc>
              </a:pPr>
              <a:r>
                <a:rPr lang="en-US" sz="2200">
                  <a:solidFill>
                    <a:srgbClr val="FFFFFF"/>
                  </a:solidFill>
                  <a:latin typeface="Clear Sans"/>
                  <a:ea typeface="Clear Sans"/>
                  <a:cs typeface="Clear Sans"/>
                  <a:sym typeface="Clear Sans"/>
                </a:rPr>
                <a:t>Sau 2-3 ví dụ, ChatGPT hiểu được quy ước đặt tên, format logging, cách xử lý lỗi, và style code tổng thể.</a:t>
              </a:r>
            </a:p>
          </p:txBody>
        </p:sp>
      </p:grpSp>
      <p:grpSp>
        <p:nvGrpSpPr>
          <p:cNvPr name="Group 18" id="18"/>
          <p:cNvGrpSpPr/>
          <p:nvPr/>
        </p:nvGrpSpPr>
        <p:grpSpPr>
          <a:xfrm rot="0">
            <a:off x="12830653" y="4690666"/>
            <a:ext cx="3973304" cy="3738672"/>
            <a:chOff x="0" y="0"/>
            <a:chExt cx="5297739" cy="4984896"/>
          </a:xfrm>
        </p:grpSpPr>
        <p:sp>
          <p:nvSpPr>
            <p:cNvPr name="TextBox 19" id="19"/>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Fi</a:t>
              </a:r>
              <a:r>
                <a:rPr lang="en-US" sz="2600" b="true">
                  <a:solidFill>
                    <a:srgbClr val="64E688"/>
                  </a:solidFill>
                  <a:latin typeface="Clear Sans Medium"/>
                  <a:ea typeface="Clear Sans Medium"/>
                  <a:cs typeface="Clear Sans Medium"/>
                  <a:sym typeface="Clear Sans Medium"/>
                </a:rPr>
                <a:t>ne-tuning cho OpenAI API</a:t>
              </a:r>
            </a:p>
          </p:txBody>
        </p:sp>
        <p:sp>
          <p:nvSpPr>
            <p:cNvPr name="TextBox 20" id="20"/>
            <p:cNvSpPr txBox="true"/>
            <p:nvPr/>
          </p:nvSpPr>
          <p:spPr>
            <a:xfrm rot="0">
              <a:off x="0" y="1897103"/>
              <a:ext cx="5297739" cy="30877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Khi</a:t>
              </a:r>
              <a:r>
                <a:rPr lang="en-US" sz="2199">
                  <a:solidFill>
                    <a:srgbClr val="FFFFFF"/>
                  </a:solidFill>
                  <a:latin typeface="Clear Sans"/>
                  <a:ea typeface="Clear Sans"/>
                  <a:cs typeface="Clear Sans"/>
                  <a:sym typeface="Clear Sans"/>
                </a:rPr>
                <a:t> cần nhất quán cao và sử dụng lặp lại nhiều lần.</a:t>
              </a:r>
            </a:p>
            <a:p>
              <a:pPr algn="l">
                <a:lnSpc>
                  <a:spcPts val="3079"/>
                </a:lnSpc>
              </a:pPr>
            </a:p>
            <a:p>
              <a:pPr algn="l">
                <a:lnSpc>
                  <a:spcPts val="3079"/>
                </a:lnSpc>
              </a:pPr>
              <a:r>
                <a:rPr lang="en-US" sz="2200">
                  <a:solidFill>
                    <a:srgbClr val="FFFFFF"/>
                  </a:solidFill>
                  <a:latin typeface="Clear Sans"/>
                  <a:ea typeface="Clear Sans"/>
                  <a:cs typeface="Clear Sans"/>
                  <a:sym typeface="Clear Sans"/>
                </a:rPr>
                <a:t>JSONL bao gồm cả positive examples  và negative examples.</a:t>
              </a:r>
            </a:p>
          </p:txBody>
        </p:sp>
      </p:gr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4356569"/>
            <a:ext cx="4885398" cy="4901731"/>
            <a:chOff x="0" y="0"/>
            <a:chExt cx="19016997" cy="19080574"/>
          </a:xfrm>
        </p:grpSpPr>
        <p:sp>
          <p:nvSpPr>
            <p:cNvPr name="Freeform 3" id="3"/>
            <p:cNvSpPr/>
            <p:nvPr/>
          </p:nvSpPr>
          <p:spPr>
            <a:xfrm flipH="false" flipV="false" rot="0">
              <a:off x="0" y="0"/>
              <a:ext cx="19016997" cy="19080575"/>
            </a:xfrm>
            <a:custGeom>
              <a:avLst/>
              <a:gdLst/>
              <a:ahLst/>
              <a:cxnLst/>
              <a:rect r="r" b="b" t="t" l="l"/>
              <a:pathLst>
                <a:path h="19080575" w="19016997">
                  <a:moveTo>
                    <a:pt x="18892537" y="59690"/>
                  </a:moveTo>
                  <a:cubicBezTo>
                    <a:pt x="18928097" y="59690"/>
                    <a:pt x="18957306" y="88900"/>
                    <a:pt x="18957306" y="124460"/>
                  </a:cubicBezTo>
                  <a:lnTo>
                    <a:pt x="18957306" y="18956114"/>
                  </a:lnTo>
                  <a:cubicBezTo>
                    <a:pt x="18957306" y="18991675"/>
                    <a:pt x="18928097" y="19020884"/>
                    <a:pt x="18892537" y="19020884"/>
                  </a:cubicBezTo>
                  <a:lnTo>
                    <a:pt x="124460" y="19020884"/>
                  </a:lnTo>
                  <a:cubicBezTo>
                    <a:pt x="88900" y="19020884"/>
                    <a:pt x="59690" y="18991675"/>
                    <a:pt x="59690" y="18956114"/>
                  </a:cubicBezTo>
                  <a:lnTo>
                    <a:pt x="59690" y="124460"/>
                  </a:lnTo>
                  <a:cubicBezTo>
                    <a:pt x="59690" y="88900"/>
                    <a:pt x="88900" y="59690"/>
                    <a:pt x="124460" y="59690"/>
                  </a:cubicBezTo>
                  <a:lnTo>
                    <a:pt x="18892537" y="59690"/>
                  </a:lnTo>
                  <a:moveTo>
                    <a:pt x="18892537" y="0"/>
                  </a:moveTo>
                  <a:lnTo>
                    <a:pt x="124460" y="0"/>
                  </a:lnTo>
                  <a:cubicBezTo>
                    <a:pt x="55880" y="0"/>
                    <a:pt x="0" y="55880"/>
                    <a:pt x="0" y="124460"/>
                  </a:cubicBezTo>
                  <a:lnTo>
                    <a:pt x="0" y="18956114"/>
                  </a:lnTo>
                  <a:cubicBezTo>
                    <a:pt x="0" y="19024695"/>
                    <a:pt x="55880" y="19080575"/>
                    <a:pt x="124460" y="19080575"/>
                  </a:cubicBezTo>
                  <a:lnTo>
                    <a:pt x="18892537" y="19080575"/>
                  </a:lnTo>
                  <a:cubicBezTo>
                    <a:pt x="18961117" y="19080575"/>
                    <a:pt x="19016997" y="19024695"/>
                    <a:pt x="19016997" y="18956114"/>
                  </a:cubicBezTo>
                  <a:lnTo>
                    <a:pt x="19016997" y="124460"/>
                  </a:lnTo>
                  <a:cubicBezTo>
                    <a:pt x="19016997" y="55880"/>
                    <a:pt x="18961117" y="0"/>
                    <a:pt x="18892537" y="0"/>
                  </a:cubicBezTo>
                  <a:close/>
                </a:path>
              </a:pathLst>
            </a:custGeom>
            <a:solidFill>
              <a:srgbClr val="64E688">
                <a:alpha val="49804"/>
              </a:srgbClr>
            </a:solidFill>
          </p:spPr>
        </p:sp>
      </p:grpSp>
      <p:sp>
        <p:nvSpPr>
          <p:cNvPr name="Freeform 4" id="4"/>
          <p:cNvSpPr/>
          <p:nvPr/>
        </p:nvSpPr>
        <p:spPr>
          <a:xfrm flipH="false" flipV="false" rot="502696">
            <a:off x="14205023" y="-2102195"/>
            <a:ext cx="4481173" cy="5558044"/>
          </a:xfrm>
          <a:custGeom>
            <a:avLst/>
            <a:gdLst/>
            <a:ahLst/>
            <a:cxnLst/>
            <a:rect r="r" b="b" t="t" l="l"/>
            <a:pathLst>
              <a:path h="5558044" w="4481173">
                <a:moveTo>
                  <a:pt x="0" y="0"/>
                </a:moveTo>
                <a:lnTo>
                  <a:pt x="4481173" y="0"/>
                </a:lnTo>
                <a:lnTo>
                  <a:pt x="4481173" y="5558045"/>
                </a:lnTo>
                <a:lnTo>
                  <a:pt x="0" y="5558045"/>
                </a:lnTo>
                <a:lnTo>
                  <a:pt x="0" y="0"/>
                </a:lnTo>
                <a:close/>
              </a:path>
            </a:pathLst>
          </a:custGeom>
          <a:blipFill>
            <a:blip r:embed="rId2"/>
            <a:stretch>
              <a:fillRect l="0" t="0" r="0" b="0"/>
            </a:stretch>
          </a:blipFill>
        </p:spPr>
      </p:sp>
      <p:graphicFrame>
        <p:nvGraphicFramePr>
          <p:cNvPr name="Object 5" id="5"/>
          <p:cNvGraphicFramePr/>
          <p:nvPr/>
        </p:nvGraphicFramePr>
        <p:xfrm>
          <a:off x="7430197" y="4356569"/>
          <a:ext cx="9015412" cy="1885950"/>
        </p:xfrm>
        <a:graphic>
          <a:graphicData uri="http://schemas.openxmlformats.org/presentationml/2006/ole">
            <p:oleObj imgW="10820400" imgH="36830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grpSp>
        <p:nvGrpSpPr>
          <p:cNvPr name="Group 6" id="6"/>
          <p:cNvGrpSpPr/>
          <p:nvPr/>
        </p:nvGrpSpPr>
        <p:grpSpPr>
          <a:xfrm rot="0">
            <a:off x="1028700" y="1287681"/>
            <a:ext cx="12084767" cy="1942662"/>
            <a:chOff x="0" y="0"/>
            <a:chExt cx="16113022" cy="2590217"/>
          </a:xfrm>
        </p:grpSpPr>
        <p:sp>
          <p:nvSpPr>
            <p:cNvPr name="TextBox 7" id="7"/>
            <p:cNvSpPr txBox="true"/>
            <p:nvPr/>
          </p:nvSpPr>
          <p:spPr>
            <a:xfrm rot="0">
              <a:off x="0" y="-9525"/>
              <a:ext cx="16113022" cy="2879725"/>
            </a:xfrm>
            <a:prstGeom prst="rect">
              <a:avLst/>
            </a:prstGeom>
          </p:spPr>
          <p:txBody>
            <a:bodyPr anchor="t" rtlCol="false" tIns="0" lIns="0" bIns="0" rIns="0">
              <a:spAutoFit/>
            </a:bodyPr>
            <a:lstStyle/>
            <a:p>
              <a:pPr algn="l">
                <a:lnSpc>
                  <a:spcPts val="8519"/>
                </a:lnSpc>
              </a:pPr>
              <a:r>
                <a:rPr lang="en-US" sz="7099" b="true">
                  <a:solidFill>
                    <a:srgbClr val="64E688"/>
                  </a:solidFill>
                  <a:latin typeface="Fira Sans Ultra-Bold"/>
                  <a:ea typeface="Fira Sans Ultra-Bold"/>
                  <a:cs typeface="Fira Sans Ultra-Bold"/>
                  <a:sym typeface="Fira Sans Ultra-Bold"/>
                </a:rPr>
                <a:t>Few-s</a:t>
              </a:r>
              <a:r>
                <a:rPr lang="en-US" sz="7099" b="true">
                  <a:solidFill>
                    <a:srgbClr val="64E688"/>
                  </a:solidFill>
                  <a:latin typeface="Fira Sans Ultra-Bold"/>
                  <a:ea typeface="Fira Sans Ultra-Bold"/>
                  <a:cs typeface="Fira Sans Ultra-Bold"/>
                  <a:sym typeface="Fira Sans Ultra-Bold"/>
                </a:rPr>
                <a:t>hot Learning và Fine-tuning cho Style Guide</a:t>
              </a:r>
            </a:p>
          </p:txBody>
        </p:sp>
        <p:sp>
          <p:nvSpPr>
            <p:cNvPr name="TextBox 8" id="8"/>
            <p:cNvSpPr txBox="true"/>
            <p:nvPr/>
          </p:nvSpPr>
          <p:spPr>
            <a:xfrm rot="0">
              <a:off x="0" y="3222042"/>
              <a:ext cx="16113022" cy="587375"/>
            </a:xfrm>
            <a:prstGeom prst="rect">
              <a:avLst/>
            </a:prstGeom>
          </p:spPr>
          <p:txBody>
            <a:bodyPr anchor="t" rtlCol="false" tIns="0" lIns="0" bIns="0" rIns="0">
              <a:spAutoFit/>
            </a:bodyPr>
            <a:lstStyle/>
            <a:p>
              <a:pPr algn="l">
                <a:lnSpc>
                  <a:spcPts val="3599"/>
                </a:lnSpc>
              </a:pPr>
            </a:p>
          </p:txBody>
        </p:sp>
      </p:grpSp>
      <p:grpSp>
        <p:nvGrpSpPr>
          <p:cNvPr name="Group 9" id="9"/>
          <p:cNvGrpSpPr/>
          <p:nvPr/>
        </p:nvGrpSpPr>
        <p:grpSpPr>
          <a:xfrm rot="0">
            <a:off x="1485451" y="4690666"/>
            <a:ext cx="3973304" cy="3738672"/>
            <a:chOff x="0" y="0"/>
            <a:chExt cx="5297739" cy="4984896"/>
          </a:xfrm>
        </p:grpSpPr>
        <p:sp>
          <p:nvSpPr>
            <p:cNvPr name="TextBox 10" id="10"/>
            <p:cNvSpPr txBox="true"/>
            <p:nvPr/>
          </p:nvSpPr>
          <p:spPr>
            <a:xfrm rot="0">
              <a:off x="0" y="-38100"/>
              <a:ext cx="5297739" cy="1169247"/>
            </a:xfrm>
            <a:prstGeom prst="rect">
              <a:avLst/>
            </a:prstGeom>
          </p:spPr>
          <p:txBody>
            <a:bodyPr anchor="t" rtlCol="false" tIns="0" lIns="0" bIns="0" rIns="0">
              <a:spAutoFit/>
            </a:bodyPr>
            <a:lstStyle/>
            <a:p>
              <a:pPr algn="l">
                <a:lnSpc>
                  <a:spcPts val="3640"/>
                </a:lnSpc>
              </a:pPr>
              <a:r>
                <a:rPr lang="en-US" sz="2600" b="true">
                  <a:solidFill>
                    <a:srgbClr val="64E688"/>
                  </a:solidFill>
                  <a:latin typeface="Clear Sans Medium"/>
                  <a:ea typeface="Clear Sans Medium"/>
                  <a:cs typeface="Clear Sans Medium"/>
                  <a:sym typeface="Clear Sans Medium"/>
                </a:rPr>
                <a:t>Fi</a:t>
              </a:r>
              <a:r>
                <a:rPr lang="en-US" sz="2600" b="true">
                  <a:solidFill>
                    <a:srgbClr val="64E688"/>
                  </a:solidFill>
                  <a:latin typeface="Clear Sans Medium"/>
                  <a:ea typeface="Clear Sans Medium"/>
                  <a:cs typeface="Clear Sans Medium"/>
                  <a:sym typeface="Clear Sans Medium"/>
                </a:rPr>
                <a:t>ne-tuning cho OpenAI API</a:t>
              </a:r>
            </a:p>
          </p:txBody>
        </p:sp>
        <p:sp>
          <p:nvSpPr>
            <p:cNvPr name="TextBox 11" id="11"/>
            <p:cNvSpPr txBox="true"/>
            <p:nvPr/>
          </p:nvSpPr>
          <p:spPr>
            <a:xfrm rot="0">
              <a:off x="0" y="1897103"/>
              <a:ext cx="5297739" cy="3087793"/>
            </a:xfrm>
            <a:prstGeom prst="rect">
              <a:avLst/>
            </a:prstGeom>
          </p:spPr>
          <p:txBody>
            <a:bodyPr anchor="t" rtlCol="false" tIns="0" lIns="0" bIns="0" rIns="0">
              <a:spAutoFit/>
            </a:bodyPr>
            <a:lstStyle/>
            <a:p>
              <a:pPr algn="l">
                <a:lnSpc>
                  <a:spcPts val="3079"/>
                </a:lnSpc>
              </a:pPr>
              <a:r>
                <a:rPr lang="en-US" sz="2199">
                  <a:solidFill>
                    <a:srgbClr val="FFFFFF"/>
                  </a:solidFill>
                  <a:latin typeface="Clear Sans"/>
                  <a:ea typeface="Clear Sans"/>
                  <a:cs typeface="Clear Sans"/>
                  <a:sym typeface="Clear Sans"/>
                </a:rPr>
                <a:t>Khi</a:t>
              </a:r>
              <a:r>
                <a:rPr lang="en-US" sz="2199">
                  <a:solidFill>
                    <a:srgbClr val="FFFFFF"/>
                  </a:solidFill>
                  <a:latin typeface="Clear Sans"/>
                  <a:ea typeface="Clear Sans"/>
                  <a:cs typeface="Clear Sans"/>
                  <a:sym typeface="Clear Sans"/>
                </a:rPr>
                <a:t> cần nhất quán cao và sử dụng lặp lại nhiều lần.</a:t>
              </a:r>
            </a:p>
            <a:p>
              <a:pPr algn="l">
                <a:lnSpc>
                  <a:spcPts val="3079"/>
                </a:lnSpc>
              </a:pPr>
            </a:p>
            <a:p>
              <a:pPr algn="l">
                <a:lnSpc>
                  <a:spcPts val="3079"/>
                </a:lnSpc>
              </a:pPr>
              <a:r>
                <a:rPr lang="en-US" sz="2200">
                  <a:solidFill>
                    <a:srgbClr val="FFFFFF"/>
                  </a:solidFill>
                  <a:latin typeface="Clear Sans"/>
                  <a:ea typeface="Clear Sans"/>
                  <a:cs typeface="Clear Sans"/>
                  <a:sym typeface="Clear Sans"/>
                </a:rPr>
                <a:t>JSONL bao gồm cả positive examples  và negative examples.</a:t>
              </a:r>
            </a:p>
          </p:txBody>
        </p:sp>
      </p:gr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826200" y="1072233"/>
            <a:ext cx="6860568" cy="2193026"/>
            <a:chOff x="0" y="0"/>
            <a:chExt cx="9147424" cy="2924034"/>
          </a:xfrm>
        </p:grpSpPr>
        <p:sp>
          <p:nvSpPr>
            <p:cNvPr name="TextBox 3" id="3"/>
            <p:cNvSpPr txBox="true"/>
            <p:nvPr/>
          </p:nvSpPr>
          <p:spPr>
            <a:xfrm rot="0">
              <a:off x="270000" y="155739"/>
              <a:ext cx="8877424" cy="2217843"/>
            </a:xfrm>
            <a:prstGeom prst="rect">
              <a:avLst/>
            </a:prstGeom>
          </p:spPr>
          <p:txBody>
            <a:bodyPr anchor="t" rtlCol="false" tIns="0" lIns="0" bIns="0" rIns="0">
              <a:spAutoFit/>
            </a:bodyPr>
            <a:lstStyle/>
            <a:p>
              <a:pPr algn="l">
                <a:lnSpc>
                  <a:spcPts val="6755"/>
                </a:lnSpc>
              </a:pPr>
              <a:r>
                <a:rPr lang="en-US" sz="4825" b="true">
                  <a:solidFill>
                    <a:srgbClr val="64E688"/>
                  </a:solidFill>
                  <a:latin typeface="Fira Sans Ultra-Bold"/>
                  <a:ea typeface="Fira Sans Ultra-Bold"/>
                  <a:cs typeface="Fira Sans Ultra-Bold"/>
                  <a:sym typeface="Fira Sans Ultra-Bold"/>
                </a:rPr>
                <a:t>So sán</a:t>
              </a:r>
              <a:r>
                <a:rPr lang="en-US" sz="4825" b="true">
                  <a:solidFill>
                    <a:srgbClr val="64E688"/>
                  </a:solidFill>
                  <a:latin typeface="Fira Sans Ultra-Bold"/>
                  <a:ea typeface="Fira Sans Ultra-Bold"/>
                  <a:cs typeface="Fira Sans Ultra-Bold"/>
                  <a:sym typeface="Fira Sans Ultra-Bold"/>
                </a:rPr>
                <a:t>h các công cụ GenAI</a:t>
              </a:r>
            </a:p>
          </p:txBody>
        </p:sp>
        <p:grpSp>
          <p:nvGrpSpPr>
            <p:cNvPr name="Group 4" id="4"/>
            <p:cNvGrpSpPr/>
            <p:nvPr/>
          </p:nvGrpSpPr>
          <p:grpSpPr>
            <a:xfrm rot="0">
              <a:off x="0" y="0"/>
              <a:ext cx="8054362" cy="2924034"/>
              <a:chOff x="0" y="0"/>
              <a:chExt cx="23514425" cy="8536615"/>
            </a:xfrm>
          </p:grpSpPr>
          <p:sp>
            <p:nvSpPr>
              <p:cNvPr name="Freeform 5" id="5"/>
              <p:cNvSpPr/>
              <p:nvPr/>
            </p:nvSpPr>
            <p:spPr>
              <a:xfrm flipH="false" flipV="false" rot="0">
                <a:off x="0" y="0"/>
                <a:ext cx="23514425" cy="8536615"/>
              </a:xfrm>
              <a:custGeom>
                <a:avLst/>
                <a:gdLst/>
                <a:ahLst/>
                <a:cxnLst/>
                <a:rect r="r" b="b" t="t" l="l"/>
                <a:pathLst>
                  <a:path h="8536615" w="23514425">
                    <a:moveTo>
                      <a:pt x="23389965" y="59690"/>
                    </a:moveTo>
                    <a:cubicBezTo>
                      <a:pt x="23425525" y="59690"/>
                      <a:pt x="23454736" y="88900"/>
                      <a:pt x="23454736" y="124460"/>
                    </a:cubicBezTo>
                    <a:lnTo>
                      <a:pt x="23454736" y="8412155"/>
                    </a:lnTo>
                    <a:cubicBezTo>
                      <a:pt x="23454736" y="8447715"/>
                      <a:pt x="23425525" y="8476924"/>
                      <a:pt x="23389965" y="8476924"/>
                    </a:cubicBezTo>
                    <a:lnTo>
                      <a:pt x="124460" y="8476924"/>
                    </a:lnTo>
                    <a:cubicBezTo>
                      <a:pt x="88900" y="8476924"/>
                      <a:pt x="59690" y="8447715"/>
                      <a:pt x="59690" y="8412155"/>
                    </a:cubicBezTo>
                    <a:lnTo>
                      <a:pt x="59690" y="124460"/>
                    </a:lnTo>
                    <a:cubicBezTo>
                      <a:pt x="59690" y="88900"/>
                      <a:pt x="88900" y="59690"/>
                      <a:pt x="124460" y="59690"/>
                    </a:cubicBezTo>
                    <a:lnTo>
                      <a:pt x="23389965" y="59690"/>
                    </a:lnTo>
                    <a:moveTo>
                      <a:pt x="23389965" y="0"/>
                    </a:moveTo>
                    <a:lnTo>
                      <a:pt x="124460" y="0"/>
                    </a:lnTo>
                    <a:cubicBezTo>
                      <a:pt x="55880" y="0"/>
                      <a:pt x="0" y="55880"/>
                      <a:pt x="0" y="124460"/>
                    </a:cubicBezTo>
                    <a:lnTo>
                      <a:pt x="0" y="8412155"/>
                    </a:lnTo>
                    <a:cubicBezTo>
                      <a:pt x="0" y="8480734"/>
                      <a:pt x="55880" y="8536615"/>
                      <a:pt x="124460" y="8536615"/>
                    </a:cubicBezTo>
                    <a:lnTo>
                      <a:pt x="23389966" y="8536615"/>
                    </a:lnTo>
                    <a:cubicBezTo>
                      <a:pt x="23458545" y="8536615"/>
                      <a:pt x="23514425" y="8480734"/>
                      <a:pt x="23514425" y="8412155"/>
                    </a:cubicBezTo>
                    <a:lnTo>
                      <a:pt x="23514425" y="124460"/>
                    </a:lnTo>
                    <a:cubicBezTo>
                      <a:pt x="23514425" y="55880"/>
                      <a:pt x="23458545" y="0"/>
                      <a:pt x="23389965" y="0"/>
                    </a:cubicBezTo>
                    <a:close/>
                  </a:path>
                </a:pathLst>
              </a:custGeom>
              <a:solidFill>
                <a:srgbClr val="64E688">
                  <a:alpha val="49804"/>
                </a:srgbClr>
              </a:solidFill>
            </p:spPr>
          </p:sp>
        </p:grpSp>
      </p:grpSp>
      <p:graphicFrame>
        <p:nvGraphicFramePr>
          <p:cNvPr name="Object 6" id="6"/>
          <p:cNvGraphicFramePr/>
          <p:nvPr/>
        </p:nvGraphicFramePr>
        <p:xfrm>
          <a:off x="7686768" y="1072233"/>
          <a:ext cx="8786812" cy="3143250"/>
        </p:xfrm>
        <a:graphic>
          <a:graphicData uri="http://schemas.openxmlformats.org/presentationml/2006/ole">
            <p:oleObj imgW="10541000" imgH="4902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1028700" y="6866682"/>
            <a:ext cx="16230600" cy="2391618"/>
            <a:chOff x="0" y="0"/>
            <a:chExt cx="63179552" cy="9309660"/>
          </a:xfrm>
        </p:grpSpPr>
        <p:sp>
          <p:nvSpPr>
            <p:cNvPr name="Freeform 3" id="3"/>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Freeform 4" id="4"/>
          <p:cNvSpPr/>
          <p:nvPr/>
        </p:nvSpPr>
        <p:spPr>
          <a:xfrm flipH="false" flipV="false" rot="0">
            <a:off x="14145049" y="-1599179"/>
            <a:ext cx="6228501" cy="6844507"/>
          </a:xfrm>
          <a:custGeom>
            <a:avLst/>
            <a:gdLst/>
            <a:ahLst/>
            <a:cxnLst/>
            <a:rect r="r" b="b" t="t" l="l"/>
            <a:pathLst>
              <a:path h="6844507" w="6228501">
                <a:moveTo>
                  <a:pt x="0" y="0"/>
                </a:moveTo>
                <a:lnTo>
                  <a:pt x="6228502" y="0"/>
                </a:lnTo>
                <a:lnTo>
                  <a:pt x="6228502" y="6844507"/>
                </a:lnTo>
                <a:lnTo>
                  <a:pt x="0" y="6844507"/>
                </a:lnTo>
                <a:lnTo>
                  <a:pt x="0" y="0"/>
                </a:lnTo>
                <a:close/>
              </a:path>
            </a:pathLst>
          </a:custGeom>
          <a:blipFill>
            <a:blip r:embed="rId2"/>
            <a:stretch>
              <a:fillRect l="0" t="0" r="0" b="0"/>
            </a:stretch>
          </a:blipFill>
        </p:spPr>
      </p:sp>
      <p:sp>
        <p:nvSpPr>
          <p:cNvPr name="TextBox 5" id="5"/>
          <p:cNvSpPr txBox="true"/>
          <p:nvPr/>
        </p:nvSpPr>
        <p:spPr>
          <a:xfrm rot="0">
            <a:off x="1028700" y="2411272"/>
            <a:ext cx="11667464" cy="2352787"/>
          </a:xfrm>
          <a:prstGeom prst="rect">
            <a:avLst/>
          </a:prstGeom>
        </p:spPr>
        <p:txBody>
          <a:bodyPr anchor="t" rtlCol="false" tIns="0" lIns="0" bIns="0" rIns="0">
            <a:spAutoFit/>
          </a:bodyPr>
          <a:lstStyle/>
          <a:p>
            <a:pPr algn="l">
              <a:lnSpc>
                <a:spcPts val="9299"/>
              </a:lnSpc>
            </a:pPr>
            <a:r>
              <a:rPr lang="en-US" sz="7749" b="true">
                <a:solidFill>
                  <a:srgbClr val="64E688"/>
                </a:solidFill>
                <a:latin typeface="Fira Sans Ultra-Bold"/>
                <a:ea typeface="Fira Sans Ultra-Bold"/>
                <a:cs typeface="Fira Sans Ultra-Bold"/>
                <a:sym typeface="Fira Sans Ultra-Bold"/>
              </a:rPr>
              <a:t>Kiến trúc, Thiết</a:t>
            </a:r>
            <a:r>
              <a:rPr lang="en-US" sz="7749" b="true">
                <a:solidFill>
                  <a:srgbClr val="64E688"/>
                </a:solidFill>
                <a:latin typeface="Fira Sans Ultra-Bold"/>
                <a:ea typeface="Fira Sans Ultra-Bold"/>
                <a:cs typeface="Fira Sans Ultra-Bold"/>
                <a:sym typeface="Fira Sans Ultra-Bold"/>
              </a:rPr>
              <a:t> kế và</a:t>
            </a:r>
            <a:r>
              <a:rPr lang="en-US" sz="7749" b="true">
                <a:solidFill>
                  <a:srgbClr val="64E688"/>
                </a:solidFill>
                <a:latin typeface="Fira Sans Ultra-Bold"/>
                <a:ea typeface="Fira Sans Ultra-Bold"/>
                <a:cs typeface="Fira Sans Ultra-Bold"/>
                <a:sym typeface="Fira Sans Ultra-Bold"/>
              </a:rPr>
              <a:t> Tương lai</a:t>
            </a:r>
          </a:p>
        </p:txBody>
      </p:sp>
      <p:sp>
        <p:nvSpPr>
          <p:cNvPr name="TextBox 6" id="6"/>
          <p:cNvSpPr txBox="true"/>
          <p:nvPr/>
        </p:nvSpPr>
        <p:spPr>
          <a:xfrm rot="0">
            <a:off x="1594692" y="7748166"/>
            <a:ext cx="15240366" cy="5429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VibeCoding - Rủi ro, governance, và câu hỏi liệu AI có thay thế lập trình viên hay không?</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8364557" y="1744793"/>
            <a:ext cx="3491158" cy="3583647"/>
            <a:chOff x="0" y="0"/>
            <a:chExt cx="4654877" cy="4778196"/>
          </a:xfrm>
        </p:grpSpPr>
        <p:sp>
          <p:nvSpPr>
            <p:cNvPr name="TextBox 3" id="3"/>
            <p:cNvSpPr txBox="true"/>
            <p:nvPr/>
          </p:nvSpPr>
          <p:spPr>
            <a:xfrm rot="0">
              <a:off x="21023" y="-57150"/>
              <a:ext cx="4633854" cy="1270235"/>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PHÂN TÍCH NĂNG SUẤT THEO TÁ</a:t>
              </a:r>
              <a:r>
                <a:rPr lang="en-US" b="true" sz="2799">
                  <a:solidFill>
                    <a:srgbClr val="FFFFFF"/>
                  </a:solidFill>
                  <a:latin typeface="Clear Sans Medium"/>
                  <a:ea typeface="Clear Sans Medium"/>
                  <a:cs typeface="Clear Sans Medium"/>
                  <a:sym typeface="Clear Sans Medium"/>
                </a:rPr>
                <a:t>C VỤ</a:t>
              </a:r>
            </a:p>
          </p:txBody>
        </p:sp>
        <p:sp>
          <p:nvSpPr>
            <p:cNvPr name="TextBox 4" id="4"/>
            <p:cNvSpPr txBox="true"/>
            <p:nvPr/>
          </p:nvSpPr>
          <p:spPr>
            <a:xfrm rot="0">
              <a:off x="21023" y="4305121"/>
              <a:ext cx="4633854" cy="473075"/>
            </a:xfrm>
            <a:prstGeom prst="rect">
              <a:avLst/>
            </a:prstGeom>
          </p:spPr>
          <p:txBody>
            <a:bodyPr anchor="t" rtlCol="false" tIns="0" lIns="0" bIns="0" rIns="0">
              <a:spAutoFit/>
            </a:bodyPr>
            <a:lstStyle/>
            <a:p>
              <a:pPr algn="l">
                <a:lnSpc>
                  <a:spcPts val="3000"/>
                </a:lnSpc>
              </a:pPr>
            </a:p>
          </p:txBody>
        </p:sp>
        <p:sp>
          <p:nvSpPr>
            <p:cNvPr name="TextBox 5" id="5"/>
            <p:cNvSpPr txBox="true"/>
            <p:nvPr/>
          </p:nvSpPr>
          <p:spPr>
            <a:xfrm rot="0">
              <a:off x="21023" y="1786978"/>
              <a:ext cx="4633854" cy="23092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GenAI khô</a:t>
              </a:r>
              <a:r>
                <a:rPr lang="en-US" sz="2500">
                  <a:solidFill>
                    <a:srgbClr val="FFFFFF"/>
                  </a:solidFill>
                  <a:latin typeface="Clear Sans"/>
                  <a:ea typeface="Clear Sans"/>
                  <a:cs typeface="Clear Sans"/>
                  <a:sym typeface="Clear Sans"/>
                </a:rPr>
                <a:t>ng tác động đồng đều lên mọi giai đoạn phát triển phần mềm.</a:t>
              </a:r>
            </a:p>
          </p:txBody>
        </p:sp>
        <p:sp>
          <p:nvSpPr>
            <p:cNvPr name="AutoShape 6" id="6"/>
            <p:cNvSpPr/>
            <p:nvPr/>
          </p:nvSpPr>
          <p:spPr>
            <a:xfrm>
              <a:off x="0" y="1461483"/>
              <a:ext cx="4654877"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3559199">
            <a:off x="14081771" y="62239"/>
            <a:ext cx="4823880" cy="5983107"/>
          </a:xfrm>
          <a:custGeom>
            <a:avLst/>
            <a:gdLst/>
            <a:ahLst/>
            <a:cxnLst/>
            <a:rect r="r" b="b" t="t" l="l"/>
            <a:pathLst>
              <a:path h="5983107" w="4823880">
                <a:moveTo>
                  <a:pt x="0" y="0"/>
                </a:moveTo>
                <a:lnTo>
                  <a:pt x="4823879" y="0"/>
                </a:lnTo>
                <a:lnTo>
                  <a:pt x="4823879" y="5983107"/>
                </a:lnTo>
                <a:lnTo>
                  <a:pt x="0" y="5983107"/>
                </a:lnTo>
                <a:lnTo>
                  <a:pt x="0" y="0"/>
                </a:lnTo>
                <a:close/>
              </a:path>
            </a:pathLst>
          </a:custGeom>
          <a:blipFill>
            <a:blip r:embed="rId2">
              <a:alphaModFix amt="13000"/>
            </a:blip>
            <a:stretch>
              <a:fillRect l="0" t="0" r="0" b="0"/>
            </a:stretch>
          </a:blipFill>
        </p:spPr>
      </p:sp>
      <p:grpSp>
        <p:nvGrpSpPr>
          <p:cNvPr name="Group 8" id="8"/>
          <p:cNvGrpSpPr/>
          <p:nvPr/>
        </p:nvGrpSpPr>
        <p:grpSpPr>
          <a:xfrm rot="0">
            <a:off x="13341166" y="1744793"/>
            <a:ext cx="3491158" cy="4872421"/>
            <a:chOff x="0" y="0"/>
            <a:chExt cx="4654877" cy="6496561"/>
          </a:xfrm>
        </p:grpSpPr>
        <p:sp>
          <p:nvSpPr>
            <p:cNvPr name="TextBox 9" id="9"/>
            <p:cNvSpPr txBox="true"/>
            <p:nvPr/>
          </p:nvSpPr>
          <p:spPr>
            <a:xfrm rot="0">
              <a:off x="21023" y="-57150"/>
              <a:ext cx="4633854" cy="1270235"/>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ROI CỦA CÔNG </a:t>
              </a:r>
              <a:r>
                <a:rPr lang="en-US" b="true" sz="2799">
                  <a:solidFill>
                    <a:srgbClr val="FFFFFF"/>
                  </a:solidFill>
                  <a:latin typeface="Clear Sans Medium"/>
                  <a:ea typeface="Clear Sans Medium"/>
                  <a:cs typeface="Clear Sans Medium"/>
                  <a:sym typeface="Clear Sans Medium"/>
                </a:rPr>
                <a:t>CỤ GENAI</a:t>
              </a:r>
            </a:p>
          </p:txBody>
        </p:sp>
        <p:sp>
          <p:nvSpPr>
            <p:cNvPr name="TextBox 10" id="10"/>
            <p:cNvSpPr txBox="true"/>
            <p:nvPr/>
          </p:nvSpPr>
          <p:spPr>
            <a:xfrm rot="0">
              <a:off x="21023" y="6023486"/>
              <a:ext cx="4633854" cy="473075"/>
            </a:xfrm>
            <a:prstGeom prst="rect">
              <a:avLst/>
            </a:prstGeom>
          </p:spPr>
          <p:txBody>
            <a:bodyPr anchor="t" rtlCol="false" tIns="0" lIns="0" bIns="0" rIns="0">
              <a:spAutoFit/>
            </a:bodyPr>
            <a:lstStyle/>
            <a:p>
              <a:pPr algn="l">
                <a:lnSpc>
                  <a:spcPts val="3000"/>
                </a:lnSpc>
              </a:pPr>
            </a:p>
          </p:txBody>
        </p:sp>
        <p:sp>
          <p:nvSpPr>
            <p:cNvPr name="TextBox 11" id="11"/>
            <p:cNvSpPr txBox="true"/>
            <p:nvPr/>
          </p:nvSpPr>
          <p:spPr>
            <a:xfrm rot="0">
              <a:off x="21023" y="1786978"/>
              <a:ext cx="4633854" cy="40618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Tỷ lệ tă</a:t>
              </a:r>
              <a:r>
                <a:rPr lang="en-US" sz="2500">
                  <a:solidFill>
                    <a:srgbClr val="FFFFFF"/>
                  </a:solidFill>
                  <a:latin typeface="Clear Sans"/>
                  <a:ea typeface="Clear Sans"/>
                  <a:cs typeface="Clear Sans"/>
                  <a:sym typeface="Clear Sans"/>
                </a:rPr>
                <a:t>ng năng suất khoảng 50%, mỗi dollar đầu tư vào GenAI tools có thể tạo ra giá trị gấp 50-60 lần thông qua thời gian tiết kiệm được.</a:t>
              </a:r>
            </a:p>
          </p:txBody>
        </p:sp>
        <p:sp>
          <p:nvSpPr>
            <p:cNvPr name="AutoShape 12" id="12"/>
            <p:cNvSpPr/>
            <p:nvPr/>
          </p:nvSpPr>
          <p:spPr>
            <a:xfrm>
              <a:off x="0" y="1461483"/>
              <a:ext cx="4654877" cy="0"/>
            </a:xfrm>
            <a:prstGeom prst="line">
              <a:avLst/>
            </a:prstGeom>
            <a:ln cap="rnd" w="25400">
              <a:solidFill>
                <a:srgbClr val="64E688"/>
              </a:solidFill>
              <a:prstDash val="solid"/>
              <a:headEnd type="none" len="sm" w="sm"/>
              <a:tailEnd type="none" len="sm" w="sm"/>
            </a:ln>
          </p:spPr>
        </p:sp>
      </p:grpSp>
      <p:sp>
        <p:nvSpPr>
          <p:cNvPr name="Freeform 13" id="13"/>
          <p:cNvSpPr/>
          <p:nvPr/>
        </p:nvSpPr>
        <p:spPr>
          <a:xfrm flipH="false" flipV="false" rot="6273812">
            <a:off x="-2514705" y="6095822"/>
            <a:ext cx="5720805" cy="5620690"/>
          </a:xfrm>
          <a:custGeom>
            <a:avLst/>
            <a:gdLst/>
            <a:ahLst/>
            <a:cxnLst/>
            <a:rect r="r" b="b" t="t" l="l"/>
            <a:pathLst>
              <a:path h="5620690" w="5720805">
                <a:moveTo>
                  <a:pt x="0" y="0"/>
                </a:moveTo>
                <a:lnTo>
                  <a:pt x="5720805" y="0"/>
                </a:lnTo>
                <a:lnTo>
                  <a:pt x="5720805" y="5620691"/>
                </a:lnTo>
                <a:lnTo>
                  <a:pt x="0" y="5620691"/>
                </a:lnTo>
                <a:lnTo>
                  <a:pt x="0" y="0"/>
                </a:lnTo>
                <a:close/>
              </a:path>
            </a:pathLst>
          </a:custGeom>
          <a:blipFill>
            <a:blip r:embed="rId3"/>
            <a:stretch>
              <a:fillRect l="0" t="0" r="0" b="0"/>
            </a:stretch>
          </a:blipFill>
        </p:spPr>
      </p:sp>
      <p:sp>
        <p:nvSpPr>
          <p:cNvPr name="TextBox 14" id="14"/>
          <p:cNvSpPr txBox="true"/>
          <p:nvPr/>
        </p:nvSpPr>
        <p:spPr>
          <a:xfrm rot="0">
            <a:off x="1455677" y="1371308"/>
            <a:ext cx="5446961" cy="3895725"/>
          </a:xfrm>
          <a:prstGeom prst="rect">
            <a:avLst/>
          </a:prstGeom>
        </p:spPr>
        <p:txBody>
          <a:bodyPr anchor="t" rtlCol="false" tIns="0" lIns="0" bIns="0" rIns="0">
            <a:spAutoFit/>
          </a:bodyPr>
          <a:lstStyle/>
          <a:p>
            <a:pPr algn="l">
              <a:lnSpc>
                <a:spcPts val="7680"/>
              </a:lnSpc>
            </a:pPr>
            <a:r>
              <a:rPr lang="en-US" sz="6400" b="true">
                <a:solidFill>
                  <a:srgbClr val="FFFFFF"/>
                </a:solidFill>
                <a:latin typeface="Fira Sans Ultra-Bold"/>
                <a:ea typeface="Fira Sans Ultra-Bold"/>
                <a:cs typeface="Fira Sans Ultra-Bold"/>
                <a:sym typeface="Fira Sans Ultra-Bold"/>
              </a:rPr>
              <a:t>Kin</a:t>
            </a:r>
            <a:r>
              <a:rPr lang="en-US" sz="6400" b="true">
                <a:solidFill>
                  <a:srgbClr val="FFFFFF"/>
                </a:solidFill>
                <a:latin typeface="Fira Sans Ultra-Bold"/>
                <a:ea typeface="Fira Sans Ultra-Bold"/>
                <a:cs typeface="Fira Sans Ultra-Bold"/>
                <a:sym typeface="Fira Sans Ultra-Bold"/>
              </a:rPr>
              <a:t>h tế học phát triển phần mềm nhanh hơn</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grpSp>
        <p:nvGrpSpPr>
          <p:cNvPr name="Group 2" id="2"/>
          <p:cNvGrpSpPr/>
          <p:nvPr/>
        </p:nvGrpSpPr>
        <p:grpSpPr>
          <a:xfrm rot="0">
            <a:off x="2039424" y="1744793"/>
            <a:ext cx="3491158" cy="3583647"/>
            <a:chOff x="0" y="0"/>
            <a:chExt cx="4654877" cy="4778196"/>
          </a:xfrm>
        </p:grpSpPr>
        <p:sp>
          <p:nvSpPr>
            <p:cNvPr name="TextBox 3" id="3"/>
            <p:cNvSpPr txBox="true"/>
            <p:nvPr/>
          </p:nvSpPr>
          <p:spPr>
            <a:xfrm rot="0">
              <a:off x="21023" y="-57150"/>
              <a:ext cx="4633854" cy="1270235"/>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PHÂN TÍCH NĂNG SUẤT THEO TÁ</a:t>
              </a:r>
              <a:r>
                <a:rPr lang="en-US" b="true" sz="2799">
                  <a:solidFill>
                    <a:srgbClr val="FFFFFF"/>
                  </a:solidFill>
                  <a:latin typeface="Clear Sans Medium"/>
                  <a:ea typeface="Clear Sans Medium"/>
                  <a:cs typeface="Clear Sans Medium"/>
                  <a:sym typeface="Clear Sans Medium"/>
                </a:rPr>
                <a:t>C VỤ</a:t>
              </a:r>
            </a:p>
          </p:txBody>
        </p:sp>
        <p:sp>
          <p:nvSpPr>
            <p:cNvPr name="TextBox 4" id="4"/>
            <p:cNvSpPr txBox="true"/>
            <p:nvPr/>
          </p:nvSpPr>
          <p:spPr>
            <a:xfrm rot="0">
              <a:off x="21023" y="4305121"/>
              <a:ext cx="4633854" cy="473075"/>
            </a:xfrm>
            <a:prstGeom prst="rect">
              <a:avLst/>
            </a:prstGeom>
          </p:spPr>
          <p:txBody>
            <a:bodyPr anchor="t" rtlCol="false" tIns="0" lIns="0" bIns="0" rIns="0">
              <a:spAutoFit/>
            </a:bodyPr>
            <a:lstStyle/>
            <a:p>
              <a:pPr algn="l">
                <a:lnSpc>
                  <a:spcPts val="3000"/>
                </a:lnSpc>
              </a:pPr>
            </a:p>
          </p:txBody>
        </p:sp>
        <p:sp>
          <p:nvSpPr>
            <p:cNvPr name="TextBox 5" id="5"/>
            <p:cNvSpPr txBox="true"/>
            <p:nvPr/>
          </p:nvSpPr>
          <p:spPr>
            <a:xfrm rot="0">
              <a:off x="21023" y="1786978"/>
              <a:ext cx="4633854" cy="23092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GenAI khô</a:t>
              </a:r>
              <a:r>
                <a:rPr lang="en-US" sz="2500">
                  <a:solidFill>
                    <a:srgbClr val="FFFFFF"/>
                  </a:solidFill>
                  <a:latin typeface="Clear Sans"/>
                  <a:ea typeface="Clear Sans"/>
                  <a:cs typeface="Clear Sans"/>
                  <a:sym typeface="Clear Sans"/>
                </a:rPr>
                <a:t>ng tác động đồng đều lên mọi giai đoạn phát triển phần mềm.</a:t>
              </a:r>
            </a:p>
          </p:txBody>
        </p:sp>
        <p:sp>
          <p:nvSpPr>
            <p:cNvPr name="AutoShape 6" id="6"/>
            <p:cNvSpPr/>
            <p:nvPr/>
          </p:nvSpPr>
          <p:spPr>
            <a:xfrm>
              <a:off x="0" y="1461483"/>
              <a:ext cx="4654877" cy="0"/>
            </a:xfrm>
            <a:prstGeom prst="line">
              <a:avLst/>
            </a:prstGeom>
            <a:ln cap="rnd" w="25400">
              <a:solidFill>
                <a:srgbClr val="64E688"/>
              </a:solidFill>
              <a:prstDash val="solid"/>
              <a:headEnd type="none" len="sm" w="sm"/>
              <a:tailEnd type="none" len="sm" w="sm"/>
            </a:ln>
          </p:spPr>
        </p:sp>
      </p:grpSp>
      <p:sp>
        <p:nvSpPr>
          <p:cNvPr name="Freeform 7" id="7"/>
          <p:cNvSpPr/>
          <p:nvPr/>
        </p:nvSpPr>
        <p:spPr>
          <a:xfrm flipH="false" flipV="false" rot="-3559199">
            <a:off x="14081771" y="62239"/>
            <a:ext cx="4823880" cy="5983107"/>
          </a:xfrm>
          <a:custGeom>
            <a:avLst/>
            <a:gdLst/>
            <a:ahLst/>
            <a:cxnLst/>
            <a:rect r="r" b="b" t="t" l="l"/>
            <a:pathLst>
              <a:path h="5983107" w="4823880">
                <a:moveTo>
                  <a:pt x="0" y="0"/>
                </a:moveTo>
                <a:lnTo>
                  <a:pt x="4823879" y="0"/>
                </a:lnTo>
                <a:lnTo>
                  <a:pt x="4823879" y="5983107"/>
                </a:lnTo>
                <a:lnTo>
                  <a:pt x="0" y="5983107"/>
                </a:lnTo>
                <a:lnTo>
                  <a:pt x="0" y="0"/>
                </a:lnTo>
                <a:close/>
              </a:path>
            </a:pathLst>
          </a:custGeom>
          <a:blipFill>
            <a:blip r:embed="rId2">
              <a:alphaModFix amt="13000"/>
            </a:blip>
            <a:stretch>
              <a:fillRect l="0" t="0" r="0" b="0"/>
            </a:stretch>
          </a:blipFill>
        </p:spPr>
      </p:sp>
      <p:sp>
        <p:nvSpPr>
          <p:cNvPr name="Freeform 8" id="8"/>
          <p:cNvSpPr/>
          <p:nvPr/>
        </p:nvSpPr>
        <p:spPr>
          <a:xfrm flipH="false" flipV="false" rot="6273812">
            <a:off x="-2514705" y="6095822"/>
            <a:ext cx="5720805" cy="5620690"/>
          </a:xfrm>
          <a:custGeom>
            <a:avLst/>
            <a:gdLst/>
            <a:ahLst/>
            <a:cxnLst/>
            <a:rect r="r" b="b" t="t" l="l"/>
            <a:pathLst>
              <a:path h="5620690" w="5720805">
                <a:moveTo>
                  <a:pt x="0" y="0"/>
                </a:moveTo>
                <a:lnTo>
                  <a:pt x="5720805" y="0"/>
                </a:lnTo>
                <a:lnTo>
                  <a:pt x="5720805" y="5620691"/>
                </a:lnTo>
                <a:lnTo>
                  <a:pt x="0" y="5620691"/>
                </a:lnTo>
                <a:lnTo>
                  <a:pt x="0" y="0"/>
                </a:lnTo>
                <a:close/>
              </a:path>
            </a:pathLst>
          </a:custGeom>
          <a:blipFill>
            <a:blip r:embed="rId3"/>
            <a:stretch>
              <a:fillRect l="0" t="0" r="0" b="0"/>
            </a:stretch>
          </a:blipFill>
        </p:spPr>
      </p:sp>
      <p:graphicFrame>
        <p:nvGraphicFramePr>
          <p:cNvPr name="Object 9" id="9"/>
          <p:cNvGraphicFramePr/>
          <p:nvPr/>
        </p:nvGraphicFramePr>
        <p:xfrm>
          <a:off x="6507844" y="1273565"/>
          <a:ext cx="9929812" cy="6915150"/>
        </p:xfrm>
        <a:graphic>
          <a:graphicData uri="http://schemas.openxmlformats.org/presentationml/2006/ole">
            <p:oleObj imgW="11912600" imgH="8902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3559199">
            <a:off x="14081771" y="62239"/>
            <a:ext cx="4823880" cy="5983107"/>
          </a:xfrm>
          <a:custGeom>
            <a:avLst/>
            <a:gdLst/>
            <a:ahLst/>
            <a:cxnLst/>
            <a:rect r="r" b="b" t="t" l="l"/>
            <a:pathLst>
              <a:path h="5983107" w="4823880">
                <a:moveTo>
                  <a:pt x="0" y="0"/>
                </a:moveTo>
                <a:lnTo>
                  <a:pt x="4823879" y="0"/>
                </a:lnTo>
                <a:lnTo>
                  <a:pt x="4823879" y="5983107"/>
                </a:lnTo>
                <a:lnTo>
                  <a:pt x="0" y="5983107"/>
                </a:lnTo>
                <a:lnTo>
                  <a:pt x="0" y="0"/>
                </a:lnTo>
                <a:close/>
              </a:path>
            </a:pathLst>
          </a:custGeom>
          <a:blipFill>
            <a:blip r:embed="rId2">
              <a:alphaModFix amt="13000"/>
            </a:blip>
            <a:stretch>
              <a:fillRect l="0" t="0" r="0" b="0"/>
            </a:stretch>
          </a:blipFill>
        </p:spPr>
      </p:sp>
      <p:grpSp>
        <p:nvGrpSpPr>
          <p:cNvPr name="Group 3" id="3"/>
          <p:cNvGrpSpPr/>
          <p:nvPr/>
        </p:nvGrpSpPr>
        <p:grpSpPr>
          <a:xfrm rot="0">
            <a:off x="1555666" y="1782132"/>
            <a:ext cx="3491158" cy="4872421"/>
            <a:chOff x="0" y="0"/>
            <a:chExt cx="4654877" cy="6496561"/>
          </a:xfrm>
        </p:grpSpPr>
        <p:sp>
          <p:nvSpPr>
            <p:cNvPr name="TextBox 4" id="4"/>
            <p:cNvSpPr txBox="true"/>
            <p:nvPr/>
          </p:nvSpPr>
          <p:spPr>
            <a:xfrm rot="0">
              <a:off x="21023" y="-57150"/>
              <a:ext cx="4633854" cy="1270235"/>
            </a:xfrm>
            <a:prstGeom prst="rect">
              <a:avLst/>
            </a:prstGeom>
          </p:spPr>
          <p:txBody>
            <a:bodyPr anchor="t" rtlCol="false" tIns="0" lIns="0" bIns="0" rIns="0">
              <a:spAutoFit/>
            </a:bodyPr>
            <a:lstStyle/>
            <a:p>
              <a:pPr algn="l">
                <a:lnSpc>
                  <a:spcPts val="3919"/>
                </a:lnSpc>
              </a:pPr>
              <a:r>
                <a:rPr lang="en-US" b="true" sz="2799">
                  <a:solidFill>
                    <a:srgbClr val="FFFFFF"/>
                  </a:solidFill>
                  <a:latin typeface="Clear Sans Medium"/>
                  <a:ea typeface="Clear Sans Medium"/>
                  <a:cs typeface="Clear Sans Medium"/>
                  <a:sym typeface="Clear Sans Medium"/>
                </a:rPr>
                <a:t>ROI CỦA CÔNG </a:t>
              </a:r>
              <a:r>
                <a:rPr lang="en-US" b="true" sz="2799">
                  <a:solidFill>
                    <a:srgbClr val="FFFFFF"/>
                  </a:solidFill>
                  <a:latin typeface="Clear Sans Medium"/>
                  <a:ea typeface="Clear Sans Medium"/>
                  <a:cs typeface="Clear Sans Medium"/>
                  <a:sym typeface="Clear Sans Medium"/>
                </a:rPr>
                <a:t>CỤ GENAI</a:t>
              </a:r>
            </a:p>
          </p:txBody>
        </p:sp>
        <p:sp>
          <p:nvSpPr>
            <p:cNvPr name="TextBox 5" id="5"/>
            <p:cNvSpPr txBox="true"/>
            <p:nvPr/>
          </p:nvSpPr>
          <p:spPr>
            <a:xfrm rot="0">
              <a:off x="21023" y="6023486"/>
              <a:ext cx="4633854" cy="473075"/>
            </a:xfrm>
            <a:prstGeom prst="rect">
              <a:avLst/>
            </a:prstGeom>
          </p:spPr>
          <p:txBody>
            <a:bodyPr anchor="t" rtlCol="false" tIns="0" lIns="0" bIns="0" rIns="0">
              <a:spAutoFit/>
            </a:bodyPr>
            <a:lstStyle/>
            <a:p>
              <a:pPr algn="l">
                <a:lnSpc>
                  <a:spcPts val="3000"/>
                </a:lnSpc>
              </a:pPr>
            </a:p>
          </p:txBody>
        </p:sp>
        <p:sp>
          <p:nvSpPr>
            <p:cNvPr name="TextBox 6" id="6"/>
            <p:cNvSpPr txBox="true"/>
            <p:nvPr/>
          </p:nvSpPr>
          <p:spPr>
            <a:xfrm rot="0">
              <a:off x="21023" y="1786978"/>
              <a:ext cx="4633854" cy="4061883"/>
            </a:xfrm>
            <a:prstGeom prst="rect">
              <a:avLst/>
            </a:prstGeom>
          </p:spPr>
          <p:txBody>
            <a:bodyPr anchor="t" rtlCol="false" tIns="0" lIns="0" bIns="0" rIns="0">
              <a:spAutoFit/>
            </a:bodyPr>
            <a:lstStyle/>
            <a:p>
              <a:pPr algn="l">
                <a:lnSpc>
                  <a:spcPts val="3500"/>
                </a:lnSpc>
              </a:pPr>
              <a:r>
                <a:rPr lang="en-US" sz="2500">
                  <a:solidFill>
                    <a:srgbClr val="FFFFFF"/>
                  </a:solidFill>
                  <a:latin typeface="Clear Sans"/>
                  <a:ea typeface="Clear Sans"/>
                  <a:cs typeface="Clear Sans"/>
                  <a:sym typeface="Clear Sans"/>
                </a:rPr>
                <a:t>Tỷ lệ tă</a:t>
              </a:r>
              <a:r>
                <a:rPr lang="en-US" sz="2500">
                  <a:solidFill>
                    <a:srgbClr val="FFFFFF"/>
                  </a:solidFill>
                  <a:latin typeface="Clear Sans"/>
                  <a:ea typeface="Clear Sans"/>
                  <a:cs typeface="Clear Sans"/>
                  <a:sym typeface="Clear Sans"/>
                </a:rPr>
                <a:t>ng năng suất khoảng 50%, mỗi dollar đầu tư vào GenAI tools có thể tạo ra giá trị gấp 50-60 lần thông qua thời gian tiết kiệm được.</a:t>
              </a:r>
            </a:p>
          </p:txBody>
        </p:sp>
        <p:sp>
          <p:nvSpPr>
            <p:cNvPr name="AutoShape 7" id="7"/>
            <p:cNvSpPr/>
            <p:nvPr/>
          </p:nvSpPr>
          <p:spPr>
            <a:xfrm>
              <a:off x="0" y="1461483"/>
              <a:ext cx="4654877" cy="0"/>
            </a:xfrm>
            <a:prstGeom prst="line">
              <a:avLst/>
            </a:prstGeom>
            <a:ln cap="rnd" w="25400">
              <a:solidFill>
                <a:srgbClr val="64E688"/>
              </a:solidFill>
              <a:prstDash val="solid"/>
              <a:headEnd type="none" len="sm" w="sm"/>
              <a:tailEnd type="none" len="sm" w="sm"/>
            </a:ln>
          </p:spPr>
        </p:sp>
      </p:grpSp>
      <p:sp>
        <p:nvSpPr>
          <p:cNvPr name="Freeform 8" id="8"/>
          <p:cNvSpPr/>
          <p:nvPr/>
        </p:nvSpPr>
        <p:spPr>
          <a:xfrm flipH="false" flipV="false" rot="6273812">
            <a:off x="-2514705" y="6095822"/>
            <a:ext cx="5720805" cy="5620690"/>
          </a:xfrm>
          <a:custGeom>
            <a:avLst/>
            <a:gdLst/>
            <a:ahLst/>
            <a:cxnLst/>
            <a:rect r="r" b="b" t="t" l="l"/>
            <a:pathLst>
              <a:path h="5620690" w="5720805">
                <a:moveTo>
                  <a:pt x="0" y="0"/>
                </a:moveTo>
                <a:lnTo>
                  <a:pt x="5720805" y="0"/>
                </a:lnTo>
                <a:lnTo>
                  <a:pt x="5720805" y="5620691"/>
                </a:lnTo>
                <a:lnTo>
                  <a:pt x="0" y="5620691"/>
                </a:lnTo>
                <a:lnTo>
                  <a:pt x="0" y="0"/>
                </a:lnTo>
                <a:close/>
              </a:path>
            </a:pathLst>
          </a:custGeom>
          <a:blipFill>
            <a:blip r:embed="rId3"/>
            <a:stretch>
              <a:fillRect l="0" t="0" r="0" b="0"/>
            </a:stretch>
          </a:blipFill>
        </p:spPr>
      </p:sp>
      <p:sp>
        <p:nvSpPr>
          <p:cNvPr name="Freeform 9" id="9"/>
          <p:cNvSpPr/>
          <p:nvPr/>
        </p:nvSpPr>
        <p:spPr>
          <a:xfrm flipH="false" flipV="false" rot="0">
            <a:off x="6928676" y="1175812"/>
            <a:ext cx="10723565" cy="7419930"/>
          </a:xfrm>
          <a:custGeom>
            <a:avLst/>
            <a:gdLst/>
            <a:ahLst/>
            <a:cxnLst/>
            <a:rect r="r" b="b" t="t" l="l"/>
            <a:pathLst>
              <a:path h="7419930" w="10723565">
                <a:moveTo>
                  <a:pt x="0" y="0"/>
                </a:moveTo>
                <a:lnTo>
                  <a:pt x="10723564" y="0"/>
                </a:lnTo>
                <a:lnTo>
                  <a:pt x="10723564" y="7419930"/>
                </a:lnTo>
                <a:lnTo>
                  <a:pt x="0" y="7419930"/>
                </a:lnTo>
                <a:lnTo>
                  <a:pt x="0" y="0"/>
                </a:lnTo>
                <a:close/>
              </a:path>
            </a:pathLst>
          </a:custGeom>
          <a:blipFill>
            <a:blip r:embed="rId4"/>
            <a:stretch>
              <a:fillRect l="0" t="0" r="0" b="0"/>
            </a:stretch>
          </a:blipFill>
        </p:spPr>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12831688" y="5704669"/>
            <a:ext cx="7212561" cy="7745031"/>
          </a:xfrm>
          <a:custGeom>
            <a:avLst/>
            <a:gdLst/>
            <a:ahLst/>
            <a:cxnLst/>
            <a:rect r="r" b="b" t="t" l="l"/>
            <a:pathLst>
              <a:path h="7745031" w="7212561">
                <a:moveTo>
                  <a:pt x="0" y="0"/>
                </a:moveTo>
                <a:lnTo>
                  <a:pt x="7212560" y="0"/>
                </a:lnTo>
                <a:lnTo>
                  <a:pt x="7212560" y="7745032"/>
                </a:lnTo>
                <a:lnTo>
                  <a:pt x="0" y="7745032"/>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333695" y="-2722329"/>
            <a:ext cx="6664739" cy="6844405"/>
          </a:xfrm>
          <a:custGeom>
            <a:avLst/>
            <a:gdLst/>
            <a:ahLst/>
            <a:cxnLst/>
            <a:rect r="r" b="b" t="t" l="l"/>
            <a:pathLst>
              <a:path h="6844405" w="6664739">
                <a:moveTo>
                  <a:pt x="0" y="0"/>
                </a:moveTo>
                <a:lnTo>
                  <a:pt x="6664740" y="0"/>
                </a:lnTo>
                <a:lnTo>
                  <a:pt x="6664740" y="6844405"/>
                </a:lnTo>
                <a:lnTo>
                  <a:pt x="0" y="6844405"/>
                </a:lnTo>
                <a:lnTo>
                  <a:pt x="0" y="0"/>
                </a:lnTo>
                <a:close/>
              </a:path>
            </a:pathLst>
          </a:custGeom>
          <a:blipFill>
            <a:blip r:embed="rId3">
              <a:alphaModFix amt="18999"/>
            </a:blip>
            <a:stretch>
              <a:fillRect l="0" t="0" r="0" b="0"/>
            </a:stretch>
          </a:blipFill>
        </p:spPr>
      </p:sp>
      <p:sp>
        <p:nvSpPr>
          <p:cNvPr name="TextBox 4" id="4"/>
          <p:cNvSpPr txBox="true"/>
          <p:nvPr/>
        </p:nvSpPr>
        <p:spPr>
          <a:xfrm rot="0">
            <a:off x="2384630" y="1436937"/>
            <a:ext cx="13518740" cy="653415"/>
          </a:xfrm>
          <a:prstGeom prst="rect">
            <a:avLst/>
          </a:prstGeom>
        </p:spPr>
        <p:txBody>
          <a:bodyPr anchor="t" rtlCol="false" tIns="0" lIns="0" bIns="0" rIns="0">
            <a:spAutoFit/>
          </a:bodyPr>
          <a:lstStyle/>
          <a:p>
            <a:pPr algn="ctr">
              <a:lnSpc>
                <a:spcPts val="5459"/>
              </a:lnSpc>
            </a:pPr>
            <a:r>
              <a:rPr lang="en-US" b="true" sz="3899">
                <a:solidFill>
                  <a:srgbClr val="64E688"/>
                </a:solidFill>
                <a:latin typeface="Clear Sans Medium"/>
                <a:ea typeface="Clear Sans Medium"/>
                <a:cs typeface="Clear Sans Medium"/>
                <a:sym typeface="Clear Sans Medium"/>
              </a:rPr>
              <a:t>GE</a:t>
            </a:r>
            <a:r>
              <a:rPr lang="en-US" b="true" sz="3899">
                <a:solidFill>
                  <a:srgbClr val="64E688"/>
                </a:solidFill>
                <a:latin typeface="Clear Sans Medium"/>
                <a:ea typeface="Clear Sans Medium"/>
                <a:cs typeface="Clear Sans Medium"/>
                <a:sym typeface="Clear Sans Medium"/>
              </a:rPr>
              <a:t>NAI LIÊN HỆ VỚI SWEBOK</a:t>
            </a:r>
          </a:p>
        </p:txBody>
      </p:sp>
      <p:sp>
        <p:nvSpPr>
          <p:cNvPr name="TextBox 5" id="5"/>
          <p:cNvSpPr txBox="true"/>
          <p:nvPr/>
        </p:nvSpPr>
        <p:spPr>
          <a:xfrm rot="0">
            <a:off x="3340112" y="3896634"/>
            <a:ext cx="11607776" cy="481330"/>
          </a:xfrm>
          <a:prstGeom prst="rect">
            <a:avLst/>
          </a:prstGeom>
        </p:spPr>
        <p:txBody>
          <a:bodyPr anchor="t" rtlCol="false" tIns="0" lIns="0" bIns="0" rIns="0">
            <a:spAutoFit/>
          </a:bodyPr>
          <a:lstStyle/>
          <a:p>
            <a:pPr algn="ctr">
              <a:lnSpc>
                <a:spcPts val="3919"/>
              </a:lnSpc>
            </a:pPr>
            <a:r>
              <a:rPr lang="en-US" sz="2799">
                <a:solidFill>
                  <a:srgbClr val="FFFFFF"/>
                </a:solidFill>
                <a:latin typeface="Clear Sans"/>
                <a:ea typeface="Clear Sans"/>
                <a:cs typeface="Clear Sans"/>
                <a:sym typeface="Clear Sans"/>
              </a:rPr>
              <a:t>Sof</a:t>
            </a:r>
            <a:r>
              <a:rPr lang="en-US" sz="2799">
                <a:solidFill>
                  <a:srgbClr val="FFFFFF"/>
                </a:solidFill>
                <a:latin typeface="Clear Sans"/>
                <a:ea typeface="Clear Sans"/>
                <a:cs typeface="Clear Sans"/>
                <a:sym typeface="Clear Sans"/>
              </a:rPr>
              <a:t>tware Engineering Body of Knowledge</a:t>
            </a:r>
          </a:p>
        </p:txBody>
      </p:sp>
      <p:sp>
        <p:nvSpPr>
          <p:cNvPr name="TextBox 6" id="6"/>
          <p:cNvSpPr txBox="true"/>
          <p:nvPr/>
        </p:nvSpPr>
        <p:spPr>
          <a:xfrm rot="0">
            <a:off x="3340112" y="5094532"/>
            <a:ext cx="11607776" cy="481330"/>
          </a:xfrm>
          <a:prstGeom prst="rect">
            <a:avLst/>
          </a:prstGeom>
        </p:spPr>
        <p:txBody>
          <a:bodyPr anchor="t" rtlCol="false" tIns="0" lIns="0" bIns="0" rIns="0">
            <a:spAutoFit/>
          </a:bodyPr>
          <a:lstStyle/>
          <a:p>
            <a:pPr algn="ctr">
              <a:lnSpc>
                <a:spcPts val="3919"/>
              </a:lnSpc>
            </a:pPr>
            <a:r>
              <a:rPr lang="en-US" sz="2799">
                <a:solidFill>
                  <a:srgbClr val="FFFFFF"/>
                </a:solidFill>
                <a:latin typeface="Clear Sans"/>
                <a:ea typeface="Clear Sans"/>
                <a:cs typeface="Clear Sans"/>
                <a:sym typeface="Clear Sans"/>
              </a:rPr>
              <a:t>bộ</a:t>
            </a:r>
            <a:r>
              <a:rPr lang="en-US" sz="2799">
                <a:solidFill>
                  <a:srgbClr val="FFFFFF"/>
                </a:solidFill>
                <a:latin typeface="Clear Sans"/>
                <a:ea typeface="Clear Sans"/>
                <a:cs typeface="Clear Sans"/>
                <a:sym typeface="Clear Sans"/>
              </a:rPr>
              <a:t> kiến thức chuẩn do IEEE định nghĩa cho ngành kỹ thuật phần mềm</a:t>
            </a:r>
          </a:p>
        </p:txBody>
      </p:sp>
      <p:sp>
        <p:nvSpPr>
          <p:cNvPr name="AutoShape 7" id="7"/>
          <p:cNvSpPr/>
          <p:nvPr/>
        </p:nvSpPr>
        <p:spPr>
          <a:xfrm>
            <a:off x="3340112" y="4764823"/>
            <a:ext cx="11607776" cy="0"/>
          </a:xfrm>
          <a:prstGeom prst="line">
            <a:avLst/>
          </a:prstGeom>
          <a:ln cap="rnd" w="19050">
            <a:solidFill>
              <a:srgbClr val="64E688">
                <a:alpha val="49804"/>
              </a:srgbClr>
            </a:solidFill>
            <a:prstDash val="solid"/>
            <a:headEnd type="none" len="sm" w="sm"/>
            <a:tailEnd type="none" len="sm" w="sm"/>
          </a:ln>
        </p:spPr>
      </p:sp>
      <p:sp>
        <p:nvSpPr>
          <p:cNvPr name="AutoShape 8" id="8"/>
          <p:cNvSpPr/>
          <p:nvPr/>
        </p:nvSpPr>
        <p:spPr>
          <a:xfrm>
            <a:off x="3340112" y="5962720"/>
            <a:ext cx="11607776" cy="0"/>
          </a:xfrm>
          <a:prstGeom prst="line">
            <a:avLst/>
          </a:prstGeom>
          <a:ln cap="rnd" w="19050">
            <a:solidFill>
              <a:srgbClr val="64E688">
                <a:alpha val="49804"/>
              </a:srgbClr>
            </a:solidFill>
            <a:prstDash val="solid"/>
            <a:headEnd type="none" len="sm" w="sm"/>
            <a:tailEnd type="none" len="sm" w="sm"/>
          </a:ln>
        </p:spPr>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12831688" y="5704669"/>
            <a:ext cx="7212561" cy="7745031"/>
          </a:xfrm>
          <a:custGeom>
            <a:avLst/>
            <a:gdLst/>
            <a:ahLst/>
            <a:cxnLst/>
            <a:rect r="r" b="b" t="t" l="l"/>
            <a:pathLst>
              <a:path h="7745031" w="7212561">
                <a:moveTo>
                  <a:pt x="0" y="0"/>
                </a:moveTo>
                <a:lnTo>
                  <a:pt x="7212560" y="0"/>
                </a:lnTo>
                <a:lnTo>
                  <a:pt x="7212560" y="7745032"/>
                </a:lnTo>
                <a:lnTo>
                  <a:pt x="0" y="7745032"/>
                </a:lnTo>
                <a:lnTo>
                  <a:pt x="0" y="0"/>
                </a:lnTo>
                <a:close/>
              </a:path>
            </a:pathLst>
          </a:custGeom>
          <a:blipFill>
            <a:blip r:embed="rId2">
              <a:alphaModFix amt="24000"/>
            </a:blip>
            <a:stretch>
              <a:fillRect l="0" t="0" r="0" b="0"/>
            </a:stretch>
          </a:blipFill>
        </p:spPr>
      </p:sp>
      <p:sp>
        <p:nvSpPr>
          <p:cNvPr name="Freeform 3" id="3"/>
          <p:cNvSpPr/>
          <p:nvPr/>
        </p:nvSpPr>
        <p:spPr>
          <a:xfrm flipH="false" flipV="false" rot="0">
            <a:off x="-333695" y="-2722329"/>
            <a:ext cx="6664739" cy="6844405"/>
          </a:xfrm>
          <a:custGeom>
            <a:avLst/>
            <a:gdLst/>
            <a:ahLst/>
            <a:cxnLst/>
            <a:rect r="r" b="b" t="t" l="l"/>
            <a:pathLst>
              <a:path h="6844405" w="6664739">
                <a:moveTo>
                  <a:pt x="0" y="0"/>
                </a:moveTo>
                <a:lnTo>
                  <a:pt x="6664740" y="0"/>
                </a:lnTo>
                <a:lnTo>
                  <a:pt x="6664740" y="6844405"/>
                </a:lnTo>
                <a:lnTo>
                  <a:pt x="0" y="6844405"/>
                </a:lnTo>
                <a:lnTo>
                  <a:pt x="0" y="0"/>
                </a:lnTo>
                <a:close/>
              </a:path>
            </a:pathLst>
          </a:custGeom>
          <a:blipFill>
            <a:blip r:embed="rId3">
              <a:alphaModFix amt="18999"/>
            </a:blip>
            <a:stretch>
              <a:fillRect l="0" t="0" r="0" b="0"/>
            </a:stretch>
          </a:blipFill>
        </p:spPr>
      </p:sp>
      <p:graphicFrame>
        <p:nvGraphicFramePr>
          <p:cNvPr name="Object 4" id="4"/>
          <p:cNvGraphicFramePr/>
          <p:nvPr/>
        </p:nvGraphicFramePr>
        <p:xfrm>
          <a:off x="2526380" y="1585961"/>
          <a:ext cx="8586788" cy="5029200"/>
        </p:xfrm>
        <a:graphic>
          <a:graphicData uri="http://schemas.openxmlformats.org/presentationml/2006/ole">
            <p:oleObj imgW="10299700" imgH="6743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5" id="5"/>
          <p:cNvSpPr txBox="true"/>
          <p:nvPr/>
        </p:nvSpPr>
        <p:spPr>
          <a:xfrm rot="0">
            <a:off x="2526380" y="375285"/>
            <a:ext cx="13518740" cy="653415"/>
          </a:xfrm>
          <a:prstGeom prst="rect">
            <a:avLst/>
          </a:prstGeom>
        </p:spPr>
        <p:txBody>
          <a:bodyPr anchor="t" rtlCol="false" tIns="0" lIns="0" bIns="0" rIns="0">
            <a:spAutoFit/>
          </a:bodyPr>
          <a:lstStyle/>
          <a:p>
            <a:pPr algn="ctr">
              <a:lnSpc>
                <a:spcPts val="5459"/>
              </a:lnSpc>
            </a:pPr>
            <a:r>
              <a:rPr lang="en-US" b="true" sz="3899">
                <a:solidFill>
                  <a:srgbClr val="64E688"/>
                </a:solidFill>
                <a:latin typeface="Clear Sans Medium"/>
                <a:ea typeface="Clear Sans Medium"/>
                <a:cs typeface="Clear Sans Medium"/>
                <a:sym typeface="Clear Sans Medium"/>
              </a:rPr>
              <a:t>GE</a:t>
            </a:r>
            <a:r>
              <a:rPr lang="en-US" b="true" sz="3899">
                <a:solidFill>
                  <a:srgbClr val="64E688"/>
                </a:solidFill>
                <a:latin typeface="Clear Sans Medium"/>
                <a:ea typeface="Clear Sans Medium"/>
                <a:cs typeface="Clear Sans Medium"/>
                <a:sym typeface="Clear Sans Medium"/>
              </a:rPr>
              <a:t>NAI LIÊN HỆ VỚI SWEBOK</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689126">
            <a:off x="13838744" y="6189726"/>
            <a:ext cx="4928314" cy="5292150"/>
          </a:xfrm>
          <a:custGeom>
            <a:avLst/>
            <a:gdLst/>
            <a:ahLst/>
            <a:cxnLst/>
            <a:rect r="r" b="b" t="t" l="l"/>
            <a:pathLst>
              <a:path h="5292150" w="4928314">
                <a:moveTo>
                  <a:pt x="0" y="0"/>
                </a:moveTo>
                <a:lnTo>
                  <a:pt x="4928314" y="0"/>
                </a:lnTo>
                <a:lnTo>
                  <a:pt x="4928314" y="5292149"/>
                </a:lnTo>
                <a:lnTo>
                  <a:pt x="0" y="5292149"/>
                </a:lnTo>
                <a:lnTo>
                  <a:pt x="0" y="0"/>
                </a:lnTo>
                <a:close/>
              </a:path>
            </a:pathLst>
          </a:custGeom>
          <a:blipFill>
            <a:blip r:embed="rId2"/>
            <a:stretch>
              <a:fillRect l="0" t="0" r="0" b="0"/>
            </a:stretch>
          </a:blipFill>
        </p:spPr>
      </p:sp>
      <p:grpSp>
        <p:nvGrpSpPr>
          <p:cNvPr name="Group 3" id="3"/>
          <p:cNvGrpSpPr/>
          <p:nvPr/>
        </p:nvGrpSpPr>
        <p:grpSpPr>
          <a:xfrm rot="0">
            <a:off x="1028700" y="292693"/>
            <a:ext cx="10624757" cy="5246614"/>
            <a:chOff x="0" y="0"/>
            <a:chExt cx="41358138" cy="20423074"/>
          </a:xfrm>
        </p:grpSpPr>
        <p:sp>
          <p:nvSpPr>
            <p:cNvPr name="Freeform 4" id="4"/>
            <p:cNvSpPr/>
            <p:nvPr/>
          </p:nvSpPr>
          <p:spPr>
            <a:xfrm flipH="false" flipV="false" rot="0">
              <a:off x="0" y="0"/>
              <a:ext cx="41358139" cy="20423074"/>
            </a:xfrm>
            <a:custGeom>
              <a:avLst/>
              <a:gdLst/>
              <a:ahLst/>
              <a:cxnLst/>
              <a:rect r="r" b="b" t="t" l="l"/>
              <a:pathLst>
                <a:path h="20423074" w="41358139">
                  <a:moveTo>
                    <a:pt x="41233678" y="59690"/>
                  </a:moveTo>
                  <a:cubicBezTo>
                    <a:pt x="41269239" y="59690"/>
                    <a:pt x="41298447" y="88900"/>
                    <a:pt x="41298447" y="124460"/>
                  </a:cubicBezTo>
                  <a:lnTo>
                    <a:pt x="41298447" y="20298614"/>
                  </a:lnTo>
                  <a:cubicBezTo>
                    <a:pt x="41298447" y="20334174"/>
                    <a:pt x="41269239" y="20363385"/>
                    <a:pt x="41233678" y="20363385"/>
                  </a:cubicBezTo>
                  <a:lnTo>
                    <a:pt x="124460" y="20363385"/>
                  </a:lnTo>
                  <a:cubicBezTo>
                    <a:pt x="88900" y="20363385"/>
                    <a:pt x="59690" y="20334174"/>
                    <a:pt x="59690" y="20298614"/>
                  </a:cubicBezTo>
                  <a:lnTo>
                    <a:pt x="59690" y="124460"/>
                  </a:lnTo>
                  <a:cubicBezTo>
                    <a:pt x="59690" y="88900"/>
                    <a:pt x="88900" y="59690"/>
                    <a:pt x="124460" y="59690"/>
                  </a:cubicBezTo>
                  <a:lnTo>
                    <a:pt x="41233678" y="59690"/>
                  </a:lnTo>
                  <a:moveTo>
                    <a:pt x="41233678" y="0"/>
                  </a:moveTo>
                  <a:lnTo>
                    <a:pt x="124460" y="0"/>
                  </a:lnTo>
                  <a:cubicBezTo>
                    <a:pt x="55880" y="0"/>
                    <a:pt x="0" y="55880"/>
                    <a:pt x="0" y="124460"/>
                  </a:cubicBezTo>
                  <a:lnTo>
                    <a:pt x="0" y="20298614"/>
                  </a:lnTo>
                  <a:cubicBezTo>
                    <a:pt x="0" y="20367194"/>
                    <a:pt x="55880" y="20423074"/>
                    <a:pt x="124460" y="20423074"/>
                  </a:cubicBezTo>
                  <a:lnTo>
                    <a:pt x="41233678" y="20423074"/>
                  </a:lnTo>
                  <a:cubicBezTo>
                    <a:pt x="41302257" y="20423074"/>
                    <a:pt x="41358139" y="20367194"/>
                    <a:pt x="41358139" y="20298614"/>
                  </a:cubicBezTo>
                  <a:lnTo>
                    <a:pt x="41358139" y="124460"/>
                  </a:lnTo>
                  <a:cubicBezTo>
                    <a:pt x="41358139" y="55880"/>
                    <a:pt x="41302257" y="0"/>
                    <a:pt x="41233678" y="0"/>
                  </a:cubicBezTo>
                  <a:close/>
                </a:path>
              </a:pathLst>
            </a:custGeom>
            <a:solidFill>
              <a:srgbClr val="64E688">
                <a:alpha val="49804"/>
              </a:srgbClr>
            </a:solidFill>
          </p:spPr>
        </p:sp>
      </p:grpSp>
      <p:sp>
        <p:nvSpPr>
          <p:cNvPr name="Freeform 5" id="5"/>
          <p:cNvSpPr/>
          <p:nvPr/>
        </p:nvSpPr>
        <p:spPr>
          <a:xfrm flipH="false" flipV="false" rot="0">
            <a:off x="11107189" y="1597022"/>
            <a:ext cx="3549227" cy="3644906"/>
          </a:xfrm>
          <a:custGeom>
            <a:avLst/>
            <a:gdLst/>
            <a:ahLst/>
            <a:cxnLst/>
            <a:rect r="r" b="b" t="t" l="l"/>
            <a:pathLst>
              <a:path h="3644906" w="3549227">
                <a:moveTo>
                  <a:pt x="0" y="0"/>
                </a:moveTo>
                <a:lnTo>
                  <a:pt x="3549228" y="0"/>
                </a:lnTo>
                <a:lnTo>
                  <a:pt x="3549228" y="3644906"/>
                </a:lnTo>
                <a:lnTo>
                  <a:pt x="0" y="3644906"/>
                </a:lnTo>
                <a:lnTo>
                  <a:pt x="0" y="0"/>
                </a:lnTo>
                <a:close/>
              </a:path>
            </a:pathLst>
          </a:custGeom>
          <a:blipFill>
            <a:blip r:embed="rId3"/>
            <a:stretch>
              <a:fillRect l="0" t="0" r="0" b="0"/>
            </a:stretch>
          </a:blipFill>
        </p:spPr>
      </p:sp>
      <p:sp>
        <p:nvSpPr>
          <p:cNvPr name="Freeform 6" id="6"/>
          <p:cNvSpPr/>
          <p:nvPr/>
        </p:nvSpPr>
        <p:spPr>
          <a:xfrm flipH="false" flipV="false" rot="-9993454">
            <a:off x="15479967" y="-294242"/>
            <a:ext cx="1540669" cy="1735965"/>
          </a:xfrm>
          <a:custGeom>
            <a:avLst/>
            <a:gdLst/>
            <a:ahLst/>
            <a:cxnLst/>
            <a:rect r="r" b="b" t="t" l="l"/>
            <a:pathLst>
              <a:path h="1735965" w="1540669">
                <a:moveTo>
                  <a:pt x="0" y="0"/>
                </a:moveTo>
                <a:lnTo>
                  <a:pt x="1540669" y="0"/>
                </a:lnTo>
                <a:lnTo>
                  <a:pt x="1540669" y="1735965"/>
                </a:lnTo>
                <a:lnTo>
                  <a:pt x="0" y="1735965"/>
                </a:lnTo>
                <a:lnTo>
                  <a:pt x="0" y="0"/>
                </a:lnTo>
                <a:close/>
              </a:path>
            </a:pathLst>
          </a:custGeom>
          <a:blipFill>
            <a:blip r:embed="rId4"/>
            <a:stretch>
              <a:fillRect l="0" t="0" r="0" b="0"/>
            </a:stretch>
          </a:blipFill>
        </p:spPr>
      </p:sp>
      <p:sp>
        <p:nvSpPr>
          <p:cNvPr name="TextBox 7" id="7"/>
          <p:cNvSpPr txBox="true"/>
          <p:nvPr/>
        </p:nvSpPr>
        <p:spPr>
          <a:xfrm rot="0">
            <a:off x="1920686" y="2090503"/>
            <a:ext cx="8036328" cy="1838325"/>
          </a:xfrm>
          <a:prstGeom prst="rect">
            <a:avLst/>
          </a:prstGeom>
        </p:spPr>
        <p:txBody>
          <a:bodyPr anchor="t" rtlCol="false" tIns="0" lIns="0" bIns="0" rIns="0">
            <a:spAutoFit/>
          </a:bodyPr>
          <a:lstStyle/>
          <a:p>
            <a:pPr algn="l">
              <a:lnSpc>
                <a:spcPts val="7200"/>
              </a:lnSpc>
            </a:pPr>
            <a:r>
              <a:rPr lang="en-US" sz="6000" b="true">
                <a:solidFill>
                  <a:srgbClr val="64E688"/>
                </a:solidFill>
                <a:latin typeface="Fira Sans Ultra-Bold"/>
                <a:ea typeface="Fira Sans Ultra-Bold"/>
                <a:cs typeface="Fira Sans Ultra-Bold"/>
                <a:sym typeface="Fira Sans Ultra-Bold"/>
              </a:rPr>
              <a:t>Vibe Coding và các mức độ lập trình với AI</a:t>
            </a:r>
          </a:p>
        </p:txBody>
      </p:sp>
      <p:grpSp>
        <p:nvGrpSpPr>
          <p:cNvPr name="Group 8" id="8"/>
          <p:cNvGrpSpPr/>
          <p:nvPr/>
        </p:nvGrpSpPr>
        <p:grpSpPr>
          <a:xfrm rot="0">
            <a:off x="1028700" y="6866682"/>
            <a:ext cx="16230600" cy="2391618"/>
            <a:chOff x="0" y="0"/>
            <a:chExt cx="63179552" cy="9309660"/>
          </a:xfrm>
        </p:grpSpPr>
        <p:sp>
          <p:nvSpPr>
            <p:cNvPr name="Freeform 9" id="9"/>
            <p:cNvSpPr/>
            <p:nvPr/>
          </p:nvSpPr>
          <p:spPr>
            <a:xfrm flipH="false" flipV="false" rot="0">
              <a:off x="0" y="0"/>
              <a:ext cx="63179554" cy="9309660"/>
            </a:xfrm>
            <a:custGeom>
              <a:avLst/>
              <a:gdLst/>
              <a:ahLst/>
              <a:cxnLst/>
              <a:rect r="r" b="b" t="t" l="l"/>
              <a:pathLst>
                <a:path h="9309660" w="63179554">
                  <a:moveTo>
                    <a:pt x="63055091" y="59690"/>
                  </a:moveTo>
                  <a:cubicBezTo>
                    <a:pt x="63090654" y="59690"/>
                    <a:pt x="63119862" y="88900"/>
                    <a:pt x="63119862" y="124460"/>
                  </a:cubicBezTo>
                  <a:lnTo>
                    <a:pt x="63119862" y="9185200"/>
                  </a:lnTo>
                  <a:cubicBezTo>
                    <a:pt x="63119862" y="9220760"/>
                    <a:pt x="63090654" y="9249970"/>
                    <a:pt x="63055091" y="9249970"/>
                  </a:cubicBezTo>
                  <a:lnTo>
                    <a:pt x="124460" y="9249970"/>
                  </a:lnTo>
                  <a:cubicBezTo>
                    <a:pt x="88900" y="9249970"/>
                    <a:pt x="59690" y="9220760"/>
                    <a:pt x="59690" y="9185200"/>
                  </a:cubicBezTo>
                  <a:lnTo>
                    <a:pt x="59690" y="124460"/>
                  </a:lnTo>
                  <a:cubicBezTo>
                    <a:pt x="59690" y="88900"/>
                    <a:pt x="88900" y="59690"/>
                    <a:pt x="124460" y="59690"/>
                  </a:cubicBezTo>
                  <a:lnTo>
                    <a:pt x="63055091" y="59690"/>
                  </a:lnTo>
                  <a:moveTo>
                    <a:pt x="63055091" y="0"/>
                  </a:moveTo>
                  <a:lnTo>
                    <a:pt x="124460" y="0"/>
                  </a:lnTo>
                  <a:cubicBezTo>
                    <a:pt x="55880" y="0"/>
                    <a:pt x="0" y="55880"/>
                    <a:pt x="0" y="124460"/>
                  </a:cubicBezTo>
                  <a:lnTo>
                    <a:pt x="0" y="9185200"/>
                  </a:lnTo>
                  <a:cubicBezTo>
                    <a:pt x="0" y="9253780"/>
                    <a:pt x="55880" y="9309660"/>
                    <a:pt x="124460" y="9309660"/>
                  </a:cubicBezTo>
                  <a:lnTo>
                    <a:pt x="63055091" y="9309660"/>
                  </a:lnTo>
                  <a:cubicBezTo>
                    <a:pt x="63123669" y="9309660"/>
                    <a:pt x="63179554" y="9253780"/>
                    <a:pt x="63179554" y="9185200"/>
                  </a:cubicBezTo>
                  <a:lnTo>
                    <a:pt x="63179554" y="124460"/>
                  </a:lnTo>
                  <a:cubicBezTo>
                    <a:pt x="63179554" y="55880"/>
                    <a:pt x="63123669" y="0"/>
                    <a:pt x="63055091" y="0"/>
                  </a:cubicBezTo>
                  <a:close/>
                </a:path>
              </a:pathLst>
            </a:custGeom>
            <a:solidFill>
              <a:srgbClr val="64E688">
                <a:alpha val="49804"/>
              </a:srgbClr>
            </a:solidFill>
          </p:spPr>
        </p:sp>
      </p:grpSp>
      <p:sp>
        <p:nvSpPr>
          <p:cNvPr name="TextBox 10" id="10"/>
          <p:cNvSpPr txBox="true"/>
          <p:nvPr/>
        </p:nvSpPr>
        <p:spPr>
          <a:xfrm rot="0">
            <a:off x="1594692" y="7462416"/>
            <a:ext cx="15240366" cy="1114425"/>
          </a:xfrm>
          <a:prstGeom prst="rect">
            <a:avLst/>
          </a:prstGeom>
        </p:spPr>
        <p:txBody>
          <a:bodyPr anchor="t" rtlCol="false" tIns="0" lIns="0" bIns="0" rIns="0">
            <a:spAutoFit/>
          </a:bodyPr>
          <a:lstStyle/>
          <a:p>
            <a:pPr algn="l">
              <a:lnSpc>
                <a:spcPts val="4500"/>
              </a:lnSpc>
            </a:pPr>
            <a:r>
              <a:rPr lang="en-US" sz="3000">
                <a:solidFill>
                  <a:srgbClr val="FFFFFF"/>
                </a:solidFill>
                <a:latin typeface="Clear Sans"/>
                <a:ea typeface="Clear Sans"/>
                <a:cs typeface="Clear Sans"/>
                <a:sym typeface="Clear Sans"/>
              </a:rPr>
              <a:t>developer tập trung vào "cảm giác" và hành vi mong muốn của ứng dụng, trong khi tin tưởng AI xử lý chi tiết implementation.</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689126">
            <a:off x="13838744" y="6189726"/>
            <a:ext cx="4928314" cy="5292150"/>
          </a:xfrm>
          <a:custGeom>
            <a:avLst/>
            <a:gdLst/>
            <a:ahLst/>
            <a:cxnLst/>
            <a:rect r="r" b="b" t="t" l="l"/>
            <a:pathLst>
              <a:path h="5292150" w="4928314">
                <a:moveTo>
                  <a:pt x="0" y="0"/>
                </a:moveTo>
                <a:lnTo>
                  <a:pt x="4928314" y="0"/>
                </a:lnTo>
                <a:lnTo>
                  <a:pt x="4928314" y="5292149"/>
                </a:lnTo>
                <a:lnTo>
                  <a:pt x="0" y="5292149"/>
                </a:lnTo>
                <a:lnTo>
                  <a:pt x="0" y="0"/>
                </a:lnTo>
                <a:close/>
              </a:path>
            </a:pathLst>
          </a:custGeom>
          <a:blipFill>
            <a:blip r:embed="rId2"/>
            <a:stretch>
              <a:fillRect l="0" t="0" r="0" b="0"/>
            </a:stretch>
          </a:blipFill>
        </p:spPr>
      </p:sp>
      <p:grpSp>
        <p:nvGrpSpPr>
          <p:cNvPr name="Group 3" id="3"/>
          <p:cNvGrpSpPr/>
          <p:nvPr/>
        </p:nvGrpSpPr>
        <p:grpSpPr>
          <a:xfrm rot="0">
            <a:off x="1028700" y="292693"/>
            <a:ext cx="13168933" cy="1800275"/>
            <a:chOff x="0" y="0"/>
            <a:chExt cx="60397170" cy="8256668"/>
          </a:xfrm>
        </p:grpSpPr>
        <p:sp>
          <p:nvSpPr>
            <p:cNvPr name="Freeform 4" id="4"/>
            <p:cNvSpPr/>
            <p:nvPr/>
          </p:nvSpPr>
          <p:spPr>
            <a:xfrm flipH="false" flipV="false" rot="0">
              <a:off x="0" y="0"/>
              <a:ext cx="60397169" cy="8256668"/>
            </a:xfrm>
            <a:custGeom>
              <a:avLst/>
              <a:gdLst/>
              <a:ahLst/>
              <a:cxnLst/>
              <a:rect r="r" b="b" t="t" l="l"/>
              <a:pathLst>
                <a:path h="8256668" w="60397169">
                  <a:moveTo>
                    <a:pt x="60272712" y="59690"/>
                  </a:moveTo>
                  <a:cubicBezTo>
                    <a:pt x="60308269" y="59690"/>
                    <a:pt x="60337483" y="88900"/>
                    <a:pt x="60337483" y="124460"/>
                  </a:cubicBezTo>
                  <a:lnTo>
                    <a:pt x="60337483" y="8132208"/>
                  </a:lnTo>
                  <a:cubicBezTo>
                    <a:pt x="60337483" y="8167768"/>
                    <a:pt x="60308269" y="8196978"/>
                    <a:pt x="60272712" y="8196978"/>
                  </a:cubicBezTo>
                  <a:lnTo>
                    <a:pt x="124460" y="8196978"/>
                  </a:lnTo>
                  <a:cubicBezTo>
                    <a:pt x="88900" y="8196978"/>
                    <a:pt x="59690" y="8167768"/>
                    <a:pt x="59690" y="8132208"/>
                  </a:cubicBezTo>
                  <a:lnTo>
                    <a:pt x="59690" y="124460"/>
                  </a:lnTo>
                  <a:cubicBezTo>
                    <a:pt x="59690" y="88900"/>
                    <a:pt x="88900" y="59690"/>
                    <a:pt x="124460" y="59690"/>
                  </a:cubicBezTo>
                  <a:lnTo>
                    <a:pt x="60272712" y="59690"/>
                  </a:lnTo>
                  <a:moveTo>
                    <a:pt x="60272712" y="0"/>
                  </a:moveTo>
                  <a:lnTo>
                    <a:pt x="124460" y="0"/>
                  </a:lnTo>
                  <a:cubicBezTo>
                    <a:pt x="55880" y="0"/>
                    <a:pt x="0" y="55880"/>
                    <a:pt x="0" y="124460"/>
                  </a:cubicBezTo>
                  <a:lnTo>
                    <a:pt x="0" y="8132208"/>
                  </a:lnTo>
                  <a:cubicBezTo>
                    <a:pt x="0" y="8200789"/>
                    <a:pt x="55880" y="8256668"/>
                    <a:pt x="124460" y="8256668"/>
                  </a:cubicBezTo>
                  <a:lnTo>
                    <a:pt x="60272712" y="8256668"/>
                  </a:lnTo>
                  <a:cubicBezTo>
                    <a:pt x="60341290" y="8256668"/>
                    <a:pt x="60397169" y="8200789"/>
                    <a:pt x="60397169" y="8132208"/>
                  </a:cubicBezTo>
                  <a:lnTo>
                    <a:pt x="60397169" y="124460"/>
                  </a:lnTo>
                  <a:cubicBezTo>
                    <a:pt x="60397169" y="55880"/>
                    <a:pt x="60341290" y="0"/>
                    <a:pt x="60272712" y="0"/>
                  </a:cubicBezTo>
                  <a:close/>
                </a:path>
              </a:pathLst>
            </a:custGeom>
            <a:solidFill>
              <a:srgbClr val="64E688">
                <a:alpha val="49804"/>
              </a:srgbClr>
            </a:solidFill>
          </p:spPr>
        </p:sp>
      </p:grpSp>
      <p:sp>
        <p:nvSpPr>
          <p:cNvPr name="Freeform 5" id="5"/>
          <p:cNvSpPr/>
          <p:nvPr/>
        </p:nvSpPr>
        <p:spPr>
          <a:xfrm flipH="false" flipV="false" rot="0">
            <a:off x="11107189" y="1597022"/>
            <a:ext cx="3549227" cy="3644906"/>
          </a:xfrm>
          <a:custGeom>
            <a:avLst/>
            <a:gdLst/>
            <a:ahLst/>
            <a:cxnLst/>
            <a:rect r="r" b="b" t="t" l="l"/>
            <a:pathLst>
              <a:path h="3644906" w="3549227">
                <a:moveTo>
                  <a:pt x="0" y="0"/>
                </a:moveTo>
                <a:lnTo>
                  <a:pt x="3549228" y="0"/>
                </a:lnTo>
                <a:lnTo>
                  <a:pt x="3549228" y="3644906"/>
                </a:lnTo>
                <a:lnTo>
                  <a:pt x="0" y="3644906"/>
                </a:lnTo>
                <a:lnTo>
                  <a:pt x="0" y="0"/>
                </a:lnTo>
                <a:close/>
              </a:path>
            </a:pathLst>
          </a:custGeom>
          <a:blipFill>
            <a:blip r:embed="rId3"/>
            <a:stretch>
              <a:fillRect l="0" t="0" r="0" b="0"/>
            </a:stretch>
          </a:blipFill>
        </p:spPr>
      </p:sp>
      <p:sp>
        <p:nvSpPr>
          <p:cNvPr name="Freeform 6" id="6"/>
          <p:cNvSpPr/>
          <p:nvPr/>
        </p:nvSpPr>
        <p:spPr>
          <a:xfrm flipH="false" flipV="false" rot="-9993454">
            <a:off x="15479967" y="-294242"/>
            <a:ext cx="1540669" cy="1735965"/>
          </a:xfrm>
          <a:custGeom>
            <a:avLst/>
            <a:gdLst/>
            <a:ahLst/>
            <a:cxnLst/>
            <a:rect r="r" b="b" t="t" l="l"/>
            <a:pathLst>
              <a:path h="1735965" w="1540669">
                <a:moveTo>
                  <a:pt x="0" y="0"/>
                </a:moveTo>
                <a:lnTo>
                  <a:pt x="1540669" y="0"/>
                </a:lnTo>
                <a:lnTo>
                  <a:pt x="1540669" y="1735965"/>
                </a:lnTo>
                <a:lnTo>
                  <a:pt x="0" y="1735965"/>
                </a:lnTo>
                <a:lnTo>
                  <a:pt x="0" y="0"/>
                </a:lnTo>
                <a:close/>
              </a:path>
            </a:pathLst>
          </a:custGeom>
          <a:blipFill>
            <a:blip r:embed="rId4"/>
            <a:stretch>
              <a:fillRect l="0" t="0" r="0" b="0"/>
            </a:stretch>
          </a:blipFill>
        </p:spPr>
      </p:sp>
      <p:graphicFrame>
        <p:nvGraphicFramePr>
          <p:cNvPr name="Object 7" id="7"/>
          <p:cNvGraphicFramePr/>
          <p:nvPr/>
        </p:nvGraphicFramePr>
        <p:xfrm>
          <a:off x="1028700" y="2543175"/>
          <a:ext cx="8601075" cy="3143250"/>
        </p:xfrm>
        <a:graphic>
          <a:graphicData uri="http://schemas.openxmlformats.org/presentationml/2006/ole">
            <p:oleObj imgW="10325100" imgH="48641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8" id="8"/>
          <p:cNvSpPr txBox="true"/>
          <p:nvPr/>
        </p:nvSpPr>
        <p:spPr>
          <a:xfrm rot="0">
            <a:off x="1596686" y="825497"/>
            <a:ext cx="12390078" cy="771525"/>
          </a:xfrm>
          <a:prstGeom prst="rect">
            <a:avLst/>
          </a:prstGeom>
        </p:spPr>
        <p:txBody>
          <a:bodyPr anchor="t" rtlCol="false" tIns="0" lIns="0" bIns="0" rIns="0">
            <a:spAutoFit/>
          </a:bodyPr>
          <a:lstStyle/>
          <a:p>
            <a:pPr algn="l">
              <a:lnSpc>
                <a:spcPts val="6000"/>
              </a:lnSpc>
            </a:pPr>
            <a:r>
              <a:rPr lang="en-US" sz="5000" b="true">
                <a:solidFill>
                  <a:srgbClr val="64E688"/>
                </a:solidFill>
                <a:latin typeface="Fira Sans Ultra-Bold"/>
                <a:ea typeface="Fira Sans Ultra-Bold"/>
                <a:cs typeface="Fira Sans Ultra-Bold"/>
                <a:sym typeface="Fira Sans Ultra-Bold"/>
              </a:rPr>
              <a:t>Vibe Coding và các mức độ lập trình với AI</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1689126">
            <a:off x="13838744" y="6189726"/>
            <a:ext cx="4928314" cy="5292150"/>
          </a:xfrm>
          <a:custGeom>
            <a:avLst/>
            <a:gdLst/>
            <a:ahLst/>
            <a:cxnLst/>
            <a:rect r="r" b="b" t="t" l="l"/>
            <a:pathLst>
              <a:path h="5292150" w="4928314">
                <a:moveTo>
                  <a:pt x="0" y="0"/>
                </a:moveTo>
                <a:lnTo>
                  <a:pt x="4928314" y="0"/>
                </a:lnTo>
                <a:lnTo>
                  <a:pt x="4928314" y="5292149"/>
                </a:lnTo>
                <a:lnTo>
                  <a:pt x="0" y="5292149"/>
                </a:lnTo>
                <a:lnTo>
                  <a:pt x="0" y="0"/>
                </a:lnTo>
                <a:close/>
              </a:path>
            </a:pathLst>
          </a:custGeom>
          <a:blipFill>
            <a:blip r:embed="rId2"/>
            <a:stretch>
              <a:fillRect l="0" t="0" r="0" b="0"/>
            </a:stretch>
          </a:blipFill>
        </p:spPr>
      </p:sp>
      <p:grpSp>
        <p:nvGrpSpPr>
          <p:cNvPr name="Group 3" id="3"/>
          <p:cNvGrpSpPr/>
          <p:nvPr/>
        </p:nvGrpSpPr>
        <p:grpSpPr>
          <a:xfrm rot="0">
            <a:off x="1028700" y="292693"/>
            <a:ext cx="13168933" cy="1800275"/>
            <a:chOff x="0" y="0"/>
            <a:chExt cx="60397170" cy="8256668"/>
          </a:xfrm>
        </p:grpSpPr>
        <p:sp>
          <p:nvSpPr>
            <p:cNvPr name="Freeform 4" id="4"/>
            <p:cNvSpPr/>
            <p:nvPr/>
          </p:nvSpPr>
          <p:spPr>
            <a:xfrm flipH="false" flipV="false" rot="0">
              <a:off x="0" y="0"/>
              <a:ext cx="60397169" cy="8256668"/>
            </a:xfrm>
            <a:custGeom>
              <a:avLst/>
              <a:gdLst/>
              <a:ahLst/>
              <a:cxnLst/>
              <a:rect r="r" b="b" t="t" l="l"/>
              <a:pathLst>
                <a:path h="8256668" w="60397169">
                  <a:moveTo>
                    <a:pt x="60272712" y="59690"/>
                  </a:moveTo>
                  <a:cubicBezTo>
                    <a:pt x="60308269" y="59690"/>
                    <a:pt x="60337483" y="88900"/>
                    <a:pt x="60337483" y="124460"/>
                  </a:cubicBezTo>
                  <a:lnTo>
                    <a:pt x="60337483" y="8132208"/>
                  </a:lnTo>
                  <a:cubicBezTo>
                    <a:pt x="60337483" y="8167768"/>
                    <a:pt x="60308269" y="8196978"/>
                    <a:pt x="60272712" y="8196978"/>
                  </a:cubicBezTo>
                  <a:lnTo>
                    <a:pt x="124460" y="8196978"/>
                  </a:lnTo>
                  <a:cubicBezTo>
                    <a:pt x="88900" y="8196978"/>
                    <a:pt x="59690" y="8167768"/>
                    <a:pt x="59690" y="8132208"/>
                  </a:cubicBezTo>
                  <a:lnTo>
                    <a:pt x="59690" y="124460"/>
                  </a:lnTo>
                  <a:cubicBezTo>
                    <a:pt x="59690" y="88900"/>
                    <a:pt x="88900" y="59690"/>
                    <a:pt x="124460" y="59690"/>
                  </a:cubicBezTo>
                  <a:lnTo>
                    <a:pt x="60272712" y="59690"/>
                  </a:lnTo>
                  <a:moveTo>
                    <a:pt x="60272712" y="0"/>
                  </a:moveTo>
                  <a:lnTo>
                    <a:pt x="124460" y="0"/>
                  </a:lnTo>
                  <a:cubicBezTo>
                    <a:pt x="55880" y="0"/>
                    <a:pt x="0" y="55880"/>
                    <a:pt x="0" y="124460"/>
                  </a:cubicBezTo>
                  <a:lnTo>
                    <a:pt x="0" y="8132208"/>
                  </a:lnTo>
                  <a:cubicBezTo>
                    <a:pt x="0" y="8200789"/>
                    <a:pt x="55880" y="8256668"/>
                    <a:pt x="124460" y="8256668"/>
                  </a:cubicBezTo>
                  <a:lnTo>
                    <a:pt x="60272712" y="8256668"/>
                  </a:lnTo>
                  <a:cubicBezTo>
                    <a:pt x="60341290" y="8256668"/>
                    <a:pt x="60397169" y="8200789"/>
                    <a:pt x="60397169" y="8132208"/>
                  </a:cubicBezTo>
                  <a:lnTo>
                    <a:pt x="60397169" y="124460"/>
                  </a:lnTo>
                  <a:cubicBezTo>
                    <a:pt x="60397169" y="55880"/>
                    <a:pt x="60341290" y="0"/>
                    <a:pt x="60272712" y="0"/>
                  </a:cubicBezTo>
                  <a:close/>
                </a:path>
              </a:pathLst>
            </a:custGeom>
            <a:solidFill>
              <a:srgbClr val="64E688">
                <a:alpha val="49804"/>
              </a:srgbClr>
            </a:solidFill>
          </p:spPr>
        </p:sp>
      </p:grpSp>
      <p:sp>
        <p:nvSpPr>
          <p:cNvPr name="Freeform 5" id="5"/>
          <p:cNvSpPr/>
          <p:nvPr/>
        </p:nvSpPr>
        <p:spPr>
          <a:xfrm flipH="false" flipV="false" rot="0">
            <a:off x="11107189" y="1597022"/>
            <a:ext cx="3549227" cy="3644906"/>
          </a:xfrm>
          <a:custGeom>
            <a:avLst/>
            <a:gdLst/>
            <a:ahLst/>
            <a:cxnLst/>
            <a:rect r="r" b="b" t="t" l="l"/>
            <a:pathLst>
              <a:path h="3644906" w="3549227">
                <a:moveTo>
                  <a:pt x="0" y="0"/>
                </a:moveTo>
                <a:lnTo>
                  <a:pt x="3549228" y="0"/>
                </a:lnTo>
                <a:lnTo>
                  <a:pt x="3549228" y="3644906"/>
                </a:lnTo>
                <a:lnTo>
                  <a:pt x="0" y="3644906"/>
                </a:lnTo>
                <a:lnTo>
                  <a:pt x="0" y="0"/>
                </a:lnTo>
                <a:close/>
              </a:path>
            </a:pathLst>
          </a:custGeom>
          <a:blipFill>
            <a:blip r:embed="rId3"/>
            <a:stretch>
              <a:fillRect l="0" t="0" r="0" b="0"/>
            </a:stretch>
          </a:blipFill>
        </p:spPr>
      </p:sp>
      <p:sp>
        <p:nvSpPr>
          <p:cNvPr name="Freeform 6" id="6"/>
          <p:cNvSpPr/>
          <p:nvPr/>
        </p:nvSpPr>
        <p:spPr>
          <a:xfrm flipH="false" flipV="false" rot="-9993454">
            <a:off x="15479967" y="-294242"/>
            <a:ext cx="1540669" cy="1735965"/>
          </a:xfrm>
          <a:custGeom>
            <a:avLst/>
            <a:gdLst/>
            <a:ahLst/>
            <a:cxnLst/>
            <a:rect r="r" b="b" t="t" l="l"/>
            <a:pathLst>
              <a:path h="1735965" w="1540669">
                <a:moveTo>
                  <a:pt x="0" y="0"/>
                </a:moveTo>
                <a:lnTo>
                  <a:pt x="1540669" y="0"/>
                </a:lnTo>
                <a:lnTo>
                  <a:pt x="1540669" y="1735965"/>
                </a:lnTo>
                <a:lnTo>
                  <a:pt x="0" y="1735965"/>
                </a:lnTo>
                <a:lnTo>
                  <a:pt x="0" y="0"/>
                </a:lnTo>
                <a:close/>
              </a:path>
            </a:pathLst>
          </a:custGeom>
          <a:blipFill>
            <a:blip r:embed="rId4"/>
            <a:stretch>
              <a:fillRect l="0" t="0" r="0" b="0"/>
            </a:stretch>
          </a:blipFill>
        </p:spPr>
      </p:sp>
      <p:graphicFrame>
        <p:nvGraphicFramePr>
          <p:cNvPr name="Object 7" id="7"/>
          <p:cNvGraphicFramePr/>
          <p:nvPr/>
        </p:nvGraphicFramePr>
        <p:xfrm>
          <a:off x="1028700" y="2542171"/>
          <a:ext cx="8601075" cy="3771900"/>
        </p:xfrm>
        <a:graphic>
          <a:graphicData uri="http://schemas.openxmlformats.org/presentationml/2006/ole">
            <p:oleObj imgW="10325100" imgH="54864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8" id="8"/>
          <p:cNvSpPr txBox="true"/>
          <p:nvPr/>
        </p:nvSpPr>
        <p:spPr>
          <a:xfrm rot="0">
            <a:off x="1596686" y="825497"/>
            <a:ext cx="12390078" cy="771525"/>
          </a:xfrm>
          <a:prstGeom prst="rect">
            <a:avLst/>
          </a:prstGeom>
        </p:spPr>
        <p:txBody>
          <a:bodyPr anchor="t" rtlCol="false" tIns="0" lIns="0" bIns="0" rIns="0">
            <a:spAutoFit/>
          </a:bodyPr>
          <a:lstStyle/>
          <a:p>
            <a:pPr algn="l">
              <a:lnSpc>
                <a:spcPts val="6000"/>
              </a:lnSpc>
            </a:pPr>
            <a:r>
              <a:rPr lang="en-US" sz="5000" b="true">
                <a:solidFill>
                  <a:srgbClr val="64E688"/>
                </a:solidFill>
                <a:latin typeface="Fira Sans Ultra-Bold"/>
                <a:ea typeface="Fira Sans Ultra-Bold"/>
                <a:cs typeface="Fira Sans Ultra-Bold"/>
                <a:sym typeface="Fira Sans Ultra-Bold"/>
              </a:rPr>
              <a:t>Rủi ro và Governance</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bg>
      <p:bgPr>
        <a:solidFill>
          <a:srgbClr val="070707"/>
        </a:solidFill>
      </p:bgPr>
    </p:bg>
    <p:spTree>
      <p:nvGrpSpPr>
        <p:cNvPr id="1" name=""/>
        <p:cNvGrpSpPr/>
        <p:nvPr/>
      </p:nvGrpSpPr>
      <p:grpSpPr>
        <a:xfrm>
          <a:off x="0" y="0"/>
          <a:ext cx="0" cy="0"/>
          <a:chOff x="0" y="0"/>
          <a:chExt cx="0" cy="0"/>
        </a:xfrm>
      </p:grpSpPr>
      <p:sp>
        <p:nvSpPr>
          <p:cNvPr name="Freeform 2" id="2"/>
          <p:cNvSpPr/>
          <p:nvPr/>
        </p:nvSpPr>
        <p:spPr>
          <a:xfrm flipH="false" flipV="false" rot="0">
            <a:off x="14382434" y="1622996"/>
            <a:ext cx="2670030" cy="2449752"/>
          </a:xfrm>
          <a:custGeom>
            <a:avLst/>
            <a:gdLst/>
            <a:ahLst/>
            <a:cxnLst/>
            <a:rect r="r" b="b" t="t" l="l"/>
            <a:pathLst>
              <a:path h="2449752" w="2670030">
                <a:moveTo>
                  <a:pt x="0" y="0"/>
                </a:moveTo>
                <a:lnTo>
                  <a:pt x="2670030" y="0"/>
                </a:lnTo>
                <a:lnTo>
                  <a:pt x="2670030" y="2449753"/>
                </a:lnTo>
                <a:lnTo>
                  <a:pt x="0" y="2449753"/>
                </a:lnTo>
                <a:lnTo>
                  <a:pt x="0" y="0"/>
                </a:lnTo>
                <a:close/>
              </a:path>
            </a:pathLst>
          </a:custGeom>
          <a:blipFill>
            <a:blip r:embed="rId2"/>
            <a:stretch>
              <a:fillRect l="0" t="0" r="0" b="0"/>
            </a:stretch>
          </a:blipFill>
        </p:spPr>
      </p:sp>
      <p:grpSp>
        <p:nvGrpSpPr>
          <p:cNvPr name="Group 3" id="3"/>
          <p:cNvGrpSpPr/>
          <p:nvPr/>
        </p:nvGrpSpPr>
        <p:grpSpPr>
          <a:xfrm rot="0">
            <a:off x="2570551" y="2847872"/>
            <a:ext cx="13146897" cy="4591255"/>
            <a:chOff x="0" y="0"/>
            <a:chExt cx="51175871" cy="17872010"/>
          </a:xfrm>
        </p:grpSpPr>
        <p:sp>
          <p:nvSpPr>
            <p:cNvPr name="Freeform 4" id="4"/>
            <p:cNvSpPr/>
            <p:nvPr/>
          </p:nvSpPr>
          <p:spPr>
            <a:xfrm flipH="false" flipV="false" rot="0">
              <a:off x="0" y="0"/>
              <a:ext cx="51175872" cy="17872010"/>
            </a:xfrm>
            <a:custGeom>
              <a:avLst/>
              <a:gdLst/>
              <a:ahLst/>
              <a:cxnLst/>
              <a:rect r="r" b="b" t="t" l="l"/>
              <a:pathLst>
                <a:path h="17872010" w="51175872">
                  <a:moveTo>
                    <a:pt x="51051411" y="59690"/>
                  </a:moveTo>
                  <a:cubicBezTo>
                    <a:pt x="51086972" y="59690"/>
                    <a:pt x="51116182" y="88900"/>
                    <a:pt x="51116182" y="124460"/>
                  </a:cubicBezTo>
                  <a:lnTo>
                    <a:pt x="51116182" y="17747549"/>
                  </a:lnTo>
                  <a:cubicBezTo>
                    <a:pt x="51116182" y="17783110"/>
                    <a:pt x="51086972" y="17812321"/>
                    <a:pt x="51051411" y="17812321"/>
                  </a:cubicBezTo>
                  <a:lnTo>
                    <a:pt x="124460" y="17812321"/>
                  </a:lnTo>
                  <a:cubicBezTo>
                    <a:pt x="88900" y="17812321"/>
                    <a:pt x="59690" y="17783110"/>
                    <a:pt x="59690" y="17747549"/>
                  </a:cubicBezTo>
                  <a:lnTo>
                    <a:pt x="59690" y="124460"/>
                  </a:lnTo>
                  <a:cubicBezTo>
                    <a:pt x="59690" y="88900"/>
                    <a:pt x="88900" y="59690"/>
                    <a:pt x="124460" y="59690"/>
                  </a:cubicBezTo>
                  <a:lnTo>
                    <a:pt x="51051411" y="59690"/>
                  </a:lnTo>
                  <a:moveTo>
                    <a:pt x="51051411" y="0"/>
                  </a:moveTo>
                  <a:lnTo>
                    <a:pt x="124460" y="0"/>
                  </a:lnTo>
                  <a:cubicBezTo>
                    <a:pt x="55880" y="0"/>
                    <a:pt x="0" y="55880"/>
                    <a:pt x="0" y="124460"/>
                  </a:cubicBezTo>
                  <a:lnTo>
                    <a:pt x="0" y="17747549"/>
                  </a:lnTo>
                  <a:cubicBezTo>
                    <a:pt x="0" y="17816130"/>
                    <a:pt x="55880" y="17872010"/>
                    <a:pt x="124460" y="17872010"/>
                  </a:cubicBezTo>
                  <a:lnTo>
                    <a:pt x="51051411" y="17872010"/>
                  </a:lnTo>
                  <a:cubicBezTo>
                    <a:pt x="51119990" y="17872010"/>
                    <a:pt x="51175872" y="17816130"/>
                    <a:pt x="51175872" y="17747549"/>
                  </a:cubicBezTo>
                  <a:lnTo>
                    <a:pt x="51175872" y="124460"/>
                  </a:lnTo>
                  <a:cubicBezTo>
                    <a:pt x="51175872" y="55880"/>
                    <a:pt x="51119990" y="0"/>
                    <a:pt x="51051411" y="0"/>
                  </a:cubicBezTo>
                  <a:close/>
                </a:path>
              </a:pathLst>
            </a:custGeom>
            <a:solidFill>
              <a:srgbClr val="64E688">
                <a:alpha val="49804"/>
              </a:srgbClr>
            </a:solidFill>
          </p:spPr>
        </p:sp>
      </p:grpSp>
      <p:sp>
        <p:nvSpPr>
          <p:cNvPr name="TextBox 5" id="5"/>
          <p:cNvSpPr txBox="true"/>
          <p:nvPr/>
        </p:nvSpPr>
        <p:spPr>
          <a:xfrm rot="0">
            <a:off x="3454027" y="3776663"/>
            <a:ext cx="11379946" cy="2724150"/>
          </a:xfrm>
          <a:prstGeom prst="rect">
            <a:avLst/>
          </a:prstGeom>
        </p:spPr>
        <p:txBody>
          <a:bodyPr anchor="t" rtlCol="false" tIns="0" lIns="0" bIns="0" rIns="0">
            <a:spAutoFit/>
          </a:bodyPr>
          <a:lstStyle/>
          <a:p>
            <a:pPr algn="ctr">
              <a:lnSpc>
                <a:spcPts val="7139"/>
              </a:lnSpc>
            </a:pPr>
            <a:r>
              <a:rPr lang="en-US" b="true" sz="5949">
                <a:solidFill>
                  <a:srgbClr val="64E688"/>
                </a:solidFill>
                <a:latin typeface="Fira Sans Ultra-Bold"/>
                <a:ea typeface="Fira Sans Ultra-Bold"/>
                <a:cs typeface="Fira Sans Ultra-Bold"/>
                <a:sym typeface="Fira Sans Ultra-Bold"/>
              </a:rPr>
              <a:t>GenAI sẽ KHÔNG thay thế lập trình viên, nhưng sẽ thay đổi fundamentally vai trò của họ.</a:t>
            </a:r>
          </a:p>
        </p:txBody>
      </p:sp>
      <p:sp>
        <p:nvSpPr>
          <p:cNvPr name="Freeform 6" id="6"/>
          <p:cNvSpPr/>
          <p:nvPr/>
        </p:nvSpPr>
        <p:spPr>
          <a:xfrm flipH="false" flipV="false" rot="-4526024">
            <a:off x="1326982" y="5400203"/>
            <a:ext cx="3068369" cy="3281678"/>
          </a:xfrm>
          <a:custGeom>
            <a:avLst/>
            <a:gdLst/>
            <a:ahLst/>
            <a:cxnLst/>
            <a:rect r="r" b="b" t="t" l="l"/>
            <a:pathLst>
              <a:path h="3281678" w="3068369">
                <a:moveTo>
                  <a:pt x="0" y="0"/>
                </a:moveTo>
                <a:lnTo>
                  <a:pt x="3068369" y="0"/>
                </a:lnTo>
                <a:lnTo>
                  <a:pt x="3068369" y="3281678"/>
                </a:lnTo>
                <a:lnTo>
                  <a:pt x="0" y="3281678"/>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DAHFQBdVJAY</dc:identifier>
  <dcterms:modified xsi:type="dcterms:W3CDTF">2011-08-01T06:04:30Z</dcterms:modified>
  <cp:revision>1</cp:revision>
  <dc:title>ProductionGenAI</dc:title>
</cp:coreProperties>
</file>