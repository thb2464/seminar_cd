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0" r:id="rId4"/>
    <p:sldId id="261" r:id="rId5"/>
    <p:sldId id="268" r:id="rId6"/>
    <p:sldId id="269" r:id="rId7"/>
    <p:sldId id="270" r:id="rId8"/>
    <p:sldId id="265" r:id="rId9"/>
    <p:sldId id="259" r:id="rId10"/>
    <p:sldId id="271" r:id="rId11"/>
    <p:sldId id="262" r:id="rId12"/>
    <p:sldId id="272" r:id="rId13"/>
    <p:sldId id="263" r:id="rId14"/>
    <p:sldId id="264" r:id="rId15"/>
    <p:sldId id="273" r:id="rId16"/>
    <p:sldId id="266"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67" r:id="rId37"/>
  </p:sldIdLst>
  <p:sldSz cx="18288000" cy="10287000"/>
  <p:notesSz cx="6858000" cy="9144000"/>
  <p:embeddedFontLst>
    <p:embeddedFont>
      <p:font typeface="Muli" panose="020B0604020202020204" charset="-93"/>
      <p:regular r:id="rId38"/>
    </p:embeddedFont>
    <p:embeddedFont>
      <p:font typeface="Muli Bold" panose="020B0604020202020204" charset="-93"/>
      <p:regular r:id="rId39"/>
    </p:embeddedFont>
    <p:embeddedFont>
      <p:font typeface="Muli Semi-Bold" panose="020B0604020202020204" charset="-93"/>
      <p:regular r:id="rId40"/>
    </p:embeddedFont>
    <p:embeddedFont>
      <p:font typeface="Muli Ultra-Bold" panose="020B0604020202020204" charset="-93"/>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50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19-Mar-26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11372" y="1028700"/>
            <a:ext cx="9235435" cy="8229600"/>
            <a:chOff x="0" y="0"/>
            <a:chExt cx="12313913" cy="10972800"/>
          </a:xfrm>
        </p:grpSpPr>
        <p:grpSp>
          <p:nvGrpSpPr>
            <p:cNvPr id="3" name="Group 3"/>
            <p:cNvGrpSpPr/>
            <p:nvPr/>
          </p:nvGrpSpPr>
          <p:grpSpPr>
            <a:xfrm>
              <a:off x="0" y="0"/>
              <a:ext cx="8816962" cy="8816962"/>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FF9FD"/>
              </a:solidFill>
            </p:spPr>
            <p:txBody>
              <a:bodyPr/>
              <a:lstStyle/>
              <a:p>
                <a:endParaRPr lang="en-US"/>
              </a:p>
            </p:txBody>
          </p:sp>
        </p:grpSp>
        <p:sp>
          <p:nvSpPr>
            <p:cNvPr id="5" name="Freeform 5"/>
            <p:cNvSpPr/>
            <p:nvPr/>
          </p:nvSpPr>
          <p:spPr>
            <a:xfrm>
              <a:off x="4270524" y="8181074"/>
              <a:ext cx="8043389" cy="2791726"/>
            </a:xfrm>
            <a:custGeom>
              <a:avLst/>
              <a:gdLst/>
              <a:ahLst/>
              <a:cxnLst/>
              <a:rect l="l" t="t" r="r" b="b"/>
              <a:pathLst>
                <a:path w="8043389" h="2791726">
                  <a:moveTo>
                    <a:pt x="0" y="0"/>
                  </a:moveTo>
                  <a:lnTo>
                    <a:pt x="8043389" y="0"/>
                  </a:lnTo>
                  <a:lnTo>
                    <a:pt x="8043389" y="2791726"/>
                  </a:lnTo>
                  <a:lnTo>
                    <a:pt x="0" y="2791726"/>
                  </a:lnTo>
                  <a:lnTo>
                    <a:pt x="0" y="0"/>
                  </a:lnTo>
                  <a:close/>
                </a:path>
              </a:pathLst>
            </a:custGeom>
            <a:blipFill>
              <a:blip r:embed="rId2">
                <a:alphaModFix amt="51000"/>
              </a:blip>
              <a:stretch>
                <a:fillRect/>
              </a:stretch>
            </a:blipFill>
          </p:spPr>
          <p:txBody>
            <a:bodyPr/>
            <a:lstStyle/>
            <a:p>
              <a:endParaRPr lang="en-US"/>
            </a:p>
          </p:txBody>
        </p:sp>
        <p:sp>
          <p:nvSpPr>
            <p:cNvPr id="6" name="Freeform 6"/>
            <p:cNvSpPr/>
            <p:nvPr/>
          </p:nvSpPr>
          <p:spPr>
            <a:xfrm flipH="1">
              <a:off x="892211" y="624687"/>
              <a:ext cx="9699122" cy="10024933"/>
            </a:xfrm>
            <a:custGeom>
              <a:avLst/>
              <a:gdLst/>
              <a:ahLst/>
              <a:cxnLst/>
              <a:rect l="l" t="t" r="r" b="b"/>
              <a:pathLst>
                <a:path w="9699122" h="10024933">
                  <a:moveTo>
                    <a:pt x="9699123" y="0"/>
                  </a:moveTo>
                  <a:lnTo>
                    <a:pt x="0" y="0"/>
                  </a:lnTo>
                  <a:lnTo>
                    <a:pt x="0" y="10024932"/>
                  </a:lnTo>
                  <a:lnTo>
                    <a:pt x="9699123" y="10024932"/>
                  </a:lnTo>
                  <a:lnTo>
                    <a:pt x="9699123" y="0"/>
                  </a:lnTo>
                  <a:close/>
                </a:path>
              </a:pathLst>
            </a:custGeom>
            <a:blipFill>
              <a:blip r:embed="rId3"/>
              <a:stretch>
                <a:fillRect/>
              </a:stretch>
            </a:blipFill>
          </p:spPr>
          <p:txBody>
            <a:bodyPr/>
            <a:lstStyle/>
            <a:p>
              <a:endParaRPr lang="en-US"/>
            </a:p>
          </p:txBody>
        </p:sp>
      </p:grpSp>
      <p:grpSp>
        <p:nvGrpSpPr>
          <p:cNvPr id="7" name="Group 7"/>
          <p:cNvGrpSpPr/>
          <p:nvPr/>
        </p:nvGrpSpPr>
        <p:grpSpPr>
          <a:xfrm>
            <a:off x="1028700" y="8293285"/>
            <a:ext cx="825500" cy="825500"/>
            <a:chOff x="0" y="0"/>
            <a:chExt cx="1100667" cy="1100667"/>
          </a:xfrm>
        </p:grpSpPr>
        <p:grpSp>
          <p:nvGrpSpPr>
            <p:cNvPr id="8" name="Group 8"/>
            <p:cNvGrpSpPr/>
            <p:nvPr/>
          </p:nvGrpSpPr>
          <p:grpSpPr>
            <a:xfrm>
              <a:off x="0" y="0"/>
              <a:ext cx="1100667" cy="1100667"/>
              <a:chOff x="0" y="0"/>
              <a:chExt cx="660400" cy="660400"/>
            </a:xfrm>
          </p:grpSpPr>
          <p:sp>
            <p:nvSpPr>
              <p:cNvPr id="9" name="Freeform 9"/>
              <p:cNvSpPr/>
              <p:nvPr/>
            </p:nvSpPr>
            <p:spPr>
              <a:xfrm>
                <a:off x="0" y="0"/>
                <a:ext cx="660400" cy="660400"/>
              </a:xfrm>
              <a:custGeom>
                <a:avLst/>
                <a:gdLst/>
                <a:ahLst/>
                <a:cxnLst/>
                <a:rect l="l" t="t" r="r" b="b"/>
                <a:pathLst>
                  <a:path w="660400" h="660400">
                    <a:moveTo>
                      <a:pt x="535940" y="660400"/>
                    </a:moveTo>
                    <a:lnTo>
                      <a:pt x="124460" y="660400"/>
                    </a:lnTo>
                    <a:cubicBezTo>
                      <a:pt x="55880" y="660400"/>
                      <a:pt x="0" y="604520"/>
                      <a:pt x="0" y="535940"/>
                    </a:cubicBezTo>
                    <a:lnTo>
                      <a:pt x="0" y="124460"/>
                    </a:lnTo>
                    <a:cubicBezTo>
                      <a:pt x="0" y="55880"/>
                      <a:pt x="55880" y="0"/>
                      <a:pt x="124460" y="0"/>
                    </a:cubicBezTo>
                    <a:lnTo>
                      <a:pt x="535940" y="0"/>
                    </a:lnTo>
                    <a:cubicBezTo>
                      <a:pt x="604520" y="0"/>
                      <a:pt x="660400" y="55880"/>
                      <a:pt x="660400" y="124460"/>
                    </a:cubicBezTo>
                    <a:lnTo>
                      <a:pt x="660400" y="535940"/>
                    </a:lnTo>
                    <a:cubicBezTo>
                      <a:pt x="660400" y="604520"/>
                      <a:pt x="604520" y="660400"/>
                      <a:pt x="535940" y="660400"/>
                    </a:cubicBezTo>
                    <a:close/>
                  </a:path>
                </a:pathLst>
              </a:custGeom>
              <a:solidFill>
                <a:srgbClr val="F36825"/>
              </a:solidFill>
            </p:spPr>
            <p:txBody>
              <a:bodyPr/>
              <a:lstStyle/>
              <a:p>
                <a:endParaRPr lang="en-US"/>
              </a:p>
            </p:txBody>
          </p:sp>
        </p:grpSp>
        <p:grpSp>
          <p:nvGrpSpPr>
            <p:cNvPr id="10" name="Group 10"/>
            <p:cNvGrpSpPr/>
            <p:nvPr/>
          </p:nvGrpSpPr>
          <p:grpSpPr>
            <a:xfrm rot="-5400000">
              <a:off x="436385" y="452780"/>
              <a:ext cx="290178" cy="195107"/>
              <a:chOff x="0" y="0"/>
              <a:chExt cx="1930400" cy="1297940"/>
            </a:xfrm>
          </p:grpSpPr>
          <p:sp>
            <p:nvSpPr>
              <p:cNvPr id="11" name="Freeform 11"/>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FFFFFF"/>
              </a:solidFill>
            </p:spPr>
            <p:txBody>
              <a:bodyPr/>
              <a:lstStyle/>
              <a:p>
                <a:endParaRPr lang="en-US"/>
              </a:p>
            </p:txBody>
          </p:sp>
        </p:grpSp>
      </p:grpSp>
      <p:sp>
        <p:nvSpPr>
          <p:cNvPr id="12" name="TextBox 12"/>
          <p:cNvSpPr txBox="1"/>
          <p:nvPr/>
        </p:nvSpPr>
        <p:spPr>
          <a:xfrm>
            <a:off x="1028700" y="2013981"/>
            <a:ext cx="6687105" cy="3327193"/>
          </a:xfrm>
          <a:prstGeom prst="rect">
            <a:avLst/>
          </a:prstGeom>
        </p:spPr>
        <p:txBody>
          <a:bodyPr lIns="0" tIns="0" rIns="0" bIns="0" rtlCol="0" anchor="t">
            <a:spAutoFit/>
          </a:bodyPr>
          <a:lstStyle/>
          <a:p>
            <a:pPr algn="l">
              <a:lnSpc>
                <a:spcPts val="8760"/>
              </a:lnSpc>
            </a:pPr>
            <a:r>
              <a:rPr lang="en-US" sz="7300" b="1" dirty="0" err="1">
                <a:solidFill>
                  <a:srgbClr val="F36825"/>
                </a:solidFill>
                <a:latin typeface="Muli Ultra-Bold"/>
                <a:ea typeface="Muli Ultra-Bold"/>
                <a:cs typeface="Muli Ultra-Bold"/>
                <a:sym typeface="Muli Ultra-Bold"/>
              </a:rPr>
              <a:t>Lập</a:t>
            </a:r>
            <a:r>
              <a:rPr lang="en-US" sz="7300" b="1" dirty="0">
                <a:solidFill>
                  <a:srgbClr val="F36825"/>
                </a:solidFill>
                <a:latin typeface="Muli Ultra-Bold"/>
                <a:ea typeface="Muli Ultra-Bold"/>
                <a:cs typeface="Muli Ultra-Bold"/>
                <a:sym typeface="Muli Ultra-Bold"/>
              </a:rPr>
              <a:t> </a:t>
            </a:r>
            <a:r>
              <a:rPr lang="en-US" sz="7300" b="1" dirty="0" err="1">
                <a:solidFill>
                  <a:srgbClr val="F36825"/>
                </a:solidFill>
                <a:latin typeface="Muli Ultra-Bold"/>
                <a:ea typeface="Muli Ultra-Bold"/>
                <a:cs typeface="Muli Ultra-Bold"/>
                <a:sym typeface="Muli Ultra-Bold"/>
              </a:rPr>
              <a:t>Trình</a:t>
            </a:r>
            <a:r>
              <a:rPr lang="en-US" sz="7300" b="1" dirty="0">
                <a:solidFill>
                  <a:srgbClr val="F36825"/>
                </a:solidFill>
                <a:latin typeface="Muli Ultra-Bold"/>
                <a:ea typeface="Muli Ultra-Bold"/>
                <a:cs typeface="Muli Ultra-Bold"/>
                <a:sym typeface="Muli Ultra-Bold"/>
              </a:rPr>
              <a:t> </a:t>
            </a:r>
            <a:r>
              <a:rPr lang="en-US" sz="7300" b="1" dirty="0" err="1">
                <a:solidFill>
                  <a:srgbClr val="F36825"/>
                </a:solidFill>
                <a:latin typeface="Muli Ultra-Bold"/>
                <a:ea typeface="Muli Ultra-Bold"/>
                <a:cs typeface="Muli Ultra-Bold"/>
                <a:sym typeface="Muli Ultra-Bold"/>
              </a:rPr>
              <a:t>Nâng</a:t>
            </a:r>
            <a:r>
              <a:rPr lang="en-US" sz="7300" b="1" dirty="0">
                <a:solidFill>
                  <a:srgbClr val="F36825"/>
                </a:solidFill>
                <a:latin typeface="Muli Ultra-Bold"/>
                <a:ea typeface="Muli Ultra-Bold"/>
                <a:cs typeface="Muli Ultra-Bold"/>
                <a:sym typeface="Muli Ultra-Bold"/>
              </a:rPr>
              <a:t> Cao </a:t>
            </a:r>
            <a:r>
              <a:rPr lang="en-US" sz="7300" b="1" dirty="0" err="1">
                <a:solidFill>
                  <a:srgbClr val="F36825"/>
                </a:solidFill>
                <a:latin typeface="Muli Ultra-Bold"/>
                <a:ea typeface="Muli Ultra-Bold"/>
                <a:cs typeface="Muli Ultra-Bold"/>
                <a:sym typeface="Muli Ultra-Bold"/>
              </a:rPr>
              <a:t>Với</a:t>
            </a:r>
            <a:r>
              <a:rPr lang="en-US" sz="7300" b="1" dirty="0">
                <a:solidFill>
                  <a:srgbClr val="F36825"/>
                </a:solidFill>
                <a:latin typeface="Muli Ultra-Bold"/>
                <a:ea typeface="Muli Ultra-Bold"/>
                <a:cs typeface="Muli Ultra-Bold"/>
                <a:sym typeface="Muli Ultra-Bold"/>
              </a:rPr>
              <a:t> GenAI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8577180" y="236488"/>
            <a:ext cx="9381148" cy="9814023"/>
            <a:chOff x="0" y="0"/>
            <a:chExt cx="7504918" cy="7851218"/>
          </a:xfrm>
        </p:grpSpPr>
        <p:sp>
          <p:nvSpPr>
            <p:cNvPr id="3" name="Freeform 3"/>
            <p:cNvSpPr/>
            <p:nvPr/>
          </p:nvSpPr>
          <p:spPr>
            <a:xfrm>
              <a:off x="0" y="0"/>
              <a:ext cx="7504919" cy="7851218"/>
            </a:xfrm>
            <a:custGeom>
              <a:avLst/>
              <a:gdLst/>
              <a:ahLst/>
              <a:cxnLst/>
              <a:rect l="l" t="t" r="r" b="b"/>
              <a:pathLst>
                <a:path w="7504919" h="7851218">
                  <a:moveTo>
                    <a:pt x="7380458" y="7851218"/>
                  </a:moveTo>
                  <a:lnTo>
                    <a:pt x="124460" y="7851218"/>
                  </a:lnTo>
                  <a:cubicBezTo>
                    <a:pt x="55880" y="7851218"/>
                    <a:pt x="0" y="7795338"/>
                    <a:pt x="0" y="7726759"/>
                  </a:cubicBezTo>
                  <a:lnTo>
                    <a:pt x="0" y="124460"/>
                  </a:lnTo>
                  <a:cubicBezTo>
                    <a:pt x="0" y="55880"/>
                    <a:pt x="55880" y="0"/>
                    <a:pt x="124460" y="0"/>
                  </a:cubicBezTo>
                  <a:lnTo>
                    <a:pt x="7380459" y="0"/>
                  </a:lnTo>
                  <a:cubicBezTo>
                    <a:pt x="7449038" y="0"/>
                    <a:pt x="7504919" y="55880"/>
                    <a:pt x="7504919" y="124460"/>
                  </a:cubicBezTo>
                  <a:lnTo>
                    <a:pt x="7504919" y="7726759"/>
                  </a:lnTo>
                  <a:cubicBezTo>
                    <a:pt x="7504919" y="7795338"/>
                    <a:pt x="7449038" y="7851218"/>
                    <a:pt x="7380459" y="7851218"/>
                  </a:cubicBezTo>
                  <a:close/>
                </a:path>
              </a:pathLst>
            </a:custGeom>
            <a:solidFill>
              <a:srgbClr val="FFFFFF"/>
            </a:solidFill>
          </p:spPr>
          <p:txBody>
            <a:bodyPr/>
            <a:lstStyle/>
            <a:p>
              <a:endParaRPr lang="en-US"/>
            </a:p>
          </p:txBody>
        </p:sp>
      </p:grpSp>
      <p:grpSp>
        <p:nvGrpSpPr>
          <p:cNvPr id="4" name="Group 4"/>
          <p:cNvGrpSpPr/>
          <p:nvPr/>
        </p:nvGrpSpPr>
        <p:grpSpPr>
          <a:xfrm>
            <a:off x="9619273" y="1465844"/>
            <a:ext cx="7640027" cy="6408156"/>
            <a:chOff x="0" y="-47625"/>
            <a:chExt cx="10186702" cy="8544207"/>
          </a:xfrm>
        </p:grpSpPr>
        <p:sp>
          <p:nvSpPr>
            <p:cNvPr id="5" name="AutoShape 5"/>
            <p:cNvSpPr/>
            <p:nvPr/>
          </p:nvSpPr>
          <p:spPr>
            <a:xfrm>
              <a:off x="2532" y="1154289"/>
              <a:ext cx="10184170" cy="0"/>
            </a:xfrm>
            <a:prstGeom prst="line">
              <a:avLst/>
            </a:prstGeom>
            <a:ln w="101600" cap="rnd">
              <a:solidFill>
                <a:srgbClr val="F2F3F4"/>
              </a:solidFill>
              <a:prstDash val="solid"/>
              <a:headEnd type="none" w="sm" len="sm"/>
              <a:tailEnd type="none" w="sm" len="sm"/>
            </a:ln>
          </p:spPr>
          <p:txBody>
            <a:bodyPr/>
            <a:lstStyle/>
            <a:p>
              <a:endParaRPr lang="en-US" dirty="0"/>
            </a:p>
          </p:txBody>
        </p:sp>
        <p:sp>
          <p:nvSpPr>
            <p:cNvPr id="6" name="AutoShape 6"/>
            <p:cNvSpPr/>
            <p:nvPr/>
          </p:nvSpPr>
          <p:spPr>
            <a:xfrm>
              <a:off x="2532" y="2989862"/>
              <a:ext cx="10184170" cy="0"/>
            </a:xfrm>
            <a:prstGeom prst="line">
              <a:avLst/>
            </a:prstGeom>
            <a:ln w="101600" cap="rnd">
              <a:solidFill>
                <a:srgbClr val="F2F3F4"/>
              </a:solidFill>
              <a:prstDash val="solid"/>
              <a:headEnd type="none" w="sm" len="sm"/>
              <a:tailEnd type="none" w="sm" len="sm"/>
            </a:ln>
          </p:spPr>
          <p:txBody>
            <a:bodyPr/>
            <a:lstStyle/>
            <a:p>
              <a:endParaRPr lang="en-US"/>
            </a:p>
          </p:txBody>
        </p:sp>
        <p:sp>
          <p:nvSpPr>
            <p:cNvPr id="7" name="AutoShape 7"/>
            <p:cNvSpPr/>
            <p:nvPr/>
          </p:nvSpPr>
          <p:spPr>
            <a:xfrm>
              <a:off x="2532" y="4825435"/>
              <a:ext cx="10184170" cy="0"/>
            </a:xfrm>
            <a:prstGeom prst="line">
              <a:avLst/>
            </a:prstGeom>
            <a:ln w="101600" cap="rnd">
              <a:solidFill>
                <a:srgbClr val="F2F3F4"/>
              </a:solidFill>
              <a:prstDash val="solid"/>
              <a:headEnd type="none" w="sm" len="sm"/>
              <a:tailEnd type="none" w="sm" len="sm"/>
            </a:ln>
          </p:spPr>
          <p:txBody>
            <a:bodyPr/>
            <a:lstStyle/>
            <a:p>
              <a:endParaRPr lang="en-US"/>
            </a:p>
          </p:txBody>
        </p:sp>
        <p:sp>
          <p:nvSpPr>
            <p:cNvPr id="8" name="AutoShape 8"/>
            <p:cNvSpPr/>
            <p:nvPr/>
          </p:nvSpPr>
          <p:spPr>
            <a:xfrm>
              <a:off x="0" y="6661009"/>
              <a:ext cx="10186702" cy="0"/>
            </a:xfrm>
            <a:prstGeom prst="line">
              <a:avLst/>
            </a:prstGeom>
            <a:ln w="101600" cap="rnd">
              <a:solidFill>
                <a:srgbClr val="F2F3F4"/>
              </a:solidFill>
              <a:prstDash val="solid"/>
              <a:headEnd type="none" w="sm" len="sm"/>
              <a:tailEnd type="none" w="sm" len="sm"/>
            </a:ln>
          </p:spPr>
          <p:txBody>
            <a:bodyPr/>
            <a:lstStyle/>
            <a:p>
              <a:endParaRPr lang="en-US"/>
            </a:p>
          </p:txBody>
        </p:sp>
        <p:sp>
          <p:nvSpPr>
            <p:cNvPr id="9" name="AutoShape 9"/>
            <p:cNvSpPr/>
            <p:nvPr/>
          </p:nvSpPr>
          <p:spPr>
            <a:xfrm>
              <a:off x="308" y="8496582"/>
              <a:ext cx="10186394" cy="0"/>
            </a:xfrm>
            <a:prstGeom prst="line">
              <a:avLst/>
            </a:prstGeom>
            <a:ln w="101600" cap="rnd">
              <a:solidFill>
                <a:srgbClr val="F2F3F4"/>
              </a:solidFill>
              <a:prstDash val="solid"/>
              <a:headEnd type="none" w="sm" len="sm"/>
              <a:tailEnd type="none" w="sm" len="sm"/>
            </a:ln>
          </p:spPr>
          <p:txBody>
            <a:bodyPr/>
            <a:lstStyle/>
            <a:p>
              <a:endParaRPr lang="en-US"/>
            </a:p>
          </p:txBody>
        </p:sp>
        <p:sp>
          <p:nvSpPr>
            <p:cNvPr id="10" name="TextBox 10"/>
            <p:cNvSpPr txBox="1"/>
            <p:nvPr/>
          </p:nvSpPr>
          <p:spPr>
            <a:xfrm>
              <a:off x="2532" y="-47625"/>
              <a:ext cx="9147738" cy="1115435"/>
            </a:xfrm>
            <a:prstGeom prst="rect">
              <a:avLst/>
            </a:prstGeom>
          </p:spPr>
          <p:txBody>
            <a:bodyPr lIns="0" tIns="0" rIns="0" bIns="0" rtlCol="0" anchor="t">
              <a:spAutoFit/>
            </a:bodyPr>
            <a:lstStyle/>
            <a:p>
              <a:pPr algn="l">
                <a:lnSpc>
                  <a:spcPts val="3359"/>
                </a:lnSpc>
              </a:pPr>
              <a:r>
                <a:rPr lang="en-US" sz="2400" dirty="0">
                  <a:solidFill>
                    <a:srgbClr val="0E2C4B"/>
                  </a:solidFill>
                  <a:latin typeface="Muli"/>
                  <a:ea typeface="Muli"/>
                  <a:cs typeface="Muli"/>
                  <a:sym typeface="Muli"/>
                </a:rPr>
                <a:t>Cách ChatGPT, </a:t>
              </a:r>
              <a:r>
                <a:rPr lang="en-US" sz="2400" dirty="0" err="1">
                  <a:solidFill>
                    <a:srgbClr val="0E2C4B"/>
                  </a:solidFill>
                  <a:latin typeface="Muli"/>
                  <a:ea typeface="Muli"/>
                  <a:cs typeface="Muli"/>
                  <a:sym typeface="Muli"/>
                </a:rPr>
                <a:t>Github</a:t>
              </a:r>
              <a:r>
                <a:rPr lang="en-US" sz="2400" dirty="0">
                  <a:solidFill>
                    <a:srgbClr val="0E2C4B"/>
                  </a:solidFill>
                  <a:latin typeface="Muli"/>
                  <a:ea typeface="Muli"/>
                  <a:cs typeface="Muli"/>
                  <a:sym typeface="Muli"/>
                </a:rPr>
                <a:t> Copilot </a:t>
              </a:r>
              <a:r>
                <a:rPr lang="en-US" sz="2400" dirty="0" err="1">
                  <a:solidFill>
                    <a:srgbClr val="0E2C4B"/>
                  </a:solidFill>
                  <a:latin typeface="Muli"/>
                  <a:ea typeface="Muli"/>
                  <a:cs typeface="Muli"/>
                  <a:sym typeface="Muli"/>
                </a:rPr>
                <a:t>và</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các</a:t>
              </a:r>
              <a:r>
                <a:rPr lang="en-US" sz="2400" dirty="0">
                  <a:solidFill>
                    <a:srgbClr val="0E2C4B"/>
                  </a:solidFill>
                  <a:latin typeface="Muli"/>
                  <a:ea typeface="Muli"/>
                  <a:cs typeface="Muli"/>
                  <a:sym typeface="Muli"/>
                </a:rPr>
                <a:t> LLM </a:t>
              </a:r>
              <a:r>
                <a:rPr lang="en-US" sz="2400" dirty="0" err="1">
                  <a:solidFill>
                    <a:srgbClr val="0E2C4B"/>
                  </a:solidFill>
                  <a:latin typeface="Muli"/>
                  <a:ea typeface="Muli"/>
                  <a:cs typeface="Muli"/>
                  <a:sym typeface="Muli"/>
                </a:rPr>
                <a:t>khác</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hoạt</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động</a:t>
              </a:r>
              <a:endParaRPr lang="en-US" sz="2400" dirty="0">
                <a:solidFill>
                  <a:srgbClr val="0E2C4B"/>
                </a:solidFill>
                <a:latin typeface="Muli"/>
                <a:ea typeface="Muli"/>
                <a:cs typeface="Muli"/>
                <a:sym typeface="Muli"/>
              </a:endParaRPr>
            </a:p>
          </p:txBody>
        </p:sp>
        <p:sp>
          <p:nvSpPr>
            <p:cNvPr id="11" name="TextBox 11"/>
            <p:cNvSpPr txBox="1"/>
            <p:nvPr/>
          </p:nvSpPr>
          <p:spPr>
            <a:xfrm>
              <a:off x="2532" y="1787948"/>
              <a:ext cx="9147738" cy="534079"/>
            </a:xfrm>
            <a:prstGeom prst="rect">
              <a:avLst/>
            </a:prstGeom>
          </p:spPr>
          <p:txBody>
            <a:bodyPr lIns="0" tIns="0" rIns="0" bIns="0" rtlCol="0" anchor="t">
              <a:spAutoFit/>
            </a:bodyPr>
            <a:lstStyle/>
            <a:p>
              <a:pPr algn="l">
                <a:lnSpc>
                  <a:spcPts val="3359"/>
                </a:lnSpc>
              </a:pPr>
              <a:r>
                <a:rPr lang="en-US" sz="2400" dirty="0" err="1">
                  <a:solidFill>
                    <a:srgbClr val="0E2C4B"/>
                  </a:solidFill>
                  <a:latin typeface="Muli"/>
                  <a:ea typeface="Muli"/>
                  <a:cs typeface="Muli"/>
                  <a:sym typeface="Muli"/>
                </a:rPr>
                <a:t>Đọc</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và</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hiểu</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cơ</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sở</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mã</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với</a:t>
              </a:r>
              <a:r>
                <a:rPr lang="en-US" sz="2400" dirty="0">
                  <a:solidFill>
                    <a:srgbClr val="0E2C4B"/>
                  </a:solidFill>
                  <a:latin typeface="Muli"/>
                  <a:ea typeface="Muli"/>
                  <a:cs typeface="Muli"/>
                  <a:sym typeface="Muli"/>
                </a:rPr>
                <a:t> GenAI</a:t>
              </a:r>
            </a:p>
          </p:txBody>
        </p:sp>
        <p:sp>
          <p:nvSpPr>
            <p:cNvPr id="12" name="TextBox 12"/>
            <p:cNvSpPr txBox="1"/>
            <p:nvPr/>
          </p:nvSpPr>
          <p:spPr>
            <a:xfrm>
              <a:off x="2532" y="3623523"/>
              <a:ext cx="9147738" cy="534079"/>
            </a:xfrm>
            <a:prstGeom prst="rect">
              <a:avLst/>
            </a:prstGeom>
          </p:spPr>
          <p:txBody>
            <a:bodyPr lIns="0" tIns="0" rIns="0" bIns="0" rtlCol="0" anchor="t">
              <a:spAutoFit/>
            </a:bodyPr>
            <a:lstStyle/>
            <a:p>
              <a:pPr algn="l">
                <a:lnSpc>
                  <a:spcPts val="3359"/>
                </a:lnSpc>
              </a:pPr>
              <a:r>
                <a:rPr lang="en-US" sz="2400" dirty="0" err="1">
                  <a:solidFill>
                    <a:srgbClr val="0E2C4B"/>
                  </a:solidFill>
                  <a:latin typeface="Muli"/>
                  <a:ea typeface="Muli"/>
                  <a:cs typeface="Muli"/>
                  <a:sym typeface="Muli"/>
                </a:rPr>
                <a:t>Giới</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thiệu</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về</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kỹ</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thuật</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gợi</a:t>
              </a:r>
              <a:r>
                <a:rPr lang="en-US" sz="2400" dirty="0">
                  <a:solidFill>
                    <a:srgbClr val="0E2C4B"/>
                  </a:solidFill>
                  <a:latin typeface="Muli"/>
                  <a:ea typeface="Muli"/>
                  <a:cs typeface="Muli"/>
                  <a:sym typeface="Muli"/>
                </a:rPr>
                <a:t> ý</a:t>
              </a:r>
            </a:p>
          </p:txBody>
        </p:sp>
        <p:sp>
          <p:nvSpPr>
            <p:cNvPr id="13" name="TextBox 13"/>
            <p:cNvSpPr txBox="1"/>
            <p:nvPr/>
          </p:nvSpPr>
          <p:spPr>
            <a:xfrm>
              <a:off x="2532" y="5459094"/>
              <a:ext cx="9147738" cy="1115435"/>
            </a:xfrm>
            <a:prstGeom prst="rect">
              <a:avLst/>
            </a:prstGeom>
          </p:spPr>
          <p:txBody>
            <a:bodyPr lIns="0" tIns="0" rIns="0" bIns="0" rtlCol="0" anchor="t">
              <a:spAutoFit/>
            </a:bodyPr>
            <a:lstStyle/>
            <a:p>
              <a:pPr algn="l">
                <a:lnSpc>
                  <a:spcPts val="3359"/>
                </a:lnSpc>
              </a:pPr>
              <a:r>
                <a:rPr lang="en-US" sz="2400" dirty="0" err="1">
                  <a:solidFill>
                    <a:srgbClr val="0E2C4B"/>
                  </a:solidFill>
                  <a:latin typeface="Muli"/>
                  <a:ea typeface="Muli"/>
                  <a:cs typeface="Muli"/>
                  <a:sym typeface="Muli"/>
                </a:rPr>
                <a:t>Kỹ</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thuật</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gợi</a:t>
              </a:r>
              <a:r>
                <a:rPr lang="en-US" sz="2400" dirty="0">
                  <a:solidFill>
                    <a:srgbClr val="0E2C4B"/>
                  </a:solidFill>
                  <a:latin typeface="Muli"/>
                  <a:ea typeface="Muli"/>
                  <a:cs typeface="Muli"/>
                  <a:sym typeface="Muli"/>
                </a:rPr>
                <a:t> ý </a:t>
              </a:r>
              <a:r>
                <a:rPr lang="en-US" sz="2400" dirty="0" err="1">
                  <a:solidFill>
                    <a:srgbClr val="0E2C4B"/>
                  </a:solidFill>
                  <a:latin typeface="Muli"/>
                  <a:ea typeface="Muli"/>
                  <a:cs typeface="Muli"/>
                  <a:sym typeface="Muli"/>
                </a:rPr>
                <a:t>nâng</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cao</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cho</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các</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tác</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vụ</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liên</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quan</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đến</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lập</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trình</a:t>
              </a:r>
              <a:endParaRPr lang="en-US" sz="2400" dirty="0">
                <a:solidFill>
                  <a:srgbClr val="0E2C4B"/>
                </a:solidFill>
                <a:latin typeface="Muli"/>
                <a:ea typeface="Muli"/>
                <a:cs typeface="Muli"/>
                <a:sym typeface="Muli"/>
              </a:endParaRPr>
            </a:p>
          </p:txBody>
        </p:sp>
        <p:sp>
          <p:nvSpPr>
            <p:cNvPr id="14" name="TextBox 14"/>
            <p:cNvSpPr txBox="1"/>
            <p:nvPr/>
          </p:nvSpPr>
          <p:spPr>
            <a:xfrm>
              <a:off x="2532" y="7294667"/>
              <a:ext cx="9147738" cy="534079"/>
            </a:xfrm>
            <a:prstGeom prst="rect">
              <a:avLst/>
            </a:prstGeom>
          </p:spPr>
          <p:txBody>
            <a:bodyPr lIns="0" tIns="0" rIns="0" bIns="0" rtlCol="0" anchor="t">
              <a:spAutoFit/>
            </a:bodyPr>
            <a:lstStyle/>
            <a:p>
              <a:pPr algn="l">
                <a:lnSpc>
                  <a:spcPts val="3359"/>
                </a:lnSpc>
              </a:pPr>
              <a:r>
                <a:rPr lang="en-US" sz="2400" dirty="0">
                  <a:solidFill>
                    <a:srgbClr val="0E2C4B"/>
                  </a:solidFill>
                  <a:latin typeface="Muli"/>
                  <a:ea typeface="Muli"/>
                  <a:cs typeface="Muli"/>
                  <a:sym typeface="Muli"/>
                </a:rPr>
                <a:t>Tái </a:t>
              </a:r>
              <a:r>
                <a:rPr lang="en-US" sz="2400" dirty="0" err="1">
                  <a:solidFill>
                    <a:srgbClr val="0E2C4B"/>
                  </a:solidFill>
                  <a:latin typeface="Muli"/>
                  <a:ea typeface="Muli"/>
                  <a:cs typeface="Muli"/>
                  <a:sym typeface="Muli"/>
                </a:rPr>
                <a:t>cấu</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trúc</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mã</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với</a:t>
              </a:r>
              <a:r>
                <a:rPr lang="en-US" sz="2400" dirty="0">
                  <a:solidFill>
                    <a:srgbClr val="0E2C4B"/>
                  </a:solidFill>
                  <a:latin typeface="Muli"/>
                  <a:ea typeface="Muli"/>
                  <a:cs typeface="Muli"/>
                  <a:sym typeface="Muli"/>
                </a:rPr>
                <a:t> GenAI</a:t>
              </a:r>
            </a:p>
          </p:txBody>
        </p:sp>
      </p:grpSp>
      <p:grpSp>
        <p:nvGrpSpPr>
          <p:cNvPr id="15" name="Group 15"/>
          <p:cNvGrpSpPr/>
          <p:nvPr/>
        </p:nvGrpSpPr>
        <p:grpSpPr>
          <a:xfrm>
            <a:off x="1028700" y="1249503"/>
            <a:ext cx="6173123" cy="3373297"/>
            <a:chOff x="0" y="0"/>
            <a:chExt cx="8230830" cy="4497730"/>
          </a:xfrm>
        </p:grpSpPr>
        <p:grpSp>
          <p:nvGrpSpPr>
            <p:cNvPr id="16" name="Group 16"/>
            <p:cNvGrpSpPr/>
            <p:nvPr/>
          </p:nvGrpSpPr>
          <p:grpSpPr>
            <a:xfrm>
              <a:off x="0" y="3397063"/>
              <a:ext cx="6702579" cy="1100667"/>
              <a:chOff x="0" y="0"/>
              <a:chExt cx="4021547" cy="660400"/>
            </a:xfrm>
          </p:grpSpPr>
          <p:sp>
            <p:nvSpPr>
              <p:cNvPr id="17" name="Freeform 17"/>
              <p:cNvSpPr/>
              <p:nvPr/>
            </p:nvSpPr>
            <p:spPr>
              <a:xfrm>
                <a:off x="0" y="0"/>
                <a:ext cx="4021548" cy="660400"/>
              </a:xfrm>
              <a:custGeom>
                <a:avLst/>
                <a:gdLst/>
                <a:ahLst/>
                <a:cxnLst/>
                <a:rect l="l" t="t" r="r" b="b"/>
                <a:pathLst>
                  <a:path w="4021548" h="660400">
                    <a:moveTo>
                      <a:pt x="3897087" y="660400"/>
                    </a:moveTo>
                    <a:lnTo>
                      <a:pt x="124460" y="660400"/>
                    </a:lnTo>
                    <a:cubicBezTo>
                      <a:pt x="55880" y="660400"/>
                      <a:pt x="0" y="604520"/>
                      <a:pt x="0" y="535940"/>
                    </a:cubicBezTo>
                    <a:lnTo>
                      <a:pt x="0" y="124460"/>
                    </a:lnTo>
                    <a:cubicBezTo>
                      <a:pt x="0" y="55880"/>
                      <a:pt x="55880" y="0"/>
                      <a:pt x="124460" y="0"/>
                    </a:cubicBezTo>
                    <a:lnTo>
                      <a:pt x="3897088" y="0"/>
                    </a:lnTo>
                    <a:cubicBezTo>
                      <a:pt x="3965668" y="0"/>
                      <a:pt x="4021548" y="55880"/>
                      <a:pt x="4021548" y="124460"/>
                    </a:cubicBezTo>
                    <a:lnTo>
                      <a:pt x="4021548" y="535940"/>
                    </a:lnTo>
                    <a:cubicBezTo>
                      <a:pt x="4021548" y="604520"/>
                      <a:pt x="3965668" y="660400"/>
                      <a:pt x="3897088" y="660400"/>
                    </a:cubicBezTo>
                    <a:close/>
                  </a:path>
                </a:pathLst>
              </a:custGeom>
              <a:solidFill>
                <a:srgbClr val="F36825"/>
              </a:solidFill>
            </p:spPr>
            <p:txBody>
              <a:bodyPr/>
              <a:lstStyle/>
              <a:p>
                <a:endParaRPr lang="en-US"/>
              </a:p>
            </p:txBody>
          </p:sp>
        </p:grpSp>
        <p:sp>
          <p:nvSpPr>
            <p:cNvPr id="18" name="TextBox 18"/>
            <p:cNvSpPr txBox="1"/>
            <p:nvPr/>
          </p:nvSpPr>
          <p:spPr>
            <a:xfrm>
              <a:off x="0" y="0"/>
              <a:ext cx="8230830" cy="1422400"/>
            </a:xfrm>
            <a:prstGeom prst="rect">
              <a:avLst/>
            </a:prstGeom>
          </p:spPr>
          <p:txBody>
            <a:bodyPr lIns="0" tIns="0" rIns="0" bIns="0" rtlCol="0" anchor="t">
              <a:spAutoFit/>
            </a:bodyPr>
            <a:lstStyle/>
            <a:p>
              <a:pPr algn="l">
                <a:lnSpc>
                  <a:spcPts val="8400"/>
                </a:lnSpc>
              </a:pPr>
              <a:r>
                <a:rPr lang="en-US" sz="7000" b="1">
                  <a:solidFill>
                    <a:srgbClr val="0E2C4B"/>
                  </a:solidFill>
                  <a:latin typeface="Muli Ultra-Bold"/>
                  <a:ea typeface="Muli Ultra-Bold"/>
                  <a:cs typeface="Muli Ultra-Bold"/>
                  <a:sym typeface="Muli Ultra-Bold"/>
                </a:rPr>
                <a:t>Mục lục</a:t>
              </a:r>
            </a:p>
          </p:txBody>
        </p:sp>
        <p:sp>
          <p:nvSpPr>
            <p:cNvPr id="19" name="TextBox 19"/>
            <p:cNvSpPr txBox="1"/>
            <p:nvPr/>
          </p:nvSpPr>
          <p:spPr>
            <a:xfrm>
              <a:off x="693230" y="3632366"/>
              <a:ext cx="5587728" cy="559435"/>
            </a:xfrm>
            <a:prstGeom prst="rect">
              <a:avLst/>
            </a:prstGeom>
          </p:spPr>
          <p:txBody>
            <a:bodyPr lIns="0" tIns="0" rIns="0" bIns="0" rtlCol="0" anchor="t">
              <a:spAutoFit/>
            </a:bodyPr>
            <a:lstStyle/>
            <a:p>
              <a:pPr algn="l">
                <a:lnSpc>
                  <a:spcPts val="3360"/>
                </a:lnSpc>
              </a:pPr>
              <a:r>
                <a:rPr lang="en-US" sz="2800" b="1">
                  <a:solidFill>
                    <a:srgbClr val="FFFFFF"/>
                  </a:solidFill>
                  <a:latin typeface="Muli Semi-Bold"/>
                  <a:ea typeface="Muli Semi-Bold"/>
                  <a:cs typeface="Muli Semi-Bold"/>
                  <a:sym typeface="Muli Semi-Bold"/>
                </a:rPr>
                <a:t>Các Chủ điểm Thảo luận</a:t>
              </a:r>
            </a:p>
          </p:txBody>
        </p:sp>
      </p:grpSp>
      <p:sp>
        <p:nvSpPr>
          <p:cNvPr id="20" name="TextBox 14">
            <a:extLst>
              <a:ext uri="{FF2B5EF4-FFF2-40B4-BE49-F238E27FC236}">
                <a16:creationId xmlns:a16="http://schemas.microsoft.com/office/drawing/2014/main" id="{7E46191D-C9AC-C63D-9098-5D6BBD7DA453}"/>
              </a:ext>
            </a:extLst>
          </p:cNvPr>
          <p:cNvSpPr txBox="1"/>
          <p:nvPr/>
        </p:nvSpPr>
        <p:spPr>
          <a:xfrm>
            <a:off x="9623630" y="8277075"/>
            <a:ext cx="6860804" cy="400559"/>
          </a:xfrm>
          <a:prstGeom prst="rect">
            <a:avLst/>
          </a:prstGeom>
        </p:spPr>
        <p:txBody>
          <a:bodyPr lIns="0" tIns="0" rIns="0" bIns="0" rtlCol="0" anchor="t">
            <a:spAutoFit/>
          </a:bodyPr>
          <a:lstStyle/>
          <a:p>
            <a:pPr algn="l">
              <a:lnSpc>
                <a:spcPts val="3359"/>
              </a:lnSpc>
            </a:pPr>
            <a:r>
              <a:rPr lang="en-US" sz="2400" dirty="0">
                <a:solidFill>
                  <a:srgbClr val="0E2C4B"/>
                </a:solidFill>
                <a:latin typeface="Muli"/>
                <a:ea typeface="Muli"/>
                <a:cs typeface="Muli"/>
                <a:sym typeface="Muli"/>
              </a:rPr>
              <a:t>Fine-tuning </a:t>
            </a:r>
            <a:r>
              <a:rPr lang="en-US" sz="2400" dirty="0" err="1">
                <a:solidFill>
                  <a:srgbClr val="0E2C4B"/>
                </a:solidFill>
                <a:latin typeface="Muli"/>
                <a:ea typeface="Muli"/>
                <a:cs typeface="Muli"/>
                <a:sym typeface="Muli"/>
              </a:rPr>
              <a:t>với</a:t>
            </a:r>
            <a:r>
              <a:rPr lang="en-US" sz="2400" dirty="0">
                <a:solidFill>
                  <a:srgbClr val="0E2C4B"/>
                </a:solidFill>
                <a:latin typeface="Muli"/>
                <a:ea typeface="Muli"/>
                <a:cs typeface="Muli"/>
                <a:sym typeface="Muli"/>
              </a:rPr>
              <a:t> OpenAI </a:t>
            </a:r>
            <a:r>
              <a:rPr lang="en-US" sz="2400" dirty="0" err="1">
                <a:solidFill>
                  <a:srgbClr val="0E2C4B"/>
                </a:solidFill>
                <a:latin typeface="Muli"/>
                <a:ea typeface="Muli"/>
                <a:cs typeface="Muli"/>
                <a:sym typeface="Muli"/>
              </a:rPr>
              <a:t>và</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tóm</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tắt</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lý</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thuyết</a:t>
            </a:r>
            <a:endParaRPr lang="en-US" sz="2400" dirty="0">
              <a:solidFill>
                <a:srgbClr val="0E2C4B"/>
              </a:solidFill>
              <a:latin typeface="Muli"/>
              <a:ea typeface="Muli"/>
              <a:cs typeface="Muli"/>
              <a:sym typeface="Mul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914400" y="5330994"/>
            <a:ext cx="5033385" cy="4878577"/>
            <a:chOff x="0" y="0"/>
            <a:chExt cx="4026708" cy="3902862"/>
          </a:xfrm>
        </p:grpSpPr>
        <p:sp>
          <p:nvSpPr>
            <p:cNvPr id="3" name="Freeform 3"/>
            <p:cNvSpPr/>
            <p:nvPr/>
          </p:nvSpPr>
          <p:spPr>
            <a:xfrm>
              <a:off x="0" y="0"/>
              <a:ext cx="4026708" cy="3902862"/>
            </a:xfrm>
            <a:custGeom>
              <a:avLst/>
              <a:gdLst/>
              <a:ahLst/>
              <a:cxnLst/>
              <a:rect l="l" t="t" r="r" b="b"/>
              <a:pathLst>
                <a:path w="4026708" h="3902862">
                  <a:moveTo>
                    <a:pt x="3902248" y="3902862"/>
                  </a:moveTo>
                  <a:lnTo>
                    <a:pt x="124460" y="3902862"/>
                  </a:lnTo>
                  <a:cubicBezTo>
                    <a:pt x="55880" y="3902862"/>
                    <a:pt x="0" y="3846982"/>
                    <a:pt x="0" y="3778402"/>
                  </a:cubicBezTo>
                  <a:lnTo>
                    <a:pt x="0" y="124460"/>
                  </a:lnTo>
                  <a:cubicBezTo>
                    <a:pt x="0" y="55880"/>
                    <a:pt x="55880" y="0"/>
                    <a:pt x="124460" y="0"/>
                  </a:cubicBezTo>
                  <a:lnTo>
                    <a:pt x="3902248" y="0"/>
                  </a:lnTo>
                  <a:cubicBezTo>
                    <a:pt x="3970828" y="0"/>
                    <a:pt x="4026708" y="55880"/>
                    <a:pt x="4026708" y="124460"/>
                  </a:cubicBezTo>
                  <a:lnTo>
                    <a:pt x="4026708" y="3778402"/>
                  </a:lnTo>
                  <a:cubicBezTo>
                    <a:pt x="4026708" y="3846982"/>
                    <a:pt x="3970828" y="3902862"/>
                    <a:pt x="3902248" y="3902862"/>
                  </a:cubicBezTo>
                  <a:close/>
                </a:path>
              </a:pathLst>
            </a:custGeom>
            <a:solidFill>
              <a:srgbClr val="FFFFFF"/>
            </a:solidFill>
          </p:spPr>
          <p:txBody>
            <a:bodyPr/>
            <a:lstStyle/>
            <a:p>
              <a:endParaRPr lang="en-US"/>
            </a:p>
          </p:txBody>
        </p:sp>
      </p:grpSp>
      <p:grpSp>
        <p:nvGrpSpPr>
          <p:cNvPr id="4" name="Group 4"/>
          <p:cNvGrpSpPr/>
          <p:nvPr/>
        </p:nvGrpSpPr>
        <p:grpSpPr>
          <a:xfrm>
            <a:off x="6513008" y="5331417"/>
            <a:ext cx="5033385" cy="4878154"/>
            <a:chOff x="0" y="0"/>
            <a:chExt cx="4026708" cy="3902523"/>
          </a:xfrm>
        </p:grpSpPr>
        <p:sp>
          <p:nvSpPr>
            <p:cNvPr id="5" name="Freeform 5"/>
            <p:cNvSpPr/>
            <p:nvPr/>
          </p:nvSpPr>
          <p:spPr>
            <a:xfrm>
              <a:off x="0" y="0"/>
              <a:ext cx="4026708" cy="3902523"/>
            </a:xfrm>
            <a:custGeom>
              <a:avLst/>
              <a:gdLst/>
              <a:ahLst/>
              <a:cxnLst/>
              <a:rect l="l" t="t" r="r" b="b"/>
              <a:pathLst>
                <a:path w="4026708" h="3902523">
                  <a:moveTo>
                    <a:pt x="3902248" y="3902523"/>
                  </a:moveTo>
                  <a:lnTo>
                    <a:pt x="124460" y="3902523"/>
                  </a:lnTo>
                  <a:cubicBezTo>
                    <a:pt x="55880" y="3902523"/>
                    <a:pt x="0" y="3846643"/>
                    <a:pt x="0" y="3778063"/>
                  </a:cubicBezTo>
                  <a:lnTo>
                    <a:pt x="0" y="124460"/>
                  </a:lnTo>
                  <a:cubicBezTo>
                    <a:pt x="0" y="55880"/>
                    <a:pt x="55880" y="0"/>
                    <a:pt x="124460" y="0"/>
                  </a:cubicBezTo>
                  <a:lnTo>
                    <a:pt x="3902248" y="0"/>
                  </a:lnTo>
                  <a:cubicBezTo>
                    <a:pt x="3970828" y="0"/>
                    <a:pt x="4026708" y="55880"/>
                    <a:pt x="4026708" y="124460"/>
                  </a:cubicBezTo>
                  <a:lnTo>
                    <a:pt x="4026708" y="3778064"/>
                  </a:lnTo>
                  <a:cubicBezTo>
                    <a:pt x="4026708" y="3846643"/>
                    <a:pt x="3970828" y="3902523"/>
                    <a:pt x="3902248" y="3902523"/>
                  </a:cubicBezTo>
                  <a:close/>
                </a:path>
              </a:pathLst>
            </a:custGeom>
            <a:solidFill>
              <a:srgbClr val="FFFFFF"/>
            </a:solidFill>
          </p:spPr>
          <p:txBody>
            <a:bodyPr/>
            <a:lstStyle/>
            <a:p>
              <a:endParaRPr lang="en-US"/>
            </a:p>
          </p:txBody>
        </p:sp>
      </p:grpSp>
      <p:grpSp>
        <p:nvGrpSpPr>
          <p:cNvPr id="6" name="Group 6"/>
          <p:cNvGrpSpPr/>
          <p:nvPr/>
        </p:nvGrpSpPr>
        <p:grpSpPr>
          <a:xfrm>
            <a:off x="12111615" y="5331417"/>
            <a:ext cx="5033385" cy="4878154"/>
            <a:chOff x="0" y="0"/>
            <a:chExt cx="4026708" cy="3902523"/>
          </a:xfrm>
        </p:grpSpPr>
        <p:sp>
          <p:nvSpPr>
            <p:cNvPr id="7" name="Freeform 7"/>
            <p:cNvSpPr/>
            <p:nvPr/>
          </p:nvSpPr>
          <p:spPr>
            <a:xfrm>
              <a:off x="0" y="0"/>
              <a:ext cx="4026708" cy="3902523"/>
            </a:xfrm>
            <a:custGeom>
              <a:avLst/>
              <a:gdLst/>
              <a:ahLst/>
              <a:cxnLst/>
              <a:rect l="l" t="t" r="r" b="b"/>
              <a:pathLst>
                <a:path w="4026708" h="3902523">
                  <a:moveTo>
                    <a:pt x="3902248" y="3902523"/>
                  </a:moveTo>
                  <a:lnTo>
                    <a:pt x="124460" y="3902523"/>
                  </a:lnTo>
                  <a:cubicBezTo>
                    <a:pt x="55880" y="3902523"/>
                    <a:pt x="0" y="3846643"/>
                    <a:pt x="0" y="3778063"/>
                  </a:cubicBezTo>
                  <a:lnTo>
                    <a:pt x="0" y="124460"/>
                  </a:lnTo>
                  <a:cubicBezTo>
                    <a:pt x="0" y="55880"/>
                    <a:pt x="55880" y="0"/>
                    <a:pt x="124460" y="0"/>
                  </a:cubicBezTo>
                  <a:lnTo>
                    <a:pt x="3902248" y="0"/>
                  </a:lnTo>
                  <a:cubicBezTo>
                    <a:pt x="3970828" y="0"/>
                    <a:pt x="4026708" y="55880"/>
                    <a:pt x="4026708" y="124460"/>
                  </a:cubicBezTo>
                  <a:lnTo>
                    <a:pt x="4026708" y="3778064"/>
                  </a:lnTo>
                  <a:cubicBezTo>
                    <a:pt x="4026708" y="3846643"/>
                    <a:pt x="3970828" y="3902523"/>
                    <a:pt x="3902248" y="3902523"/>
                  </a:cubicBezTo>
                  <a:close/>
                </a:path>
              </a:pathLst>
            </a:custGeom>
            <a:solidFill>
              <a:srgbClr val="FFFFFF"/>
            </a:solidFill>
          </p:spPr>
          <p:txBody>
            <a:bodyPr/>
            <a:lstStyle/>
            <a:p>
              <a:endParaRPr lang="en-US"/>
            </a:p>
          </p:txBody>
        </p:sp>
      </p:grpSp>
      <p:sp>
        <p:nvSpPr>
          <p:cNvPr id="9" name="TextBox 9"/>
          <p:cNvSpPr txBox="1"/>
          <p:nvPr/>
        </p:nvSpPr>
        <p:spPr>
          <a:xfrm>
            <a:off x="533400" y="647700"/>
            <a:ext cx="17297400" cy="1383007"/>
          </a:xfrm>
          <a:prstGeom prst="rect">
            <a:avLst/>
          </a:prstGeom>
        </p:spPr>
        <p:txBody>
          <a:bodyPr wrap="square" lIns="0" tIns="0" rIns="0" bIns="0" rtlCol="0" anchor="t">
            <a:spAutoFit/>
          </a:bodyPr>
          <a:lstStyle/>
          <a:p>
            <a:pPr>
              <a:lnSpc>
                <a:spcPts val="3359"/>
              </a:lnSpc>
            </a:pPr>
            <a:r>
              <a:rPr lang="en-US" sz="4800" dirty="0">
                <a:solidFill>
                  <a:srgbClr val="0E2C4B"/>
                </a:solidFill>
                <a:latin typeface="Muli"/>
                <a:ea typeface="Muli"/>
                <a:cs typeface="Muli"/>
                <a:sym typeface="Muli"/>
              </a:rPr>
              <a:t>Cách ChatGPT, </a:t>
            </a:r>
            <a:r>
              <a:rPr lang="en-US" sz="4800" dirty="0" err="1">
                <a:solidFill>
                  <a:srgbClr val="0E2C4B"/>
                </a:solidFill>
                <a:latin typeface="Muli"/>
                <a:ea typeface="Muli"/>
                <a:cs typeface="Muli"/>
                <a:sym typeface="Muli"/>
              </a:rPr>
              <a:t>Github</a:t>
            </a:r>
            <a:r>
              <a:rPr lang="en-US" sz="4800" dirty="0">
                <a:solidFill>
                  <a:srgbClr val="0E2C4B"/>
                </a:solidFill>
                <a:latin typeface="Muli"/>
                <a:ea typeface="Muli"/>
                <a:cs typeface="Muli"/>
                <a:sym typeface="Muli"/>
              </a:rPr>
              <a:t> Copilot </a:t>
            </a:r>
            <a:r>
              <a:rPr lang="en-US" sz="4800" dirty="0" err="1">
                <a:solidFill>
                  <a:srgbClr val="0E2C4B"/>
                </a:solidFill>
                <a:latin typeface="Muli"/>
                <a:ea typeface="Muli"/>
                <a:cs typeface="Muli"/>
                <a:sym typeface="Muli"/>
              </a:rPr>
              <a:t>và</a:t>
            </a:r>
            <a:r>
              <a:rPr lang="en-US" sz="4800" dirty="0">
                <a:solidFill>
                  <a:srgbClr val="0E2C4B"/>
                </a:solidFill>
                <a:latin typeface="Muli"/>
                <a:ea typeface="Muli"/>
                <a:cs typeface="Muli"/>
                <a:sym typeface="Muli"/>
              </a:rPr>
              <a:t> </a:t>
            </a:r>
            <a:r>
              <a:rPr lang="en-US" sz="4800" dirty="0" err="1">
                <a:solidFill>
                  <a:srgbClr val="0E2C4B"/>
                </a:solidFill>
                <a:latin typeface="Muli"/>
                <a:ea typeface="Muli"/>
                <a:cs typeface="Muli"/>
                <a:sym typeface="Muli"/>
              </a:rPr>
              <a:t>các</a:t>
            </a:r>
            <a:r>
              <a:rPr lang="en-US" sz="4800" dirty="0">
                <a:solidFill>
                  <a:srgbClr val="0E2C4B"/>
                </a:solidFill>
                <a:latin typeface="Muli"/>
                <a:ea typeface="Muli"/>
                <a:cs typeface="Muli"/>
                <a:sym typeface="Muli"/>
              </a:rPr>
              <a:t> LLM </a:t>
            </a:r>
            <a:r>
              <a:rPr lang="en-US" sz="4800" dirty="0" err="1">
                <a:solidFill>
                  <a:srgbClr val="0E2C4B"/>
                </a:solidFill>
                <a:latin typeface="Muli"/>
                <a:ea typeface="Muli"/>
                <a:cs typeface="Muli"/>
                <a:sym typeface="Muli"/>
              </a:rPr>
              <a:t>khác</a:t>
            </a:r>
            <a:r>
              <a:rPr lang="en-US" sz="4800" dirty="0">
                <a:solidFill>
                  <a:srgbClr val="0E2C4B"/>
                </a:solidFill>
                <a:latin typeface="Muli"/>
                <a:ea typeface="Muli"/>
                <a:cs typeface="Muli"/>
                <a:sym typeface="Muli"/>
              </a:rPr>
              <a:t> </a:t>
            </a:r>
          </a:p>
          <a:p>
            <a:pPr>
              <a:lnSpc>
                <a:spcPts val="3359"/>
              </a:lnSpc>
            </a:pPr>
            <a:endParaRPr lang="en-US" sz="4800" dirty="0">
              <a:solidFill>
                <a:srgbClr val="0E2C4B"/>
              </a:solidFill>
              <a:latin typeface="Muli"/>
              <a:ea typeface="Muli"/>
              <a:cs typeface="Muli"/>
              <a:sym typeface="Muli"/>
            </a:endParaRPr>
          </a:p>
          <a:p>
            <a:pPr>
              <a:lnSpc>
                <a:spcPts val="3359"/>
              </a:lnSpc>
            </a:pPr>
            <a:r>
              <a:rPr lang="en-US" sz="4800" dirty="0" err="1">
                <a:solidFill>
                  <a:srgbClr val="0E2C4B"/>
                </a:solidFill>
                <a:latin typeface="Muli"/>
                <a:ea typeface="Muli"/>
                <a:cs typeface="Muli"/>
                <a:sym typeface="Muli"/>
              </a:rPr>
              <a:t>hoạt</a:t>
            </a:r>
            <a:r>
              <a:rPr lang="en-US" sz="4800" dirty="0">
                <a:solidFill>
                  <a:srgbClr val="0E2C4B"/>
                </a:solidFill>
                <a:latin typeface="Muli"/>
                <a:ea typeface="Muli"/>
                <a:cs typeface="Muli"/>
                <a:sym typeface="Muli"/>
              </a:rPr>
              <a:t> </a:t>
            </a:r>
            <a:r>
              <a:rPr lang="en-US" sz="4800" dirty="0" err="1">
                <a:solidFill>
                  <a:srgbClr val="0E2C4B"/>
                </a:solidFill>
                <a:latin typeface="Muli"/>
                <a:ea typeface="Muli"/>
                <a:cs typeface="Muli"/>
                <a:sym typeface="Muli"/>
              </a:rPr>
              <a:t>động</a:t>
            </a:r>
            <a:endParaRPr lang="en-US" sz="4800" dirty="0">
              <a:solidFill>
                <a:srgbClr val="0E2C4B"/>
              </a:solidFill>
              <a:latin typeface="Muli"/>
              <a:ea typeface="Muli"/>
              <a:cs typeface="Muli"/>
              <a:sym typeface="Muli"/>
            </a:endParaRPr>
          </a:p>
        </p:txBody>
      </p:sp>
      <p:grpSp>
        <p:nvGrpSpPr>
          <p:cNvPr id="10" name="Group 10"/>
          <p:cNvGrpSpPr/>
          <p:nvPr/>
        </p:nvGrpSpPr>
        <p:grpSpPr>
          <a:xfrm>
            <a:off x="1275636" y="6252863"/>
            <a:ext cx="4310914" cy="3066336"/>
            <a:chOff x="0" y="-38100"/>
            <a:chExt cx="5747885" cy="4088447"/>
          </a:xfrm>
        </p:grpSpPr>
        <p:sp>
          <p:nvSpPr>
            <p:cNvPr id="11" name="TextBox 11"/>
            <p:cNvSpPr txBox="1"/>
            <p:nvPr/>
          </p:nvSpPr>
          <p:spPr>
            <a:xfrm>
              <a:off x="0" y="-38100"/>
              <a:ext cx="5747885" cy="1017544"/>
            </a:xfrm>
            <a:prstGeom prst="rect">
              <a:avLst/>
            </a:prstGeom>
          </p:spPr>
          <p:txBody>
            <a:bodyPr lIns="0" tIns="0" rIns="0" bIns="0" rtlCol="0" anchor="t">
              <a:spAutoFit/>
            </a:bodyPr>
            <a:lstStyle/>
            <a:p>
              <a:pPr algn="l">
                <a:lnSpc>
                  <a:spcPts val="3079"/>
                </a:lnSpc>
              </a:pPr>
              <a:r>
                <a:rPr lang="en-US" sz="2199" b="1" dirty="0">
                  <a:solidFill>
                    <a:srgbClr val="0E2C4B"/>
                  </a:solidFill>
                  <a:latin typeface="Muli Ultra-Bold"/>
                  <a:ea typeface="Muli Ultra-Bold"/>
                  <a:cs typeface="Muli Ultra-Bold"/>
                  <a:sym typeface="Muli Ultra-Bold"/>
                </a:rPr>
                <a:t>Next-Token Prediction</a:t>
              </a:r>
            </a:p>
            <a:p>
              <a:pPr algn="l">
                <a:lnSpc>
                  <a:spcPts val="3079"/>
                </a:lnSpc>
              </a:pPr>
              <a:endParaRPr lang="en-US" sz="2199" b="1" dirty="0">
                <a:solidFill>
                  <a:srgbClr val="0E2C4B"/>
                </a:solidFill>
                <a:latin typeface="Muli Ultra-Bold"/>
                <a:ea typeface="Muli Ultra-Bold"/>
                <a:cs typeface="Muli Ultra-Bold"/>
                <a:sym typeface="Muli Ultra-Bold"/>
              </a:endParaRPr>
            </a:p>
          </p:txBody>
        </p:sp>
        <p:sp>
          <p:nvSpPr>
            <p:cNvPr id="12" name="TextBox 12"/>
            <p:cNvSpPr txBox="1"/>
            <p:nvPr/>
          </p:nvSpPr>
          <p:spPr>
            <a:xfrm>
              <a:off x="0" y="1450833"/>
              <a:ext cx="5747885" cy="2599514"/>
            </a:xfrm>
            <a:prstGeom prst="rect">
              <a:avLst/>
            </a:prstGeom>
          </p:spPr>
          <p:txBody>
            <a:bodyPr lIns="0" tIns="0" rIns="0" bIns="0" rtlCol="0" anchor="t">
              <a:spAutoFit/>
            </a:bodyPr>
            <a:lstStyle/>
            <a:p>
              <a:pPr>
                <a:lnSpc>
                  <a:spcPts val="3079"/>
                </a:lnSpc>
              </a:pPr>
              <a:r>
                <a:rPr lang="vi-VN" sz="2000" dirty="0">
                  <a:solidFill>
                    <a:schemeClr val="tx2">
                      <a:lumMod val="50000"/>
                    </a:schemeClr>
                  </a:solidFill>
                  <a:latin typeface="Muli" panose="020B0604020202020204" charset="-93"/>
                </a:rPr>
                <a:t>ý tưởng cốt lõi của chúng là tính toán xác suất để dự đoán phần tử (ký tự hoặc từ ngữ) hợp lý nhất sẽ xuất hiện tiếp theo dựa trên chuỗi ngữ cảnh đứng trước nó.</a:t>
              </a:r>
              <a:r>
                <a:rPr lang="en-US" sz="2000" dirty="0">
                  <a:solidFill>
                    <a:schemeClr val="tx2">
                      <a:lumMod val="50000"/>
                    </a:schemeClr>
                  </a:solidFill>
                  <a:latin typeface="Muli" panose="020B0604020202020204" charset="-93"/>
                  <a:ea typeface="Muli"/>
                  <a:cs typeface="Muli"/>
                  <a:sym typeface="Muli"/>
                </a:rPr>
                <a:t>.</a:t>
              </a:r>
            </a:p>
          </p:txBody>
        </p:sp>
      </p:grpSp>
      <p:grpSp>
        <p:nvGrpSpPr>
          <p:cNvPr id="13" name="Group 13"/>
          <p:cNvGrpSpPr/>
          <p:nvPr/>
        </p:nvGrpSpPr>
        <p:grpSpPr>
          <a:xfrm>
            <a:off x="6743700" y="6252863"/>
            <a:ext cx="4441457" cy="3337797"/>
            <a:chOff x="-174057" y="-38100"/>
            <a:chExt cx="5921942" cy="4450398"/>
          </a:xfrm>
        </p:grpSpPr>
        <p:sp>
          <p:nvSpPr>
            <p:cNvPr id="14" name="TextBox 14"/>
            <p:cNvSpPr txBox="1"/>
            <p:nvPr/>
          </p:nvSpPr>
          <p:spPr>
            <a:xfrm>
              <a:off x="0" y="-38100"/>
              <a:ext cx="5747885" cy="495607"/>
            </a:xfrm>
            <a:prstGeom prst="rect">
              <a:avLst/>
            </a:prstGeom>
          </p:spPr>
          <p:txBody>
            <a:bodyPr lIns="0" tIns="0" rIns="0" bIns="0" rtlCol="0" anchor="t">
              <a:spAutoFit/>
            </a:bodyPr>
            <a:lstStyle/>
            <a:p>
              <a:pPr>
                <a:lnSpc>
                  <a:spcPts val="3079"/>
                </a:lnSpc>
              </a:pPr>
              <a:r>
                <a:rPr lang="en-US" sz="2200" b="1" dirty="0">
                  <a:solidFill>
                    <a:schemeClr val="tx2">
                      <a:lumMod val="50000"/>
                    </a:schemeClr>
                  </a:solidFill>
                  <a:latin typeface="Muli Ultra-Bold" panose="020B0604020202020204" charset="-93"/>
                </a:rPr>
                <a:t>Deep Learning</a:t>
              </a:r>
              <a:endParaRPr lang="en-US" sz="2200" b="1" dirty="0">
                <a:solidFill>
                  <a:schemeClr val="tx2">
                    <a:lumMod val="50000"/>
                  </a:schemeClr>
                </a:solidFill>
                <a:latin typeface="Muli Ultra-Bold" panose="020B0604020202020204" charset="-93"/>
                <a:ea typeface="Muli Ultra-Bold"/>
                <a:cs typeface="Muli Ultra-Bold"/>
                <a:sym typeface="Muli Ultra-Bold"/>
              </a:endParaRPr>
            </a:p>
          </p:txBody>
        </p:sp>
        <p:sp>
          <p:nvSpPr>
            <p:cNvPr id="15" name="TextBox 15"/>
            <p:cNvSpPr txBox="1"/>
            <p:nvPr/>
          </p:nvSpPr>
          <p:spPr>
            <a:xfrm>
              <a:off x="-174057" y="1282722"/>
              <a:ext cx="5747885" cy="3129576"/>
            </a:xfrm>
            <a:prstGeom prst="rect">
              <a:avLst/>
            </a:prstGeom>
          </p:spPr>
          <p:txBody>
            <a:bodyPr lIns="0" tIns="0" rIns="0" bIns="0" rtlCol="0" anchor="t">
              <a:spAutoFit/>
            </a:bodyPr>
            <a:lstStyle/>
            <a:p>
              <a:pPr>
                <a:lnSpc>
                  <a:spcPts val="3079"/>
                </a:lnSpc>
              </a:pPr>
              <a:r>
                <a:rPr lang="vi-VN" sz="2000" dirty="0">
                  <a:solidFill>
                    <a:schemeClr val="tx2">
                      <a:lumMod val="50000"/>
                    </a:schemeClr>
                  </a:solidFill>
                  <a:latin typeface="Muli" panose="020B0604020202020204" charset="-93"/>
                </a:rPr>
                <a:t>Cung cấp giải pháp học các hàm phi tuyến tính phức tạp nhiều lớp (nhiều layers), cho phép mô hình học được mối quan hệ trừu tượng của ngôn ngữ thay vì chỉ ghi nhớ các bảng tần suất.</a:t>
              </a:r>
              <a:endParaRPr lang="en-US" sz="2200" dirty="0">
                <a:solidFill>
                  <a:schemeClr val="tx2">
                    <a:lumMod val="50000"/>
                  </a:schemeClr>
                </a:solidFill>
                <a:latin typeface="Muli" panose="020B0604020202020204" charset="-93"/>
                <a:ea typeface="Muli"/>
                <a:cs typeface="Muli"/>
                <a:sym typeface="Muli"/>
              </a:endParaRPr>
            </a:p>
          </p:txBody>
        </p:sp>
      </p:grpSp>
      <p:grpSp>
        <p:nvGrpSpPr>
          <p:cNvPr id="16" name="Group 16"/>
          <p:cNvGrpSpPr/>
          <p:nvPr/>
        </p:nvGrpSpPr>
        <p:grpSpPr>
          <a:xfrm>
            <a:off x="12472851" y="6252863"/>
            <a:ext cx="4310914" cy="3334751"/>
            <a:chOff x="0" y="-38100"/>
            <a:chExt cx="5747885" cy="4446334"/>
          </a:xfrm>
        </p:grpSpPr>
        <p:sp>
          <p:nvSpPr>
            <p:cNvPr id="17" name="TextBox 17"/>
            <p:cNvSpPr txBox="1"/>
            <p:nvPr/>
          </p:nvSpPr>
          <p:spPr>
            <a:xfrm>
              <a:off x="0" y="-38100"/>
              <a:ext cx="5747885" cy="487484"/>
            </a:xfrm>
            <a:prstGeom prst="rect">
              <a:avLst/>
            </a:prstGeom>
          </p:spPr>
          <p:txBody>
            <a:bodyPr lIns="0" tIns="0" rIns="0" bIns="0" rtlCol="0" anchor="t">
              <a:spAutoFit/>
            </a:bodyPr>
            <a:lstStyle/>
            <a:p>
              <a:pPr>
                <a:lnSpc>
                  <a:spcPts val="3079"/>
                </a:lnSpc>
              </a:pPr>
              <a:r>
                <a:rPr lang="vi-VN" sz="2200" b="1" dirty="0">
                  <a:solidFill>
                    <a:schemeClr val="tx2">
                      <a:lumMod val="50000"/>
                    </a:schemeClr>
                  </a:solidFill>
                  <a:latin typeface="Muli Ultra-Bold" panose="020B0604020202020204" charset="-93"/>
                </a:rPr>
                <a:t>Định hướng tối ưu hóa</a:t>
              </a:r>
              <a:endParaRPr lang="en-US" sz="2200" b="1" dirty="0">
                <a:solidFill>
                  <a:schemeClr val="tx2">
                    <a:lumMod val="50000"/>
                  </a:schemeClr>
                </a:solidFill>
                <a:latin typeface="Muli Ultra-Bold" panose="020B0604020202020204" charset="-93"/>
                <a:ea typeface="Muli Ultra-Bold"/>
                <a:cs typeface="Muli Ultra-Bold"/>
                <a:sym typeface="Muli Ultra-Bold"/>
              </a:endParaRPr>
            </a:p>
          </p:txBody>
        </p:sp>
        <p:sp>
          <p:nvSpPr>
            <p:cNvPr id="18" name="TextBox 18"/>
            <p:cNvSpPr txBox="1"/>
            <p:nvPr/>
          </p:nvSpPr>
          <p:spPr>
            <a:xfrm>
              <a:off x="0" y="1278660"/>
              <a:ext cx="5747885" cy="3129574"/>
            </a:xfrm>
            <a:prstGeom prst="rect">
              <a:avLst/>
            </a:prstGeom>
          </p:spPr>
          <p:txBody>
            <a:bodyPr lIns="0" tIns="0" rIns="0" bIns="0" rtlCol="0" anchor="t">
              <a:spAutoFit/>
            </a:bodyPr>
            <a:lstStyle/>
            <a:p>
              <a:pPr>
                <a:lnSpc>
                  <a:spcPts val="3079"/>
                </a:lnSpc>
              </a:pPr>
              <a:r>
                <a:rPr lang="vi-VN" sz="2000" dirty="0">
                  <a:solidFill>
                    <a:schemeClr val="tx2">
                      <a:lumMod val="50000"/>
                    </a:schemeClr>
                  </a:solidFill>
                  <a:latin typeface="Muli" panose="020B0604020202020204" charset="-93"/>
                </a:rPr>
                <a:t>Do AI không phải là "nhà thông thái toàn năng", năng lực của nó phụ thuộc vào cách con người dẫn dắt qua các kỹ thuật nạp ngữ cảnh, ví dụ minh họa, hoặc tinh chỉnh thêm (fine-tuning).</a:t>
              </a:r>
              <a:endParaRPr lang="en-US" sz="2000" dirty="0">
                <a:solidFill>
                  <a:schemeClr val="tx2">
                    <a:lumMod val="50000"/>
                  </a:schemeClr>
                </a:solidFill>
                <a:latin typeface="Muli" panose="020B0604020202020204" charset="-93"/>
                <a:ea typeface="Muli"/>
                <a:cs typeface="Muli"/>
                <a:sym typeface="Muli"/>
              </a:endParaRPr>
            </a:p>
          </p:txBody>
        </p:sp>
      </p:grpSp>
      <p:pic>
        <p:nvPicPr>
          <p:cNvPr id="1028" name="Picture 4" descr="Predicting/Decoding the next token of a large language model">
            <a:extLst>
              <a:ext uri="{FF2B5EF4-FFF2-40B4-BE49-F238E27FC236}">
                <a16:creationId xmlns:a16="http://schemas.microsoft.com/office/drawing/2014/main" id="{3992C2AF-B2F6-43EA-C4FC-8DE500040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157" y="2337063"/>
            <a:ext cx="11429999" cy="25951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36488"/>
            <a:ext cx="8814328" cy="9814023"/>
            <a:chOff x="0" y="0"/>
            <a:chExt cx="7051462" cy="7851218"/>
          </a:xfrm>
        </p:grpSpPr>
        <p:sp>
          <p:nvSpPr>
            <p:cNvPr id="3" name="Freeform 3"/>
            <p:cNvSpPr/>
            <p:nvPr/>
          </p:nvSpPr>
          <p:spPr>
            <a:xfrm>
              <a:off x="0" y="0"/>
              <a:ext cx="7051463" cy="7851218"/>
            </a:xfrm>
            <a:custGeom>
              <a:avLst/>
              <a:gdLst/>
              <a:ahLst/>
              <a:cxnLst/>
              <a:rect l="l" t="t" r="r" b="b"/>
              <a:pathLst>
                <a:path w="7051463" h="7851218">
                  <a:moveTo>
                    <a:pt x="6927002" y="7851218"/>
                  </a:moveTo>
                  <a:lnTo>
                    <a:pt x="124460" y="7851218"/>
                  </a:lnTo>
                  <a:cubicBezTo>
                    <a:pt x="55880" y="7851218"/>
                    <a:pt x="0" y="7795338"/>
                    <a:pt x="0" y="7726759"/>
                  </a:cubicBezTo>
                  <a:lnTo>
                    <a:pt x="0" y="124460"/>
                  </a:lnTo>
                  <a:cubicBezTo>
                    <a:pt x="0" y="55880"/>
                    <a:pt x="55880" y="0"/>
                    <a:pt x="124460" y="0"/>
                  </a:cubicBezTo>
                  <a:lnTo>
                    <a:pt x="6927003" y="0"/>
                  </a:lnTo>
                  <a:cubicBezTo>
                    <a:pt x="6995582" y="0"/>
                    <a:pt x="7051463" y="55880"/>
                    <a:pt x="7051463" y="124460"/>
                  </a:cubicBezTo>
                  <a:lnTo>
                    <a:pt x="7051463" y="7726759"/>
                  </a:lnTo>
                  <a:cubicBezTo>
                    <a:pt x="7051463" y="7795338"/>
                    <a:pt x="6995582" y="7851218"/>
                    <a:pt x="6927003" y="7851218"/>
                  </a:cubicBezTo>
                  <a:close/>
                </a:path>
              </a:pathLst>
            </a:custGeom>
            <a:solidFill>
              <a:srgbClr val="FFFFFF"/>
            </a:solidFill>
          </p:spPr>
          <p:txBody>
            <a:bodyPr/>
            <a:lstStyle/>
            <a:p>
              <a:endParaRPr lang="en-US"/>
            </a:p>
          </p:txBody>
        </p:sp>
      </p:grpSp>
      <p:sp>
        <p:nvSpPr>
          <p:cNvPr id="4" name="AutoShape 4"/>
          <p:cNvSpPr/>
          <p:nvPr/>
        </p:nvSpPr>
        <p:spPr>
          <a:xfrm>
            <a:off x="9448690" y="3502953"/>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5" name="AutoShape 5"/>
          <p:cNvSpPr/>
          <p:nvPr/>
        </p:nvSpPr>
        <p:spPr>
          <a:xfrm>
            <a:off x="9448690" y="6707847"/>
            <a:ext cx="7638127" cy="0"/>
          </a:xfrm>
          <a:prstGeom prst="line">
            <a:avLst/>
          </a:prstGeom>
          <a:ln w="76200" cap="rnd">
            <a:solidFill>
              <a:srgbClr val="F2F3F4"/>
            </a:solidFill>
            <a:prstDash val="solid"/>
            <a:headEnd type="none" w="sm" len="sm"/>
            <a:tailEnd type="none" w="sm" len="sm"/>
          </a:ln>
        </p:spPr>
        <p:txBody>
          <a:bodyPr/>
          <a:lstStyle/>
          <a:p>
            <a:endParaRPr lang="en-US"/>
          </a:p>
        </p:txBody>
      </p:sp>
      <p:grpSp>
        <p:nvGrpSpPr>
          <p:cNvPr id="7" name="Group 7"/>
          <p:cNvGrpSpPr/>
          <p:nvPr/>
        </p:nvGrpSpPr>
        <p:grpSpPr>
          <a:xfrm>
            <a:off x="9448690" y="1000125"/>
            <a:ext cx="7714897" cy="2311602"/>
            <a:chOff x="0" y="-38100"/>
            <a:chExt cx="10286529" cy="3082138"/>
          </a:xfrm>
        </p:grpSpPr>
        <p:sp>
          <p:nvSpPr>
            <p:cNvPr id="8" name="TextBox 8"/>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Conditional Probabilities</a:t>
              </a:r>
              <a:endParaRPr lang="en-US" sz="2200" b="1" dirty="0">
                <a:solidFill>
                  <a:srgbClr val="0E2C4B"/>
                </a:solidFill>
                <a:latin typeface="Muli Ultra-Bold"/>
                <a:sym typeface="Muli Ultra-Bold"/>
              </a:endParaRPr>
            </a:p>
          </p:txBody>
        </p:sp>
        <p:sp>
          <p:nvSpPr>
            <p:cNvPr id="9" name="TextBox 9"/>
            <p:cNvSpPr txBox="1"/>
            <p:nvPr/>
          </p:nvSpPr>
          <p:spPr>
            <a:xfrm>
              <a:off x="0" y="765891"/>
              <a:ext cx="10286529" cy="2278147"/>
            </a:xfrm>
            <a:prstGeom prst="rect">
              <a:avLst/>
            </a:prstGeom>
          </p:spPr>
          <p:txBody>
            <a:bodyPr lIns="0" tIns="0" rIns="0" bIns="0" rtlCol="0" anchor="t">
              <a:spAutoFit/>
            </a:bodyPr>
            <a:lstStyle/>
            <a:p>
              <a:pPr>
                <a:lnSpc>
                  <a:spcPts val="3359"/>
                </a:lnSpc>
              </a:pPr>
              <a:r>
                <a:rPr lang="vi-VN" sz="2000" dirty="0">
                  <a:solidFill>
                    <a:srgbClr val="0E2C4B"/>
                  </a:solidFill>
                  <a:latin typeface="Muli"/>
                </a:rPr>
                <a:t>Thuật toán tính toán xác suất $P(x|y)$ với Cửa sổ Ngữ cảnh (Context Window). Khi tăng cửa sổ ngữ cảnh (nhìn lại 4 đến 6 ký tự trước), văn bản sinh ra bắt đầu có dòng chảy tự nhiên và tạo thành từ có nghĩa.</a:t>
              </a:r>
              <a:endParaRPr lang="en-US" sz="2000" dirty="0">
                <a:solidFill>
                  <a:srgbClr val="0E2C4B"/>
                </a:solidFill>
                <a:latin typeface="Muli"/>
                <a:sym typeface="Muli"/>
              </a:endParaRPr>
            </a:p>
          </p:txBody>
        </p:sp>
      </p:grpSp>
      <p:grpSp>
        <p:nvGrpSpPr>
          <p:cNvPr id="10" name="Group 10"/>
          <p:cNvGrpSpPr/>
          <p:nvPr/>
        </p:nvGrpSpPr>
        <p:grpSpPr>
          <a:xfrm>
            <a:off x="9448690" y="4205019"/>
            <a:ext cx="7714897" cy="1861735"/>
            <a:chOff x="0" y="-38100"/>
            <a:chExt cx="10286529" cy="2482313"/>
          </a:xfrm>
        </p:grpSpPr>
        <p:sp>
          <p:nvSpPr>
            <p:cNvPr id="11" name="TextBox 11"/>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Word2Vec</a:t>
              </a:r>
              <a:endParaRPr lang="en-US" sz="2200" b="1" dirty="0">
                <a:solidFill>
                  <a:srgbClr val="0E2C4B"/>
                </a:solidFill>
                <a:latin typeface="Muli Ultra-Bold"/>
                <a:sym typeface="Muli Ultra-Bold"/>
              </a:endParaRPr>
            </a:p>
          </p:txBody>
        </p:sp>
        <p:sp>
          <p:nvSpPr>
            <p:cNvPr id="12" name="TextBox 12"/>
            <p:cNvSpPr txBox="1"/>
            <p:nvPr/>
          </p:nvSpPr>
          <p:spPr>
            <a:xfrm>
              <a:off x="0" y="765890"/>
              <a:ext cx="10286529" cy="1678323"/>
            </a:xfrm>
            <a:prstGeom prst="rect">
              <a:avLst/>
            </a:prstGeom>
          </p:spPr>
          <p:txBody>
            <a:bodyPr lIns="0" tIns="0" rIns="0" bIns="0" rtlCol="0" anchor="t">
              <a:spAutoFit/>
            </a:bodyPr>
            <a:lstStyle/>
            <a:p>
              <a:pPr>
                <a:lnSpc>
                  <a:spcPts val="3359"/>
                </a:lnSpc>
              </a:pPr>
              <a:r>
                <a:rPr lang="vi-VN" sz="2000" dirty="0">
                  <a:solidFill>
                    <a:srgbClr val="0E2C4B"/>
                  </a:solidFill>
                  <a:latin typeface="Muli"/>
                </a:rPr>
                <a:t>Mô hình mạng nơ-ron đơn giản hóa các từ ngữ thành các vector số học (embeddings).</a:t>
              </a:r>
              <a:r>
                <a:rPr lang="en-US" sz="2000" dirty="0">
                  <a:solidFill>
                    <a:srgbClr val="0E2C4B"/>
                  </a:solidFill>
                  <a:latin typeface="Muli"/>
                </a:rPr>
                <a:t> </a:t>
              </a:r>
              <a:r>
                <a:rPr lang="en-US" sz="2000" dirty="0" err="1">
                  <a:solidFill>
                    <a:srgbClr val="0E2C4B"/>
                  </a:solidFill>
                  <a:latin typeface="Muli"/>
                </a:rPr>
                <a:t>Nó</a:t>
              </a:r>
              <a:r>
                <a:rPr lang="en-US" sz="2000" dirty="0">
                  <a:solidFill>
                    <a:srgbClr val="0E2C4B"/>
                  </a:solidFill>
                  <a:latin typeface="Muli"/>
                </a:rPr>
                <a:t> </a:t>
              </a:r>
              <a:r>
                <a:rPr lang="en-US" sz="2000" dirty="0" err="1">
                  <a:solidFill>
                    <a:srgbClr val="0E2C4B"/>
                  </a:solidFill>
                  <a:latin typeface="Muli"/>
                </a:rPr>
                <a:t>học</a:t>
              </a:r>
              <a:r>
                <a:rPr lang="en-US" sz="2000" dirty="0">
                  <a:solidFill>
                    <a:srgbClr val="0E2C4B"/>
                  </a:solidFill>
                  <a:latin typeface="Muli"/>
                </a:rPr>
                <a:t> ý </a:t>
              </a:r>
              <a:r>
                <a:rPr lang="en-US" sz="2000" dirty="0" err="1">
                  <a:solidFill>
                    <a:srgbClr val="0E2C4B"/>
                  </a:solidFill>
                  <a:latin typeface="Muli"/>
                </a:rPr>
                <a:t>nghĩa</a:t>
              </a:r>
              <a:r>
                <a:rPr lang="en-US" sz="2000" dirty="0">
                  <a:solidFill>
                    <a:srgbClr val="0E2C4B"/>
                  </a:solidFill>
                  <a:latin typeface="Muli"/>
                </a:rPr>
                <a:t> </a:t>
              </a:r>
              <a:r>
                <a:rPr lang="en-US" sz="2000" dirty="0" err="1">
                  <a:solidFill>
                    <a:srgbClr val="0E2C4B"/>
                  </a:solidFill>
                  <a:latin typeface="Muli"/>
                </a:rPr>
                <a:t>của</a:t>
              </a:r>
              <a:r>
                <a:rPr lang="en-US" sz="2000" dirty="0">
                  <a:solidFill>
                    <a:srgbClr val="0E2C4B"/>
                  </a:solidFill>
                  <a:latin typeface="Muli"/>
                </a:rPr>
                <a:t> </a:t>
              </a:r>
              <a:r>
                <a:rPr lang="en-US" sz="2000" dirty="0" err="1">
                  <a:solidFill>
                    <a:srgbClr val="0E2C4B"/>
                  </a:solidFill>
                  <a:latin typeface="Muli"/>
                </a:rPr>
                <a:t>một</a:t>
              </a:r>
              <a:r>
                <a:rPr lang="en-US" sz="2000" dirty="0">
                  <a:solidFill>
                    <a:srgbClr val="0E2C4B"/>
                  </a:solidFill>
                  <a:latin typeface="Muli"/>
                </a:rPr>
                <a:t> </a:t>
              </a:r>
              <a:r>
                <a:rPr lang="en-US" sz="2000" dirty="0" err="1">
                  <a:solidFill>
                    <a:srgbClr val="0E2C4B"/>
                  </a:solidFill>
                  <a:latin typeface="Muli"/>
                </a:rPr>
                <a:t>từ</a:t>
              </a:r>
              <a:r>
                <a:rPr lang="en-US" sz="2000" dirty="0">
                  <a:solidFill>
                    <a:srgbClr val="0E2C4B"/>
                  </a:solidFill>
                  <a:latin typeface="Muli"/>
                </a:rPr>
                <a:t> </a:t>
              </a:r>
              <a:r>
                <a:rPr lang="en-US" sz="2000" dirty="0" err="1">
                  <a:solidFill>
                    <a:srgbClr val="0E2C4B"/>
                  </a:solidFill>
                  <a:latin typeface="Muli"/>
                </a:rPr>
                <a:t>thông</a:t>
              </a:r>
              <a:r>
                <a:rPr lang="en-US" sz="2000" dirty="0">
                  <a:solidFill>
                    <a:srgbClr val="0E2C4B"/>
                  </a:solidFill>
                  <a:latin typeface="Muli"/>
                </a:rPr>
                <a:t> qua </a:t>
              </a:r>
              <a:r>
                <a:rPr lang="en-US" sz="2000" dirty="0" err="1">
                  <a:solidFill>
                    <a:srgbClr val="0E2C4B"/>
                  </a:solidFill>
                  <a:latin typeface="Muli"/>
                </a:rPr>
                <a:t>mối</a:t>
              </a:r>
              <a:r>
                <a:rPr lang="en-US" sz="2000" dirty="0">
                  <a:solidFill>
                    <a:srgbClr val="0E2C4B"/>
                  </a:solidFill>
                  <a:latin typeface="Muli"/>
                </a:rPr>
                <a:t> </a:t>
              </a:r>
              <a:r>
                <a:rPr lang="en-US" sz="2000" dirty="0" err="1">
                  <a:solidFill>
                    <a:srgbClr val="0E2C4B"/>
                  </a:solidFill>
                  <a:latin typeface="Muli"/>
                </a:rPr>
                <a:t>liên</a:t>
              </a:r>
              <a:r>
                <a:rPr lang="en-US" sz="2000" dirty="0">
                  <a:solidFill>
                    <a:srgbClr val="0E2C4B"/>
                  </a:solidFill>
                  <a:latin typeface="Muli"/>
                </a:rPr>
                <a:t> </a:t>
              </a:r>
              <a:r>
                <a:rPr lang="en-US" sz="2000" dirty="0" err="1">
                  <a:solidFill>
                    <a:srgbClr val="0E2C4B"/>
                  </a:solidFill>
                  <a:latin typeface="Muli"/>
                </a:rPr>
                <a:t>hệ</a:t>
              </a:r>
              <a:r>
                <a:rPr lang="en-US" sz="2000" dirty="0">
                  <a:solidFill>
                    <a:srgbClr val="0E2C4B"/>
                  </a:solidFill>
                  <a:latin typeface="Muli"/>
                </a:rPr>
                <a:t> </a:t>
              </a:r>
              <a:r>
                <a:rPr lang="en-US" sz="2000" dirty="0" err="1">
                  <a:solidFill>
                    <a:srgbClr val="0E2C4B"/>
                  </a:solidFill>
                  <a:latin typeface="Muli"/>
                </a:rPr>
                <a:t>với</a:t>
              </a:r>
              <a:r>
                <a:rPr lang="en-US" sz="2000" dirty="0">
                  <a:solidFill>
                    <a:srgbClr val="0E2C4B"/>
                  </a:solidFill>
                  <a:latin typeface="Muli"/>
                </a:rPr>
                <a:t> </a:t>
              </a:r>
              <a:r>
                <a:rPr lang="en-US" sz="2000" dirty="0" err="1">
                  <a:solidFill>
                    <a:srgbClr val="0E2C4B"/>
                  </a:solidFill>
                  <a:latin typeface="Muli"/>
                </a:rPr>
                <a:t>các</a:t>
              </a:r>
              <a:r>
                <a:rPr lang="en-US" sz="2000" dirty="0">
                  <a:solidFill>
                    <a:srgbClr val="0E2C4B"/>
                  </a:solidFill>
                  <a:latin typeface="Muli"/>
                </a:rPr>
                <a:t> </a:t>
              </a:r>
              <a:r>
                <a:rPr lang="en-US" sz="2000" dirty="0" err="1">
                  <a:solidFill>
                    <a:srgbClr val="0E2C4B"/>
                  </a:solidFill>
                  <a:latin typeface="Muli"/>
                </a:rPr>
                <a:t>từ</a:t>
              </a:r>
              <a:r>
                <a:rPr lang="en-US" sz="2000" dirty="0">
                  <a:solidFill>
                    <a:srgbClr val="0E2C4B"/>
                  </a:solidFill>
                  <a:latin typeface="Muli"/>
                </a:rPr>
                <a:t> </a:t>
              </a:r>
              <a:r>
                <a:rPr lang="en-US" sz="2000" dirty="0" err="1">
                  <a:solidFill>
                    <a:srgbClr val="0E2C4B"/>
                  </a:solidFill>
                  <a:latin typeface="Muli"/>
                </a:rPr>
                <a:t>lân</a:t>
              </a:r>
              <a:r>
                <a:rPr lang="en-US" sz="2000" dirty="0">
                  <a:solidFill>
                    <a:srgbClr val="0E2C4B"/>
                  </a:solidFill>
                  <a:latin typeface="Muli"/>
                </a:rPr>
                <a:t> </a:t>
              </a:r>
              <a:r>
                <a:rPr lang="en-US" sz="2000" dirty="0" err="1">
                  <a:solidFill>
                    <a:srgbClr val="0E2C4B"/>
                  </a:solidFill>
                  <a:latin typeface="Muli"/>
                </a:rPr>
                <a:t>cận</a:t>
              </a:r>
              <a:r>
                <a:rPr lang="en-US" sz="2000" dirty="0">
                  <a:solidFill>
                    <a:srgbClr val="0E2C4B"/>
                  </a:solidFill>
                  <a:latin typeface="Muli"/>
                </a:rPr>
                <a:t>.</a:t>
              </a:r>
              <a:endParaRPr lang="en-US" sz="2000" dirty="0">
                <a:solidFill>
                  <a:srgbClr val="0E2C4B"/>
                </a:solidFill>
                <a:latin typeface="Muli"/>
                <a:sym typeface="Muli"/>
              </a:endParaRPr>
            </a:p>
          </p:txBody>
        </p:sp>
      </p:grpSp>
      <p:grpSp>
        <p:nvGrpSpPr>
          <p:cNvPr id="13" name="Group 13"/>
          <p:cNvGrpSpPr/>
          <p:nvPr/>
        </p:nvGrpSpPr>
        <p:grpSpPr>
          <a:xfrm>
            <a:off x="9448690" y="7409913"/>
            <a:ext cx="7714897" cy="2299355"/>
            <a:chOff x="0" y="-38100"/>
            <a:chExt cx="10286529" cy="3065809"/>
          </a:xfrm>
        </p:grpSpPr>
        <p:sp>
          <p:nvSpPr>
            <p:cNvPr id="14" name="TextBox 14"/>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Transformer</a:t>
              </a:r>
              <a:endParaRPr lang="en-US" sz="2200" b="1" dirty="0">
                <a:solidFill>
                  <a:srgbClr val="0E2C4B"/>
                </a:solidFill>
                <a:latin typeface="Muli Ultra-Bold"/>
                <a:sym typeface="Muli Ultra-Bold"/>
              </a:endParaRPr>
            </a:p>
          </p:txBody>
        </p:sp>
        <p:sp>
          <p:nvSpPr>
            <p:cNvPr id="15" name="TextBox 15"/>
            <p:cNvSpPr txBox="1"/>
            <p:nvPr/>
          </p:nvSpPr>
          <p:spPr>
            <a:xfrm>
              <a:off x="0" y="765891"/>
              <a:ext cx="10286529" cy="2261818"/>
            </a:xfrm>
            <a:prstGeom prst="rect">
              <a:avLst/>
            </a:prstGeom>
          </p:spPr>
          <p:txBody>
            <a:bodyPr lIns="0" tIns="0" rIns="0" bIns="0" rtlCol="0" anchor="t">
              <a:spAutoFit/>
            </a:bodyPr>
            <a:lstStyle/>
            <a:p>
              <a:pPr>
                <a:lnSpc>
                  <a:spcPts val="3359"/>
                </a:lnSpc>
              </a:pPr>
              <a:r>
                <a:rPr lang="vi-VN" sz="2000" dirty="0">
                  <a:solidFill>
                    <a:srgbClr val="0E2C4B"/>
                  </a:solidFill>
                  <a:latin typeface="Muli"/>
                </a:rPr>
                <a:t>Kiến trúc cốt lõi của LLM hiện đại. Sử dụng cơ chế "Attention" (Sự chú ý) để tính toán trọng số mối quan hệ giữa mọi từ trong một câu cùng lúc (bất kể khoảng cách), phá vỡ giới hạn của cửa sổ ngữ cảnh liền kề.</a:t>
              </a:r>
              <a:endParaRPr lang="en-US" sz="2000" dirty="0">
                <a:solidFill>
                  <a:srgbClr val="0E2C4B"/>
                </a:solidFill>
                <a:latin typeface="Muli"/>
                <a:sym typeface="Muli"/>
              </a:endParaRPr>
            </a:p>
          </p:txBody>
        </p:sp>
      </p:grpSp>
      <p:sp>
        <p:nvSpPr>
          <p:cNvPr id="16" name="TextBox 16"/>
          <p:cNvSpPr txBox="1"/>
          <p:nvPr/>
        </p:nvSpPr>
        <p:spPr>
          <a:xfrm>
            <a:off x="1028700" y="1239978"/>
            <a:ext cx="6790343" cy="1692771"/>
          </a:xfrm>
          <a:prstGeom prst="rect">
            <a:avLst/>
          </a:prstGeom>
        </p:spPr>
        <p:txBody>
          <a:bodyPr lIns="0" tIns="0" rIns="0" bIns="0" rtlCol="0" anchor="t">
            <a:spAutoFit/>
          </a:bodyPr>
          <a:lstStyle/>
          <a:p>
            <a:pPr algn="l">
              <a:lnSpc>
                <a:spcPts val="6600"/>
              </a:lnSpc>
            </a:pPr>
            <a:r>
              <a:rPr lang="en-US" sz="5500" b="1" dirty="0">
                <a:solidFill>
                  <a:srgbClr val="0E2C4B"/>
                </a:solidFill>
                <a:latin typeface="Muli Ultra-Bold"/>
                <a:ea typeface="Muli Ultra-Bold"/>
                <a:cs typeface="Muli Ultra-Bold"/>
                <a:sym typeface="Muli Ultra-Bold"/>
              </a:rPr>
              <a:t>Các </a:t>
            </a:r>
            <a:r>
              <a:rPr lang="en-US" sz="5500" b="1" dirty="0" err="1">
                <a:solidFill>
                  <a:srgbClr val="0E2C4B"/>
                </a:solidFill>
                <a:latin typeface="Muli Ultra-Bold"/>
                <a:ea typeface="Muli Ultra-Bold"/>
                <a:cs typeface="Muli Ultra-Bold"/>
                <a:sym typeface="Muli Ultra-Bold"/>
              </a:rPr>
              <a:t>thuật</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toán</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nền</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tảng</a:t>
            </a:r>
            <a:endParaRPr lang="en-US" sz="5500" b="1" dirty="0">
              <a:solidFill>
                <a:srgbClr val="0E2C4B"/>
              </a:solidFill>
              <a:latin typeface="Muli Ultra-Bold"/>
              <a:ea typeface="Muli Ultra-Bold"/>
              <a:cs typeface="Muli Ultra-Bold"/>
              <a:sym typeface="Muli Ultra-Bold"/>
            </a:endParaRPr>
          </a:p>
        </p:txBody>
      </p:sp>
      <p:pic>
        <p:nvPicPr>
          <p:cNvPr id="2050" name="Picture 2" descr="Data Science with the Penguins Data Set: Conditional Probability in Python  | by Julio Cárdenas-Rodríguez | Medium">
            <a:extLst>
              <a:ext uri="{FF2B5EF4-FFF2-40B4-BE49-F238E27FC236}">
                <a16:creationId xmlns:a16="http://schemas.microsoft.com/office/drawing/2014/main" id="{0BC36B21-AF67-ADB5-C116-194F97BAB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786" y="3752848"/>
            <a:ext cx="6992395" cy="44386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FB562153-4B34-218C-603A-8874424C15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7804EF3-B779-E1B8-BCDC-6797E156065C}"/>
              </a:ext>
            </a:extLst>
          </p:cNvPr>
          <p:cNvGrpSpPr/>
          <p:nvPr/>
        </p:nvGrpSpPr>
        <p:grpSpPr>
          <a:xfrm>
            <a:off x="9144000" y="236488"/>
            <a:ext cx="8814328" cy="9814023"/>
            <a:chOff x="0" y="0"/>
            <a:chExt cx="7051462" cy="7851218"/>
          </a:xfrm>
        </p:grpSpPr>
        <p:sp>
          <p:nvSpPr>
            <p:cNvPr id="3" name="Freeform 3">
              <a:extLst>
                <a:ext uri="{FF2B5EF4-FFF2-40B4-BE49-F238E27FC236}">
                  <a16:creationId xmlns:a16="http://schemas.microsoft.com/office/drawing/2014/main" id="{E4B6DC03-594F-B88C-76DC-535A4E8D603C}"/>
                </a:ext>
              </a:extLst>
            </p:cNvPr>
            <p:cNvSpPr/>
            <p:nvPr/>
          </p:nvSpPr>
          <p:spPr>
            <a:xfrm>
              <a:off x="0" y="0"/>
              <a:ext cx="7051463" cy="7851218"/>
            </a:xfrm>
            <a:custGeom>
              <a:avLst/>
              <a:gdLst/>
              <a:ahLst/>
              <a:cxnLst/>
              <a:rect l="l" t="t" r="r" b="b"/>
              <a:pathLst>
                <a:path w="7051463" h="7851218">
                  <a:moveTo>
                    <a:pt x="6927002" y="7851218"/>
                  </a:moveTo>
                  <a:lnTo>
                    <a:pt x="124460" y="7851218"/>
                  </a:lnTo>
                  <a:cubicBezTo>
                    <a:pt x="55880" y="7851218"/>
                    <a:pt x="0" y="7795338"/>
                    <a:pt x="0" y="7726759"/>
                  </a:cubicBezTo>
                  <a:lnTo>
                    <a:pt x="0" y="124460"/>
                  </a:lnTo>
                  <a:cubicBezTo>
                    <a:pt x="0" y="55880"/>
                    <a:pt x="55880" y="0"/>
                    <a:pt x="124460" y="0"/>
                  </a:cubicBezTo>
                  <a:lnTo>
                    <a:pt x="6927003" y="0"/>
                  </a:lnTo>
                  <a:cubicBezTo>
                    <a:pt x="6995582" y="0"/>
                    <a:pt x="7051463" y="55880"/>
                    <a:pt x="7051463" y="124460"/>
                  </a:cubicBezTo>
                  <a:lnTo>
                    <a:pt x="7051463" y="7726759"/>
                  </a:lnTo>
                  <a:cubicBezTo>
                    <a:pt x="7051463" y="7795338"/>
                    <a:pt x="6995582" y="7851218"/>
                    <a:pt x="6927003" y="7851218"/>
                  </a:cubicBezTo>
                  <a:close/>
                </a:path>
              </a:pathLst>
            </a:custGeom>
            <a:solidFill>
              <a:srgbClr val="FFFFFF"/>
            </a:solidFill>
          </p:spPr>
          <p:txBody>
            <a:bodyPr/>
            <a:lstStyle/>
            <a:p>
              <a:endParaRPr lang="en-US"/>
            </a:p>
          </p:txBody>
        </p:sp>
      </p:grpSp>
      <p:sp>
        <p:nvSpPr>
          <p:cNvPr id="4" name="AutoShape 4">
            <a:extLst>
              <a:ext uri="{FF2B5EF4-FFF2-40B4-BE49-F238E27FC236}">
                <a16:creationId xmlns:a16="http://schemas.microsoft.com/office/drawing/2014/main" id="{3EB2418A-0CED-313B-9DD9-FCFE808C26A4}"/>
              </a:ext>
            </a:extLst>
          </p:cNvPr>
          <p:cNvSpPr/>
          <p:nvPr/>
        </p:nvSpPr>
        <p:spPr>
          <a:xfrm>
            <a:off x="9448690" y="3502953"/>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430FE64E-1F02-4323-972A-B784FD947EF3}"/>
              </a:ext>
            </a:extLst>
          </p:cNvPr>
          <p:cNvSpPr/>
          <p:nvPr/>
        </p:nvSpPr>
        <p:spPr>
          <a:xfrm>
            <a:off x="9448690" y="6707847"/>
            <a:ext cx="7638127" cy="0"/>
          </a:xfrm>
          <a:prstGeom prst="line">
            <a:avLst/>
          </a:prstGeom>
          <a:ln w="76200" cap="rnd">
            <a:solidFill>
              <a:srgbClr val="F2F3F4"/>
            </a:solidFill>
            <a:prstDash val="solid"/>
            <a:headEnd type="none" w="sm" len="sm"/>
            <a:tailEnd type="none" w="sm" len="sm"/>
          </a:ln>
        </p:spPr>
        <p:txBody>
          <a:bodyPr/>
          <a:lstStyle/>
          <a:p>
            <a:endParaRPr lang="en-US"/>
          </a:p>
        </p:txBody>
      </p:sp>
      <p:grpSp>
        <p:nvGrpSpPr>
          <p:cNvPr id="7" name="Group 7">
            <a:extLst>
              <a:ext uri="{FF2B5EF4-FFF2-40B4-BE49-F238E27FC236}">
                <a16:creationId xmlns:a16="http://schemas.microsoft.com/office/drawing/2014/main" id="{6B3ED29B-7C64-913B-6C9A-E7FDEA675EF4}"/>
              </a:ext>
            </a:extLst>
          </p:cNvPr>
          <p:cNvGrpSpPr/>
          <p:nvPr/>
        </p:nvGrpSpPr>
        <p:grpSpPr>
          <a:xfrm>
            <a:off x="9448690" y="1000125"/>
            <a:ext cx="7714897" cy="2311602"/>
            <a:chOff x="0" y="-38100"/>
            <a:chExt cx="10286529" cy="3082138"/>
          </a:xfrm>
        </p:grpSpPr>
        <p:sp>
          <p:nvSpPr>
            <p:cNvPr id="8" name="TextBox 8">
              <a:extLst>
                <a:ext uri="{FF2B5EF4-FFF2-40B4-BE49-F238E27FC236}">
                  <a16:creationId xmlns:a16="http://schemas.microsoft.com/office/drawing/2014/main" id="{CEAB7A0E-F5DC-3F9F-4519-2DEB5DC03188}"/>
                </a:ext>
              </a:extLst>
            </p:cNvPr>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Conditional Probabilities</a:t>
              </a:r>
              <a:endParaRPr lang="en-US" sz="2200" b="1" dirty="0">
                <a:solidFill>
                  <a:srgbClr val="0E2C4B"/>
                </a:solidFill>
                <a:latin typeface="Muli Ultra-Bold"/>
                <a:sym typeface="Muli Ultra-Bold"/>
              </a:endParaRPr>
            </a:p>
          </p:txBody>
        </p:sp>
        <p:sp>
          <p:nvSpPr>
            <p:cNvPr id="9" name="TextBox 9">
              <a:extLst>
                <a:ext uri="{FF2B5EF4-FFF2-40B4-BE49-F238E27FC236}">
                  <a16:creationId xmlns:a16="http://schemas.microsoft.com/office/drawing/2014/main" id="{365A510D-57D4-CD69-F437-A24DFF1F4D74}"/>
                </a:ext>
              </a:extLst>
            </p:cNvPr>
            <p:cNvSpPr txBox="1"/>
            <p:nvPr/>
          </p:nvSpPr>
          <p:spPr>
            <a:xfrm>
              <a:off x="0" y="765891"/>
              <a:ext cx="10286529" cy="2278147"/>
            </a:xfrm>
            <a:prstGeom prst="rect">
              <a:avLst/>
            </a:prstGeom>
          </p:spPr>
          <p:txBody>
            <a:bodyPr lIns="0" tIns="0" rIns="0" bIns="0" rtlCol="0" anchor="t">
              <a:spAutoFit/>
            </a:bodyPr>
            <a:lstStyle/>
            <a:p>
              <a:pPr>
                <a:lnSpc>
                  <a:spcPts val="3359"/>
                </a:lnSpc>
              </a:pPr>
              <a:r>
                <a:rPr lang="vi-VN" sz="2000" dirty="0">
                  <a:solidFill>
                    <a:srgbClr val="0E2C4B"/>
                  </a:solidFill>
                  <a:latin typeface="Muli"/>
                </a:rPr>
                <a:t>Thuật toán tính toán xác suất $P(x|y)$ với Cửa sổ Ngữ cảnh (Context Window). Khi tăng cửa sổ ngữ cảnh (nhìn lại 4 đến 6 ký tự trước), văn bản sinh ra bắt đầu có dòng chảy tự nhiên và tạo thành từ có nghĩa.</a:t>
              </a:r>
              <a:endParaRPr lang="en-US" sz="2000" dirty="0">
                <a:solidFill>
                  <a:srgbClr val="0E2C4B"/>
                </a:solidFill>
                <a:latin typeface="Muli"/>
                <a:sym typeface="Muli"/>
              </a:endParaRPr>
            </a:p>
          </p:txBody>
        </p:sp>
      </p:grpSp>
      <p:grpSp>
        <p:nvGrpSpPr>
          <p:cNvPr id="10" name="Group 10">
            <a:extLst>
              <a:ext uri="{FF2B5EF4-FFF2-40B4-BE49-F238E27FC236}">
                <a16:creationId xmlns:a16="http://schemas.microsoft.com/office/drawing/2014/main" id="{77867591-66D9-37CE-3753-BF1F3E537330}"/>
              </a:ext>
            </a:extLst>
          </p:cNvPr>
          <p:cNvGrpSpPr/>
          <p:nvPr/>
        </p:nvGrpSpPr>
        <p:grpSpPr>
          <a:xfrm>
            <a:off x="9448690" y="4205019"/>
            <a:ext cx="7714897" cy="1861735"/>
            <a:chOff x="0" y="-38100"/>
            <a:chExt cx="10286529" cy="2482313"/>
          </a:xfrm>
        </p:grpSpPr>
        <p:sp>
          <p:nvSpPr>
            <p:cNvPr id="11" name="TextBox 11">
              <a:extLst>
                <a:ext uri="{FF2B5EF4-FFF2-40B4-BE49-F238E27FC236}">
                  <a16:creationId xmlns:a16="http://schemas.microsoft.com/office/drawing/2014/main" id="{733F5EB5-D381-CC96-F9D4-EDA0A886E8ED}"/>
                </a:ext>
              </a:extLst>
            </p:cNvPr>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Word2Vec</a:t>
              </a:r>
              <a:endParaRPr lang="en-US" sz="2200" b="1" dirty="0">
                <a:solidFill>
                  <a:srgbClr val="0E2C4B"/>
                </a:solidFill>
                <a:latin typeface="Muli Ultra-Bold"/>
                <a:sym typeface="Muli Ultra-Bold"/>
              </a:endParaRPr>
            </a:p>
          </p:txBody>
        </p:sp>
        <p:sp>
          <p:nvSpPr>
            <p:cNvPr id="12" name="TextBox 12">
              <a:extLst>
                <a:ext uri="{FF2B5EF4-FFF2-40B4-BE49-F238E27FC236}">
                  <a16:creationId xmlns:a16="http://schemas.microsoft.com/office/drawing/2014/main" id="{EFAC4093-CDBB-6526-BC24-6FD7C6A1EA65}"/>
                </a:ext>
              </a:extLst>
            </p:cNvPr>
            <p:cNvSpPr txBox="1"/>
            <p:nvPr/>
          </p:nvSpPr>
          <p:spPr>
            <a:xfrm>
              <a:off x="0" y="765890"/>
              <a:ext cx="10286529" cy="1678323"/>
            </a:xfrm>
            <a:prstGeom prst="rect">
              <a:avLst/>
            </a:prstGeom>
          </p:spPr>
          <p:txBody>
            <a:bodyPr lIns="0" tIns="0" rIns="0" bIns="0" rtlCol="0" anchor="t">
              <a:spAutoFit/>
            </a:bodyPr>
            <a:lstStyle/>
            <a:p>
              <a:pPr>
                <a:lnSpc>
                  <a:spcPts val="3359"/>
                </a:lnSpc>
              </a:pPr>
              <a:r>
                <a:rPr lang="vi-VN" sz="2000" dirty="0">
                  <a:solidFill>
                    <a:srgbClr val="0E2C4B"/>
                  </a:solidFill>
                  <a:latin typeface="Muli"/>
                </a:rPr>
                <a:t>Mô hình mạng nơ-ron đơn giản hóa các từ ngữ thành các vector số học (embeddings).</a:t>
              </a:r>
              <a:r>
                <a:rPr lang="en-US" sz="2000" dirty="0">
                  <a:solidFill>
                    <a:srgbClr val="0E2C4B"/>
                  </a:solidFill>
                  <a:latin typeface="Muli"/>
                </a:rPr>
                <a:t> </a:t>
              </a:r>
              <a:r>
                <a:rPr lang="en-US" sz="2000" dirty="0" err="1">
                  <a:solidFill>
                    <a:srgbClr val="0E2C4B"/>
                  </a:solidFill>
                  <a:latin typeface="Muli"/>
                </a:rPr>
                <a:t>Nó</a:t>
              </a:r>
              <a:r>
                <a:rPr lang="en-US" sz="2000" dirty="0">
                  <a:solidFill>
                    <a:srgbClr val="0E2C4B"/>
                  </a:solidFill>
                  <a:latin typeface="Muli"/>
                </a:rPr>
                <a:t> </a:t>
              </a:r>
              <a:r>
                <a:rPr lang="en-US" sz="2000" dirty="0" err="1">
                  <a:solidFill>
                    <a:srgbClr val="0E2C4B"/>
                  </a:solidFill>
                  <a:latin typeface="Muli"/>
                </a:rPr>
                <a:t>học</a:t>
              </a:r>
              <a:r>
                <a:rPr lang="en-US" sz="2000" dirty="0">
                  <a:solidFill>
                    <a:srgbClr val="0E2C4B"/>
                  </a:solidFill>
                  <a:latin typeface="Muli"/>
                </a:rPr>
                <a:t> ý </a:t>
              </a:r>
              <a:r>
                <a:rPr lang="en-US" sz="2000" dirty="0" err="1">
                  <a:solidFill>
                    <a:srgbClr val="0E2C4B"/>
                  </a:solidFill>
                  <a:latin typeface="Muli"/>
                </a:rPr>
                <a:t>nghĩa</a:t>
              </a:r>
              <a:r>
                <a:rPr lang="en-US" sz="2000" dirty="0">
                  <a:solidFill>
                    <a:srgbClr val="0E2C4B"/>
                  </a:solidFill>
                  <a:latin typeface="Muli"/>
                </a:rPr>
                <a:t> </a:t>
              </a:r>
              <a:r>
                <a:rPr lang="en-US" sz="2000" dirty="0" err="1">
                  <a:solidFill>
                    <a:srgbClr val="0E2C4B"/>
                  </a:solidFill>
                  <a:latin typeface="Muli"/>
                </a:rPr>
                <a:t>của</a:t>
              </a:r>
              <a:r>
                <a:rPr lang="en-US" sz="2000" dirty="0">
                  <a:solidFill>
                    <a:srgbClr val="0E2C4B"/>
                  </a:solidFill>
                  <a:latin typeface="Muli"/>
                </a:rPr>
                <a:t> </a:t>
              </a:r>
              <a:r>
                <a:rPr lang="en-US" sz="2000" dirty="0" err="1">
                  <a:solidFill>
                    <a:srgbClr val="0E2C4B"/>
                  </a:solidFill>
                  <a:latin typeface="Muli"/>
                </a:rPr>
                <a:t>một</a:t>
              </a:r>
              <a:r>
                <a:rPr lang="en-US" sz="2000" dirty="0">
                  <a:solidFill>
                    <a:srgbClr val="0E2C4B"/>
                  </a:solidFill>
                  <a:latin typeface="Muli"/>
                </a:rPr>
                <a:t> </a:t>
              </a:r>
              <a:r>
                <a:rPr lang="en-US" sz="2000" dirty="0" err="1">
                  <a:solidFill>
                    <a:srgbClr val="0E2C4B"/>
                  </a:solidFill>
                  <a:latin typeface="Muli"/>
                </a:rPr>
                <a:t>từ</a:t>
              </a:r>
              <a:r>
                <a:rPr lang="en-US" sz="2000" dirty="0">
                  <a:solidFill>
                    <a:srgbClr val="0E2C4B"/>
                  </a:solidFill>
                  <a:latin typeface="Muli"/>
                </a:rPr>
                <a:t> </a:t>
              </a:r>
              <a:r>
                <a:rPr lang="en-US" sz="2000" dirty="0" err="1">
                  <a:solidFill>
                    <a:srgbClr val="0E2C4B"/>
                  </a:solidFill>
                  <a:latin typeface="Muli"/>
                </a:rPr>
                <a:t>thông</a:t>
              </a:r>
              <a:r>
                <a:rPr lang="en-US" sz="2000" dirty="0">
                  <a:solidFill>
                    <a:srgbClr val="0E2C4B"/>
                  </a:solidFill>
                  <a:latin typeface="Muli"/>
                </a:rPr>
                <a:t> qua </a:t>
              </a:r>
              <a:r>
                <a:rPr lang="en-US" sz="2000" dirty="0" err="1">
                  <a:solidFill>
                    <a:srgbClr val="0E2C4B"/>
                  </a:solidFill>
                  <a:latin typeface="Muli"/>
                </a:rPr>
                <a:t>mối</a:t>
              </a:r>
              <a:r>
                <a:rPr lang="en-US" sz="2000" dirty="0">
                  <a:solidFill>
                    <a:srgbClr val="0E2C4B"/>
                  </a:solidFill>
                  <a:latin typeface="Muli"/>
                </a:rPr>
                <a:t> </a:t>
              </a:r>
              <a:r>
                <a:rPr lang="en-US" sz="2000" dirty="0" err="1">
                  <a:solidFill>
                    <a:srgbClr val="0E2C4B"/>
                  </a:solidFill>
                  <a:latin typeface="Muli"/>
                </a:rPr>
                <a:t>liên</a:t>
              </a:r>
              <a:r>
                <a:rPr lang="en-US" sz="2000" dirty="0">
                  <a:solidFill>
                    <a:srgbClr val="0E2C4B"/>
                  </a:solidFill>
                  <a:latin typeface="Muli"/>
                </a:rPr>
                <a:t> </a:t>
              </a:r>
              <a:r>
                <a:rPr lang="en-US" sz="2000" dirty="0" err="1">
                  <a:solidFill>
                    <a:srgbClr val="0E2C4B"/>
                  </a:solidFill>
                  <a:latin typeface="Muli"/>
                </a:rPr>
                <a:t>hệ</a:t>
              </a:r>
              <a:r>
                <a:rPr lang="en-US" sz="2000" dirty="0">
                  <a:solidFill>
                    <a:srgbClr val="0E2C4B"/>
                  </a:solidFill>
                  <a:latin typeface="Muli"/>
                </a:rPr>
                <a:t> </a:t>
              </a:r>
              <a:r>
                <a:rPr lang="en-US" sz="2000" dirty="0" err="1">
                  <a:solidFill>
                    <a:srgbClr val="0E2C4B"/>
                  </a:solidFill>
                  <a:latin typeface="Muli"/>
                </a:rPr>
                <a:t>với</a:t>
              </a:r>
              <a:r>
                <a:rPr lang="en-US" sz="2000" dirty="0">
                  <a:solidFill>
                    <a:srgbClr val="0E2C4B"/>
                  </a:solidFill>
                  <a:latin typeface="Muli"/>
                </a:rPr>
                <a:t> </a:t>
              </a:r>
              <a:r>
                <a:rPr lang="en-US" sz="2000" dirty="0" err="1">
                  <a:solidFill>
                    <a:srgbClr val="0E2C4B"/>
                  </a:solidFill>
                  <a:latin typeface="Muli"/>
                </a:rPr>
                <a:t>các</a:t>
              </a:r>
              <a:r>
                <a:rPr lang="en-US" sz="2000" dirty="0">
                  <a:solidFill>
                    <a:srgbClr val="0E2C4B"/>
                  </a:solidFill>
                  <a:latin typeface="Muli"/>
                </a:rPr>
                <a:t> </a:t>
              </a:r>
              <a:r>
                <a:rPr lang="en-US" sz="2000" dirty="0" err="1">
                  <a:solidFill>
                    <a:srgbClr val="0E2C4B"/>
                  </a:solidFill>
                  <a:latin typeface="Muli"/>
                </a:rPr>
                <a:t>từ</a:t>
              </a:r>
              <a:r>
                <a:rPr lang="en-US" sz="2000" dirty="0">
                  <a:solidFill>
                    <a:srgbClr val="0E2C4B"/>
                  </a:solidFill>
                  <a:latin typeface="Muli"/>
                </a:rPr>
                <a:t> </a:t>
              </a:r>
              <a:r>
                <a:rPr lang="en-US" sz="2000" dirty="0" err="1">
                  <a:solidFill>
                    <a:srgbClr val="0E2C4B"/>
                  </a:solidFill>
                  <a:latin typeface="Muli"/>
                </a:rPr>
                <a:t>lân</a:t>
              </a:r>
              <a:r>
                <a:rPr lang="en-US" sz="2000" dirty="0">
                  <a:solidFill>
                    <a:srgbClr val="0E2C4B"/>
                  </a:solidFill>
                  <a:latin typeface="Muli"/>
                </a:rPr>
                <a:t> </a:t>
              </a:r>
              <a:r>
                <a:rPr lang="en-US" sz="2000" dirty="0" err="1">
                  <a:solidFill>
                    <a:srgbClr val="0E2C4B"/>
                  </a:solidFill>
                  <a:latin typeface="Muli"/>
                </a:rPr>
                <a:t>cận</a:t>
              </a:r>
              <a:r>
                <a:rPr lang="en-US" sz="2000" dirty="0">
                  <a:solidFill>
                    <a:srgbClr val="0E2C4B"/>
                  </a:solidFill>
                  <a:latin typeface="Muli"/>
                </a:rPr>
                <a:t>.</a:t>
              </a:r>
              <a:endParaRPr lang="en-US" sz="2000" dirty="0">
                <a:solidFill>
                  <a:srgbClr val="0E2C4B"/>
                </a:solidFill>
                <a:latin typeface="Muli"/>
                <a:sym typeface="Muli"/>
              </a:endParaRPr>
            </a:p>
          </p:txBody>
        </p:sp>
      </p:grpSp>
      <p:grpSp>
        <p:nvGrpSpPr>
          <p:cNvPr id="13" name="Group 13">
            <a:extLst>
              <a:ext uri="{FF2B5EF4-FFF2-40B4-BE49-F238E27FC236}">
                <a16:creationId xmlns:a16="http://schemas.microsoft.com/office/drawing/2014/main" id="{E55A4A0A-E8DC-0479-D4EF-BE753C7F7D51}"/>
              </a:ext>
            </a:extLst>
          </p:cNvPr>
          <p:cNvGrpSpPr/>
          <p:nvPr/>
        </p:nvGrpSpPr>
        <p:grpSpPr>
          <a:xfrm>
            <a:off x="9448690" y="7409913"/>
            <a:ext cx="7714897" cy="2299355"/>
            <a:chOff x="0" y="-38100"/>
            <a:chExt cx="10286529" cy="3065809"/>
          </a:xfrm>
        </p:grpSpPr>
        <p:sp>
          <p:nvSpPr>
            <p:cNvPr id="14" name="TextBox 14">
              <a:extLst>
                <a:ext uri="{FF2B5EF4-FFF2-40B4-BE49-F238E27FC236}">
                  <a16:creationId xmlns:a16="http://schemas.microsoft.com/office/drawing/2014/main" id="{1F71E012-C26C-C048-E4AD-BDA52C051AA4}"/>
                </a:ext>
              </a:extLst>
            </p:cNvPr>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Transformer</a:t>
              </a:r>
              <a:endParaRPr lang="en-US" sz="2200" b="1" dirty="0">
                <a:solidFill>
                  <a:srgbClr val="0E2C4B"/>
                </a:solidFill>
                <a:latin typeface="Muli Ultra-Bold"/>
                <a:sym typeface="Muli Ultra-Bold"/>
              </a:endParaRPr>
            </a:p>
          </p:txBody>
        </p:sp>
        <p:sp>
          <p:nvSpPr>
            <p:cNvPr id="15" name="TextBox 15">
              <a:extLst>
                <a:ext uri="{FF2B5EF4-FFF2-40B4-BE49-F238E27FC236}">
                  <a16:creationId xmlns:a16="http://schemas.microsoft.com/office/drawing/2014/main" id="{E133C7DF-6FE2-00CF-05F6-67C841739A4F}"/>
                </a:ext>
              </a:extLst>
            </p:cNvPr>
            <p:cNvSpPr txBox="1"/>
            <p:nvPr/>
          </p:nvSpPr>
          <p:spPr>
            <a:xfrm>
              <a:off x="0" y="765891"/>
              <a:ext cx="10286529" cy="2261818"/>
            </a:xfrm>
            <a:prstGeom prst="rect">
              <a:avLst/>
            </a:prstGeom>
          </p:spPr>
          <p:txBody>
            <a:bodyPr lIns="0" tIns="0" rIns="0" bIns="0" rtlCol="0" anchor="t">
              <a:spAutoFit/>
            </a:bodyPr>
            <a:lstStyle/>
            <a:p>
              <a:pPr>
                <a:lnSpc>
                  <a:spcPts val="3359"/>
                </a:lnSpc>
              </a:pPr>
              <a:r>
                <a:rPr lang="vi-VN" sz="2000" dirty="0">
                  <a:solidFill>
                    <a:srgbClr val="0E2C4B"/>
                  </a:solidFill>
                  <a:latin typeface="Muli"/>
                </a:rPr>
                <a:t>Kiến trúc cốt lõi của LLM hiện đại. Sử dụng cơ chế "Attention" (Sự chú ý) để tính toán trọng số mối quan hệ giữa mọi từ trong một câu cùng lúc (bất kể khoảng cách), phá vỡ giới hạn của cửa sổ ngữ cảnh liền kề.</a:t>
              </a:r>
              <a:endParaRPr lang="en-US" sz="2000" dirty="0">
                <a:solidFill>
                  <a:srgbClr val="0E2C4B"/>
                </a:solidFill>
                <a:latin typeface="Muli"/>
                <a:sym typeface="Muli"/>
              </a:endParaRPr>
            </a:p>
          </p:txBody>
        </p:sp>
      </p:grpSp>
      <p:sp>
        <p:nvSpPr>
          <p:cNvPr id="16" name="TextBox 16">
            <a:extLst>
              <a:ext uri="{FF2B5EF4-FFF2-40B4-BE49-F238E27FC236}">
                <a16:creationId xmlns:a16="http://schemas.microsoft.com/office/drawing/2014/main" id="{A59F14C8-1939-7218-BB5D-240352FBE33B}"/>
              </a:ext>
            </a:extLst>
          </p:cNvPr>
          <p:cNvSpPr txBox="1"/>
          <p:nvPr/>
        </p:nvSpPr>
        <p:spPr>
          <a:xfrm>
            <a:off x="1028700" y="1239978"/>
            <a:ext cx="6790343" cy="1692771"/>
          </a:xfrm>
          <a:prstGeom prst="rect">
            <a:avLst/>
          </a:prstGeom>
        </p:spPr>
        <p:txBody>
          <a:bodyPr lIns="0" tIns="0" rIns="0" bIns="0" rtlCol="0" anchor="t">
            <a:spAutoFit/>
          </a:bodyPr>
          <a:lstStyle/>
          <a:p>
            <a:pPr algn="l">
              <a:lnSpc>
                <a:spcPts val="6600"/>
              </a:lnSpc>
            </a:pPr>
            <a:r>
              <a:rPr lang="en-US" sz="5500" b="1" dirty="0">
                <a:solidFill>
                  <a:srgbClr val="0E2C4B"/>
                </a:solidFill>
                <a:latin typeface="Muli Ultra-Bold"/>
                <a:ea typeface="Muli Ultra-Bold"/>
                <a:cs typeface="Muli Ultra-Bold"/>
                <a:sym typeface="Muli Ultra-Bold"/>
              </a:rPr>
              <a:t>Các </a:t>
            </a:r>
            <a:r>
              <a:rPr lang="en-US" sz="5500" b="1" dirty="0" err="1">
                <a:solidFill>
                  <a:srgbClr val="0E2C4B"/>
                </a:solidFill>
                <a:latin typeface="Muli Ultra-Bold"/>
                <a:ea typeface="Muli Ultra-Bold"/>
                <a:cs typeface="Muli Ultra-Bold"/>
                <a:sym typeface="Muli Ultra-Bold"/>
              </a:rPr>
              <a:t>thuật</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toán</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nền</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tảng</a:t>
            </a:r>
            <a:endParaRPr lang="en-US" sz="5500" b="1" dirty="0">
              <a:solidFill>
                <a:srgbClr val="0E2C4B"/>
              </a:solidFill>
              <a:latin typeface="Muli Ultra-Bold"/>
              <a:ea typeface="Muli Ultra-Bold"/>
              <a:cs typeface="Muli Ultra-Bold"/>
              <a:sym typeface="Muli Ultra-Bold"/>
            </a:endParaRPr>
          </a:p>
        </p:txBody>
      </p:sp>
      <p:pic>
        <p:nvPicPr>
          <p:cNvPr id="3074" name="Picture 2" descr="Word2Vec (CBOW, Skip-gram) In Depth | by Fraidoon Omarzai | Medium">
            <a:extLst>
              <a:ext uri="{FF2B5EF4-FFF2-40B4-BE49-F238E27FC236}">
                <a16:creationId xmlns:a16="http://schemas.microsoft.com/office/drawing/2014/main" id="{092B0FBF-2B2F-F017-5B36-B75F4E930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051" y="3675360"/>
            <a:ext cx="7638127" cy="3955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73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C896D902-6A28-C84F-9AF3-F976A1EC4DB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3EB7AD-60B5-1FE5-C7F0-C6A6107AE568}"/>
              </a:ext>
            </a:extLst>
          </p:cNvPr>
          <p:cNvGrpSpPr/>
          <p:nvPr/>
        </p:nvGrpSpPr>
        <p:grpSpPr>
          <a:xfrm>
            <a:off x="9144000" y="236488"/>
            <a:ext cx="8814328" cy="9814023"/>
            <a:chOff x="0" y="0"/>
            <a:chExt cx="7051462" cy="7851218"/>
          </a:xfrm>
        </p:grpSpPr>
        <p:sp>
          <p:nvSpPr>
            <p:cNvPr id="3" name="Freeform 3">
              <a:extLst>
                <a:ext uri="{FF2B5EF4-FFF2-40B4-BE49-F238E27FC236}">
                  <a16:creationId xmlns:a16="http://schemas.microsoft.com/office/drawing/2014/main" id="{097BD620-0887-3087-C6DE-8081F522847D}"/>
                </a:ext>
              </a:extLst>
            </p:cNvPr>
            <p:cNvSpPr/>
            <p:nvPr/>
          </p:nvSpPr>
          <p:spPr>
            <a:xfrm>
              <a:off x="0" y="0"/>
              <a:ext cx="7051463" cy="7851218"/>
            </a:xfrm>
            <a:custGeom>
              <a:avLst/>
              <a:gdLst/>
              <a:ahLst/>
              <a:cxnLst/>
              <a:rect l="l" t="t" r="r" b="b"/>
              <a:pathLst>
                <a:path w="7051463" h="7851218">
                  <a:moveTo>
                    <a:pt x="6927002" y="7851218"/>
                  </a:moveTo>
                  <a:lnTo>
                    <a:pt x="124460" y="7851218"/>
                  </a:lnTo>
                  <a:cubicBezTo>
                    <a:pt x="55880" y="7851218"/>
                    <a:pt x="0" y="7795338"/>
                    <a:pt x="0" y="7726759"/>
                  </a:cubicBezTo>
                  <a:lnTo>
                    <a:pt x="0" y="124460"/>
                  </a:lnTo>
                  <a:cubicBezTo>
                    <a:pt x="0" y="55880"/>
                    <a:pt x="55880" y="0"/>
                    <a:pt x="124460" y="0"/>
                  </a:cubicBezTo>
                  <a:lnTo>
                    <a:pt x="6927003" y="0"/>
                  </a:lnTo>
                  <a:cubicBezTo>
                    <a:pt x="6995582" y="0"/>
                    <a:pt x="7051463" y="55880"/>
                    <a:pt x="7051463" y="124460"/>
                  </a:cubicBezTo>
                  <a:lnTo>
                    <a:pt x="7051463" y="7726759"/>
                  </a:lnTo>
                  <a:cubicBezTo>
                    <a:pt x="7051463" y="7795338"/>
                    <a:pt x="6995582" y="7851218"/>
                    <a:pt x="6927003" y="7851218"/>
                  </a:cubicBezTo>
                  <a:close/>
                </a:path>
              </a:pathLst>
            </a:custGeom>
            <a:solidFill>
              <a:srgbClr val="FFFFFF"/>
            </a:solidFill>
          </p:spPr>
          <p:txBody>
            <a:bodyPr/>
            <a:lstStyle/>
            <a:p>
              <a:endParaRPr lang="en-US"/>
            </a:p>
          </p:txBody>
        </p:sp>
      </p:grpSp>
      <p:sp>
        <p:nvSpPr>
          <p:cNvPr id="4" name="AutoShape 4">
            <a:extLst>
              <a:ext uri="{FF2B5EF4-FFF2-40B4-BE49-F238E27FC236}">
                <a16:creationId xmlns:a16="http://schemas.microsoft.com/office/drawing/2014/main" id="{1D3869B5-B01A-311B-BBFF-91457EECC8D6}"/>
              </a:ext>
            </a:extLst>
          </p:cNvPr>
          <p:cNvSpPr/>
          <p:nvPr/>
        </p:nvSpPr>
        <p:spPr>
          <a:xfrm>
            <a:off x="9448690" y="3502953"/>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E1741067-21F2-6257-9A1B-61C463DA4F28}"/>
              </a:ext>
            </a:extLst>
          </p:cNvPr>
          <p:cNvSpPr/>
          <p:nvPr/>
        </p:nvSpPr>
        <p:spPr>
          <a:xfrm>
            <a:off x="9448690" y="6707847"/>
            <a:ext cx="7638127" cy="0"/>
          </a:xfrm>
          <a:prstGeom prst="line">
            <a:avLst/>
          </a:prstGeom>
          <a:ln w="76200" cap="rnd">
            <a:solidFill>
              <a:srgbClr val="F2F3F4"/>
            </a:solidFill>
            <a:prstDash val="solid"/>
            <a:headEnd type="none" w="sm" len="sm"/>
            <a:tailEnd type="none" w="sm" len="sm"/>
          </a:ln>
        </p:spPr>
        <p:txBody>
          <a:bodyPr/>
          <a:lstStyle/>
          <a:p>
            <a:endParaRPr lang="en-US"/>
          </a:p>
        </p:txBody>
      </p:sp>
      <p:grpSp>
        <p:nvGrpSpPr>
          <p:cNvPr id="7" name="Group 7">
            <a:extLst>
              <a:ext uri="{FF2B5EF4-FFF2-40B4-BE49-F238E27FC236}">
                <a16:creationId xmlns:a16="http://schemas.microsoft.com/office/drawing/2014/main" id="{C0D09477-7C11-7783-480F-FCF9AE41DE4E}"/>
              </a:ext>
            </a:extLst>
          </p:cNvPr>
          <p:cNvGrpSpPr/>
          <p:nvPr/>
        </p:nvGrpSpPr>
        <p:grpSpPr>
          <a:xfrm>
            <a:off x="9448690" y="1000125"/>
            <a:ext cx="7714897" cy="2311602"/>
            <a:chOff x="0" y="-38100"/>
            <a:chExt cx="10286529" cy="3082138"/>
          </a:xfrm>
        </p:grpSpPr>
        <p:sp>
          <p:nvSpPr>
            <p:cNvPr id="8" name="TextBox 8">
              <a:extLst>
                <a:ext uri="{FF2B5EF4-FFF2-40B4-BE49-F238E27FC236}">
                  <a16:creationId xmlns:a16="http://schemas.microsoft.com/office/drawing/2014/main" id="{14143F20-B09B-27A1-03FF-075713BB17EB}"/>
                </a:ext>
              </a:extLst>
            </p:cNvPr>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Conditional Probabilities</a:t>
              </a:r>
              <a:endParaRPr lang="en-US" sz="2200" b="1" dirty="0">
                <a:solidFill>
                  <a:srgbClr val="0E2C4B"/>
                </a:solidFill>
                <a:latin typeface="Muli Ultra-Bold"/>
                <a:sym typeface="Muli Ultra-Bold"/>
              </a:endParaRPr>
            </a:p>
          </p:txBody>
        </p:sp>
        <p:sp>
          <p:nvSpPr>
            <p:cNvPr id="9" name="TextBox 9">
              <a:extLst>
                <a:ext uri="{FF2B5EF4-FFF2-40B4-BE49-F238E27FC236}">
                  <a16:creationId xmlns:a16="http://schemas.microsoft.com/office/drawing/2014/main" id="{1716F819-40DE-18CE-2767-BEE64F450B30}"/>
                </a:ext>
              </a:extLst>
            </p:cNvPr>
            <p:cNvSpPr txBox="1"/>
            <p:nvPr/>
          </p:nvSpPr>
          <p:spPr>
            <a:xfrm>
              <a:off x="0" y="765891"/>
              <a:ext cx="10286529" cy="2278147"/>
            </a:xfrm>
            <a:prstGeom prst="rect">
              <a:avLst/>
            </a:prstGeom>
          </p:spPr>
          <p:txBody>
            <a:bodyPr lIns="0" tIns="0" rIns="0" bIns="0" rtlCol="0" anchor="t">
              <a:spAutoFit/>
            </a:bodyPr>
            <a:lstStyle/>
            <a:p>
              <a:pPr>
                <a:lnSpc>
                  <a:spcPts val="3359"/>
                </a:lnSpc>
              </a:pPr>
              <a:r>
                <a:rPr lang="vi-VN" sz="2000" dirty="0">
                  <a:solidFill>
                    <a:srgbClr val="0E2C4B"/>
                  </a:solidFill>
                  <a:latin typeface="Muli"/>
                </a:rPr>
                <a:t>Thuật toán tính toán xác suất $P(x|y)$ với Cửa sổ Ngữ cảnh (Context Window). Khi tăng cửa sổ ngữ cảnh (nhìn lại 4 đến 6 ký tự trước), văn bản sinh ra bắt đầu có dòng chảy tự nhiên và tạo thành từ có nghĩa.</a:t>
              </a:r>
              <a:endParaRPr lang="en-US" sz="2000" dirty="0">
                <a:solidFill>
                  <a:srgbClr val="0E2C4B"/>
                </a:solidFill>
                <a:latin typeface="Muli"/>
                <a:sym typeface="Muli"/>
              </a:endParaRPr>
            </a:p>
          </p:txBody>
        </p:sp>
      </p:grpSp>
      <p:grpSp>
        <p:nvGrpSpPr>
          <p:cNvPr id="10" name="Group 10">
            <a:extLst>
              <a:ext uri="{FF2B5EF4-FFF2-40B4-BE49-F238E27FC236}">
                <a16:creationId xmlns:a16="http://schemas.microsoft.com/office/drawing/2014/main" id="{7192F651-0A4E-0A50-0FDB-DAF0D5F06995}"/>
              </a:ext>
            </a:extLst>
          </p:cNvPr>
          <p:cNvGrpSpPr/>
          <p:nvPr/>
        </p:nvGrpSpPr>
        <p:grpSpPr>
          <a:xfrm>
            <a:off x="9448690" y="4205019"/>
            <a:ext cx="7714897" cy="1861735"/>
            <a:chOff x="0" y="-38100"/>
            <a:chExt cx="10286529" cy="2482313"/>
          </a:xfrm>
        </p:grpSpPr>
        <p:sp>
          <p:nvSpPr>
            <p:cNvPr id="11" name="TextBox 11">
              <a:extLst>
                <a:ext uri="{FF2B5EF4-FFF2-40B4-BE49-F238E27FC236}">
                  <a16:creationId xmlns:a16="http://schemas.microsoft.com/office/drawing/2014/main" id="{AF3F14A4-53D2-6EDB-9BDF-8B2CC9D0F461}"/>
                </a:ext>
              </a:extLst>
            </p:cNvPr>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Word2Vec</a:t>
              </a:r>
              <a:endParaRPr lang="en-US" sz="2200" b="1" dirty="0">
                <a:solidFill>
                  <a:srgbClr val="0E2C4B"/>
                </a:solidFill>
                <a:latin typeface="Muli Ultra-Bold"/>
                <a:sym typeface="Muli Ultra-Bold"/>
              </a:endParaRPr>
            </a:p>
          </p:txBody>
        </p:sp>
        <p:sp>
          <p:nvSpPr>
            <p:cNvPr id="12" name="TextBox 12">
              <a:extLst>
                <a:ext uri="{FF2B5EF4-FFF2-40B4-BE49-F238E27FC236}">
                  <a16:creationId xmlns:a16="http://schemas.microsoft.com/office/drawing/2014/main" id="{CB345515-FA53-17B4-7405-C6D6B9297E1C}"/>
                </a:ext>
              </a:extLst>
            </p:cNvPr>
            <p:cNvSpPr txBox="1"/>
            <p:nvPr/>
          </p:nvSpPr>
          <p:spPr>
            <a:xfrm>
              <a:off x="0" y="765890"/>
              <a:ext cx="10286529" cy="1678323"/>
            </a:xfrm>
            <a:prstGeom prst="rect">
              <a:avLst/>
            </a:prstGeom>
          </p:spPr>
          <p:txBody>
            <a:bodyPr lIns="0" tIns="0" rIns="0" bIns="0" rtlCol="0" anchor="t">
              <a:spAutoFit/>
            </a:bodyPr>
            <a:lstStyle/>
            <a:p>
              <a:pPr>
                <a:lnSpc>
                  <a:spcPts val="3359"/>
                </a:lnSpc>
              </a:pPr>
              <a:r>
                <a:rPr lang="vi-VN" sz="2000" dirty="0">
                  <a:solidFill>
                    <a:srgbClr val="0E2C4B"/>
                  </a:solidFill>
                  <a:latin typeface="Muli"/>
                </a:rPr>
                <a:t>Mô hình mạng nơ-ron đơn giản hóa các từ ngữ thành các vector số học (embeddings).</a:t>
              </a:r>
              <a:r>
                <a:rPr lang="en-US" sz="2000" dirty="0">
                  <a:solidFill>
                    <a:srgbClr val="0E2C4B"/>
                  </a:solidFill>
                  <a:latin typeface="Muli"/>
                </a:rPr>
                <a:t> </a:t>
              </a:r>
              <a:r>
                <a:rPr lang="en-US" sz="2000" dirty="0" err="1">
                  <a:solidFill>
                    <a:srgbClr val="0E2C4B"/>
                  </a:solidFill>
                  <a:latin typeface="Muli"/>
                </a:rPr>
                <a:t>Nó</a:t>
              </a:r>
              <a:r>
                <a:rPr lang="en-US" sz="2000" dirty="0">
                  <a:solidFill>
                    <a:srgbClr val="0E2C4B"/>
                  </a:solidFill>
                  <a:latin typeface="Muli"/>
                </a:rPr>
                <a:t> </a:t>
              </a:r>
              <a:r>
                <a:rPr lang="en-US" sz="2000" dirty="0" err="1">
                  <a:solidFill>
                    <a:srgbClr val="0E2C4B"/>
                  </a:solidFill>
                  <a:latin typeface="Muli"/>
                </a:rPr>
                <a:t>học</a:t>
              </a:r>
              <a:r>
                <a:rPr lang="en-US" sz="2000" dirty="0">
                  <a:solidFill>
                    <a:srgbClr val="0E2C4B"/>
                  </a:solidFill>
                  <a:latin typeface="Muli"/>
                </a:rPr>
                <a:t> ý </a:t>
              </a:r>
              <a:r>
                <a:rPr lang="en-US" sz="2000" dirty="0" err="1">
                  <a:solidFill>
                    <a:srgbClr val="0E2C4B"/>
                  </a:solidFill>
                  <a:latin typeface="Muli"/>
                </a:rPr>
                <a:t>nghĩa</a:t>
              </a:r>
              <a:r>
                <a:rPr lang="en-US" sz="2000" dirty="0">
                  <a:solidFill>
                    <a:srgbClr val="0E2C4B"/>
                  </a:solidFill>
                  <a:latin typeface="Muli"/>
                </a:rPr>
                <a:t> </a:t>
              </a:r>
              <a:r>
                <a:rPr lang="en-US" sz="2000" dirty="0" err="1">
                  <a:solidFill>
                    <a:srgbClr val="0E2C4B"/>
                  </a:solidFill>
                  <a:latin typeface="Muli"/>
                </a:rPr>
                <a:t>của</a:t>
              </a:r>
              <a:r>
                <a:rPr lang="en-US" sz="2000" dirty="0">
                  <a:solidFill>
                    <a:srgbClr val="0E2C4B"/>
                  </a:solidFill>
                  <a:latin typeface="Muli"/>
                </a:rPr>
                <a:t> </a:t>
              </a:r>
              <a:r>
                <a:rPr lang="en-US" sz="2000" dirty="0" err="1">
                  <a:solidFill>
                    <a:srgbClr val="0E2C4B"/>
                  </a:solidFill>
                  <a:latin typeface="Muli"/>
                </a:rPr>
                <a:t>một</a:t>
              </a:r>
              <a:r>
                <a:rPr lang="en-US" sz="2000" dirty="0">
                  <a:solidFill>
                    <a:srgbClr val="0E2C4B"/>
                  </a:solidFill>
                  <a:latin typeface="Muli"/>
                </a:rPr>
                <a:t> </a:t>
              </a:r>
              <a:r>
                <a:rPr lang="en-US" sz="2000" dirty="0" err="1">
                  <a:solidFill>
                    <a:srgbClr val="0E2C4B"/>
                  </a:solidFill>
                  <a:latin typeface="Muli"/>
                </a:rPr>
                <a:t>từ</a:t>
              </a:r>
              <a:r>
                <a:rPr lang="en-US" sz="2000" dirty="0">
                  <a:solidFill>
                    <a:srgbClr val="0E2C4B"/>
                  </a:solidFill>
                  <a:latin typeface="Muli"/>
                </a:rPr>
                <a:t> </a:t>
              </a:r>
              <a:r>
                <a:rPr lang="en-US" sz="2000" dirty="0" err="1">
                  <a:solidFill>
                    <a:srgbClr val="0E2C4B"/>
                  </a:solidFill>
                  <a:latin typeface="Muli"/>
                </a:rPr>
                <a:t>thông</a:t>
              </a:r>
              <a:r>
                <a:rPr lang="en-US" sz="2000" dirty="0">
                  <a:solidFill>
                    <a:srgbClr val="0E2C4B"/>
                  </a:solidFill>
                  <a:latin typeface="Muli"/>
                </a:rPr>
                <a:t> qua </a:t>
              </a:r>
              <a:r>
                <a:rPr lang="en-US" sz="2000" dirty="0" err="1">
                  <a:solidFill>
                    <a:srgbClr val="0E2C4B"/>
                  </a:solidFill>
                  <a:latin typeface="Muli"/>
                </a:rPr>
                <a:t>mối</a:t>
              </a:r>
              <a:r>
                <a:rPr lang="en-US" sz="2000" dirty="0">
                  <a:solidFill>
                    <a:srgbClr val="0E2C4B"/>
                  </a:solidFill>
                  <a:latin typeface="Muli"/>
                </a:rPr>
                <a:t> </a:t>
              </a:r>
              <a:r>
                <a:rPr lang="en-US" sz="2000" dirty="0" err="1">
                  <a:solidFill>
                    <a:srgbClr val="0E2C4B"/>
                  </a:solidFill>
                  <a:latin typeface="Muli"/>
                </a:rPr>
                <a:t>liên</a:t>
              </a:r>
              <a:r>
                <a:rPr lang="en-US" sz="2000" dirty="0">
                  <a:solidFill>
                    <a:srgbClr val="0E2C4B"/>
                  </a:solidFill>
                  <a:latin typeface="Muli"/>
                </a:rPr>
                <a:t> </a:t>
              </a:r>
              <a:r>
                <a:rPr lang="en-US" sz="2000" dirty="0" err="1">
                  <a:solidFill>
                    <a:srgbClr val="0E2C4B"/>
                  </a:solidFill>
                  <a:latin typeface="Muli"/>
                </a:rPr>
                <a:t>hệ</a:t>
              </a:r>
              <a:r>
                <a:rPr lang="en-US" sz="2000" dirty="0">
                  <a:solidFill>
                    <a:srgbClr val="0E2C4B"/>
                  </a:solidFill>
                  <a:latin typeface="Muli"/>
                </a:rPr>
                <a:t> </a:t>
              </a:r>
              <a:r>
                <a:rPr lang="en-US" sz="2000" dirty="0" err="1">
                  <a:solidFill>
                    <a:srgbClr val="0E2C4B"/>
                  </a:solidFill>
                  <a:latin typeface="Muli"/>
                </a:rPr>
                <a:t>với</a:t>
              </a:r>
              <a:r>
                <a:rPr lang="en-US" sz="2000" dirty="0">
                  <a:solidFill>
                    <a:srgbClr val="0E2C4B"/>
                  </a:solidFill>
                  <a:latin typeface="Muli"/>
                </a:rPr>
                <a:t> </a:t>
              </a:r>
              <a:r>
                <a:rPr lang="en-US" sz="2000" dirty="0" err="1">
                  <a:solidFill>
                    <a:srgbClr val="0E2C4B"/>
                  </a:solidFill>
                  <a:latin typeface="Muli"/>
                </a:rPr>
                <a:t>các</a:t>
              </a:r>
              <a:r>
                <a:rPr lang="en-US" sz="2000" dirty="0">
                  <a:solidFill>
                    <a:srgbClr val="0E2C4B"/>
                  </a:solidFill>
                  <a:latin typeface="Muli"/>
                </a:rPr>
                <a:t> </a:t>
              </a:r>
              <a:r>
                <a:rPr lang="en-US" sz="2000" dirty="0" err="1">
                  <a:solidFill>
                    <a:srgbClr val="0E2C4B"/>
                  </a:solidFill>
                  <a:latin typeface="Muli"/>
                </a:rPr>
                <a:t>từ</a:t>
              </a:r>
              <a:r>
                <a:rPr lang="en-US" sz="2000" dirty="0">
                  <a:solidFill>
                    <a:srgbClr val="0E2C4B"/>
                  </a:solidFill>
                  <a:latin typeface="Muli"/>
                </a:rPr>
                <a:t> </a:t>
              </a:r>
              <a:r>
                <a:rPr lang="en-US" sz="2000" dirty="0" err="1">
                  <a:solidFill>
                    <a:srgbClr val="0E2C4B"/>
                  </a:solidFill>
                  <a:latin typeface="Muli"/>
                </a:rPr>
                <a:t>lân</a:t>
              </a:r>
              <a:r>
                <a:rPr lang="en-US" sz="2000" dirty="0">
                  <a:solidFill>
                    <a:srgbClr val="0E2C4B"/>
                  </a:solidFill>
                  <a:latin typeface="Muli"/>
                </a:rPr>
                <a:t> </a:t>
              </a:r>
              <a:r>
                <a:rPr lang="en-US" sz="2000" dirty="0" err="1">
                  <a:solidFill>
                    <a:srgbClr val="0E2C4B"/>
                  </a:solidFill>
                  <a:latin typeface="Muli"/>
                </a:rPr>
                <a:t>cận</a:t>
              </a:r>
              <a:r>
                <a:rPr lang="en-US" sz="2000" dirty="0">
                  <a:solidFill>
                    <a:srgbClr val="0E2C4B"/>
                  </a:solidFill>
                  <a:latin typeface="Muli"/>
                </a:rPr>
                <a:t>.</a:t>
              </a:r>
              <a:endParaRPr lang="en-US" sz="2000" dirty="0">
                <a:solidFill>
                  <a:srgbClr val="0E2C4B"/>
                </a:solidFill>
                <a:latin typeface="Muli"/>
                <a:sym typeface="Muli"/>
              </a:endParaRPr>
            </a:p>
          </p:txBody>
        </p:sp>
      </p:grpSp>
      <p:grpSp>
        <p:nvGrpSpPr>
          <p:cNvPr id="13" name="Group 13">
            <a:extLst>
              <a:ext uri="{FF2B5EF4-FFF2-40B4-BE49-F238E27FC236}">
                <a16:creationId xmlns:a16="http://schemas.microsoft.com/office/drawing/2014/main" id="{F24736F3-D936-3FC0-48F6-B1E2D503D3D1}"/>
              </a:ext>
            </a:extLst>
          </p:cNvPr>
          <p:cNvGrpSpPr/>
          <p:nvPr/>
        </p:nvGrpSpPr>
        <p:grpSpPr>
          <a:xfrm>
            <a:off x="9448690" y="7409913"/>
            <a:ext cx="7714897" cy="2299355"/>
            <a:chOff x="0" y="-38100"/>
            <a:chExt cx="10286529" cy="3065809"/>
          </a:xfrm>
        </p:grpSpPr>
        <p:sp>
          <p:nvSpPr>
            <p:cNvPr id="14" name="TextBox 14">
              <a:extLst>
                <a:ext uri="{FF2B5EF4-FFF2-40B4-BE49-F238E27FC236}">
                  <a16:creationId xmlns:a16="http://schemas.microsoft.com/office/drawing/2014/main" id="{D0EFA9B8-5950-D05B-DAB9-743148CB484E}"/>
                </a:ext>
              </a:extLst>
            </p:cNvPr>
            <p:cNvSpPr txBox="1"/>
            <p:nvPr/>
          </p:nvSpPr>
          <p:spPr>
            <a:xfrm>
              <a:off x="0" y="-38100"/>
              <a:ext cx="10286529" cy="487484"/>
            </a:xfrm>
            <a:prstGeom prst="rect">
              <a:avLst/>
            </a:prstGeom>
          </p:spPr>
          <p:txBody>
            <a:bodyPr lIns="0" tIns="0" rIns="0" bIns="0" rtlCol="0" anchor="t">
              <a:spAutoFit/>
            </a:bodyPr>
            <a:lstStyle/>
            <a:p>
              <a:pPr>
                <a:lnSpc>
                  <a:spcPts val="3079"/>
                </a:lnSpc>
              </a:pPr>
              <a:r>
                <a:rPr lang="en-US" sz="2200" b="1" dirty="0">
                  <a:solidFill>
                    <a:srgbClr val="0E2C4B"/>
                  </a:solidFill>
                  <a:latin typeface="Muli Ultra-Bold"/>
                </a:rPr>
                <a:t>Transformer</a:t>
              </a:r>
              <a:endParaRPr lang="en-US" sz="2200" b="1" dirty="0">
                <a:solidFill>
                  <a:srgbClr val="0E2C4B"/>
                </a:solidFill>
                <a:latin typeface="Muli Ultra-Bold"/>
                <a:sym typeface="Muli Ultra-Bold"/>
              </a:endParaRPr>
            </a:p>
          </p:txBody>
        </p:sp>
        <p:sp>
          <p:nvSpPr>
            <p:cNvPr id="15" name="TextBox 15">
              <a:extLst>
                <a:ext uri="{FF2B5EF4-FFF2-40B4-BE49-F238E27FC236}">
                  <a16:creationId xmlns:a16="http://schemas.microsoft.com/office/drawing/2014/main" id="{56EFA22D-B101-710F-B23C-1D114DE0A6A0}"/>
                </a:ext>
              </a:extLst>
            </p:cNvPr>
            <p:cNvSpPr txBox="1"/>
            <p:nvPr/>
          </p:nvSpPr>
          <p:spPr>
            <a:xfrm>
              <a:off x="0" y="765891"/>
              <a:ext cx="10286529" cy="2261818"/>
            </a:xfrm>
            <a:prstGeom prst="rect">
              <a:avLst/>
            </a:prstGeom>
          </p:spPr>
          <p:txBody>
            <a:bodyPr lIns="0" tIns="0" rIns="0" bIns="0" rtlCol="0" anchor="t">
              <a:spAutoFit/>
            </a:bodyPr>
            <a:lstStyle/>
            <a:p>
              <a:pPr>
                <a:lnSpc>
                  <a:spcPts val="3359"/>
                </a:lnSpc>
              </a:pPr>
              <a:r>
                <a:rPr lang="vi-VN" sz="2000" dirty="0">
                  <a:solidFill>
                    <a:srgbClr val="0E2C4B"/>
                  </a:solidFill>
                  <a:latin typeface="Muli"/>
                </a:rPr>
                <a:t>Kiến trúc cốt lõi của LLM hiện đại. Sử dụng cơ chế "Attention" (Sự chú ý) để tính toán trọng số mối quan hệ giữa mọi từ trong một câu cùng lúc (bất kể khoảng cách), phá vỡ giới hạn của cửa sổ ngữ cảnh liền kề.</a:t>
              </a:r>
              <a:endParaRPr lang="en-US" sz="2000" dirty="0">
                <a:solidFill>
                  <a:srgbClr val="0E2C4B"/>
                </a:solidFill>
                <a:latin typeface="Muli"/>
                <a:sym typeface="Muli"/>
              </a:endParaRPr>
            </a:p>
          </p:txBody>
        </p:sp>
      </p:grpSp>
      <p:sp>
        <p:nvSpPr>
          <p:cNvPr id="16" name="TextBox 16">
            <a:extLst>
              <a:ext uri="{FF2B5EF4-FFF2-40B4-BE49-F238E27FC236}">
                <a16:creationId xmlns:a16="http://schemas.microsoft.com/office/drawing/2014/main" id="{B17C2253-152D-C8B5-A5D8-714A4C61A132}"/>
              </a:ext>
            </a:extLst>
          </p:cNvPr>
          <p:cNvSpPr txBox="1"/>
          <p:nvPr/>
        </p:nvSpPr>
        <p:spPr>
          <a:xfrm>
            <a:off x="1028700" y="1239978"/>
            <a:ext cx="6790343" cy="1692771"/>
          </a:xfrm>
          <a:prstGeom prst="rect">
            <a:avLst/>
          </a:prstGeom>
        </p:spPr>
        <p:txBody>
          <a:bodyPr lIns="0" tIns="0" rIns="0" bIns="0" rtlCol="0" anchor="t">
            <a:spAutoFit/>
          </a:bodyPr>
          <a:lstStyle/>
          <a:p>
            <a:pPr algn="l">
              <a:lnSpc>
                <a:spcPts val="6600"/>
              </a:lnSpc>
            </a:pPr>
            <a:r>
              <a:rPr lang="en-US" sz="5500" b="1" dirty="0">
                <a:solidFill>
                  <a:srgbClr val="0E2C4B"/>
                </a:solidFill>
                <a:latin typeface="Muli Ultra-Bold"/>
                <a:ea typeface="Muli Ultra-Bold"/>
                <a:cs typeface="Muli Ultra-Bold"/>
                <a:sym typeface="Muli Ultra-Bold"/>
              </a:rPr>
              <a:t>Các </a:t>
            </a:r>
            <a:r>
              <a:rPr lang="en-US" sz="5500" b="1" dirty="0" err="1">
                <a:solidFill>
                  <a:srgbClr val="0E2C4B"/>
                </a:solidFill>
                <a:latin typeface="Muli Ultra-Bold"/>
                <a:ea typeface="Muli Ultra-Bold"/>
                <a:cs typeface="Muli Ultra-Bold"/>
                <a:sym typeface="Muli Ultra-Bold"/>
              </a:rPr>
              <a:t>thuật</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toán</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nền</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tảng</a:t>
            </a:r>
            <a:endParaRPr lang="en-US" sz="5500" b="1" dirty="0">
              <a:solidFill>
                <a:srgbClr val="0E2C4B"/>
              </a:solidFill>
              <a:latin typeface="Muli Ultra-Bold"/>
              <a:ea typeface="Muli Ultra-Bold"/>
              <a:cs typeface="Muli Ultra-Bold"/>
              <a:sym typeface="Muli Ultra-Bold"/>
            </a:endParaRPr>
          </a:p>
        </p:txBody>
      </p:sp>
      <p:pic>
        <p:nvPicPr>
          <p:cNvPr id="4098" name="Picture 2" descr="A Beginner's Guide to the Transformer Architecture in Deep Learning |  Hivenet">
            <a:extLst>
              <a:ext uri="{FF2B5EF4-FFF2-40B4-BE49-F238E27FC236}">
                <a16:creationId xmlns:a16="http://schemas.microsoft.com/office/drawing/2014/main" id="{C75F169B-C913-213E-CB2D-AB94DA64D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199" y="3631724"/>
            <a:ext cx="8749456" cy="4870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23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D2F5BE9D-0B3C-3041-F6F7-B5066DA33BA5}"/>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1EC6E563-76B7-5A32-7B12-3E1BD4AA7396}"/>
              </a:ext>
            </a:extLst>
          </p:cNvPr>
          <p:cNvSpPr txBox="1"/>
          <p:nvPr/>
        </p:nvSpPr>
        <p:spPr>
          <a:xfrm>
            <a:off x="533400" y="647700"/>
            <a:ext cx="17297400" cy="474169"/>
          </a:xfrm>
          <a:prstGeom prst="rect">
            <a:avLst/>
          </a:prstGeom>
        </p:spPr>
        <p:txBody>
          <a:bodyPr wrap="square" lIns="0" tIns="0" rIns="0" bIns="0" rtlCol="0" anchor="t">
            <a:spAutoFit/>
          </a:bodyPr>
          <a:lstStyle/>
          <a:p>
            <a:pPr>
              <a:lnSpc>
                <a:spcPts val="3359"/>
              </a:lnSpc>
            </a:pPr>
            <a:r>
              <a:rPr lang="en-US" sz="4800" dirty="0" err="1">
                <a:solidFill>
                  <a:srgbClr val="0E2C4B"/>
                </a:solidFill>
                <a:latin typeface="Muli"/>
                <a:ea typeface="Muli"/>
                <a:cs typeface="Muli"/>
                <a:sym typeface="Muli"/>
              </a:rPr>
              <a:t>Tối</a:t>
            </a:r>
            <a:r>
              <a:rPr lang="en-US" sz="4800" dirty="0">
                <a:solidFill>
                  <a:srgbClr val="0E2C4B"/>
                </a:solidFill>
                <a:latin typeface="Muli"/>
                <a:ea typeface="Muli"/>
                <a:cs typeface="Muli"/>
                <a:sym typeface="Muli"/>
              </a:rPr>
              <a:t> </a:t>
            </a:r>
            <a:r>
              <a:rPr lang="en-US" sz="4800" dirty="0" err="1">
                <a:solidFill>
                  <a:srgbClr val="0E2C4B"/>
                </a:solidFill>
                <a:latin typeface="Muli"/>
                <a:ea typeface="Muli"/>
                <a:cs typeface="Muli"/>
                <a:sym typeface="Muli"/>
              </a:rPr>
              <a:t>ưu</a:t>
            </a:r>
            <a:r>
              <a:rPr lang="en-US" sz="4800" dirty="0">
                <a:solidFill>
                  <a:srgbClr val="0E2C4B"/>
                </a:solidFill>
                <a:latin typeface="Muli"/>
                <a:ea typeface="Muli"/>
                <a:cs typeface="Muli"/>
                <a:sym typeface="Muli"/>
              </a:rPr>
              <a:t> </a:t>
            </a:r>
            <a:r>
              <a:rPr lang="en-US" sz="4800" dirty="0" err="1">
                <a:solidFill>
                  <a:srgbClr val="0E2C4B"/>
                </a:solidFill>
                <a:latin typeface="Muli"/>
                <a:ea typeface="Muli"/>
                <a:cs typeface="Muli"/>
                <a:sym typeface="Muli"/>
              </a:rPr>
              <a:t>hóa</a:t>
            </a:r>
            <a:r>
              <a:rPr lang="en-US" sz="4800" dirty="0">
                <a:solidFill>
                  <a:srgbClr val="0E2C4B"/>
                </a:solidFill>
                <a:latin typeface="Muli"/>
                <a:ea typeface="Muli"/>
                <a:cs typeface="Muli"/>
                <a:sym typeface="Muli"/>
              </a:rPr>
              <a:t> </a:t>
            </a:r>
            <a:r>
              <a:rPr lang="en-US" sz="4800" dirty="0" err="1">
                <a:solidFill>
                  <a:srgbClr val="0E2C4B"/>
                </a:solidFill>
                <a:latin typeface="Muli"/>
                <a:ea typeface="Muli"/>
                <a:cs typeface="Muli"/>
                <a:sym typeface="Muli"/>
              </a:rPr>
              <a:t>đầu</a:t>
            </a:r>
            <a:r>
              <a:rPr lang="en-US" sz="4800" dirty="0">
                <a:solidFill>
                  <a:srgbClr val="0E2C4B"/>
                </a:solidFill>
                <a:latin typeface="Muli"/>
                <a:ea typeface="Muli"/>
                <a:cs typeface="Muli"/>
                <a:sym typeface="Muli"/>
              </a:rPr>
              <a:t> </a:t>
            </a:r>
            <a:r>
              <a:rPr lang="en-US" sz="4800" dirty="0" err="1">
                <a:solidFill>
                  <a:srgbClr val="0E2C4B"/>
                </a:solidFill>
                <a:latin typeface="Muli"/>
                <a:ea typeface="Muli"/>
                <a:cs typeface="Muli"/>
                <a:sym typeface="Muli"/>
              </a:rPr>
              <a:t>ra</a:t>
            </a:r>
            <a:endParaRPr lang="en-US" sz="4800" dirty="0">
              <a:solidFill>
                <a:srgbClr val="0E2C4B"/>
              </a:solidFill>
              <a:latin typeface="Muli"/>
              <a:ea typeface="Muli"/>
              <a:cs typeface="Muli"/>
              <a:sym typeface="Muli"/>
            </a:endParaRPr>
          </a:p>
        </p:txBody>
      </p:sp>
      <p:pic>
        <p:nvPicPr>
          <p:cNvPr id="6146" name="Picture 2">
            <a:extLst>
              <a:ext uri="{FF2B5EF4-FFF2-40B4-BE49-F238E27FC236}">
                <a16:creationId xmlns:a16="http://schemas.microsoft.com/office/drawing/2014/main" id="{ABE52ABC-9465-F26B-4892-3025F3D70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405" y="2400300"/>
            <a:ext cx="15687189"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900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00150" y="2237015"/>
            <a:ext cx="5000624" cy="5248655"/>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p:cNvSpPr txBox="1"/>
          <p:nvPr/>
        </p:nvSpPr>
        <p:spPr>
          <a:xfrm>
            <a:off x="1543050" y="2950899"/>
            <a:ext cx="3943350" cy="3820885"/>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5400" b="1" kern="1200">
                <a:solidFill>
                  <a:srgbClr val="FFFFFF"/>
                </a:solidFill>
                <a:latin typeface="+mj-lt"/>
                <a:ea typeface="+mj-ea"/>
                <a:cs typeface="+mj-cs"/>
                <a:sym typeface="Muli Ultra-Bold"/>
              </a:rPr>
              <a:t>Cấu Trúc và Cách triển khai </a:t>
            </a:r>
          </a:p>
          <a:p>
            <a:pPr algn="ctr">
              <a:lnSpc>
                <a:spcPct val="90000"/>
              </a:lnSpc>
              <a:spcBef>
                <a:spcPct val="0"/>
              </a:spcBef>
              <a:spcAft>
                <a:spcPts val="600"/>
              </a:spcAft>
            </a:pPr>
            <a:endParaRPr lang="en-US" sz="5400" b="1" kern="1200">
              <a:solidFill>
                <a:srgbClr val="FFFFFF"/>
              </a:solidFill>
              <a:latin typeface="+mj-lt"/>
              <a:ea typeface="+mj-ea"/>
              <a:cs typeface="+mj-cs"/>
              <a:sym typeface="Muli Ultra-Bold"/>
            </a:endParaRPr>
          </a:p>
        </p:txBody>
      </p:sp>
      <p:pic>
        <p:nvPicPr>
          <p:cNvPr id="7170" name="Picture 2">
            <a:extLst>
              <a:ext uri="{FF2B5EF4-FFF2-40B4-BE49-F238E27FC236}">
                <a16:creationId xmlns:a16="http://schemas.microsoft.com/office/drawing/2014/main" id="{56CA51C0-6046-04BC-4A56-3FEFC73A8EB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65974" y="2230291"/>
            <a:ext cx="10171050" cy="58229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76066" y="3270849"/>
            <a:ext cx="7277675" cy="3849280"/>
            <a:chOff x="0" y="297180"/>
            <a:chExt cx="9703567" cy="5132372"/>
          </a:xfrm>
        </p:grpSpPr>
        <p:sp>
          <p:nvSpPr>
            <p:cNvPr id="3" name="TextBox 3"/>
            <p:cNvSpPr txBox="1"/>
            <p:nvPr/>
          </p:nvSpPr>
          <p:spPr>
            <a:xfrm>
              <a:off x="0" y="297180"/>
              <a:ext cx="9703567" cy="1641474"/>
            </a:xfrm>
            <a:prstGeom prst="rect">
              <a:avLst/>
            </a:prstGeom>
          </p:spPr>
          <p:txBody>
            <a:bodyPr lIns="0" tIns="0" rIns="0" bIns="0" rtlCol="0" anchor="t">
              <a:spAutoFit/>
            </a:bodyPr>
            <a:lstStyle/>
            <a:p>
              <a:pPr>
                <a:lnSpc>
                  <a:spcPts val="4830"/>
                </a:lnSpc>
              </a:pPr>
              <a:r>
                <a:rPr lang="vi-VN" sz="4025" b="1" dirty="0">
                  <a:solidFill>
                    <a:srgbClr val="0E2C4B"/>
                  </a:solidFill>
                  <a:latin typeface="Muli Ultra-Bold"/>
                </a:rPr>
                <a:t>Đọc</a:t>
              </a:r>
              <a:r>
                <a:rPr lang="vi-VN" b="1" dirty="0"/>
                <a:t> </a:t>
              </a:r>
              <a:r>
                <a:rPr lang="vi-VN" sz="4025" b="1" dirty="0">
                  <a:solidFill>
                    <a:srgbClr val="0E2C4B"/>
                  </a:solidFill>
                  <a:latin typeface="Muli Ultra-Bold"/>
                </a:rPr>
                <a:t>và hiểu cơ sở mã với GenAI</a:t>
              </a:r>
              <a:endParaRPr lang="en-US" sz="4025" b="1" dirty="0">
                <a:solidFill>
                  <a:srgbClr val="0E2C4B"/>
                </a:solidFill>
                <a:latin typeface="Muli Ultra-Bold"/>
                <a:sym typeface="Muli Ultra-Bold"/>
              </a:endParaRPr>
            </a:p>
          </p:txBody>
        </p:sp>
        <p:sp>
          <p:nvSpPr>
            <p:cNvPr id="4" name="TextBox 4"/>
            <p:cNvSpPr txBox="1"/>
            <p:nvPr/>
          </p:nvSpPr>
          <p:spPr>
            <a:xfrm>
              <a:off x="0" y="2663497"/>
              <a:ext cx="8956646" cy="2766055"/>
            </a:xfrm>
            <a:prstGeom prst="rect">
              <a:avLst/>
            </a:prstGeom>
          </p:spPr>
          <p:txBody>
            <a:bodyPr lIns="0" tIns="0" rIns="0" bIns="0" rtlCol="0" anchor="t">
              <a:spAutoFit/>
            </a:bodyPr>
            <a:lstStyle/>
            <a:p>
              <a:pPr>
                <a:lnSpc>
                  <a:spcPts val="4830"/>
                </a:lnSpc>
              </a:pPr>
              <a:r>
                <a:rPr lang="en-US" sz="2400" b="1" dirty="0" err="1">
                  <a:solidFill>
                    <a:srgbClr val="0E2C4B"/>
                  </a:solidFill>
                  <a:latin typeface="Muli Bold" panose="020B0604020202020204" charset="-93"/>
                  <a:sym typeface="Muli Bold"/>
                </a:rPr>
                <a:t>Giải</a:t>
              </a:r>
              <a:r>
                <a:rPr lang="en-US" sz="2400" b="1" dirty="0">
                  <a:solidFill>
                    <a:srgbClr val="0E2C4B"/>
                  </a:solidFill>
                  <a:latin typeface="Muli Bold" panose="020B0604020202020204" charset="-93"/>
                  <a:sym typeface="Muli Bold"/>
                </a:rPr>
                <a:t> </a:t>
              </a:r>
              <a:r>
                <a:rPr lang="en-US" sz="2400" b="1" dirty="0" err="1">
                  <a:solidFill>
                    <a:srgbClr val="0E2C4B"/>
                  </a:solidFill>
                  <a:latin typeface="Muli Bold" panose="020B0604020202020204" charset="-93"/>
                  <a:sym typeface="Muli Bold"/>
                </a:rPr>
                <a:t>pháp</a:t>
              </a:r>
              <a:endParaRPr lang="en-US" sz="2400" b="1" dirty="0">
                <a:solidFill>
                  <a:srgbClr val="0E2C4B"/>
                </a:solidFill>
                <a:latin typeface="Muli Bold" panose="020B0604020202020204" charset="-93"/>
                <a:sym typeface="Muli Bold"/>
              </a:endParaRPr>
            </a:p>
            <a:p>
              <a:pPr algn="l">
                <a:lnSpc>
                  <a:spcPts val="2940"/>
                </a:lnSpc>
              </a:pPr>
              <a:r>
                <a:rPr lang="en-US" sz="2100" dirty="0">
                  <a:solidFill>
                    <a:srgbClr val="0E2C4B"/>
                  </a:solidFill>
                  <a:latin typeface="Muli"/>
                  <a:ea typeface="Muli"/>
                  <a:cs typeface="Muli"/>
                  <a:sym typeface="Muli"/>
                </a:rPr>
                <a:t>Chatbot </a:t>
              </a:r>
              <a:r>
                <a:rPr lang="en-US" sz="2100" dirty="0" err="1">
                  <a:solidFill>
                    <a:srgbClr val="0E2C4B"/>
                  </a:solidFill>
                  <a:latin typeface="Muli"/>
                  <a:ea typeface="Muli"/>
                  <a:cs typeface="Muli"/>
                  <a:sym typeface="Muli"/>
                </a:rPr>
                <a:t>tự</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động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với</a:t>
              </a:r>
              <a:r>
                <a:rPr lang="en-US" sz="2100" dirty="0">
                  <a:solidFill>
                    <a:srgbClr val="0E2C4B"/>
                  </a:solidFill>
                  <a:latin typeface="Muli"/>
                  <a:ea typeface="Muli"/>
                  <a:cs typeface="Muli"/>
                  <a:sym typeface="Muli"/>
                </a:rPr>
                <a:t> AI </a:t>
              </a:r>
              <a:r>
                <a:rPr lang="en-US" sz="2100" dirty="0" err="1">
                  <a:solidFill>
                    <a:srgbClr val="0E2C4B"/>
                  </a:solidFill>
                  <a:latin typeface="Muli"/>
                  <a:ea typeface="Muli"/>
                  <a:cs typeface="Muli"/>
                  <a:sym typeface="Muli"/>
                </a:rPr>
                <a:t>hiểu</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ngôn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ngữ</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tự</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nhiên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kết</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nối</a:t>
              </a:r>
              <a:r>
                <a:rPr lang="en-US" sz="2100" dirty="0">
                  <a:solidFill>
                    <a:srgbClr val="0E2C4B"/>
                  </a:solidFill>
                  <a:latin typeface="Muli"/>
                  <a:ea typeface="Muli"/>
                  <a:cs typeface="Muli"/>
                  <a:sym typeface="Muli"/>
                </a:rPr>
                <a:t> TMDB API </a:t>
              </a:r>
              <a:r>
                <a:rPr lang="en-US" sz="2100" dirty="0" err="1">
                  <a:solidFill>
                    <a:srgbClr val="0E2C4B"/>
                  </a:solidFill>
                  <a:latin typeface="Muli"/>
                  <a:ea typeface="Muli"/>
                  <a:cs typeface="Muli"/>
                  <a:sym typeface="Muli"/>
                </a:rPr>
                <a:t>để</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cung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cấp</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thông</a:t>
              </a:r>
              <a:r>
                <a:rPr lang="en-US" sz="2100" dirty="0">
                  <a:solidFill>
                    <a:srgbClr val="0E2C4B"/>
                  </a:solidFill>
                  <a:latin typeface="Muli"/>
                  <a:ea typeface="Muli"/>
                  <a:cs typeface="Muli"/>
                  <a:sym typeface="Muli"/>
                </a:rPr>
                <a:t> tin </a:t>
              </a:r>
              <a:r>
                <a:rPr lang="en-US" sz="2100" dirty="0" err="1">
                  <a:solidFill>
                    <a:srgbClr val="0E2C4B"/>
                  </a:solidFill>
                  <a:latin typeface="Muli"/>
                  <a:ea typeface="Muli"/>
                  <a:cs typeface="Muli"/>
                  <a:sym typeface="Muli"/>
                </a:rPr>
                <a:t>phim</a:t>
              </a:r>
              <a:r>
                <a:rPr lang="en-US" sz="2100" dirty="0">
                  <a:solidFill>
                    <a:srgbClr val="0E2C4B"/>
                  </a:solidFill>
                  <a:latin typeface="Muli"/>
                  <a:ea typeface="Muli"/>
                  <a:cs typeface="Muli"/>
                  <a:sym typeface="Muli"/>
                </a:rPr>
                <a:t> real-time </a:t>
              </a:r>
              <a:r>
                <a:rPr lang="en-US" sz="2100" dirty="0" err="1">
                  <a:solidFill>
                    <a:srgbClr val="0E2C4B"/>
                  </a:solidFill>
                  <a:latin typeface="Muli"/>
                  <a:ea typeface="Muli"/>
                  <a:cs typeface="Muli"/>
                  <a:sym typeface="Muli"/>
                </a:rPr>
                <a:t>và</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gợi</a:t>
              </a:r>
              <a:r>
                <a:rPr lang="en-US" sz="2100" dirty="0">
                  <a:solidFill>
                    <a:srgbClr val="0E2C4B"/>
                  </a:solidFill>
                  <a:latin typeface="Muli"/>
                  <a:ea typeface="Muli"/>
                  <a:cs typeface="Muli"/>
                  <a:sym typeface="Muli"/>
                </a:rPr>
                <a:t> ý </a:t>
              </a:r>
              <a:r>
                <a:rPr lang="en-US" sz="2100" dirty="0" err="1">
                  <a:solidFill>
                    <a:srgbClr val="0E2C4B"/>
                  </a:solidFill>
                  <a:latin typeface="Muli"/>
                  <a:ea typeface="Muli"/>
                  <a:cs typeface="Muli"/>
                  <a:sym typeface="Muli"/>
                </a:rPr>
                <a:t>thông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minh</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theo</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vị</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trí</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địa</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lý</a:t>
              </a:r>
              <a:r>
                <a:rPr lang="en-US" sz="2100" dirty="0">
                  <a:solidFill>
                    <a:srgbClr val="0E2C4B"/>
                  </a:solidFill>
                  <a:latin typeface="Muli"/>
                  <a:ea typeface="Muli"/>
                  <a:cs typeface="Muli"/>
                  <a:sym typeface="Muli"/>
                </a:rPr>
                <a:t>.</a:t>
              </a:r>
            </a:p>
            <a:p>
              <a:pPr algn="l">
                <a:lnSpc>
                  <a:spcPts val="2940"/>
                </a:lnSpc>
              </a:pPr>
              <a:endParaRPr lang="en-US" sz="2100" dirty="0">
                <a:solidFill>
                  <a:srgbClr val="0E2C4B"/>
                </a:solidFill>
                <a:latin typeface="Muli"/>
                <a:ea typeface="Muli"/>
                <a:cs typeface="Muli"/>
                <a:sym typeface="Muli"/>
              </a:endParaRPr>
            </a:p>
          </p:txBody>
        </p:sp>
      </p:grpSp>
      <p:grpSp>
        <p:nvGrpSpPr>
          <p:cNvPr id="5" name="Group 5"/>
          <p:cNvGrpSpPr/>
          <p:nvPr/>
        </p:nvGrpSpPr>
        <p:grpSpPr>
          <a:xfrm>
            <a:off x="1028700" y="1747484"/>
            <a:ext cx="7549245" cy="7148517"/>
            <a:chOff x="0" y="0"/>
            <a:chExt cx="10065660" cy="9531355"/>
          </a:xfrm>
        </p:grpSpPr>
        <p:grpSp>
          <p:nvGrpSpPr>
            <p:cNvPr id="6" name="Group 6"/>
            <p:cNvGrpSpPr/>
            <p:nvPr/>
          </p:nvGrpSpPr>
          <p:grpSpPr>
            <a:xfrm>
              <a:off x="762346" y="0"/>
              <a:ext cx="9303314" cy="9303314"/>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EBE7"/>
              </a:solidFill>
            </p:spPr>
            <p:txBody>
              <a:bodyPr/>
              <a:lstStyle/>
              <a:p>
                <a:endParaRPr lang="en-US"/>
              </a:p>
            </p:txBody>
          </p:sp>
        </p:grpSp>
        <p:sp>
          <p:nvSpPr>
            <p:cNvPr id="8" name="Freeform 8"/>
            <p:cNvSpPr/>
            <p:nvPr/>
          </p:nvSpPr>
          <p:spPr>
            <a:xfrm flipH="1">
              <a:off x="0" y="6584578"/>
              <a:ext cx="8490115" cy="2946777"/>
            </a:xfrm>
            <a:custGeom>
              <a:avLst/>
              <a:gdLst/>
              <a:ahLst/>
              <a:cxnLst/>
              <a:rect l="l" t="t" r="r" b="b"/>
              <a:pathLst>
                <a:path w="8490115" h="2946777">
                  <a:moveTo>
                    <a:pt x="8490115" y="0"/>
                  </a:moveTo>
                  <a:lnTo>
                    <a:pt x="0" y="0"/>
                  </a:lnTo>
                  <a:lnTo>
                    <a:pt x="0" y="2946777"/>
                  </a:lnTo>
                  <a:lnTo>
                    <a:pt x="8490115" y="2946777"/>
                  </a:lnTo>
                  <a:lnTo>
                    <a:pt x="8490115" y="0"/>
                  </a:lnTo>
                  <a:close/>
                </a:path>
              </a:pathLst>
            </a:custGeom>
            <a:blipFill>
              <a:blip r:embed="rId2">
                <a:alphaModFix amt="51000"/>
              </a:blip>
              <a:stretch>
                <a:fillRect/>
              </a:stretch>
            </a:blipFill>
          </p:spPr>
          <p:txBody>
            <a:bodyPr/>
            <a:lstStyle/>
            <a:p>
              <a:endParaRPr lang="en-US"/>
            </a:p>
          </p:txBody>
        </p:sp>
        <p:sp>
          <p:nvSpPr>
            <p:cNvPr id="9" name="Freeform 9"/>
            <p:cNvSpPr/>
            <p:nvPr/>
          </p:nvSpPr>
          <p:spPr>
            <a:xfrm>
              <a:off x="0" y="1360379"/>
              <a:ext cx="8577310" cy="7805352"/>
            </a:xfrm>
            <a:custGeom>
              <a:avLst/>
              <a:gdLst/>
              <a:ahLst/>
              <a:cxnLst/>
              <a:rect l="l" t="t" r="r" b="b"/>
              <a:pathLst>
                <a:path w="8577310" h="7805352">
                  <a:moveTo>
                    <a:pt x="0" y="0"/>
                  </a:moveTo>
                  <a:lnTo>
                    <a:pt x="8577310" y="0"/>
                  </a:lnTo>
                  <a:lnTo>
                    <a:pt x="8577310" y="7805351"/>
                  </a:lnTo>
                  <a:lnTo>
                    <a:pt x="0" y="7805351"/>
                  </a:lnTo>
                  <a:lnTo>
                    <a:pt x="0" y="0"/>
                  </a:lnTo>
                  <a:close/>
                </a:path>
              </a:pathLst>
            </a:custGeom>
            <a:blipFill>
              <a:blip r:embed="rId3"/>
              <a:stretch>
                <a:fillRect/>
              </a:stretch>
            </a:blipFill>
          </p:spPr>
          <p:txBody>
            <a:bodyPr/>
            <a:lstStyle/>
            <a:p>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041541-B4B0-09E5-1359-9619598DF929}"/>
            </a:ext>
          </a:extLst>
        </p:cNvPr>
        <p:cNvGrpSpPr/>
        <p:nvPr/>
      </p:nvGrpSpPr>
      <p:grpSpPr>
        <a:xfrm>
          <a:off x="0" y="0"/>
          <a:ext cx="0" cy="0"/>
          <a:chOff x="0" y="0"/>
          <a:chExt cx="0" cy="0"/>
        </a:xfrm>
      </p:grpSpPr>
      <p:sp>
        <p:nvSpPr>
          <p:cNvPr id="8199" name="Rectangle 8198">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518" y="720090"/>
            <a:ext cx="16856964"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a:extLst>
              <a:ext uri="{FF2B5EF4-FFF2-40B4-BE49-F238E27FC236}">
                <a16:creationId xmlns:a16="http://schemas.microsoft.com/office/drawing/2014/main" id="{4ACF598E-9154-C03F-DAB5-247F48A37D3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65200" y="3644432"/>
            <a:ext cx="7942074" cy="2998133"/>
          </a:xfrm>
          <a:prstGeom prst="rect">
            <a:avLst/>
          </a:prstGeom>
          <a:noFill/>
          <a:extLst>
            <a:ext uri="{909E8E84-426E-40DD-AFC4-6F175D3DCCD1}">
              <a14:hiddenFill xmlns:a14="http://schemas.microsoft.com/office/drawing/2010/main">
                <a:solidFill>
                  <a:srgbClr val="FFFFFF"/>
                </a:solidFill>
              </a14:hiddenFill>
            </a:ext>
          </a:extLst>
        </p:spPr>
      </p:pic>
      <p:cxnSp>
        <p:nvCxnSpPr>
          <p:cNvPr id="8203" name="Straight Connector 8202">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19937"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grpSp>
        <p:nvGrpSpPr>
          <p:cNvPr id="2" name="Group 2">
            <a:extLst>
              <a:ext uri="{FF2B5EF4-FFF2-40B4-BE49-F238E27FC236}">
                <a16:creationId xmlns:a16="http://schemas.microsoft.com/office/drawing/2014/main" id="{2FB75AC6-6A8C-A617-A618-650DE2C345CA}"/>
              </a:ext>
            </a:extLst>
          </p:cNvPr>
          <p:cNvGrpSpPr/>
          <p:nvPr/>
        </p:nvGrpSpPr>
        <p:grpSpPr>
          <a:xfrm>
            <a:off x="9380725" y="3043154"/>
            <a:ext cx="7942073" cy="4896159"/>
            <a:chOff x="0" y="297180"/>
            <a:chExt cx="9703567" cy="5982089"/>
          </a:xfrm>
        </p:grpSpPr>
        <p:sp>
          <p:nvSpPr>
            <p:cNvPr id="3" name="TextBox 3">
              <a:extLst>
                <a:ext uri="{FF2B5EF4-FFF2-40B4-BE49-F238E27FC236}">
                  <a16:creationId xmlns:a16="http://schemas.microsoft.com/office/drawing/2014/main" id="{A4EB4AAB-DDAD-C5DB-FF10-ACD28E09DE78}"/>
                </a:ext>
              </a:extLst>
            </p:cNvPr>
            <p:cNvSpPr txBox="1"/>
            <p:nvPr/>
          </p:nvSpPr>
          <p:spPr>
            <a:xfrm>
              <a:off x="0" y="297180"/>
              <a:ext cx="9703567" cy="1641474"/>
            </a:xfrm>
            <a:prstGeom prst="rect">
              <a:avLst/>
            </a:prstGeom>
          </p:spPr>
          <p:txBody>
            <a:bodyPr lIns="0" tIns="0" rIns="0" bIns="0" rtlCol="0" anchor="t">
              <a:spAutoFit/>
            </a:bodyPr>
            <a:lstStyle/>
            <a:p>
              <a:pPr defTabSz="996696">
                <a:lnSpc>
                  <a:spcPts val="5265"/>
                </a:lnSpc>
                <a:spcAft>
                  <a:spcPts val="600"/>
                </a:spcAft>
              </a:pPr>
              <a:r>
                <a:rPr lang="vi-VN" sz="4387" b="1" kern="1200">
                  <a:solidFill>
                    <a:srgbClr val="0E2C4B"/>
                  </a:solidFill>
                  <a:latin typeface="Muli Ultra-Bold"/>
                  <a:ea typeface="+mn-ea"/>
                  <a:cs typeface="+mn-cs"/>
                </a:rPr>
                <a:t>Đọc</a:t>
              </a:r>
              <a:r>
                <a:rPr lang="vi-VN" sz="1962" b="1" kern="1200">
                  <a:solidFill>
                    <a:schemeClr val="tx1"/>
                  </a:solidFill>
                  <a:latin typeface="+mn-lt"/>
                  <a:ea typeface="+mn-ea"/>
                  <a:cs typeface="+mn-cs"/>
                </a:rPr>
                <a:t> </a:t>
              </a:r>
              <a:r>
                <a:rPr lang="vi-VN" sz="4387" b="1" kern="1200">
                  <a:solidFill>
                    <a:srgbClr val="0E2C4B"/>
                  </a:solidFill>
                  <a:latin typeface="Muli Ultra-Bold"/>
                  <a:ea typeface="+mn-ea"/>
                  <a:cs typeface="+mn-cs"/>
                </a:rPr>
                <a:t>và hiểu cơ sở mã với GenAI</a:t>
              </a:r>
              <a:endParaRPr lang="en-US" sz="4025" b="1">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C2FF7B47-C275-ADC9-8F85-E922D4097048}"/>
                </a:ext>
              </a:extLst>
            </p:cNvPr>
            <p:cNvSpPr txBox="1"/>
            <p:nvPr/>
          </p:nvSpPr>
          <p:spPr>
            <a:xfrm>
              <a:off x="0" y="2663497"/>
              <a:ext cx="8956646" cy="3615772"/>
            </a:xfrm>
            <a:prstGeom prst="rect">
              <a:avLst/>
            </a:prstGeom>
          </p:spPr>
          <p:txBody>
            <a:bodyPr lIns="0" tIns="0" rIns="0" bIns="0" rtlCol="0" anchor="t">
              <a:spAutoFit/>
            </a:bodyPr>
            <a:lstStyle/>
            <a:p>
              <a:pPr defTabSz="996696">
                <a:lnSpc>
                  <a:spcPts val="5265"/>
                </a:lnSpc>
                <a:spcAft>
                  <a:spcPts val="600"/>
                </a:spcAft>
              </a:pPr>
              <a:r>
                <a:rPr lang="en-US" sz="2616" b="1" kern="1200" dirty="0" err="1">
                  <a:solidFill>
                    <a:srgbClr val="0E2C4B"/>
                  </a:solidFill>
                  <a:latin typeface="+mn-lt"/>
                  <a:ea typeface="+mn-ea"/>
                  <a:cs typeface="+mn-cs"/>
                  <a:sym typeface="Muli Bold"/>
                </a:rPr>
                <a:t>Giải</a:t>
              </a:r>
              <a:r>
                <a:rPr lang="en-US" sz="2616" b="1" kern="1200" dirty="0">
                  <a:solidFill>
                    <a:srgbClr val="0E2C4B"/>
                  </a:solidFill>
                  <a:latin typeface="+mn-lt"/>
                  <a:ea typeface="+mn-ea"/>
                  <a:cs typeface="+mn-cs"/>
                  <a:sym typeface="Muli Bold"/>
                </a:rPr>
                <a:t> </a:t>
              </a:r>
              <a:r>
                <a:rPr lang="en-US" sz="2616" b="1" kern="1200" dirty="0" err="1">
                  <a:solidFill>
                    <a:srgbClr val="0E2C4B"/>
                  </a:solidFill>
                  <a:latin typeface="+mn-lt"/>
                  <a:ea typeface="+mn-ea"/>
                  <a:cs typeface="+mn-cs"/>
                  <a:sym typeface="Muli Bold"/>
                </a:rPr>
                <a:t>pháp</a:t>
              </a:r>
              <a:endParaRPr lang="en-US" sz="2616" b="1" kern="1200" dirty="0">
                <a:solidFill>
                  <a:srgbClr val="0E2C4B"/>
                </a:solidFill>
                <a:latin typeface="+mn-lt"/>
                <a:ea typeface="+mn-ea"/>
                <a:cs typeface="+mn-cs"/>
                <a:sym typeface="Muli Bold"/>
              </a:endParaRPr>
            </a:p>
            <a:p>
              <a:pPr>
                <a:lnSpc>
                  <a:spcPts val="2940"/>
                </a:lnSpc>
                <a:spcAft>
                  <a:spcPts val="600"/>
                </a:spcAft>
              </a:pPr>
              <a:r>
                <a:rPr lang="vi-VN" sz="2100" dirty="0">
                  <a:solidFill>
                    <a:srgbClr val="0E2C4B"/>
                  </a:solidFill>
                  <a:latin typeface="Muli"/>
                </a:rPr>
                <a:t>Khi tiếp cận một dự án mới, tư duy giải quyết vấn đề (mức ý tưởng) bắt buộc chúng ta phải nhìn vào bức tranh toàn cảnh trước khi đi sâu vào chi tiết. Thay vì đọc mã nguồn một cách tuyến tính, lập trình viên cần xác định các nhóm thành phần cốt lõi của hệ thống để cô lập phạm vi cần tìm hiểu .</a:t>
              </a:r>
              <a:endParaRPr lang="en-US" sz="2100" dirty="0">
                <a:solidFill>
                  <a:srgbClr val="0E2C4B"/>
                </a:solidFill>
                <a:latin typeface="Muli"/>
                <a:sym typeface="Muli"/>
              </a:endParaRPr>
            </a:p>
          </p:txBody>
        </p:sp>
      </p:grpSp>
    </p:spTree>
    <p:extLst>
      <p:ext uri="{BB962C8B-B14F-4D97-AF65-F5344CB8AC3E}">
        <p14:creationId xmlns:p14="http://schemas.microsoft.com/office/powerpoint/2010/main" val="3112866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36488"/>
            <a:ext cx="8814328" cy="9814023"/>
            <a:chOff x="0" y="0"/>
            <a:chExt cx="7051462" cy="7851218"/>
          </a:xfrm>
        </p:grpSpPr>
        <p:sp>
          <p:nvSpPr>
            <p:cNvPr id="3" name="Freeform 3"/>
            <p:cNvSpPr/>
            <p:nvPr/>
          </p:nvSpPr>
          <p:spPr>
            <a:xfrm>
              <a:off x="0" y="0"/>
              <a:ext cx="7051463" cy="7851218"/>
            </a:xfrm>
            <a:custGeom>
              <a:avLst/>
              <a:gdLst/>
              <a:ahLst/>
              <a:cxnLst/>
              <a:rect l="l" t="t" r="r" b="b"/>
              <a:pathLst>
                <a:path w="7051463" h="7851218">
                  <a:moveTo>
                    <a:pt x="6927002" y="7851218"/>
                  </a:moveTo>
                  <a:lnTo>
                    <a:pt x="124460" y="7851218"/>
                  </a:lnTo>
                  <a:cubicBezTo>
                    <a:pt x="55880" y="7851218"/>
                    <a:pt x="0" y="7795338"/>
                    <a:pt x="0" y="7726759"/>
                  </a:cubicBezTo>
                  <a:lnTo>
                    <a:pt x="0" y="124460"/>
                  </a:lnTo>
                  <a:cubicBezTo>
                    <a:pt x="0" y="55880"/>
                    <a:pt x="55880" y="0"/>
                    <a:pt x="124460" y="0"/>
                  </a:cubicBezTo>
                  <a:lnTo>
                    <a:pt x="6927003" y="0"/>
                  </a:lnTo>
                  <a:cubicBezTo>
                    <a:pt x="6995582" y="0"/>
                    <a:pt x="7051463" y="55880"/>
                    <a:pt x="7051463" y="124460"/>
                  </a:cubicBezTo>
                  <a:lnTo>
                    <a:pt x="7051463" y="7726759"/>
                  </a:lnTo>
                  <a:cubicBezTo>
                    <a:pt x="7051463" y="7795338"/>
                    <a:pt x="6995582" y="7851218"/>
                    <a:pt x="6927003" y="7851218"/>
                  </a:cubicBezTo>
                  <a:close/>
                </a:path>
              </a:pathLst>
            </a:custGeom>
            <a:solidFill>
              <a:srgbClr val="FFFFFF"/>
            </a:solidFill>
          </p:spPr>
          <p:txBody>
            <a:bodyPr/>
            <a:lstStyle/>
            <a:p>
              <a:endParaRPr lang="en-US"/>
            </a:p>
          </p:txBody>
        </p:sp>
      </p:grpSp>
      <p:sp>
        <p:nvSpPr>
          <p:cNvPr id="4" name="AutoShape 4"/>
          <p:cNvSpPr/>
          <p:nvPr/>
        </p:nvSpPr>
        <p:spPr>
          <a:xfrm>
            <a:off x="9448690" y="3502953"/>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5" name="AutoShape 5"/>
          <p:cNvSpPr/>
          <p:nvPr/>
        </p:nvSpPr>
        <p:spPr>
          <a:xfrm>
            <a:off x="9448690" y="6707847"/>
            <a:ext cx="7638127" cy="0"/>
          </a:xfrm>
          <a:prstGeom prst="line">
            <a:avLst/>
          </a:prstGeom>
          <a:ln w="76200" cap="rnd">
            <a:solidFill>
              <a:srgbClr val="F2F3F4"/>
            </a:solidFill>
            <a:prstDash val="solid"/>
            <a:headEnd type="none" w="sm" len="sm"/>
            <a:tailEnd type="none" w="sm" len="sm"/>
          </a:ln>
        </p:spPr>
        <p:txBody>
          <a:bodyPr/>
          <a:lstStyle/>
          <a:p>
            <a:endParaRPr lang="en-US"/>
          </a:p>
        </p:txBody>
      </p:sp>
      <p:grpSp>
        <p:nvGrpSpPr>
          <p:cNvPr id="7" name="Group 7"/>
          <p:cNvGrpSpPr/>
          <p:nvPr/>
        </p:nvGrpSpPr>
        <p:grpSpPr>
          <a:xfrm>
            <a:off x="9448690" y="1028700"/>
            <a:ext cx="7714897" cy="2215417"/>
            <a:chOff x="0" y="0"/>
            <a:chExt cx="10286529" cy="2953890"/>
          </a:xfrm>
        </p:grpSpPr>
        <p:sp>
          <p:nvSpPr>
            <p:cNvPr id="8" name="TextBox 8"/>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DOCKER CONTAINER HÓA</a:t>
              </a:r>
            </a:p>
          </p:txBody>
        </p:sp>
        <p:sp>
          <p:nvSpPr>
            <p:cNvPr id="9" name="TextBox 9"/>
            <p:cNvSpPr txBox="1"/>
            <p:nvPr/>
          </p:nvSpPr>
          <p:spPr>
            <a:xfrm>
              <a:off x="0" y="765891"/>
              <a:ext cx="10286529" cy="22015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Sử dụng Docker Desktop để triển khai n8n trong môi trường container độc lập, đảm bảo tính nhất quán và dễ dàng scale.</a:t>
              </a:r>
            </a:p>
            <a:p>
              <a:pPr algn="l">
                <a:lnSpc>
                  <a:spcPts val="3359"/>
                </a:lnSpc>
              </a:pPr>
              <a:endParaRPr lang="en-US" sz="2400">
                <a:solidFill>
                  <a:srgbClr val="0E2C4B"/>
                </a:solidFill>
                <a:latin typeface="Muli"/>
                <a:ea typeface="Muli"/>
                <a:cs typeface="Muli"/>
                <a:sym typeface="Muli"/>
              </a:endParaRPr>
            </a:p>
          </p:txBody>
        </p:sp>
      </p:grpSp>
      <p:grpSp>
        <p:nvGrpSpPr>
          <p:cNvPr id="10" name="Group 10"/>
          <p:cNvGrpSpPr/>
          <p:nvPr/>
        </p:nvGrpSpPr>
        <p:grpSpPr>
          <a:xfrm>
            <a:off x="9448690" y="4233594"/>
            <a:ext cx="7714897" cy="2642137"/>
            <a:chOff x="0" y="0"/>
            <a:chExt cx="10286529" cy="3522850"/>
          </a:xfrm>
        </p:grpSpPr>
        <p:sp>
          <p:nvSpPr>
            <p:cNvPr id="11" name="TextBox 11"/>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CẤU HÌNH VOLUME</a:t>
              </a:r>
            </a:p>
          </p:txBody>
        </p:sp>
        <p:sp>
          <p:nvSpPr>
            <p:cNvPr id="12" name="TextBox 12"/>
            <p:cNvSpPr txBox="1"/>
            <p:nvPr/>
          </p:nvSpPr>
          <p:spPr>
            <a:xfrm>
              <a:off x="0" y="765891"/>
              <a:ext cx="10286529" cy="22015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Thiết lập Docker Volume (./n8n_data) để lưu trữ database.sqlite vĩnh viễn, bảo toàn workflow và chat history.</a:t>
              </a:r>
            </a:p>
            <a:p>
              <a:pPr algn="l">
                <a:lnSpc>
                  <a:spcPts val="3359"/>
                </a:lnSpc>
              </a:pPr>
              <a:endParaRPr lang="en-US" sz="2400">
                <a:solidFill>
                  <a:srgbClr val="0E2C4B"/>
                </a:solidFill>
                <a:latin typeface="Muli"/>
                <a:ea typeface="Muli"/>
                <a:cs typeface="Muli"/>
                <a:sym typeface="Muli"/>
              </a:endParaRPr>
            </a:p>
          </p:txBody>
        </p:sp>
      </p:grpSp>
      <p:grpSp>
        <p:nvGrpSpPr>
          <p:cNvPr id="13" name="Group 13"/>
          <p:cNvGrpSpPr/>
          <p:nvPr/>
        </p:nvGrpSpPr>
        <p:grpSpPr>
          <a:xfrm>
            <a:off x="9448690" y="7438488"/>
            <a:ext cx="7714897" cy="1369597"/>
            <a:chOff x="0" y="0"/>
            <a:chExt cx="10286529" cy="1826130"/>
          </a:xfrm>
        </p:grpSpPr>
        <p:sp>
          <p:nvSpPr>
            <p:cNvPr id="14" name="TextBox 14"/>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TẠO CỔNG NGROK</a:t>
              </a:r>
            </a:p>
          </p:txBody>
        </p:sp>
        <p:sp>
          <p:nvSpPr>
            <p:cNvPr id="15" name="TextBox 15"/>
            <p:cNvSpPr txBox="1"/>
            <p:nvPr/>
          </p:nvSpPr>
          <p:spPr>
            <a:xfrm>
              <a:off x="0" y="765891"/>
              <a:ext cx="10286529" cy="16427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Sử dụng ngrok để tạo tunnel HTTPS công khai, kết nối Telegram Webhook với n8n instance chạy local.</a:t>
              </a:r>
            </a:p>
            <a:p>
              <a:pPr algn="l">
                <a:lnSpc>
                  <a:spcPts val="3359"/>
                </a:lnSpc>
              </a:pPr>
              <a:endParaRPr lang="en-US" sz="2400">
                <a:solidFill>
                  <a:srgbClr val="0E2C4B"/>
                </a:solidFill>
                <a:latin typeface="Muli"/>
                <a:ea typeface="Muli"/>
                <a:cs typeface="Muli"/>
                <a:sym typeface="Muli"/>
              </a:endParaRPr>
            </a:p>
          </p:txBody>
        </p:sp>
      </p:grpSp>
      <p:sp>
        <p:nvSpPr>
          <p:cNvPr id="16" name="TextBox 16"/>
          <p:cNvSpPr txBox="1"/>
          <p:nvPr/>
        </p:nvSpPr>
        <p:spPr>
          <a:xfrm>
            <a:off x="1028700" y="1239978"/>
            <a:ext cx="6790343" cy="847725"/>
          </a:xfrm>
          <a:prstGeom prst="rect">
            <a:avLst/>
          </a:prstGeom>
        </p:spPr>
        <p:txBody>
          <a:bodyPr lIns="0" tIns="0" rIns="0" bIns="0" rtlCol="0" anchor="t">
            <a:spAutoFit/>
          </a:bodyPr>
          <a:lstStyle/>
          <a:p>
            <a:pPr algn="l">
              <a:lnSpc>
                <a:spcPts val="6600"/>
              </a:lnSpc>
            </a:pPr>
            <a:r>
              <a:rPr lang="en-US" sz="5500" b="1" dirty="0" err="1">
                <a:solidFill>
                  <a:srgbClr val="0E2C4B"/>
                </a:solidFill>
                <a:latin typeface="Muli Ultra-Bold"/>
                <a:ea typeface="Muli Ultra-Bold"/>
                <a:cs typeface="Muli Ultra-Bold"/>
                <a:sym typeface="Muli Ultra-Bold"/>
              </a:rPr>
              <a:t>Giải</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thích</a:t>
            </a:r>
            <a:r>
              <a:rPr lang="en-US" sz="5500" b="1" dirty="0">
                <a:solidFill>
                  <a:srgbClr val="0E2C4B"/>
                </a:solidFill>
                <a:latin typeface="Muli Ultra-Bold"/>
                <a:ea typeface="Muli Ultra-Bold"/>
                <a:cs typeface="Muli Ultra-Bold"/>
                <a:sym typeface="Muli Ultra-Bold"/>
              </a:rPr>
              <a:t> code </a:t>
            </a:r>
          </a:p>
        </p:txBody>
      </p:sp>
      <p:pic>
        <p:nvPicPr>
          <p:cNvPr id="5124" name="Picture 4">
            <a:extLst>
              <a:ext uri="{FF2B5EF4-FFF2-40B4-BE49-F238E27FC236}">
                <a16:creationId xmlns:a16="http://schemas.microsoft.com/office/drawing/2014/main" id="{F56E8E96-2D0D-24A7-EF26-116D100FC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040" y="2428697"/>
            <a:ext cx="8553615" cy="34527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DA79B66E-DFE8-FE6E-60FF-31D3BA28423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FFAF36-FFDD-61FF-DE41-D78EAFC5869E}"/>
              </a:ext>
            </a:extLst>
          </p:cNvPr>
          <p:cNvGrpSpPr/>
          <p:nvPr/>
        </p:nvGrpSpPr>
        <p:grpSpPr>
          <a:xfrm>
            <a:off x="9144000" y="236488"/>
            <a:ext cx="8814328" cy="9814023"/>
            <a:chOff x="0" y="0"/>
            <a:chExt cx="7051462" cy="7851218"/>
          </a:xfrm>
        </p:grpSpPr>
        <p:sp>
          <p:nvSpPr>
            <p:cNvPr id="3" name="Freeform 3">
              <a:extLst>
                <a:ext uri="{FF2B5EF4-FFF2-40B4-BE49-F238E27FC236}">
                  <a16:creationId xmlns:a16="http://schemas.microsoft.com/office/drawing/2014/main" id="{6D3BE037-5E7B-9683-D82F-488241687CC2}"/>
                </a:ext>
              </a:extLst>
            </p:cNvPr>
            <p:cNvSpPr/>
            <p:nvPr/>
          </p:nvSpPr>
          <p:spPr>
            <a:xfrm>
              <a:off x="0" y="0"/>
              <a:ext cx="7051463" cy="7851218"/>
            </a:xfrm>
            <a:custGeom>
              <a:avLst/>
              <a:gdLst/>
              <a:ahLst/>
              <a:cxnLst/>
              <a:rect l="l" t="t" r="r" b="b"/>
              <a:pathLst>
                <a:path w="7051463" h="7851218">
                  <a:moveTo>
                    <a:pt x="6927002" y="7851218"/>
                  </a:moveTo>
                  <a:lnTo>
                    <a:pt x="124460" y="7851218"/>
                  </a:lnTo>
                  <a:cubicBezTo>
                    <a:pt x="55880" y="7851218"/>
                    <a:pt x="0" y="7795338"/>
                    <a:pt x="0" y="7726759"/>
                  </a:cubicBezTo>
                  <a:lnTo>
                    <a:pt x="0" y="124460"/>
                  </a:lnTo>
                  <a:cubicBezTo>
                    <a:pt x="0" y="55880"/>
                    <a:pt x="55880" y="0"/>
                    <a:pt x="124460" y="0"/>
                  </a:cubicBezTo>
                  <a:lnTo>
                    <a:pt x="6927003" y="0"/>
                  </a:lnTo>
                  <a:cubicBezTo>
                    <a:pt x="6995582" y="0"/>
                    <a:pt x="7051463" y="55880"/>
                    <a:pt x="7051463" y="124460"/>
                  </a:cubicBezTo>
                  <a:lnTo>
                    <a:pt x="7051463" y="7726759"/>
                  </a:lnTo>
                  <a:cubicBezTo>
                    <a:pt x="7051463" y="7795338"/>
                    <a:pt x="6995582" y="7851218"/>
                    <a:pt x="6927003" y="7851218"/>
                  </a:cubicBezTo>
                  <a:close/>
                </a:path>
              </a:pathLst>
            </a:custGeom>
            <a:solidFill>
              <a:srgbClr val="FFFFFF"/>
            </a:solidFill>
          </p:spPr>
          <p:txBody>
            <a:bodyPr/>
            <a:lstStyle/>
            <a:p>
              <a:endParaRPr lang="en-US"/>
            </a:p>
          </p:txBody>
        </p:sp>
      </p:grpSp>
      <p:sp>
        <p:nvSpPr>
          <p:cNvPr id="4" name="AutoShape 4">
            <a:extLst>
              <a:ext uri="{FF2B5EF4-FFF2-40B4-BE49-F238E27FC236}">
                <a16:creationId xmlns:a16="http://schemas.microsoft.com/office/drawing/2014/main" id="{12604253-8719-8899-1C51-0E803D7E1DD0}"/>
              </a:ext>
            </a:extLst>
          </p:cNvPr>
          <p:cNvSpPr/>
          <p:nvPr/>
        </p:nvSpPr>
        <p:spPr>
          <a:xfrm>
            <a:off x="9448690" y="3502953"/>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5" name="AutoShape 5">
            <a:extLst>
              <a:ext uri="{FF2B5EF4-FFF2-40B4-BE49-F238E27FC236}">
                <a16:creationId xmlns:a16="http://schemas.microsoft.com/office/drawing/2014/main" id="{6CF79B34-F4A0-1BB8-F9C2-AEF981DFDF54}"/>
              </a:ext>
            </a:extLst>
          </p:cNvPr>
          <p:cNvSpPr/>
          <p:nvPr/>
        </p:nvSpPr>
        <p:spPr>
          <a:xfrm>
            <a:off x="9448690" y="6707847"/>
            <a:ext cx="7638127" cy="0"/>
          </a:xfrm>
          <a:prstGeom prst="line">
            <a:avLst/>
          </a:prstGeom>
          <a:ln w="76200" cap="rnd">
            <a:solidFill>
              <a:srgbClr val="F2F3F4"/>
            </a:solidFill>
            <a:prstDash val="solid"/>
            <a:headEnd type="none" w="sm" len="sm"/>
            <a:tailEnd type="none" w="sm" len="sm"/>
          </a:ln>
        </p:spPr>
        <p:txBody>
          <a:bodyPr/>
          <a:lstStyle/>
          <a:p>
            <a:endParaRPr lang="en-US"/>
          </a:p>
        </p:txBody>
      </p:sp>
      <p:grpSp>
        <p:nvGrpSpPr>
          <p:cNvPr id="7" name="Group 7">
            <a:extLst>
              <a:ext uri="{FF2B5EF4-FFF2-40B4-BE49-F238E27FC236}">
                <a16:creationId xmlns:a16="http://schemas.microsoft.com/office/drawing/2014/main" id="{4E15B8A3-AF5F-E022-B446-E46E24F43F12}"/>
              </a:ext>
            </a:extLst>
          </p:cNvPr>
          <p:cNvGrpSpPr/>
          <p:nvPr/>
        </p:nvGrpSpPr>
        <p:grpSpPr>
          <a:xfrm>
            <a:off x="9448690" y="1028700"/>
            <a:ext cx="7714897" cy="2215417"/>
            <a:chOff x="0" y="0"/>
            <a:chExt cx="10286529" cy="2953890"/>
          </a:xfrm>
        </p:grpSpPr>
        <p:sp>
          <p:nvSpPr>
            <p:cNvPr id="8" name="TextBox 8">
              <a:extLst>
                <a:ext uri="{FF2B5EF4-FFF2-40B4-BE49-F238E27FC236}">
                  <a16:creationId xmlns:a16="http://schemas.microsoft.com/office/drawing/2014/main" id="{BEE3B232-EE18-27CB-CD0D-22C55313251A}"/>
                </a:ext>
              </a:extLst>
            </p:cNvPr>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DOCKER CONTAINER HÓA</a:t>
              </a:r>
            </a:p>
          </p:txBody>
        </p:sp>
        <p:sp>
          <p:nvSpPr>
            <p:cNvPr id="9" name="TextBox 9">
              <a:extLst>
                <a:ext uri="{FF2B5EF4-FFF2-40B4-BE49-F238E27FC236}">
                  <a16:creationId xmlns:a16="http://schemas.microsoft.com/office/drawing/2014/main" id="{3F14F5A5-CF17-4FDD-B5C7-DCC65AACBF2D}"/>
                </a:ext>
              </a:extLst>
            </p:cNvPr>
            <p:cNvSpPr txBox="1"/>
            <p:nvPr/>
          </p:nvSpPr>
          <p:spPr>
            <a:xfrm>
              <a:off x="0" y="765891"/>
              <a:ext cx="10286529" cy="22015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Sử dụng Docker Desktop để triển khai n8n trong môi trường container độc lập, đảm bảo tính nhất quán và dễ dàng scale.</a:t>
              </a:r>
            </a:p>
            <a:p>
              <a:pPr algn="l">
                <a:lnSpc>
                  <a:spcPts val="3359"/>
                </a:lnSpc>
              </a:pPr>
              <a:endParaRPr lang="en-US" sz="2400">
                <a:solidFill>
                  <a:srgbClr val="0E2C4B"/>
                </a:solidFill>
                <a:latin typeface="Muli"/>
                <a:ea typeface="Muli"/>
                <a:cs typeface="Muli"/>
                <a:sym typeface="Muli"/>
              </a:endParaRPr>
            </a:p>
          </p:txBody>
        </p:sp>
      </p:grpSp>
      <p:grpSp>
        <p:nvGrpSpPr>
          <p:cNvPr id="10" name="Group 10">
            <a:extLst>
              <a:ext uri="{FF2B5EF4-FFF2-40B4-BE49-F238E27FC236}">
                <a16:creationId xmlns:a16="http://schemas.microsoft.com/office/drawing/2014/main" id="{6FCA0022-A130-4B0F-C8C3-8DD629295BA3}"/>
              </a:ext>
            </a:extLst>
          </p:cNvPr>
          <p:cNvGrpSpPr/>
          <p:nvPr/>
        </p:nvGrpSpPr>
        <p:grpSpPr>
          <a:xfrm>
            <a:off x="9448690" y="4233594"/>
            <a:ext cx="7714897" cy="2642137"/>
            <a:chOff x="0" y="0"/>
            <a:chExt cx="10286529" cy="3522850"/>
          </a:xfrm>
        </p:grpSpPr>
        <p:sp>
          <p:nvSpPr>
            <p:cNvPr id="11" name="TextBox 11">
              <a:extLst>
                <a:ext uri="{FF2B5EF4-FFF2-40B4-BE49-F238E27FC236}">
                  <a16:creationId xmlns:a16="http://schemas.microsoft.com/office/drawing/2014/main" id="{4647EE95-D10D-A753-3DD0-CDF7DA3B6581}"/>
                </a:ext>
              </a:extLst>
            </p:cNvPr>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CẤU HÌNH VOLUME</a:t>
              </a:r>
            </a:p>
          </p:txBody>
        </p:sp>
        <p:sp>
          <p:nvSpPr>
            <p:cNvPr id="12" name="TextBox 12">
              <a:extLst>
                <a:ext uri="{FF2B5EF4-FFF2-40B4-BE49-F238E27FC236}">
                  <a16:creationId xmlns:a16="http://schemas.microsoft.com/office/drawing/2014/main" id="{7E58660E-8BD4-7F02-150C-5B22E1CB7AEF}"/>
                </a:ext>
              </a:extLst>
            </p:cNvPr>
            <p:cNvSpPr txBox="1"/>
            <p:nvPr/>
          </p:nvSpPr>
          <p:spPr>
            <a:xfrm>
              <a:off x="0" y="765891"/>
              <a:ext cx="10286529" cy="22015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Thiết lập Docker Volume (./n8n_data) để lưu trữ database.sqlite vĩnh viễn, bảo toàn workflow và chat history.</a:t>
              </a:r>
            </a:p>
            <a:p>
              <a:pPr algn="l">
                <a:lnSpc>
                  <a:spcPts val="3359"/>
                </a:lnSpc>
              </a:pPr>
              <a:endParaRPr lang="en-US" sz="2400">
                <a:solidFill>
                  <a:srgbClr val="0E2C4B"/>
                </a:solidFill>
                <a:latin typeface="Muli"/>
                <a:ea typeface="Muli"/>
                <a:cs typeface="Muli"/>
                <a:sym typeface="Muli"/>
              </a:endParaRPr>
            </a:p>
          </p:txBody>
        </p:sp>
      </p:grpSp>
      <p:grpSp>
        <p:nvGrpSpPr>
          <p:cNvPr id="13" name="Group 13">
            <a:extLst>
              <a:ext uri="{FF2B5EF4-FFF2-40B4-BE49-F238E27FC236}">
                <a16:creationId xmlns:a16="http://schemas.microsoft.com/office/drawing/2014/main" id="{270146BA-AFC7-45D3-CEF1-62F56B99E107}"/>
              </a:ext>
            </a:extLst>
          </p:cNvPr>
          <p:cNvGrpSpPr/>
          <p:nvPr/>
        </p:nvGrpSpPr>
        <p:grpSpPr>
          <a:xfrm>
            <a:off x="9448690" y="7438488"/>
            <a:ext cx="7714897" cy="1369597"/>
            <a:chOff x="0" y="0"/>
            <a:chExt cx="10286529" cy="1826130"/>
          </a:xfrm>
        </p:grpSpPr>
        <p:sp>
          <p:nvSpPr>
            <p:cNvPr id="14" name="TextBox 14">
              <a:extLst>
                <a:ext uri="{FF2B5EF4-FFF2-40B4-BE49-F238E27FC236}">
                  <a16:creationId xmlns:a16="http://schemas.microsoft.com/office/drawing/2014/main" id="{DBE35184-FDBD-0124-1FED-6FA71A2D31E9}"/>
                </a:ext>
              </a:extLst>
            </p:cNvPr>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TẠO CỔNG NGROK</a:t>
              </a:r>
            </a:p>
          </p:txBody>
        </p:sp>
        <p:sp>
          <p:nvSpPr>
            <p:cNvPr id="15" name="TextBox 15">
              <a:extLst>
                <a:ext uri="{FF2B5EF4-FFF2-40B4-BE49-F238E27FC236}">
                  <a16:creationId xmlns:a16="http://schemas.microsoft.com/office/drawing/2014/main" id="{198AFDA4-F3D4-B42C-C369-16D5DE0B0651}"/>
                </a:ext>
              </a:extLst>
            </p:cNvPr>
            <p:cNvSpPr txBox="1"/>
            <p:nvPr/>
          </p:nvSpPr>
          <p:spPr>
            <a:xfrm>
              <a:off x="0" y="765891"/>
              <a:ext cx="10286529" cy="16427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Sử dụng ngrok để tạo tunnel HTTPS công khai, kết nối Telegram Webhook với n8n instance chạy local.</a:t>
              </a:r>
            </a:p>
            <a:p>
              <a:pPr algn="l">
                <a:lnSpc>
                  <a:spcPts val="3359"/>
                </a:lnSpc>
              </a:pPr>
              <a:endParaRPr lang="en-US" sz="2400">
                <a:solidFill>
                  <a:srgbClr val="0E2C4B"/>
                </a:solidFill>
                <a:latin typeface="Muli"/>
                <a:ea typeface="Muli"/>
                <a:cs typeface="Muli"/>
                <a:sym typeface="Muli"/>
              </a:endParaRPr>
            </a:p>
          </p:txBody>
        </p:sp>
      </p:grpSp>
      <p:sp>
        <p:nvSpPr>
          <p:cNvPr id="16" name="TextBox 16">
            <a:extLst>
              <a:ext uri="{FF2B5EF4-FFF2-40B4-BE49-F238E27FC236}">
                <a16:creationId xmlns:a16="http://schemas.microsoft.com/office/drawing/2014/main" id="{F6ED856E-B427-68C4-CCCC-50C974840FA4}"/>
              </a:ext>
            </a:extLst>
          </p:cNvPr>
          <p:cNvSpPr txBox="1"/>
          <p:nvPr/>
        </p:nvSpPr>
        <p:spPr>
          <a:xfrm>
            <a:off x="1028700" y="1239978"/>
            <a:ext cx="6790343" cy="847725"/>
          </a:xfrm>
          <a:prstGeom prst="rect">
            <a:avLst/>
          </a:prstGeom>
        </p:spPr>
        <p:txBody>
          <a:bodyPr lIns="0" tIns="0" rIns="0" bIns="0" rtlCol="0" anchor="t">
            <a:spAutoFit/>
          </a:bodyPr>
          <a:lstStyle/>
          <a:p>
            <a:pPr algn="l">
              <a:lnSpc>
                <a:spcPts val="6600"/>
              </a:lnSpc>
            </a:pPr>
            <a:r>
              <a:rPr lang="en-US" sz="5500" b="1" dirty="0" err="1">
                <a:solidFill>
                  <a:srgbClr val="0E2C4B"/>
                </a:solidFill>
                <a:latin typeface="Muli Ultra-Bold"/>
                <a:ea typeface="Muli Ultra-Bold"/>
                <a:cs typeface="Muli Ultra-Bold"/>
                <a:sym typeface="Muli Ultra-Bold"/>
              </a:rPr>
              <a:t>Giải</a:t>
            </a:r>
            <a:r>
              <a:rPr lang="en-US" sz="5500" b="1" dirty="0">
                <a:solidFill>
                  <a:srgbClr val="0E2C4B"/>
                </a:solidFill>
                <a:latin typeface="Muli Ultra-Bold"/>
                <a:ea typeface="Muli Ultra-Bold"/>
                <a:cs typeface="Muli Ultra-Bold"/>
                <a:sym typeface="Muli Ultra-Bold"/>
              </a:rPr>
              <a:t> </a:t>
            </a:r>
            <a:r>
              <a:rPr lang="en-US" sz="5500" b="1" dirty="0" err="1">
                <a:solidFill>
                  <a:srgbClr val="0E2C4B"/>
                </a:solidFill>
                <a:latin typeface="Muli Ultra-Bold"/>
                <a:ea typeface="Muli Ultra-Bold"/>
                <a:cs typeface="Muli Ultra-Bold"/>
                <a:sym typeface="Muli Ultra-Bold"/>
              </a:rPr>
              <a:t>thích</a:t>
            </a:r>
            <a:r>
              <a:rPr lang="en-US" sz="5500" b="1" dirty="0">
                <a:solidFill>
                  <a:srgbClr val="0E2C4B"/>
                </a:solidFill>
                <a:latin typeface="Muli Ultra-Bold"/>
                <a:ea typeface="Muli Ultra-Bold"/>
                <a:cs typeface="Muli Ultra-Bold"/>
                <a:sym typeface="Muli Ultra-Bold"/>
              </a:rPr>
              <a:t> code </a:t>
            </a:r>
          </a:p>
        </p:txBody>
      </p:sp>
      <p:pic>
        <p:nvPicPr>
          <p:cNvPr id="9218" name="Picture 2">
            <a:extLst>
              <a:ext uri="{FF2B5EF4-FFF2-40B4-BE49-F238E27FC236}">
                <a16:creationId xmlns:a16="http://schemas.microsoft.com/office/drawing/2014/main" id="{EC8A98B5-D305-4E44-AE54-8349E10F2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39" y="2400428"/>
            <a:ext cx="8821616" cy="4058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258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36488"/>
            <a:ext cx="8814328" cy="9814023"/>
            <a:chOff x="0" y="0"/>
            <a:chExt cx="7051462" cy="7851218"/>
          </a:xfrm>
        </p:grpSpPr>
        <p:sp>
          <p:nvSpPr>
            <p:cNvPr id="3" name="Freeform 3"/>
            <p:cNvSpPr/>
            <p:nvPr/>
          </p:nvSpPr>
          <p:spPr>
            <a:xfrm>
              <a:off x="0" y="0"/>
              <a:ext cx="7051463" cy="7851218"/>
            </a:xfrm>
            <a:custGeom>
              <a:avLst/>
              <a:gdLst/>
              <a:ahLst/>
              <a:cxnLst/>
              <a:rect l="l" t="t" r="r" b="b"/>
              <a:pathLst>
                <a:path w="7051463" h="7851218">
                  <a:moveTo>
                    <a:pt x="6927002" y="7851218"/>
                  </a:moveTo>
                  <a:lnTo>
                    <a:pt x="124460" y="7851218"/>
                  </a:lnTo>
                  <a:cubicBezTo>
                    <a:pt x="55880" y="7851218"/>
                    <a:pt x="0" y="7795338"/>
                    <a:pt x="0" y="7726759"/>
                  </a:cubicBezTo>
                  <a:lnTo>
                    <a:pt x="0" y="124460"/>
                  </a:lnTo>
                  <a:cubicBezTo>
                    <a:pt x="0" y="55880"/>
                    <a:pt x="55880" y="0"/>
                    <a:pt x="124460" y="0"/>
                  </a:cubicBezTo>
                  <a:lnTo>
                    <a:pt x="6927003" y="0"/>
                  </a:lnTo>
                  <a:cubicBezTo>
                    <a:pt x="6995582" y="0"/>
                    <a:pt x="7051463" y="55880"/>
                    <a:pt x="7051463" y="124460"/>
                  </a:cubicBezTo>
                  <a:lnTo>
                    <a:pt x="7051463" y="7726759"/>
                  </a:lnTo>
                  <a:cubicBezTo>
                    <a:pt x="7051463" y="7795338"/>
                    <a:pt x="6995582" y="7851218"/>
                    <a:pt x="6927003" y="7851218"/>
                  </a:cubicBezTo>
                  <a:close/>
                </a:path>
              </a:pathLst>
            </a:custGeom>
            <a:solidFill>
              <a:srgbClr val="FFFFFF"/>
            </a:solidFill>
          </p:spPr>
          <p:txBody>
            <a:bodyPr/>
            <a:lstStyle/>
            <a:p>
              <a:endParaRPr lang="en-US"/>
            </a:p>
          </p:txBody>
        </p:sp>
      </p:grpSp>
      <p:sp>
        <p:nvSpPr>
          <p:cNvPr id="4" name="AutoShape 4"/>
          <p:cNvSpPr/>
          <p:nvPr/>
        </p:nvSpPr>
        <p:spPr>
          <a:xfrm>
            <a:off x="9448690" y="3502953"/>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5" name="AutoShape 5"/>
          <p:cNvSpPr/>
          <p:nvPr/>
        </p:nvSpPr>
        <p:spPr>
          <a:xfrm>
            <a:off x="9448690" y="6707847"/>
            <a:ext cx="7638127" cy="0"/>
          </a:xfrm>
          <a:prstGeom prst="line">
            <a:avLst/>
          </a:prstGeom>
          <a:ln w="76200" cap="rnd">
            <a:solidFill>
              <a:srgbClr val="F2F3F4"/>
            </a:solidFill>
            <a:prstDash val="solid"/>
            <a:headEnd type="none" w="sm" len="sm"/>
            <a:tailEnd type="none" w="sm" len="sm"/>
          </a:ln>
        </p:spPr>
        <p:txBody>
          <a:bodyPr/>
          <a:lstStyle/>
          <a:p>
            <a:endParaRPr lang="en-US"/>
          </a:p>
        </p:txBody>
      </p:sp>
      <p:sp>
        <p:nvSpPr>
          <p:cNvPr id="6" name="Freeform 6"/>
          <p:cNvSpPr/>
          <p:nvPr/>
        </p:nvSpPr>
        <p:spPr>
          <a:xfrm>
            <a:off x="345549" y="2785632"/>
            <a:ext cx="8482621" cy="3575749"/>
          </a:xfrm>
          <a:custGeom>
            <a:avLst/>
            <a:gdLst/>
            <a:ahLst/>
            <a:cxnLst/>
            <a:rect l="l" t="t" r="r" b="b"/>
            <a:pathLst>
              <a:path w="8482621" h="3575749">
                <a:moveTo>
                  <a:pt x="0" y="0"/>
                </a:moveTo>
                <a:lnTo>
                  <a:pt x="8482621" y="0"/>
                </a:lnTo>
                <a:lnTo>
                  <a:pt x="8482621" y="3575749"/>
                </a:lnTo>
                <a:lnTo>
                  <a:pt x="0" y="3575749"/>
                </a:lnTo>
                <a:lnTo>
                  <a:pt x="0" y="0"/>
                </a:lnTo>
                <a:close/>
              </a:path>
            </a:pathLst>
          </a:custGeom>
          <a:blipFill>
            <a:blip r:embed="rId2"/>
            <a:stretch>
              <a:fillRect r="-33228" b="-3112"/>
            </a:stretch>
          </a:blipFill>
        </p:spPr>
        <p:txBody>
          <a:bodyPr/>
          <a:lstStyle/>
          <a:p>
            <a:endParaRPr lang="en-US"/>
          </a:p>
        </p:txBody>
      </p:sp>
      <p:grpSp>
        <p:nvGrpSpPr>
          <p:cNvPr id="7" name="Group 7"/>
          <p:cNvGrpSpPr/>
          <p:nvPr/>
        </p:nvGrpSpPr>
        <p:grpSpPr>
          <a:xfrm>
            <a:off x="9448690" y="1028700"/>
            <a:ext cx="7714897" cy="2215417"/>
            <a:chOff x="0" y="0"/>
            <a:chExt cx="10286529" cy="2953890"/>
          </a:xfrm>
        </p:grpSpPr>
        <p:sp>
          <p:nvSpPr>
            <p:cNvPr id="8" name="TextBox 8"/>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DOCKER CONTAINER HÓA</a:t>
              </a:r>
            </a:p>
          </p:txBody>
        </p:sp>
        <p:sp>
          <p:nvSpPr>
            <p:cNvPr id="9" name="TextBox 9"/>
            <p:cNvSpPr txBox="1"/>
            <p:nvPr/>
          </p:nvSpPr>
          <p:spPr>
            <a:xfrm>
              <a:off x="0" y="765891"/>
              <a:ext cx="10286529" cy="22015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Sử dụng Docker Desktop để triển khai n8n trong môi trường container độc lập, đảm bảo tính nhất quán và dễ dàng scale.</a:t>
              </a:r>
            </a:p>
            <a:p>
              <a:pPr algn="l">
                <a:lnSpc>
                  <a:spcPts val="3359"/>
                </a:lnSpc>
              </a:pPr>
              <a:endParaRPr lang="en-US" sz="2400">
                <a:solidFill>
                  <a:srgbClr val="0E2C4B"/>
                </a:solidFill>
                <a:latin typeface="Muli"/>
                <a:ea typeface="Muli"/>
                <a:cs typeface="Muli"/>
                <a:sym typeface="Muli"/>
              </a:endParaRPr>
            </a:p>
          </p:txBody>
        </p:sp>
      </p:grpSp>
      <p:grpSp>
        <p:nvGrpSpPr>
          <p:cNvPr id="10" name="Group 10"/>
          <p:cNvGrpSpPr/>
          <p:nvPr/>
        </p:nvGrpSpPr>
        <p:grpSpPr>
          <a:xfrm>
            <a:off x="9448690" y="4233594"/>
            <a:ext cx="7714897" cy="2642137"/>
            <a:chOff x="0" y="0"/>
            <a:chExt cx="10286529" cy="3522850"/>
          </a:xfrm>
        </p:grpSpPr>
        <p:sp>
          <p:nvSpPr>
            <p:cNvPr id="11" name="TextBox 11"/>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CẤU HÌNH VOLUME</a:t>
              </a:r>
            </a:p>
          </p:txBody>
        </p:sp>
        <p:sp>
          <p:nvSpPr>
            <p:cNvPr id="12" name="TextBox 12"/>
            <p:cNvSpPr txBox="1"/>
            <p:nvPr/>
          </p:nvSpPr>
          <p:spPr>
            <a:xfrm>
              <a:off x="0" y="765891"/>
              <a:ext cx="10286529" cy="2201545"/>
            </a:xfrm>
            <a:prstGeom prst="rect">
              <a:avLst/>
            </a:prstGeom>
          </p:spPr>
          <p:txBody>
            <a:bodyPr lIns="0" tIns="0" rIns="0" bIns="0" rtlCol="0" anchor="t">
              <a:spAutoFit/>
            </a:bodyPr>
            <a:lstStyle/>
            <a:p>
              <a:pPr algn="l">
                <a:lnSpc>
                  <a:spcPts val="3359"/>
                </a:lnSpc>
              </a:pPr>
              <a:r>
                <a:rPr lang="en-US" sz="2400" dirty="0" err="1">
                  <a:solidFill>
                    <a:srgbClr val="0E2C4B"/>
                  </a:solidFill>
                  <a:latin typeface="Muli"/>
                  <a:ea typeface="Muli"/>
                  <a:cs typeface="Muli"/>
                  <a:sym typeface="Muli"/>
                </a:rPr>
                <a:t>Thiết</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lập</a:t>
              </a:r>
              <a:r>
                <a:rPr lang="en-US" sz="2400" dirty="0">
                  <a:solidFill>
                    <a:srgbClr val="0E2C4B"/>
                  </a:solidFill>
                  <a:latin typeface="Muli"/>
                  <a:ea typeface="Muli"/>
                  <a:cs typeface="Muli"/>
                  <a:sym typeface="Muli"/>
                </a:rPr>
                <a:t> Docker Volume (./n8n_data) </a:t>
              </a:r>
              <a:r>
                <a:rPr lang="en-US" sz="2400" dirty="0" err="1">
                  <a:solidFill>
                    <a:srgbClr val="0E2C4B"/>
                  </a:solidFill>
                  <a:latin typeface="Muli"/>
                  <a:ea typeface="Muli"/>
                  <a:cs typeface="Muli"/>
                  <a:sym typeface="Muli"/>
                </a:rPr>
                <a:t>để</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lưu</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trữ</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database.sqlite</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vĩnh</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viễn</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bảo</a:t>
              </a:r>
              <a:r>
                <a:rPr lang="en-US" sz="2400" dirty="0">
                  <a:solidFill>
                    <a:srgbClr val="0E2C4B"/>
                  </a:solidFill>
                  <a:latin typeface="Muli"/>
                  <a:ea typeface="Muli"/>
                  <a:cs typeface="Muli"/>
                  <a:sym typeface="Muli"/>
                </a:rPr>
                <a:t> </a:t>
              </a:r>
              <a:r>
                <a:rPr lang="en-US" sz="2400" dirty="0" err="1">
                  <a:solidFill>
                    <a:srgbClr val="0E2C4B"/>
                  </a:solidFill>
                  <a:latin typeface="Muli"/>
                  <a:ea typeface="Muli"/>
                  <a:cs typeface="Muli"/>
                  <a:sym typeface="Muli"/>
                </a:rPr>
                <a:t>toàn</a:t>
              </a:r>
              <a:r>
                <a:rPr lang="en-US" sz="2400" dirty="0">
                  <a:solidFill>
                    <a:srgbClr val="0E2C4B"/>
                  </a:solidFill>
                  <a:latin typeface="Muli"/>
                  <a:ea typeface="Muli"/>
                  <a:cs typeface="Muli"/>
                  <a:sym typeface="Muli"/>
                </a:rPr>
                <a:t> workflow </a:t>
              </a:r>
              <a:r>
                <a:rPr lang="en-US" sz="2400" dirty="0" err="1">
                  <a:solidFill>
                    <a:srgbClr val="0E2C4B"/>
                  </a:solidFill>
                  <a:latin typeface="Muli"/>
                  <a:ea typeface="Muli"/>
                  <a:cs typeface="Muli"/>
                  <a:sym typeface="Muli"/>
                </a:rPr>
                <a:t>và</a:t>
              </a:r>
              <a:r>
                <a:rPr lang="en-US" sz="2400" dirty="0">
                  <a:solidFill>
                    <a:srgbClr val="0E2C4B"/>
                  </a:solidFill>
                  <a:latin typeface="Muli"/>
                  <a:ea typeface="Muli"/>
                  <a:cs typeface="Muli"/>
                  <a:sym typeface="Muli"/>
                </a:rPr>
                <a:t> chat history.</a:t>
              </a:r>
            </a:p>
            <a:p>
              <a:pPr algn="l">
                <a:lnSpc>
                  <a:spcPts val="3359"/>
                </a:lnSpc>
              </a:pPr>
              <a:endParaRPr lang="en-US" sz="2400" dirty="0">
                <a:solidFill>
                  <a:srgbClr val="0E2C4B"/>
                </a:solidFill>
                <a:latin typeface="Muli"/>
                <a:ea typeface="Muli"/>
                <a:cs typeface="Muli"/>
                <a:sym typeface="Muli"/>
              </a:endParaRPr>
            </a:p>
          </p:txBody>
        </p:sp>
      </p:grpSp>
      <p:grpSp>
        <p:nvGrpSpPr>
          <p:cNvPr id="13" name="Group 13"/>
          <p:cNvGrpSpPr/>
          <p:nvPr/>
        </p:nvGrpSpPr>
        <p:grpSpPr>
          <a:xfrm>
            <a:off x="9448690" y="7438488"/>
            <a:ext cx="7714897" cy="1369597"/>
            <a:chOff x="0" y="0"/>
            <a:chExt cx="10286529" cy="1826130"/>
          </a:xfrm>
        </p:grpSpPr>
        <p:sp>
          <p:nvSpPr>
            <p:cNvPr id="14" name="TextBox 14"/>
            <p:cNvSpPr txBox="1"/>
            <p:nvPr/>
          </p:nvSpPr>
          <p:spPr>
            <a:xfrm>
              <a:off x="0" y="-38100"/>
              <a:ext cx="10286529" cy="484293"/>
            </a:xfrm>
            <a:prstGeom prst="rect">
              <a:avLst/>
            </a:prstGeom>
          </p:spPr>
          <p:txBody>
            <a:bodyPr lIns="0" tIns="0" rIns="0" bIns="0" rtlCol="0" anchor="t">
              <a:spAutoFit/>
            </a:bodyPr>
            <a:lstStyle/>
            <a:p>
              <a:pPr algn="l">
                <a:lnSpc>
                  <a:spcPts val="3079"/>
                </a:lnSpc>
              </a:pPr>
              <a:r>
                <a:rPr lang="en-US" sz="2200" b="1">
                  <a:solidFill>
                    <a:srgbClr val="0E2C4B"/>
                  </a:solidFill>
                  <a:latin typeface="Muli Ultra-Bold"/>
                  <a:ea typeface="Muli Ultra-Bold"/>
                  <a:cs typeface="Muli Ultra-Bold"/>
                  <a:sym typeface="Muli Ultra-Bold"/>
                </a:rPr>
                <a:t>TẠO CỔNG NGROK</a:t>
              </a:r>
            </a:p>
          </p:txBody>
        </p:sp>
        <p:sp>
          <p:nvSpPr>
            <p:cNvPr id="15" name="TextBox 15"/>
            <p:cNvSpPr txBox="1"/>
            <p:nvPr/>
          </p:nvSpPr>
          <p:spPr>
            <a:xfrm>
              <a:off x="0" y="765891"/>
              <a:ext cx="10286529" cy="1642745"/>
            </a:xfrm>
            <a:prstGeom prst="rect">
              <a:avLst/>
            </a:prstGeom>
          </p:spPr>
          <p:txBody>
            <a:bodyPr lIns="0" tIns="0" rIns="0" bIns="0" rtlCol="0" anchor="t">
              <a:spAutoFit/>
            </a:bodyPr>
            <a:lstStyle/>
            <a:p>
              <a:pPr algn="l">
                <a:lnSpc>
                  <a:spcPts val="3359"/>
                </a:lnSpc>
              </a:pPr>
              <a:r>
                <a:rPr lang="en-US" sz="2400">
                  <a:solidFill>
                    <a:srgbClr val="0E2C4B"/>
                  </a:solidFill>
                  <a:latin typeface="Muli"/>
                  <a:ea typeface="Muli"/>
                  <a:cs typeface="Muli"/>
                  <a:sym typeface="Muli"/>
                </a:rPr>
                <a:t>Sử dụng ngrok để tạo tunnel HTTPS công khai, kết nối Telegram Webhook với n8n instance chạy local.</a:t>
              </a:r>
            </a:p>
            <a:p>
              <a:pPr algn="l">
                <a:lnSpc>
                  <a:spcPts val="3359"/>
                </a:lnSpc>
              </a:pPr>
              <a:endParaRPr lang="en-US" sz="2400">
                <a:solidFill>
                  <a:srgbClr val="0E2C4B"/>
                </a:solidFill>
                <a:latin typeface="Muli"/>
                <a:ea typeface="Muli"/>
                <a:cs typeface="Muli"/>
                <a:sym typeface="Muli"/>
              </a:endParaRPr>
            </a:p>
          </p:txBody>
        </p:sp>
      </p:grpSp>
      <p:sp>
        <p:nvSpPr>
          <p:cNvPr id="16" name="TextBox 16"/>
          <p:cNvSpPr txBox="1"/>
          <p:nvPr/>
        </p:nvSpPr>
        <p:spPr>
          <a:xfrm>
            <a:off x="1028700" y="1239978"/>
            <a:ext cx="6790343" cy="847725"/>
          </a:xfrm>
          <a:prstGeom prst="rect">
            <a:avLst/>
          </a:prstGeom>
        </p:spPr>
        <p:txBody>
          <a:bodyPr lIns="0" tIns="0" rIns="0" bIns="0" rtlCol="0" anchor="t">
            <a:spAutoFit/>
          </a:bodyPr>
          <a:lstStyle/>
          <a:p>
            <a:pPr algn="l">
              <a:lnSpc>
                <a:spcPts val="6600"/>
              </a:lnSpc>
            </a:pPr>
            <a:r>
              <a:rPr lang="en-US" sz="5500" b="1">
                <a:solidFill>
                  <a:srgbClr val="0E2C4B"/>
                </a:solidFill>
                <a:latin typeface="Muli Ultra-Bold"/>
                <a:ea typeface="Muli Ultra-Bold"/>
                <a:cs typeface="Muli Ultra-Bold"/>
                <a:sym typeface="Muli Ultra-Bold"/>
              </a:rPr>
              <a:t>Cài đặt &amp; Cấu hình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685800" y="2628900"/>
            <a:ext cx="6172200" cy="7391400"/>
            <a:chOff x="0" y="0"/>
            <a:chExt cx="4026708" cy="3293871"/>
          </a:xfrm>
        </p:grpSpPr>
        <p:sp>
          <p:nvSpPr>
            <p:cNvPr id="3" name="Freeform 3"/>
            <p:cNvSpPr/>
            <p:nvPr/>
          </p:nvSpPr>
          <p:spPr>
            <a:xfrm>
              <a:off x="0" y="0"/>
              <a:ext cx="4026708" cy="3293871"/>
            </a:xfrm>
            <a:custGeom>
              <a:avLst/>
              <a:gdLst/>
              <a:ahLst/>
              <a:cxnLst/>
              <a:rect l="l" t="t" r="r" b="b"/>
              <a:pathLst>
                <a:path w="4026708" h="3293871">
                  <a:moveTo>
                    <a:pt x="3902248" y="3293871"/>
                  </a:moveTo>
                  <a:lnTo>
                    <a:pt x="124460" y="3293871"/>
                  </a:lnTo>
                  <a:cubicBezTo>
                    <a:pt x="55880" y="3293871"/>
                    <a:pt x="0" y="3237991"/>
                    <a:pt x="0" y="3169411"/>
                  </a:cubicBezTo>
                  <a:lnTo>
                    <a:pt x="0" y="124460"/>
                  </a:lnTo>
                  <a:cubicBezTo>
                    <a:pt x="0" y="55880"/>
                    <a:pt x="55880" y="0"/>
                    <a:pt x="124460" y="0"/>
                  </a:cubicBezTo>
                  <a:lnTo>
                    <a:pt x="3902248" y="0"/>
                  </a:lnTo>
                  <a:cubicBezTo>
                    <a:pt x="3970828" y="0"/>
                    <a:pt x="4026708" y="55880"/>
                    <a:pt x="4026708" y="124460"/>
                  </a:cubicBezTo>
                  <a:lnTo>
                    <a:pt x="4026708" y="3169411"/>
                  </a:lnTo>
                  <a:cubicBezTo>
                    <a:pt x="4026708" y="3237991"/>
                    <a:pt x="3970828" y="3293871"/>
                    <a:pt x="3902248" y="3293871"/>
                  </a:cubicBezTo>
                  <a:close/>
                </a:path>
              </a:pathLst>
            </a:custGeom>
            <a:solidFill>
              <a:srgbClr val="FFFFFF"/>
            </a:solidFill>
          </p:spPr>
          <p:txBody>
            <a:bodyPr/>
            <a:lstStyle/>
            <a:p>
              <a:endParaRPr lang="en-US"/>
            </a:p>
          </p:txBody>
        </p:sp>
      </p:grpSp>
      <p:sp>
        <p:nvSpPr>
          <p:cNvPr id="9" name="TextBox 9"/>
          <p:cNvSpPr txBox="1"/>
          <p:nvPr/>
        </p:nvSpPr>
        <p:spPr>
          <a:xfrm>
            <a:off x="1028700" y="419100"/>
            <a:ext cx="15065547" cy="1692771"/>
          </a:xfrm>
          <a:prstGeom prst="rect">
            <a:avLst/>
          </a:prstGeom>
        </p:spPr>
        <p:txBody>
          <a:bodyPr wrap="square" lIns="0" tIns="0" rIns="0" bIns="0" rtlCol="0" anchor="t">
            <a:spAutoFit/>
          </a:bodyPr>
          <a:lstStyle/>
          <a:p>
            <a:pPr>
              <a:lnSpc>
                <a:spcPts val="6600"/>
              </a:lnSpc>
            </a:pPr>
            <a:r>
              <a:rPr lang="en-US" sz="5500" b="1" dirty="0" err="1">
                <a:solidFill>
                  <a:srgbClr val="0E2C4B"/>
                </a:solidFill>
                <a:latin typeface="Muli Ultra-Bold"/>
              </a:rPr>
              <a:t>Giải</a:t>
            </a:r>
            <a:r>
              <a:rPr lang="en-US" sz="5500" b="1" dirty="0">
                <a:solidFill>
                  <a:srgbClr val="0E2C4B"/>
                </a:solidFill>
                <a:latin typeface="Muli Ultra-Bold"/>
              </a:rPr>
              <a:t> </a:t>
            </a:r>
            <a:r>
              <a:rPr lang="en-US" sz="5500" b="1" dirty="0" err="1">
                <a:solidFill>
                  <a:srgbClr val="0E2C4B"/>
                </a:solidFill>
                <a:latin typeface="Muli Ultra-Bold"/>
              </a:rPr>
              <a:t>thích</a:t>
            </a:r>
            <a:r>
              <a:rPr lang="en-US" sz="5500" b="1" dirty="0">
                <a:solidFill>
                  <a:srgbClr val="0E2C4B"/>
                </a:solidFill>
                <a:latin typeface="Muli Ultra-Bold"/>
              </a:rPr>
              <a:t> code </a:t>
            </a:r>
            <a:r>
              <a:rPr lang="en-US" sz="5500" b="1" dirty="0" err="1">
                <a:solidFill>
                  <a:srgbClr val="0E2C4B"/>
                </a:solidFill>
                <a:latin typeface="Muli Ultra-Bold"/>
              </a:rPr>
              <a:t>với</a:t>
            </a:r>
            <a:r>
              <a:rPr lang="en-US" sz="5500" b="1" dirty="0">
                <a:solidFill>
                  <a:srgbClr val="0E2C4B"/>
                </a:solidFill>
                <a:latin typeface="Muli Ultra-Bold"/>
              </a:rPr>
              <a:t> prompt </a:t>
            </a:r>
            <a:r>
              <a:rPr lang="en-US" sz="5500" b="1" dirty="0" err="1">
                <a:solidFill>
                  <a:srgbClr val="0E2C4B"/>
                </a:solidFill>
                <a:latin typeface="Muli Ultra-Bold"/>
              </a:rPr>
              <a:t>có</a:t>
            </a:r>
            <a:r>
              <a:rPr lang="en-US" sz="5500" b="1" dirty="0">
                <a:solidFill>
                  <a:srgbClr val="0E2C4B"/>
                </a:solidFill>
                <a:latin typeface="Muli Ultra-Bold"/>
              </a:rPr>
              <a:t> </a:t>
            </a:r>
            <a:r>
              <a:rPr lang="en-US" sz="5500" b="1" dirty="0" err="1">
                <a:solidFill>
                  <a:srgbClr val="0E2C4B"/>
                </a:solidFill>
                <a:latin typeface="Muli Ultra-Bold"/>
              </a:rPr>
              <a:t>cấu</a:t>
            </a:r>
            <a:r>
              <a:rPr lang="en-US" sz="5500" b="1" dirty="0">
                <a:solidFill>
                  <a:srgbClr val="0E2C4B"/>
                </a:solidFill>
                <a:latin typeface="Muli Ultra-Bold"/>
              </a:rPr>
              <a:t> </a:t>
            </a:r>
            <a:r>
              <a:rPr lang="en-US" sz="5500" b="1" dirty="0" err="1">
                <a:solidFill>
                  <a:srgbClr val="0E2C4B"/>
                </a:solidFill>
                <a:latin typeface="Muli Ultra-Bold"/>
              </a:rPr>
              <a:t>trúc</a:t>
            </a:r>
            <a:r>
              <a:rPr lang="en-US" sz="5500" b="1" dirty="0">
                <a:solidFill>
                  <a:srgbClr val="0E2C4B"/>
                </a:solidFill>
                <a:latin typeface="Muli Ultra-Bold"/>
              </a:rPr>
              <a:t> </a:t>
            </a:r>
            <a:r>
              <a:rPr lang="en-US" sz="5500" b="1" dirty="0" err="1">
                <a:solidFill>
                  <a:srgbClr val="0E2C4B"/>
                </a:solidFill>
                <a:latin typeface="Muli Ultra-Bold"/>
              </a:rPr>
              <a:t>của</a:t>
            </a:r>
            <a:r>
              <a:rPr lang="en-US" sz="5500" b="1" dirty="0">
                <a:solidFill>
                  <a:srgbClr val="0E2C4B"/>
                </a:solidFill>
                <a:latin typeface="Muli Ultra-Bold"/>
              </a:rPr>
              <a:t> ChatGPT</a:t>
            </a:r>
            <a:endParaRPr lang="en-US" sz="5500" b="1" dirty="0">
              <a:solidFill>
                <a:srgbClr val="0E2C4B"/>
              </a:solidFill>
              <a:latin typeface="Muli Ultra-Bold"/>
              <a:sym typeface="Muli Ultra-Bold"/>
            </a:endParaRPr>
          </a:p>
        </p:txBody>
      </p:sp>
      <p:grpSp>
        <p:nvGrpSpPr>
          <p:cNvPr id="10" name="Group 10"/>
          <p:cNvGrpSpPr/>
          <p:nvPr/>
        </p:nvGrpSpPr>
        <p:grpSpPr>
          <a:xfrm>
            <a:off x="1049569" y="3603118"/>
            <a:ext cx="5286268" cy="4441387"/>
            <a:chOff x="0" y="-38100"/>
            <a:chExt cx="5747885" cy="3298733"/>
          </a:xfrm>
        </p:grpSpPr>
        <p:sp>
          <p:nvSpPr>
            <p:cNvPr id="11" name="TextBox 11"/>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a:solidFill>
                    <a:srgbClr val="0E2C4B"/>
                  </a:solidFill>
                  <a:latin typeface="Muli Bold"/>
                  <a:ea typeface="Muli Bold"/>
                  <a:cs typeface="Muli Bold"/>
                  <a:sym typeface="Muli Bold"/>
                </a:rPr>
                <a:t>ChatGPT Prompt</a:t>
              </a:r>
            </a:p>
          </p:txBody>
        </p:sp>
        <p:sp>
          <p:nvSpPr>
            <p:cNvPr id="12" name="TextBox 12"/>
            <p:cNvSpPr txBox="1"/>
            <p:nvPr/>
          </p:nvSpPr>
          <p:spPr>
            <a:xfrm>
              <a:off x="0" y="400974"/>
              <a:ext cx="5747885" cy="2859659"/>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Copilot hoạt động dựa trên các chỉ thị được định nghĩa sẵn, nhưng đôi khi ta cần một phân tích sâu sắc hơn.</a:t>
              </a:r>
              <a:endParaRPr lang="en-US" sz="2400" dirty="0">
                <a:solidFill>
                  <a:srgbClr val="0E2C4B"/>
                </a:solidFill>
                <a:latin typeface="Muli"/>
              </a:endParaRPr>
            </a:p>
            <a:p>
              <a:pPr>
                <a:lnSpc>
                  <a:spcPts val="3359"/>
                </a:lnSpc>
              </a:pPr>
              <a:r>
                <a:rPr lang="vi-VN" sz="2400" dirty="0">
                  <a:solidFill>
                    <a:srgbClr val="0E2C4B"/>
                  </a:solidFill>
                  <a:latin typeface="Muli"/>
                </a:rPr>
                <a:t> </a:t>
              </a:r>
              <a:endParaRPr lang="en-US" sz="2400" dirty="0">
                <a:solidFill>
                  <a:srgbClr val="0E2C4B"/>
                </a:solidFill>
                <a:latin typeface="Muli"/>
              </a:endParaRPr>
            </a:p>
            <a:p>
              <a:pPr>
                <a:lnSpc>
                  <a:spcPts val="3359"/>
                </a:lnSpc>
              </a:pPr>
              <a:r>
                <a:rPr lang="en-US" sz="2400" dirty="0">
                  <a:solidFill>
                    <a:srgbClr val="0E2C4B"/>
                  </a:solidFill>
                  <a:latin typeface="Muli"/>
                </a:rPr>
                <a:t>Y</a:t>
              </a:r>
              <a:r>
                <a:rPr lang="vi-VN" sz="2400" dirty="0">
                  <a:solidFill>
                    <a:srgbClr val="0E2C4B"/>
                  </a:solidFill>
                  <a:latin typeface="Muli"/>
                </a:rPr>
                <a:t>êu cầu ChatGPT phải giải thích rõ 5 khía cạnh: Mục đích hàm, Kiểu đối số, Luồng dữ liệu, Kết quả đầu ra và Các ca biên (Edge cases) .</a:t>
              </a:r>
              <a:endParaRPr lang="en-US" sz="2400" dirty="0">
                <a:solidFill>
                  <a:srgbClr val="0E2C4B"/>
                </a:solidFill>
                <a:latin typeface="Muli"/>
                <a:sym typeface="Muli"/>
              </a:endParaRPr>
            </a:p>
          </p:txBody>
        </p:sp>
      </p:grpSp>
      <p:pic>
        <p:nvPicPr>
          <p:cNvPr id="10242" name="Picture 2">
            <a:extLst>
              <a:ext uri="{FF2B5EF4-FFF2-40B4-BE49-F238E27FC236}">
                <a16:creationId xmlns:a16="http://schemas.microsoft.com/office/drawing/2014/main" id="{9A6DD632-4982-AD71-D008-CFE6D78BC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0792" y="3603118"/>
            <a:ext cx="10193866" cy="365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5FD85619-647C-F862-F2E8-5CFDDD9965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64A3D48-0F30-C08A-4894-807746E0580B}"/>
              </a:ext>
            </a:extLst>
          </p:cNvPr>
          <p:cNvGrpSpPr/>
          <p:nvPr/>
        </p:nvGrpSpPr>
        <p:grpSpPr>
          <a:xfrm>
            <a:off x="685800" y="2628900"/>
            <a:ext cx="6172200" cy="7391400"/>
            <a:chOff x="0" y="0"/>
            <a:chExt cx="4026708" cy="3293871"/>
          </a:xfrm>
        </p:grpSpPr>
        <p:sp>
          <p:nvSpPr>
            <p:cNvPr id="3" name="Freeform 3">
              <a:extLst>
                <a:ext uri="{FF2B5EF4-FFF2-40B4-BE49-F238E27FC236}">
                  <a16:creationId xmlns:a16="http://schemas.microsoft.com/office/drawing/2014/main" id="{8CEFDAE0-F4DB-F2A3-3C4A-36019363DBBE}"/>
                </a:ext>
              </a:extLst>
            </p:cNvPr>
            <p:cNvSpPr/>
            <p:nvPr/>
          </p:nvSpPr>
          <p:spPr>
            <a:xfrm>
              <a:off x="0" y="0"/>
              <a:ext cx="4026708" cy="3293871"/>
            </a:xfrm>
            <a:custGeom>
              <a:avLst/>
              <a:gdLst/>
              <a:ahLst/>
              <a:cxnLst/>
              <a:rect l="l" t="t" r="r" b="b"/>
              <a:pathLst>
                <a:path w="4026708" h="3293871">
                  <a:moveTo>
                    <a:pt x="3902248" y="3293871"/>
                  </a:moveTo>
                  <a:lnTo>
                    <a:pt x="124460" y="3293871"/>
                  </a:lnTo>
                  <a:cubicBezTo>
                    <a:pt x="55880" y="3293871"/>
                    <a:pt x="0" y="3237991"/>
                    <a:pt x="0" y="3169411"/>
                  </a:cubicBezTo>
                  <a:lnTo>
                    <a:pt x="0" y="124460"/>
                  </a:lnTo>
                  <a:cubicBezTo>
                    <a:pt x="0" y="55880"/>
                    <a:pt x="55880" y="0"/>
                    <a:pt x="124460" y="0"/>
                  </a:cubicBezTo>
                  <a:lnTo>
                    <a:pt x="3902248" y="0"/>
                  </a:lnTo>
                  <a:cubicBezTo>
                    <a:pt x="3970828" y="0"/>
                    <a:pt x="4026708" y="55880"/>
                    <a:pt x="4026708" y="124460"/>
                  </a:cubicBezTo>
                  <a:lnTo>
                    <a:pt x="4026708" y="3169411"/>
                  </a:lnTo>
                  <a:cubicBezTo>
                    <a:pt x="4026708" y="3237991"/>
                    <a:pt x="3970828" y="3293871"/>
                    <a:pt x="3902248" y="3293871"/>
                  </a:cubicBezTo>
                  <a:close/>
                </a:path>
              </a:pathLst>
            </a:custGeom>
            <a:solidFill>
              <a:srgbClr val="FFFFFF"/>
            </a:solidFill>
          </p:spPr>
          <p:txBody>
            <a:bodyPr/>
            <a:lstStyle/>
            <a:p>
              <a:endParaRPr lang="en-US"/>
            </a:p>
          </p:txBody>
        </p:sp>
      </p:grpSp>
      <p:sp>
        <p:nvSpPr>
          <p:cNvPr id="9" name="TextBox 9">
            <a:extLst>
              <a:ext uri="{FF2B5EF4-FFF2-40B4-BE49-F238E27FC236}">
                <a16:creationId xmlns:a16="http://schemas.microsoft.com/office/drawing/2014/main" id="{F1999454-6022-D652-39DC-6575F1FE34C8}"/>
              </a:ext>
            </a:extLst>
          </p:cNvPr>
          <p:cNvSpPr txBox="1"/>
          <p:nvPr/>
        </p:nvSpPr>
        <p:spPr>
          <a:xfrm>
            <a:off x="1028700" y="419100"/>
            <a:ext cx="15065547" cy="1692771"/>
          </a:xfrm>
          <a:prstGeom prst="rect">
            <a:avLst/>
          </a:prstGeom>
        </p:spPr>
        <p:txBody>
          <a:bodyPr wrap="square" lIns="0" tIns="0" rIns="0" bIns="0" rtlCol="0" anchor="t">
            <a:spAutoFit/>
          </a:bodyPr>
          <a:lstStyle/>
          <a:p>
            <a:pPr>
              <a:lnSpc>
                <a:spcPts val="6600"/>
              </a:lnSpc>
            </a:pPr>
            <a:r>
              <a:rPr lang="en-US" sz="5500" b="1" dirty="0" err="1">
                <a:solidFill>
                  <a:srgbClr val="0E2C4B"/>
                </a:solidFill>
                <a:latin typeface="Muli Ultra-Bold"/>
              </a:rPr>
              <a:t>Giải</a:t>
            </a:r>
            <a:r>
              <a:rPr lang="en-US" sz="5500" b="1" dirty="0">
                <a:solidFill>
                  <a:srgbClr val="0E2C4B"/>
                </a:solidFill>
                <a:latin typeface="Muli Ultra-Bold"/>
              </a:rPr>
              <a:t> </a:t>
            </a:r>
            <a:r>
              <a:rPr lang="en-US" sz="5500" b="1" dirty="0" err="1">
                <a:solidFill>
                  <a:srgbClr val="0E2C4B"/>
                </a:solidFill>
                <a:latin typeface="Muli Ultra-Bold"/>
              </a:rPr>
              <a:t>thích</a:t>
            </a:r>
            <a:r>
              <a:rPr lang="en-US" sz="5500" b="1" dirty="0">
                <a:solidFill>
                  <a:srgbClr val="0E2C4B"/>
                </a:solidFill>
                <a:latin typeface="Muli Ultra-Bold"/>
              </a:rPr>
              <a:t> code </a:t>
            </a:r>
            <a:r>
              <a:rPr lang="en-US" sz="5500" b="1" dirty="0" err="1">
                <a:solidFill>
                  <a:srgbClr val="0E2C4B"/>
                </a:solidFill>
                <a:latin typeface="Muli Ultra-Bold"/>
              </a:rPr>
              <a:t>với</a:t>
            </a:r>
            <a:r>
              <a:rPr lang="en-US" sz="5500" b="1" dirty="0">
                <a:solidFill>
                  <a:srgbClr val="0E2C4B"/>
                </a:solidFill>
                <a:latin typeface="Muli Ultra-Bold"/>
              </a:rPr>
              <a:t> prompt </a:t>
            </a:r>
            <a:r>
              <a:rPr lang="en-US" sz="5500" b="1" dirty="0" err="1">
                <a:solidFill>
                  <a:srgbClr val="0E2C4B"/>
                </a:solidFill>
                <a:latin typeface="Muli Ultra-Bold"/>
              </a:rPr>
              <a:t>có</a:t>
            </a:r>
            <a:r>
              <a:rPr lang="en-US" sz="5500" b="1" dirty="0">
                <a:solidFill>
                  <a:srgbClr val="0E2C4B"/>
                </a:solidFill>
                <a:latin typeface="Muli Ultra-Bold"/>
              </a:rPr>
              <a:t> </a:t>
            </a:r>
            <a:r>
              <a:rPr lang="en-US" sz="5500" b="1" dirty="0" err="1">
                <a:solidFill>
                  <a:srgbClr val="0E2C4B"/>
                </a:solidFill>
                <a:latin typeface="Muli Ultra-Bold"/>
              </a:rPr>
              <a:t>cấu</a:t>
            </a:r>
            <a:r>
              <a:rPr lang="en-US" sz="5500" b="1" dirty="0">
                <a:solidFill>
                  <a:srgbClr val="0E2C4B"/>
                </a:solidFill>
                <a:latin typeface="Muli Ultra-Bold"/>
              </a:rPr>
              <a:t> </a:t>
            </a:r>
            <a:r>
              <a:rPr lang="en-US" sz="5500" b="1" dirty="0" err="1">
                <a:solidFill>
                  <a:srgbClr val="0E2C4B"/>
                </a:solidFill>
                <a:latin typeface="Muli Ultra-Bold"/>
              </a:rPr>
              <a:t>trúc</a:t>
            </a:r>
            <a:r>
              <a:rPr lang="en-US" sz="5500" b="1" dirty="0">
                <a:solidFill>
                  <a:srgbClr val="0E2C4B"/>
                </a:solidFill>
                <a:latin typeface="Muli Ultra-Bold"/>
              </a:rPr>
              <a:t> </a:t>
            </a:r>
            <a:r>
              <a:rPr lang="en-US" sz="5500" b="1" dirty="0" err="1">
                <a:solidFill>
                  <a:srgbClr val="0E2C4B"/>
                </a:solidFill>
                <a:latin typeface="Muli Ultra-Bold"/>
              </a:rPr>
              <a:t>của</a:t>
            </a:r>
            <a:r>
              <a:rPr lang="en-US" sz="5500" b="1" dirty="0">
                <a:solidFill>
                  <a:srgbClr val="0E2C4B"/>
                </a:solidFill>
                <a:latin typeface="Muli Ultra-Bold"/>
              </a:rPr>
              <a:t> ChatGPT</a:t>
            </a:r>
            <a:endParaRPr lang="en-US" sz="5500" b="1" dirty="0">
              <a:solidFill>
                <a:srgbClr val="0E2C4B"/>
              </a:solidFill>
              <a:latin typeface="Muli Ultra-Bold"/>
              <a:sym typeface="Muli Ultra-Bold"/>
            </a:endParaRPr>
          </a:p>
        </p:txBody>
      </p:sp>
      <p:grpSp>
        <p:nvGrpSpPr>
          <p:cNvPr id="10" name="Group 10">
            <a:extLst>
              <a:ext uri="{FF2B5EF4-FFF2-40B4-BE49-F238E27FC236}">
                <a16:creationId xmlns:a16="http://schemas.microsoft.com/office/drawing/2014/main" id="{E3C866D1-6B44-9BD6-C307-9144864C4334}"/>
              </a:ext>
            </a:extLst>
          </p:cNvPr>
          <p:cNvGrpSpPr/>
          <p:nvPr/>
        </p:nvGrpSpPr>
        <p:grpSpPr>
          <a:xfrm>
            <a:off x="1049569" y="3603118"/>
            <a:ext cx="5286268" cy="4441387"/>
            <a:chOff x="0" y="-38100"/>
            <a:chExt cx="5747885" cy="3298733"/>
          </a:xfrm>
        </p:grpSpPr>
        <p:sp>
          <p:nvSpPr>
            <p:cNvPr id="11" name="TextBox 11">
              <a:extLst>
                <a:ext uri="{FF2B5EF4-FFF2-40B4-BE49-F238E27FC236}">
                  <a16:creationId xmlns:a16="http://schemas.microsoft.com/office/drawing/2014/main" id="{14848959-5AC8-6033-20E9-DD6123D93B9F}"/>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a:solidFill>
                    <a:srgbClr val="0E2C4B"/>
                  </a:solidFill>
                  <a:latin typeface="Muli Bold"/>
                  <a:ea typeface="Muli Bold"/>
                  <a:cs typeface="Muli Bold"/>
                  <a:sym typeface="Muli Bold"/>
                </a:rPr>
                <a:t>ChatGPT Prompt</a:t>
              </a:r>
            </a:p>
          </p:txBody>
        </p:sp>
        <p:sp>
          <p:nvSpPr>
            <p:cNvPr id="12" name="TextBox 12">
              <a:extLst>
                <a:ext uri="{FF2B5EF4-FFF2-40B4-BE49-F238E27FC236}">
                  <a16:creationId xmlns:a16="http://schemas.microsoft.com/office/drawing/2014/main" id="{AEB63CC8-2F75-2B39-8A85-2CFDF51938C0}"/>
                </a:ext>
              </a:extLst>
            </p:cNvPr>
            <p:cNvSpPr txBox="1"/>
            <p:nvPr/>
          </p:nvSpPr>
          <p:spPr>
            <a:xfrm>
              <a:off x="0" y="400974"/>
              <a:ext cx="5747885" cy="2859659"/>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Copilot hoạt động dựa trên các chỉ thị được định nghĩa sẵn, nhưng đôi khi ta cần một phân tích sâu sắc hơn.</a:t>
              </a:r>
              <a:endParaRPr lang="en-US" sz="2400" dirty="0">
                <a:solidFill>
                  <a:srgbClr val="0E2C4B"/>
                </a:solidFill>
                <a:latin typeface="Muli"/>
              </a:endParaRPr>
            </a:p>
            <a:p>
              <a:pPr>
                <a:lnSpc>
                  <a:spcPts val="3359"/>
                </a:lnSpc>
              </a:pPr>
              <a:r>
                <a:rPr lang="vi-VN" sz="2400" dirty="0">
                  <a:solidFill>
                    <a:srgbClr val="0E2C4B"/>
                  </a:solidFill>
                  <a:latin typeface="Muli"/>
                </a:rPr>
                <a:t> </a:t>
              </a:r>
              <a:endParaRPr lang="en-US" sz="2400" dirty="0">
                <a:solidFill>
                  <a:srgbClr val="0E2C4B"/>
                </a:solidFill>
                <a:latin typeface="Muli"/>
              </a:endParaRPr>
            </a:p>
            <a:p>
              <a:pPr>
                <a:lnSpc>
                  <a:spcPts val="3359"/>
                </a:lnSpc>
              </a:pPr>
              <a:r>
                <a:rPr lang="en-US" sz="2400" dirty="0">
                  <a:solidFill>
                    <a:srgbClr val="41505F"/>
                  </a:solidFill>
                  <a:latin typeface="Muli"/>
                </a:rPr>
                <a:t>Y</a:t>
              </a:r>
              <a:r>
                <a:rPr lang="vi-VN" sz="2400" dirty="0">
                  <a:solidFill>
                    <a:srgbClr val="41505F"/>
                  </a:solidFill>
                  <a:latin typeface="Muli"/>
                </a:rPr>
                <a:t>êu cầu ChatGPT phải giải thích rõ 5 khía cạnh: Mục đích hàm, Kiểu đối số, Luồng dữ liệu, Kết quả đầu ra và Các ca biên (Edge cases) .</a:t>
              </a:r>
              <a:endParaRPr lang="en-US" sz="2400" dirty="0">
                <a:solidFill>
                  <a:srgbClr val="41505F"/>
                </a:solidFill>
                <a:latin typeface="Muli"/>
                <a:sym typeface="Muli"/>
              </a:endParaRPr>
            </a:p>
          </p:txBody>
        </p:sp>
      </p:grpSp>
      <p:pic>
        <p:nvPicPr>
          <p:cNvPr id="11266" name="Picture 2">
            <a:extLst>
              <a:ext uri="{FF2B5EF4-FFF2-40B4-BE49-F238E27FC236}">
                <a16:creationId xmlns:a16="http://schemas.microsoft.com/office/drawing/2014/main" id="{39079D7E-14A8-1324-7F59-4A783FA9B0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6849" y="3086100"/>
            <a:ext cx="9261582" cy="604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2275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grpSp>
        <p:nvGrpSpPr>
          <p:cNvPr id="2" name="Group 2"/>
          <p:cNvGrpSpPr/>
          <p:nvPr/>
        </p:nvGrpSpPr>
        <p:grpSpPr>
          <a:xfrm>
            <a:off x="284300" y="1409700"/>
            <a:ext cx="6202620" cy="7910645"/>
            <a:chOff x="-39329" y="9525"/>
            <a:chExt cx="8270159" cy="10547527"/>
          </a:xfrm>
        </p:grpSpPr>
        <p:sp>
          <p:nvSpPr>
            <p:cNvPr id="3" name="TextBox 3"/>
            <p:cNvSpPr txBox="1"/>
            <p:nvPr/>
          </p:nvSpPr>
          <p:spPr>
            <a:xfrm>
              <a:off x="0" y="9525"/>
              <a:ext cx="8230830" cy="2120239"/>
            </a:xfrm>
            <a:prstGeom prst="rect">
              <a:avLst/>
            </a:prstGeom>
          </p:spPr>
          <p:txBody>
            <a:bodyPr lIns="0" tIns="0" rIns="0" bIns="0" rtlCol="0" anchor="t">
              <a:spAutoFit/>
            </a:bodyPr>
            <a:lstStyle/>
            <a:p>
              <a:pPr algn="l">
                <a:lnSpc>
                  <a:spcPts val="6240"/>
                </a:lnSpc>
              </a:pPr>
              <a:r>
                <a:rPr lang="en-US" sz="5200" b="1" dirty="0" err="1">
                  <a:solidFill>
                    <a:srgbClr val="0E2C4B"/>
                  </a:solidFill>
                  <a:latin typeface="Muli Ultra-Bold"/>
                  <a:ea typeface="Muli Ultra-Bold"/>
                  <a:cs typeface="Muli Ultra-Bold"/>
                  <a:sym typeface="Muli Ultra-Bold"/>
                </a:rPr>
                <a:t>Giải</a:t>
              </a:r>
              <a:r>
                <a:rPr lang="en-US" sz="5200" b="1" dirty="0">
                  <a:solidFill>
                    <a:srgbClr val="0E2C4B"/>
                  </a:solidFill>
                  <a:latin typeface="Muli Ultra-Bold"/>
                  <a:ea typeface="Muli Ultra-Bold"/>
                  <a:cs typeface="Muli Ultra-Bold"/>
                  <a:sym typeface="Muli Ultra-Bold"/>
                </a:rPr>
                <a:t> </a:t>
              </a:r>
              <a:r>
                <a:rPr lang="en-US" sz="5200" b="1" dirty="0" err="1">
                  <a:solidFill>
                    <a:srgbClr val="0E2C4B"/>
                  </a:solidFill>
                  <a:latin typeface="Muli Ultra-Bold"/>
                  <a:ea typeface="Muli Ultra-Bold"/>
                  <a:cs typeface="Muli Ultra-Bold"/>
                  <a:sym typeface="Muli Ultra-Bold"/>
                </a:rPr>
                <a:t>thích</a:t>
              </a:r>
              <a:r>
                <a:rPr lang="en-US" sz="5200" b="1" dirty="0">
                  <a:solidFill>
                    <a:srgbClr val="0E2C4B"/>
                  </a:solidFill>
                  <a:latin typeface="Muli Ultra-Bold"/>
                  <a:ea typeface="Muli Ultra-Bold"/>
                  <a:cs typeface="Muli Ultra-Bold"/>
                  <a:sym typeface="Muli Ultra-Bold"/>
                </a:rPr>
                <a:t> Non-Project File</a:t>
              </a:r>
            </a:p>
          </p:txBody>
        </p:sp>
        <p:sp>
          <p:nvSpPr>
            <p:cNvPr id="5" name="Freeform 5"/>
            <p:cNvSpPr/>
            <p:nvPr/>
          </p:nvSpPr>
          <p:spPr>
            <a:xfrm>
              <a:off x="-39329" y="9456385"/>
              <a:ext cx="6702581" cy="1100667"/>
            </a:xfrm>
            <a:custGeom>
              <a:avLst/>
              <a:gdLst/>
              <a:ahLst/>
              <a:cxnLst/>
              <a:rect l="l" t="t" r="r" b="b"/>
              <a:pathLst>
                <a:path w="4021548" h="660400">
                  <a:moveTo>
                    <a:pt x="3897087" y="660400"/>
                  </a:moveTo>
                  <a:lnTo>
                    <a:pt x="124460" y="660400"/>
                  </a:lnTo>
                  <a:cubicBezTo>
                    <a:pt x="55880" y="660400"/>
                    <a:pt x="0" y="604520"/>
                    <a:pt x="0" y="535940"/>
                  </a:cubicBezTo>
                  <a:lnTo>
                    <a:pt x="0" y="124460"/>
                  </a:lnTo>
                  <a:cubicBezTo>
                    <a:pt x="0" y="55880"/>
                    <a:pt x="55880" y="0"/>
                    <a:pt x="124460" y="0"/>
                  </a:cubicBezTo>
                  <a:lnTo>
                    <a:pt x="3897088" y="0"/>
                  </a:lnTo>
                  <a:cubicBezTo>
                    <a:pt x="3965668" y="0"/>
                    <a:pt x="4021548" y="55880"/>
                    <a:pt x="4021548" y="124460"/>
                  </a:cubicBezTo>
                  <a:lnTo>
                    <a:pt x="4021548" y="535940"/>
                  </a:lnTo>
                  <a:cubicBezTo>
                    <a:pt x="4021548" y="604520"/>
                    <a:pt x="3965668" y="660400"/>
                    <a:pt x="3897088" y="660400"/>
                  </a:cubicBezTo>
                  <a:close/>
                </a:path>
              </a:pathLst>
            </a:custGeom>
            <a:solidFill>
              <a:srgbClr val="F36825"/>
            </a:solidFill>
          </p:spPr>
          <p:txBody>
            <a:bodyPr/>
            <a:lstStyle/>
            <a:p>
              <a:endParaRPr lang="en-US"/>
            </a:p>
          </p:txBody>
        </p:sp>
        <p:sp>
          <p:nvSpPr>
            <p:cNvPr id="6" name="TextBox 6"/>
            <p:cNvSpPr txBox="1"/>
            <p:nvPr/>
          </p:nvSpPr>
          <p:spPr>
            <a:xfrm>
              <a:off x="653902" y="9691688"/>
              <a:ext cx="5587729" cy="549275"/>
            </a:xfrm>
            <a:prstGeom prst="rect">
              <a:avLst/>
            </a:prstGeom>
          </p:spPr>
          <p:txBody>
            <a:bodyPr lIns="0" tIns="0" rIns="0" bIns="0" rtlCol="0" anchor="t">
              <a:spAutoFit/>
            </a:bodyPr>
            <a:lstStyle/>
            <a:p>
              <a:pPr algn="l">
                <a:lnSpc>
                  <a:spcPts val="3360"/>
                </a:lnSpc>
              </a:pPr>
              <a:r>
                <a:rPr lang="en-US" sz="2800" b="1" dirty="0" err="1">
                  <a:solidFill>
                    <a:srgbClr val="FFFFFF"/>
                  </a:solidFill>
                  <a:latin typeface="Muli Semi-Bold"/>
                  <a:ea typeface="Muli Semi-Bold"/>
                  <a:cs typeface="Muli Semi-Bold"/>
                  <a:sym typeface="Muli Semi-Bold"/>
                </a:rPr>
                <a:t>Github</a:t>
              </a:r>
              <a:r>
                <a:rPr lang="en-US" sz="2800" b="1" dirty="0">
                  <a:solidFill>
                    <a:srgbClr val="FFFFFF"/>
                  </a:solidFill>
                  <a:latin typeface="Muli Semi-Bold"/>
                  <a:ea typeface="Muli Semi-Bold"/>
                  <a:cs typeface="Muli Semi-Bold"/>
                  <a:sym typeface="Muli Semi-Bold"/>
                </a:rPr>
                <a:t> Copilot</a:t>
              </a:r>
            </a:p>
          </p:txBody>
        </p:sp>
      </p:grpSp>
      <p:grpSp>
        <p:nvGrpSpPr>
          <p:cNvPr id="7" name="Group 7"/>
          <p:cNvGrpSpPr/>
          <p:nvPr/>
        </p:nvGrpSpPr>
        <p:grpSpPr>
          <a:xfrm>
            <a:off x="6906898" y="236488"/>
            <a:ext cx="11067305" cy="9814023"/>
            <a:chOff x="0" y="0"/>
            <a:chExt cx="8853844" cy="7851218"/>
          </a:xfrm>
        </p:grpSpPr>
        <p:sp>
          <p:nvSpPr>
            <p:cNvPr id="8" name="Freeform 8"/>
            <p:cNvSpPr/>
            <p:nvPr/>
          </p:nvSpPr>
          <p:spPr>
            <a:xfrm>
              <a:off x="0" y="0"/>
              <a:ext cx="8853844" cy="7851218"/>
            </a:xfrm>
            <a:custGeom>
              <a:avLst/>
              <a:gdLst/>
              <a:ahLst/>
              <a:cxnLst/>
              <a:rect l="l" t="t" r="r" b="b"/>
              <a:pathLst>
                <a:path w="8853844" h="7851218">
                  <a:moveTo>
                    <a:pt x="8729383" y="7851218"/>
                  </a:moveTo>
                  <a:lnTo>
                    <a:pt x="124460" y="7851218"/>
                  </a:lnTo>
                  <a:cubicBezTo>
                    <a:pt x="55880" y="7851218"/>
                    <a:pt x="0" y="7795338"/>
                    <a:pt x="0" y="7726759"/>
                  </a:cubicBezTo>
                  <a:lnTo>
                    <a:pt x="0" y="124460"/>
                  </a:lnTo>
                  <a:cubicBezTo>
                    <a:pt x="0" y="55880"/>
                    <a:pt x="55880" y="0"/>
                    <a:pt x="124460" y="0"/>
                  </a:cubicBezTo>
                  <a:lnTo>
                    <a:pt x="8729384" y="0"/>
                  </a:lnTo>
                  <a:cubicBezTo>
                    <a:pt x="8797964" y="0"/>
                    <a:pt x="8853844" y="55880"/>
                    <a:pt x="8853844" y="124460"/>
                  </a:cubicBezTo>
                  <a:lnTo>
                    <a:pt x="8853844" y="7726759"/>
                  </a:lnTo>
                  <a:cubicBezTo>
                    <a:pt x="8853844" y="7795338"/>
                    <a:pt x="8797964" y="7851218"/>
                    <a:pt x="8729384" y="7851218"/>
                  </a:cubicBezTo>
                  <a:close/>
                </a:path>
              </a:pathLst>
            </a:custGeom>
            <a:solidFill>
              <a:srgbClr val="FFFFFF"/>
            </a:solidFill>
          </p:spPr>
          <p:txBody>
            <a:bodyPr/>
            <a:lstStyle/>
            <a:p>
              <a:endParaRPr lang="en-US"/>
            </a:p>
          </p:txBody>
        </p:sp>
      </p:grpSp>
      <p:pic>
        <p:nvPicPr>
          <p:cNvPr id="12290" name="Picture 2">
            <a:extLst>
              <a:ext uri="{FF2B5EF4-FFF2-40B4-BE49-F238E27FC236}">
                <a16:creationId xmlns:a16="http://schemas.microsoft.com/office/drawing/2014/main" id="{C8EF6201-F08D-6AAF-FCE6-03C19D3A2A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1317" y="1714500"/>
            <a:ext cx="10138465" cy="518160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10">
            <a:extLst>
              <a:ext uri="{FF2B5EF4-FFF2-40B4-BE49-F238E27FC236}">
                <a16:creationId xmlns:a16="http://schemas.microsoft.com/office/drawing/2014/main" id="{0869F6FF-5D95-6D87-A10A-93F03728137B}"/>
              </a:ext>
            </a:extLst>
          </p:cNvPr>
          <p:cNvGrpSpPr/>
          <p:nvPr/>
        </p:nvGrpSpPr>
        <p:grpSpPr>
          <a:xfrm>
            <a:off x="457200" y="3358822"/>
            <a:ext cx="5286268" cy="3569354"/>
            <a:chOff x="0" y="-38100"/>
            <a:chExt cx="5747885" cy="2651051"/>
          </a:xfrm>
        </p:grpSpPr>
        <p:sp>
          <p:nvSpPr>
            <p:cNvPr id="11" name="TextBox 11">
              <a:extLst>
                <a:ext uri="{FF2B5EF4-FFF2-40B4-BE49-F238E27FC236}">
                  <a16:creationId xmlns:a16="http://schemas.microsoft.com/office/drawing/2014/main" id="{F4DA4DE3-4DA0-5D3A-5667-2EDC6E3CFD11}"/>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endParaRPr lang="en-US" sz="2199" b="1" dirty="0">
                <a:solidFill>
                  <a:srgbClr val="0E2C4B"/>
                </a:solidFill>
                <a:latin typeface="Muli Bold"/>
                <a:ea typeface="Muli Bold"/>
                <a:cs typeface="Muli Bold"/>
                <a:sym typeface="Muli Bold"/>
              </a:endParaRPr>
            </a:p>
          </p:txBody>
        </p:sp>
        <p:sp>
          <p:nvSpPr>
            <p:cNvPr id="12" name="TextBox 12">
              <a:extLst>
                <a:ext uri="{FF2B5EF4-FFF2-40B4-BE49-F238E27FC236}">
                  <a16:creationId xmlns:a16="http://schemas.microsoft.com/office/drawing/2014/main" id="{ABA6ECB3-6688-EF86-EE13-17DF29CA073A}"/>
                </a:ext>
              </a:extLst>
            </p:cNvPr>
            <p:cNvSpPr txBox="1"/>
            <p:nvPr/>
          </p:nvSpPr>
          <p:spPr>
            <a:xfrm>
              <a:off x="0" y="400974"/>
              <a:ext cx="5747885" cy="2211977"/>
            </a:xfrm>
            <a:prstGeom prst="rect">
              <a:avLst/>
            </a:prstGeom>
          </p:spPr>
          <p:txBody>
            <a:bodyPr lIns="0" tIns="0" rIns="0" bIns="0" rtlCol="0" anchor="t">
              <a:spAutoFit/>
            </a:bodyPr>
            <a:lstStyle/>
            <a:p>
              <a:pPr algn="l">
                <a:lnSpc>
                  <a:spcPts val="3079"/>
                </a:lnSpc>
              </a:pPr>
              <a:endParaRPr sz="2400" dirty="0">
                <a:solidFill>
                  <a:schemeClr val="tx2">
                    <a:lumMod val="50000"/>
                  </a:schemeClr>
                </a:solidFill>
                <a:latin typeface="Muli" panose="020B0604020202020204" charset="-93"/>
              </a:endParaRPr>
            </a:p>
            <a:p>
              <a:pPr>
                <a:lnSpc>
                  <a:spcPts val="3359"/>
                </a:lnSpc>
              </a:pPr>
              <a:r>
                <a:rPr lang="vi-VN" sz="2400" dirty="0">
                  <a:solidFill>
                    <a:srgbClr val="41505F"/>
                  </a:solidFill>
                  <a:latin typeface="Muli" panose="020B0604020202020204" charset="-93"/>
                </a:rPr>
                <a:t>có thể dùng lệnh /explain đối với các với file non-project. Trong trường hợp này Copilot đã nhận diện chính xác rằng requirements.txt liệt kê các phần phụ thuộc cần thiết để mã nguồn hoạt động đúng cách.</a:t>
              </a:r>
              <a:endParaRPr lang="en-US" sz="2400" dirty="0">
                <a:solidFill>
                  <a:srgbClr val="41505F"/>
                </a:solidFill>
                <a:latin typeface="Muli" panose="020B0604020202020204" charset="-93"/>
                <a:sym typeface="Mul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489063BC-90D9-5FF2-553D-C6EE4584227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068A9DF-774E-5EAF-6C94-873E6A71BC0A}"/>
              </a:ext>
            </a:extLst>
          </p:cNvPr>
          <p:cNvGrpSpPr/>
          <p:nvPr/>
        </p:nvGrpSpPr>
        <p:grpSpPr>
          <a:xfrm>
            <a:off x="284300" y="1409700"/>
            <a:ext cx="6202620" cy="7910645"/>
            <a:chOff x="-39329" y="9525"/>
            <a:chExt cx="8270159" cy="10547527"/>
          </a:xfrm>
        </p:grpSpPr>
        <p:sp>
          <p:nvSpPr>
            <p:cNvPr id="3" name="TextBox 3">
              <a:extLst>
                <a:ext uri="{FF2B5EF4-FFF2-40B4-BE49-F238E27FC236}">
                  <a16:creationId xmlns:a16="http://schemas.microsoft.com/office/drawing/2014/main" id="{7C2209B8-057C-2637-3EEB-657946CA8519}"/>
                </a:ext>
              </a:extLst>
            </p:cNvPr>
            <p:cNvSpPr txBox="1"/>
            <p:nvPr/>
          </p:nvSpPr>
          <p:spPr>
            <a:xfrm>
              <a:off x="0" y="9525"/>
              <a:ext cx="8230830" cy="2120239"/>
            </a:xfrm>
            <a:prstGeom prst="rect">
              <a:avLst/>
            </a:prstGeom>
          </p:spPr>
          <p:txBody>
            <a:bodyPr lIns="0" tIns="0" rIns="0" bIns="0" rtlCol="0" anchor="t">
              <a:spAutoFit/>
            </a:bodyPr>
            <a:lstStyle/>
            <a:p>
              <a:pPr algn="l">
                <a:lnSpc>
                  <a:spcPts val="6240"/>
                </a:lnSpc>
              </a:pPr>
              <a:r>
                <a:rPr lang="en-US" sz="5200" b="1" dirty="0" err="1">
                  <a:solidFill>
                    <a:srgbClr val="0E2C4B"/>
                  </a:solidFill>
                  <a:latin typeface="Muli Ultra-Bold"/>
                  <a:ea typeface="Muli Ultra-Bold"/>
                  <a:cs typeface="Muli Ultra-Bold"/>
                  <a:sym typeface="Muli Ultra-Bold"/>
                </a:rPr>
                <a:t>Giải</a:t>
              </a:r>
              <a:r>
                <a:rPr lang="en-US" sz="5200" b="1" dirty="0">
                  <a:solidFill>
                    <a:srgbClr val="0E2C4B"/>
                  </a:solidFill>
                  <a:latin typeface="Muli Ultra-Bold"/>
                  <a:ea typeface="Muli Ultra-Bold"/>
                  <a:cs typeface="Muli Ultra-Bold"/>
                  <a:sym typeface="Muli Ultra-Bold"/>
                </a:rPr>
                <a:t> </a:t>
              </a:r>
              <a:r>
                <a:rPr lang="en-US" sz="5200" b="1" dirty="0" err="1">
                  <a:solidFill>
                    <a:srgbClr val="0E2C4B"/>
                  </a:solidFill>
                  <a:latin typeface="Muli Ultra-Bold"/>
                  <a:ea typeface="Muli Ultra-Bold"/>
                  <a:cs typeface="Muli Ultra-Bold"/>
                  <a:sym typeface="Muli Ultra-Bold"/>
                </a:rPr>
                <a:t>thích</a:t>
              </a:r>
              <a:r>
                <a:rPr lang="en-US" sz="5200" b="1" dirty="0">
                  <a:solidFill>
                    <a:srgbClr val="0E2C4B"/>
                  </a:solidFill>
                  <a:latin typeface="Muli Ultra-Bold"/>
                  <a:ea typeface="Muli Ultra-Bold"/>
                  <a:cs typeface="Muli Ultra-Bold"/>
                  <a:sym typeface="Muli Ultra-Bold"/>
                </a:rPr>
                <a:t> Non-Project File</a:t>
              </a:r>
            </a:p>
          </p:txBody>
        </p:sp>
        <p:sp>
          <p:nvSpPr>
            <p:cNvPr id="5" name="Freeform 5">
              <a:extLst>
                <a:ext uri="{FF2B5EF4-FFF2-40B4-BE49-F238E27FC236}">
                  <a16:creationId xmlns:a16="http://schemas.microsoft.com/office/drawing/2014/main" id="{EFB86968-5B89-CBD9-037D-A6D22155BCBA}"/>
                </a:ext>
              </a:extLst>
            </p:cNvPr>
            <p:cNvSpPr/>
            <p:nvPr/>
          </p:nvSpPr>
          <p:spPr>
            <a:xfrm>
              <a:off x="-39329" y="9456385"/>
              <a:ext cx="6702581" cy="1100667"/>
            </a:xfrm>
            <a:custGeom>
              <a:avLst/>
              <a:gdLst/>
              <a:ahLst/>
              <a:cxnLst/>
              <a:rect l="l" t="t" r="r" b="b"/>
              <a:pathLst>
                <a:path w="4021548" h="660400">
                  <a:moveTo>
                    <a:pt x="3897087" y="660400"/>
                  </a:moveTo>
                  <a:lnTo>
                    <a:pt x="124460" y="660400"/>
                  </a:lnTo>
                  <a:cubicBezTo>
                    <a:pt x="55880" y="660400"/>
                    <a:pt x="0" y="604520"/>
                    <a:pt x="0" y="535940"/>
                  </a:cubicBezTo>
                  <a:lnTo>
                    <a:pt x="0" y="124460"/>
                  </a:lnTo>
                  <a:cubicBezTo>
                    <a:pt x="0" y="55880"/>
                    <a:pt x="55880" y="0"/>
                    <a:pt x="124460" y="0"/>
                  </a:cubicBezTo>
                  <a:lnTo>
                    <a:pt x="3897088" y="0"/>
                  </a:lnTo>
                  <a:cubicBezTo>
                    <a:pt x="3965668" y="0"/>
                    <a:pt x="4021548" y="55880"/>
                    <a:pt x="4021548" y="124460"/>
                  </a:cubicBezTo>
                  <a:lnTo>
                    <a:pt x="4021548" y="535940"/>
                  </a:lnTo>
                  <a:cubicBezTo>
                    <a:pt x="4021548" y="604520"/>
                    <a:pt x="3965668" y="660400"/>
                    <a:pt x="3897088" y="660400"/>
                  </a:cubicBezTo>
                  <a:close/>
                </a:path>
              </a:pathLst>
            </a:custGeom>
            <a:solidFill>
              <a:srgbClr val="F36825"/>
            </a:solidFill>
          </p:spPr>
          <p:txBody>
            <a:bodyPr/>
            <a:lstStyle/>
            <a:p>
              <a:endParaRPr lang="en-US"/>
            </a:p>
          </p:txBody>
        </p:sp>
        <p:sp>
          <p:nvSpPr>
            <p:cNvPr id="6" name="TextBox 6">
              <a:extLst>
                <a:ext uri="{FF2B5EF4-FFF2-40B4-BE49-F238E27FC236}">
                  <a16:creationId xmlns:a16="http://schemas.microsoft.com/office/drawing/2014/main" id="{409F6BC4-8128-9491-2979-DDB901DB5F16}"/>
                </a:ext>
              </a:extLst>
            </p:cNvPr>
            <p:cNvSpPr txBox="1"/>
            <p:nvPr/>
          </p:nvSpPr>
          <p:spPr>
            <a:xfrm>
              <a:off x="653902" y="9691688"/>
              <a:ext cx="5587729" cy="549275"/>
            </a:xfrm>
            <a:prstGeom prst="rect">
              <a:avLst/>
            </a:prstGeom>
          </p:spPr>
          <p:txBody>
            <a:bodyPr lIns="0" tIns="0" rIns="0" bIns="0" rtlCol="0" anchor="t">
              <a:spAutoFit/>
            </a:bodyPr>
            <a:lstStyle/>
            <a:p>
              <a:pPr algn="l">
                <a:lnSpc>
                  <a:spcPts val="3360"/>
                </a:lnSpc>
              </a:pPr>
              <a:r>
                <a:rPr lang="en-US" sz="2800" b="1" dirty="0" err="1">
                  <a:solidFill>
                    <a:srgbClr val="FFFFFF"/>
                  </a:solidFill>
                  <a:latin typeface="Muli Semi-Bold"/>
                  <a:ea typeface="Muli Semi-Bold"/>
                  <a:cs typeface="Muli Semi-Bold"/>
                  <a:sym typeface="Muli Semi-Bold"/>
                </a:rPr>
                <a:t>Github</a:t>
              </a:r>
              <a:r>
                <a:rPr lang="en-US" sz="2800" b="1" dirty="0">
                  <a:solidFill>
                    <a:srgbClr val="FFFFFF"/>
                  </a:solidFill>
                  <a:latin typeface="Muli Semi-Bold"/>
                  <a:ea typeface="Muli Semi-Bold"/>
                  <a:cs typeface="Muli Semi-Bold"/>
                  <a:sym typeface="Muli Semi-Bold"/>
                </a:rPr>
                <a:t> Copilot</a:t>
              </a:r>
            </a:p>
          </p:txBody>
        </p:sp>
      </p:grpSp>
      <p:grpSp>
        <p:nvGrpSpPr>
          <p:cNvPr id="7" name="Group 7">
            <a:extLst>
              <a:ext uri="{FF2B5EF4-FFF2-40B4-BE49-F238E27FC236}">
                <a16:creationId xmlns:a16="http://schemas.microsoft.com/office/drawing/2014/main" id="{DCB71ADE-007F-946B-9ED0-1869187CFF8D}"/>
              </a:ext>
            </a:extLst>
          </p:cNvPr>
          <p:cNvGrpSpPr/>
          <p:nvPr/>
        </p:nvGrpSpPr>
        <p:grpSpPr>
          <a:xfrm>
            <a:off x="6906898" y="236488"/>
            <a:ext cx="11067305" cy="9814023"/>
            <a:chOff x="0" y="0"/>
            <a:chExt cx="8853844" cy="7851218"/>
          </a:xfrm>
        </p:grpSpPr>
        <p:sp>
          <p:nvSpPr>
            <p:cNvPr id="8" name="Freeform 8">
              <a:extLst>
                <a:ext uri="{FF2B5EF4-FFF2-40B4-BE49-F238E27FC236}">
                  <a16:creationId xmlns:a16="http://schemas.microsoft.com/office/drawing/2014/main" id="{0381C6CD-1739-885F-3909-891ECFF82F32}"/>
                </a:ext>
              </a:extLst>
            </p:cNvPr>
            <p:cNvSpPr/>
            <p:nvPr/>
          </p:nvSpPr>
          <p:spPr>
            <a:xfrm>
              <a:off x="0" y="0"/>
              <a:ext cx="8853844" cy="7851218"/>
            </a:xfrm>
            <a:custGeom>
              <a:avLst/>
              <a:gdLst/>
              <a:ahLst/>
              <a:cxnLst/>
              <a:rect l="l" t="t" r="r" b="b"/>
              <a:pathLst>
                <a:path w="8853844" h="7851218">
                  <a:moveTo>
                    <a:pt x="8729383" y="7851218"/>
                  </a:moveTo>
                  <a:lnTo>
                    <a:pt x="124460" y="7851218"/>
                  </a:lnTo>
                  <a:cubicBezTo>
                    <a:pt x="55880" y="7851218"/>
                    <a:pt x="0" y="7795338"/>
                    <a:pt x="0" y="7726759"/>
                  </a:cubicBezTo>
                  <a:lnTo>
                    <a:pt x="0" y="124460"/>
                  </a:lnTo>
                  <a:cubicBezTo>
                    <a:pt x="0" y="55880"/>
                    <a:pt x="55880" y="0"/>
                    <a:pt x="124460" y="0"/>
                  </a:cubicBezTo>
                  <a:lnTo>
                    <a:pt x="8729384" y="0"/>
                  </a:lnTo>
                  <a:cubicBezTo>
                    <a:pt x="8797964" y="0"/>
                    <a:pt x="8853844" y="55880"/>
                    <a:pt x="8853844" y="124460"/>
                  </a:cubicBezTo>
                  <a:lnTo>
                    <a:pt x="8853844" y="7726759"/>
                  </a:lnTo>
                  <a:cubicBezTo>
                    <a:pt x="8853844" y="7795338"/>
                    <a:pt x="8797964" y="7851218"/>
                    <a:pt x="8729384" y="7851218"/>
                  </a:cubicBezTo>
                  <a:close/>
                </a:path>
              </a:pathLst>
            </a:custGeom>
            <a:solidFill>
              <a:srgbClr val="FFFFFF"/>
            </a:solidFill>
          </p:spPr>
          <p:txBody>
            <a:bodyPr/>
            <a:lstStyle/>
            <a:p>
              <a:endParaRPr lang="en-US"/>
            </a:p>
          </p:txBody>
        </p:sp>
      </p:grpSp>
      <p:pic>
        <p:nvPicPr>
          <p:cNvPr id="14338" name="Picture 2">
            <a:extLst>
              <a:ext uri="{FF2B5EF4-FFF2-40B4-BE49-F238E27FC236}">
                <a16:creationId xmlns:a16="http://schemas.microsoft.com/office/drawing/2014/main" id="{68DADECD-1C6B-B8B3-3125-90298BC3E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4337" y="1943100"/>
            <a:ext cx="10512425" cy="502920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10">
            <a:extLst>
              <a:ext uri="{FF2B5EF4-FFF2-40B4-BE49-F238E27FC236}">
                <a16:creationId xmlns:a16="http://schemas.microsoft.com/office/drawing/2014/main" id="{B7C293EF-F2CB-78C3-EF7E-1CB39F153CA7}"/>
              </a:ext>
            </a:extLst>
          </p:cNvPr>
          <p:cNvGrpSpPr/>
          <p:nvPr/>
        </p:nvGrpSpPr>
        <p:grpSpPr>
          <a:xfrm>
            <a:off x="457200" y="3358822"/>
            <a:ext cx="5286268" cy="4005370"/>
            <a:chOff x="0" y="-38100"/>
            <a:chExt cx="5747885" cy="2974891"/>
          </a:xfrm>
        </p:grpSpPr>
        <p:sp>
          <p:nvSpPr>
            <p:cNvPr id="9" name="TextBox 11">
              <a:extLst>
                <a:ext uri="{FF2B5EF4-FFF2-40B4-BE49-F238E27FC236}">
                  <a16:creationId xmlns:a16="http://schemas.microsoft.com/office/drawing/2014/main" id="{09F0C7F0-F849-4BEE-A1C8-483BA10D4D21}"/>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endParaRPr lang="en-US" sz="2199" b="1" dirty="0">
                <a:solidFill>
                  <a:srgbClr val="0E2C4B"/>
                </a:solidFill>
                <a:latin typeface="Muli Bold"/>
                <a:ea typeface="Muli Bold"/>
                <a:cs typeface="Muli Bold"/>
                <a:sym typeface="Muli Bold"/>
              </a:endParaRPr>
            </a:p>
          </p:txBody>
        </p:sp>
        <p:sp>
          <p:nvSpPr>
            <p:cNvPr id="10" name="TextBox 12">
              <a:extLst>
                <a:ext uri="{FF2B5EF4-FFF2-40B4-BE49-F238E27FC236}">
                  <a16:creationId xmlns:a16="http://schemas.microsoft.com/office/drawing/2014/main" id="{E964C64C-7BFF-8888-2F5B-701A418B759D}"/>
                </a:ext>
              </a:extLst>
            </p:cNvPr>
            <p:cNvSpPr txBox="1"/>
            <p:nvPr/>
          </p:nvSpPr>
          <p:spPr>
            <a:xfrm>
              <a:off x="0" y="400974"/>
              <a:ext cx="5747885" cy="2535817"/>
            </a:xfrm>
            <a:prstGeom prst="rect">
              <a:avLst/>
            </a:prstGeom>
          </p:spPr>
          <p:txBody>
            <a:bodyPr lIns="0" tIns="0" rIns="0" bIns="0" rtlCol="0" anchor="t">
              <a:spAutoFit/>
            </a:bodyPr>
            <a:lstStyle/>
            <a:p>
              <a:pPr algn="l">
                <a:lnSpc>
                  <a:spcPts val="3079"/>
                </a:lnSpc>
              </a:pPr>
              <a:endParaRPr sz="2400" dirty="0">
                <a:solidFill>
                  <a:schemeClr val="tx2">
                    <a:lumMod val="50000"/>
                  </a:schemeClr>
                </a:solidFill>
                <a:latin typeface="Muli" panose="020B0604020202020204" charset="-93"/>
              </a:endParaRPr>
            </a:p>
            <a:p>
              <a:pPr>
                <a:lnSpc>
                  <a:spcPts val="3359"/>
                </a:lnSpc>
              </a:pPr>
              <a:r>
                <a:rPr lang="vi-VN" sz="2400" dirty="0">
                  <a:solidFill>
                    <a:srgbClr val="41505F"/>
                  </a:solidFill>
                  <a:latin typeface="Muli" panose="020B0604020202020204" charset="-93"/>
                </a:rPr>
                <a:t>Tuy nhiên, đôi khi chúng ta chỉ cần hiểu một dòng lệnh cụ thể mang tính kỹ thuật sâu . Lấy ví dụ với lệnh </a:t>
              </a:r>
              <a:r>
                <a:rPr lang="vi-VN" sz="2400" b="1" dirty="0">
                  <a:solidFill>
                    <a:srgbClr val="41505F"/>
                  </a:solidFill>
                  <a:latin typeface="Muli" panose="020B0604020202020204" charset="-93"/>
                </a:rPr>
                <a:t>EXPOSE 5000 </a:t>
              </a:r>
              <a:r>
                <a:rPr lang="vi-VN" sz="2400" dirty="0">
                  <a:solidFill>
                    <a:srgbClr val="41505F"/>
                  </a:solidFill>
                  <a:latin typeface="Muli" panose="020B0604020202020204" charset="-93"/>
                </a:rPr>
                <a:t>trong Dockerfile . Xét về mặt luận lý, nếu hiểu sai lệnh này là mở cổng mạng thực tế, lập trình viên sẽ gặp lỗi khi triển khai .</a:t>
              </a:r>
              <a:endParaRPr lang="en-US" sz="2400" dirty="0">
                <a:solidFill>
                  <a:srgbClr val="41505F"/>
                </a:solidFill>
                <a:latin typeface="Muli" panose="020B0604020202020204" charset="-93"/>
                <a:sym typeface="Muli"/>
              </a:endParaRPr>
            </a:p>
          </p:txBody>
        </p:sp>
      </p:grpSp>
    </p:spTree>
    <p:extLst>
      <p:ext uri="{BB962C8B-B14F-4D97-AF65-F5344CB8AC3E}">
        <p14:creationId xmlns:p14="http://schemas.microsoft.com/office/powerpoint/2010/main" val="1649102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D0E4BC-2682-AA87-5304-8CC29A4F2833}"/>
            </a:ext>
          </a:extLst>
        </p:cNvPr>
        <p:cNvGrpSpPr/>
        <p:nvPr/>
      </p:nvGrpSpPr>
      <p:grpSpPr>
        <a:xfrm>
          <a:off x="0" y="0"/>
          <a:ext cx="0" cy="0"/>
          <a:chOff x="0" y="0"/>
          <a:chExt cx="0" cy="0"/>
        </a:xfrm>
      </p:grpSpPr>
      <p:sp>
        <p:nvSpPr>
          <p:cNvPr id="8199" name="Rectangle 8198">
            <a:extLst>
              <a:ext uri="{FF2B5EF4-FFF2-40B4-BE49-F238E27FC236}">
                <a16:creationId xmlns:a16="http://schemas.microsoft.com/office/drawing/2014/main" id="{CC396D94-2B9B-FA07-5E74-D53369266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6D75FD35-BF3D-AE3F-CAC9-7E90E17E8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518" y="720090"/>
            <a:ext cx="16856964"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03" name="Straight Connector 8202">
            <a:extLst>
              <a:ext uri="{FF2B5EF4-FFF2-40B4-BE49-F238E27FC236}">
                <a16:creationId xmlns:a16="http://schemas.microsoft.com/office/drawing/2014/main" id="{3FD63420-9AA0-2DFD-1D83-0F72CECC25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19937"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grpSp>
        <p:nvGrpSpPr>
          <p:cNvPr id="2" name="Group 2">
            <a:extLst>
              <a:ext uri="{FF2B5EF4-FFF2-40B4-BE49-F238E27FC236}">
                <a16:creationId xmlns:a16="http://schemas.microsoft.com/office/drawing/2014/main" id="{760E46AB-BBA1-9C32-C9DF-B75064C9A457}"/>
              </a:ext>
            </a:extLst>
          </p:cNvPr>
          <p:cNvGrpSpPr/>
          <p:nvPr/>
        </p:nvGrpSpPr>
        <p:grpSpPr>
          <a:xfrm>
            <a:off x="9380725" y="3043154"/>
            <a:ext cx="7942073" cy="2824120"/>
            <a:chOff x="0" y="297180"/>
            <a:chExt cx="9703567" cy="3450486"/>
          </a:xfrm>
        </p:grpSpPr>
        <p:sp>
          <p:nvSpPr>
            <p:cNvPr id="3" name="TextBox 3">
              <a:extLst>
                <a:ext uri="{FF2B5EF4-FFF2-40B4-BE49-F238E27FC236}">
                  <a16:creationId xmlns:a16="http://schemas.microsoft.com/office/drawing/2014/main" id="{383314E0-8B09-CD0F-681A-F5AD53238F79}"/>
                </a:ext>
              </a:extLst>
            </p:cNvPr>
            <p:cNvSpPr txBox="1"/>
            <p:nvPr/>
          </p:nvSpPr>
          <p:spPr>
            <a:xfrm>
              <a:off x="0" y="297180"/>
              <a:ext cx="9703567" cy="787175"/>
            </a:xfrm>
            <a:prstGeom prst="rect">
              <a:avLst/>
            </a:prstGeom>
          </p:spPr>
          <p:txBody>
            <a:bodyPr lIns="0" tIns="0" rIns="0" bIns="0" rtlCol="0" anchor="t">
              <a:spAutoFit/>
            </a:bodyPr>
            <a:lstStyle/>
            <a:p>
              <a:pPr defTabSz="996696">
                <a:lnSpc>
                  <a:spcPts val="5265"/>
                </a:lnSpc>
                <a:spcAft>
                  <a:spcPts val="600"/>
                </a:spcAft>
              </a:pPr>
              <a:r>
                <a:rPr lang="en-US" sz="4387" b="1" kern="1200" dirty="0">
                  <a:solidFill>
                    <a:srgbClr val="0E2C4B"/>
                  </a:solidFill>
                  <a:latin typeface="Muli Ultra-Bold"/>
                  <a:ea typeface="+mn-ea"/>
                  <a:cs typeface="+mn-cs"/>
                </a:rPr>
                <a:t>Debug </a:t>
              </a:r>
              <a:r>
                <a:rPr lang="en-US" sz="4387" b="1" kern="1200" dirty="0" err="1">
                  <a:solidFill>
                    <a:srgbClr val="0E2C4B"/>
                  </a:solidFill>
                  <a:latin typeface="Muli Ultra-Bold"/>
                  <a:ea typeface="+mn-ea"/>
                  <a:cs typeface="+mn-cs"/>
                </a:rPr>
                <a:t>với</a:t>
              </a:r>
              <a:r>
                <a:rPr lang="en-US" sz="4387" b="1" kern="1200" dirty="0">
                  <a:solidFill>
                    <a:srgbClr val="0E2C4B"/>
                  </a:solidFill>
                  <a:latin typeface="Muli Ultra-Bold"/>
                  <a:ea typeface="+mn-ea"/>
                  <a:cs typeface="+mn-cs"/>
                </a:rPr>
                <a:t> GenAI</a:t>
              </a:r>
              <a:endParaRPr lang="en-US" sz="4025" b="1" dirty="0">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4B8B5BEC-F386-9A23-942B-AEA4BBA37CC0}"/>
                </a:ext>
              </a:extLst>
            </p:cNvPr>
            <p:cNvSpPr txBox="1"/>
            <p:nvPr/>
          </p:nvSpPr>
          <p:spPr>
            <a:xfrm>
              <a:off x="0" y="1322686"/>
              <a:ext cx="8956646" cy="2424980"/>
            </a:xfrm>
            <a:prstGeom prst="rect">
              <a:avLst/>
            </a:prstGeom>
          </p:spPr>
          <p:txBody>
            <a:bodyPr lIns="0" tIns="0" rIns="0" bIns="0" rtlCol="0" anchor="t">
              <a:spAutoFit/>
            </a:bodyPr>
            <a:lstStyle/>
            <a:p>
              <a:pPr>
                <a:lnSpc>
                  <a:spcPts val="2940"/>
                </a:lnSpc>
                <a:spcAft>
                  <a:spcPts val="600"/>
                </a:spcAft>
              </a:pPr>
              <a:r>
                <a:rPr lang="vi-VN" sz="2100" dirty="0">
                  <a:solidFill>
                    <a:srgbClr val="0E2C4B"/>
                  </a:solidFill>
                  <a:latin typeface="Muli"/>
                </a:rPr>
                <a:t>Giải thích bằng văn bản, dù chi tiết đến đâu, vẫn có giới hạn khi đối mặt với các mã nguồn tối nghĩa, thiếu tài liệu (docstrings) hoặc không có gợi ý kiểu dữ liệu (type hints) .</a:t>
              </a:r>
              <a:endParaRPr lang="en-US" sz="2100" dirty="0">
                <a:solidFill>
                  <a:srgbClr val="0E2C4B"/>
                </a:solidFill>
                <a:latin typeface="Muli"/>
              </a:endParaRPr>
            </a:p>
            <a:p>
              <a:pPr>
                <a:lnSpc>
                  <a:spcPts val="2940"/>
                </a:lnSpc>
                <a:spcAft>
                  <a:spcPts val="600"/>
                </a:spcAft>
              </a:pPr>
              <a:endParaRPr lang="en-US" sz="2100" dirty="0">
                <a:solidFill>
                  <a:srgbClr val="0E2C4B"/>
                </a:solidFill>
                <a:latin typeface="Muli"/>
                <a:sym typeface="Muli"/>
              </a:endParaRPr>
            </a:p>
            <a:p>
              <a:pPr>
                <a:lnSpc>
                  <a:spcPts val="2940"/>
                </a:lnSpc>
                <a:spcAft>
                  <a:spcPts val="600"/>
                </a:spcAft>
              </a:pPr>
              <a:endParaRPr lang="en-US" sz="2100" dirty="0">
                <a:solidFill>
                  <a:srgbClr val="0E2C4B"/>
                </a:solidFill>
                <a:latin typeface="Muli"/>
                <a:sym typeface="Muli"/>
              </a:endParaRPr>
            </a:p>
          </p:txBody>
        </p:sp>
      </p:grpSp>
      <p:pic>
        <p:nvPicPr>
          <p:cNvPr id="15362" name="Picture 2">
            <a:extLst>
              <a:ext uri="{FF2B5EF4-FFF2-40B4-BE49-F238E27FC236}">
                <a16:creationId xmlns:a16="http://schemas.microsoft.com/office/drawing/2014/main" id="{1EE1E0EE-14E8-25A7-E292-321CF8963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5077493"/>
            <a:ext cx="5526556" cy="3688429"/>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FB6E4373-DAD7-7367-0CB9-D818F7810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714500"/>
            <a:ext cx="5596756" cy="284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6389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9860E7-F301-4D9B-7C70-61B039B3AABC}"/>
            </a:ext>
          </a:extLst>
        </p:cNvPr>
        <p:cNvGrpSpPr/>
        <p:nvPr/>
      </p:nvGrpSpPr>
      <p:grpSpPr>
        <a:xfrm>
          <a:off x="0" y="0"/>
          <a:ext cx="0" cy="0"/>
          <a:chOff x="0" y="0"/>
          <a:chExt cx="0" cy="0"/>
        </a:xfrm>
      </p:grpSpPr>
      <p:sp>
        <p:nvSpPr>
          <p:cNvPr id="8199" name="Rectangle 8198">
            <a:extLst>
              <a:ext uri="{FF2B5EF4-FFF2-40B4-BE49-F238E27FC236}">
                <a16:creationId xmlns:a16="http://schemas.microsoft.com/office/drawing/2014/main" id="{BEBE3F38-693D-13FF-F534-53D1B4D14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9110F71E-25A3-1895-0350-B01CDB4DB7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518" y="720090"/>
            <a:ext cx="16856964"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03" name="Straight Connector 8202">
            <a:extLst>
              <a:ext uri="{FF2B5EF4-FFF2-40B4-BE49-F238E27FC236}">
                <a16:creationId xmlns:a16="http://schemas.microsoft.com/office/drawing/2014/main" id="{B05C0C76-EA38-3A0C-30F1-CDDE3DD1D6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19937"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grpSp>
        <p:nvGrpSpPr>
          <p:cNvPr id="2" name="Group 2">
            <a:extLst>
              <a:ext uri="{FF2B5EF4-FFF2-40B4-BE49-F238E27FC236}">
                <a16:creationId xmlns:a16="http://schemas.microsoft.com/office/drawing/2014/main" id="{567EDF9C-A8FE-30CE-12AE-D2CFD0108875}"/>
              </a:ext>
            </a:extLst>
          </p:cNvPr>
          <p:cNvGrpSpPr/>
          <p:nvPr/>
        </p:nvGrpSpPr>
        <p:grpSpPr>
          <a:xfrm>
            <a:off x="9380725" y="3043154"/>
            <a:ext cx="7942073" cy="5132444"/>
            <a:chOff x="0" y="297180"/>
            <a:chExt cx="9703567" cy="6270777"/>
          </a:xfrm>
        </p:grpSpPr>
        <p:sp>
          <p:nvSpPr>
            <p:cNvPr id="3" name="TextBox 3">
              <a:extLst>
                <a:ext uri="{FF2B5EF4-FFF2-40B4-BE49-F238E27FC236}">
                  <a16:creationId xmlns:a16="http://schemas.microsoft.com/office/drawing/2014/main" id="{DB1BAEAC-43BB-2361-AD91-A91163FE6735}"/>
                </a:ext>
              </a:extLst>
            </p:cNvPr>
            <p:cNvSpPr txBox="1"/>
            <p:nvPr/>
          </p:nvSpPr>
          <p:spPr>
            <a:xfrm>
              <a:off x="0" y="297180"/>
              <a:ext cx="9703567" cy="787175"/>
            </a:xfrm>
            <a:prstGeom prst="rect">
              <a:avLst/>
            </a:prstGeom>
          </p:spPr>
          <p:txBody>
            <a:bodyPr lIns="0" tIns="0" rIns="0" bIns="0" rtlCol="0" anchor="t">
              <a:spAutoFit/>
            </a:bodyPr>
            <a:lstStyle/>
            <a:p>
              <a:pPr defTabSz="996696">
                <a:lnSpc>
                  <a:spcPts val="5265"/>
                </a:lnSpc>
                <a:spcAft>
                  <a:spcPts val="600"/>
                </a:spcAft>
              </a:pPr>
              <a:r>
                <a:rPr lang="en-US" sz="4387" b="1" kern="1200" dirty="0">
                  <a:solidFill>
                    <a:srgbClr val="0E2C4B"/>
                  </a:solidFill>
                  <a:latin typeface="Muli Ultra-Bold"/>
                  <a:ea typeface="+mn-ea"/>
                  <a:cs typeface="+mn-cs"/>
                </a:rPr>
                <a:t>Debug </a:t>
              </a:r>
              <a:r>
                <a:rPr lang="en-US" sz="4387" b="1" kern="1200" dirty="0" err="1">
                  <a:solidFill>
                    <a:srgbClr val="0E2C4B"/>
                  </a:solidFill>
                  <a:latin typeface="Muli Ultra-Bold"/>
                  <a:ea typeface="+mn-ea"/>
                  <a:cs typeface="+mn-cs"/>
                </a:rPr>
                <a:t>với</a:t>
              </a:r>
              <a:r>
                <a:rPr lang="en-US" sz="4387" b="1" kern="1200" dirty="0">
                  <a:solidFill>
                    <a:srgbClr val="0E2C4B"/>
                  </a:solidFill>
                  <a:latin typeface="Muli Ultra-Bold"/>
                  <a:ea typeface="+mn-ea"/>
                  <a:cs typeface="+mn-cs"/>
                </a:rPr>
                <a:t> GenAI</a:t>
              </a:r>
              <a:endParaRPr lang="en-US" sz="4025" b="1" dirty="0">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2ECD24C6-64E1-19F7-3FDD-99C3CC95E1EC}"/>
                </a:ext>
              </a:extLst>
            </p:cNvPr>
            <p:cNvSpPr txBox="1"/>
            <p:nvPr/>
          </p:nvSpPr>
          <p:spPr>
            <a:xfrm>
              <a:off x="0" y="1322686"/>
              <a:ext cx="8956646" cy="5245271"/>
            </a:xfrm>
            <a:prstGeom prst="rect">
              <a:avLst/>
            </a:prstGeom>
          </p:spPr>
          <p:txBody>
            <a:bodyPr lIns="0" tIns="0" rIns="0" bIns="0" rtlCol="0" anchor="t">
              <a:spAutoFit/>
            </a:bodyPr>
            <a:lstStyle/>
            <a:p>
              <a:pPr>
                <a:lnSpc>
                  <a:spcPts val="2940"/>
                </a:lnSpc>
                <a:spcAft>
                  <a:spcPts val="600"/>
                </a:spcAft>
              </a:pPr>
              <a:r>
                <a:rPr lang="en-US" sz="2400" b="1" dirty="0" err="1">
                  <a:solidFill>
                    <a:srgbClr val="0E2C4B"/>
                  </a:solidFill>
                  <a:sym typeface="Muli Bold"/>
                </a:rPr>
                <a:t>Giải</a:t>
              </a:r>
              <a:r>
                <a:rPr lang="en-US" sz="2400" b="1" dirty="0">
                  <a:solidFill>
                    <a:srgbClr val="0E2C4B"/>
                  </a:solidFill>
                  <a:sym typeface="Muli Bold"/>
                </a:rPr>
                <a:t> </a:t>
              </a:r>
              <a:r>
                <a:rPr lang="en-US" sz="2400" b="1" dirty="0" err="1">
                  <a:solidFill>
                    <a:srgbClr val="0E2C4B"/>
                  </a:solidFill>
                  <a:sym typeface="Muli Bold"/>
                </a:rPr>
                <a:t>pháp</a:t>
              </a:r>
              <a:endParaRPr lang="en-US" sz="2400" b="1" dirty="0">
                <a:solidFill>
                  <a:srgbClr val="0E2C4B"/>
                </a:solidFill>
                <a:sym typeface="Muli Bold"/>
              </a:endParaRPr>
            </a:p>
            <a:p>
              <a:pPr>
                <a:lnSpc>
                  <a:spcPts val="2940"/>
                </a:lnSpc>
                <a:spcAft>
                  <a:spcPts val="600"/>
                </a:spcAft>
              </a:pPr>
              <a:r>
                <a:rPr lang="en-US" sz="2100" dirty="0" err="1">
                  <a:solidFill>
                    <a:srgbClr val="0E2C4B"/>
                  </a:solidFill>
                  <a:latin typeface="Muli"/>
                </a:rPr>
                <a:t>Chúng</a:t>
              </a:r>
              <a:r>
                <a:rPr lang="en-US" sz="2100" dirty="0">
                  <a:solidFill>
                    <a:srgbClr val="0E2C4B"/>
                  </a:solidFill>
                  <a:latin typeface="Muli"/>
                </a:rPr>
                <a:t> ta </a:t>
              </a:r>
              <a:r>
                <a:rPr lang="en-US" sz="2100" dirty="0" err="1">
                  <a:solidFill>
                    <a:srgbClr val="0E2C4B"/>
                  </a:solidFill>
                  <a:latin typeface="Muli"/>
                </a:rPr>
                <a:t>tận</a:t>
              </a:r>
              <a:r>
                <a:rPr lang="en-US" sz="2100" dirty="0">
                  <a:solidFill>
                    <a:srgbClr val="0E2C4B"/>
                  </a:solidFill>
                  <a:latin typeface="Muli"/>
                </a:rPr>
                <a:t> </a:t>
              </a:r>
              <a:r>
                <a:rPr lang="en-US" sz="2100" dirty="0" err="1">
                  <a:solidFill>
                    <a:srgbClr val="0E2C4B"/>
                  </a:solidFill>
                  <a:latin typeface="Muli"/>
                </a:rPr>
                <a:t>dụng</a:t>
              </a:r>
              <a:r>
                <a:rPr lang="en-US" sz="2100" dirty="0">
                  <a:solidFill>
                    <a:srgbClr val="0E2C4B"/>
                  </a:solidFill>
                  <a:latin typeface="Muli"/>
                </a:rPr>
                <a:t> </a:t>
              </a:r>
              <a:r>
                <a:rPr lang="en-US" sz="2100" dirty="0" err="1">
                  <a:solidFill>
                    <a:srgbClr val="0E2C4B"/>
                  </a:solidFill>
                  <a:latin typeface="Muli"/>
                </a:rPr>
                <a:t>năng</a:t>
              </a:r>
              <a:r>
                <a:rPr lang="en-US" sz="2100" dirty="0">
                  <a:solidFill>
                    <a:srgbClr val="0E2C4B"/>
                  </a:solidFill>
                  <a:latin typeface="Muli"/>
                </a:rPr>
                <a:t> </a:t>
              </a:r>
              <a:r>
                <a:rPr lang="en-US" sz="2100" dirty="0" err="1">
                  <a:solidFill>
                    <a:srgbClr val="0E2C4B"/>
                  </a:solidFill>
                  <a:latin typeface="Muli"/>
                </a:rPr>
                <a:t>lực</a:t>
              </a:r>
              <a:r>
                <a:rPr lang="en-US" sz="2100" dirty="0">
                  <a:solidFill>
                    <a:srgbClr val="0E2C4B"/>
                  </a:solidFill>
                  <a:latin typeface="Muli"/>
                </a:rPr>
                <a:t> </a:t>
              </a:r>
              <a:r>
                <a:rPr lang="en-US" sz="2100" dirty="0" err="1">
                  <a:solidFill>
                    <a:srgbClr val="0E2C4B"/>
                  </a:solidFill>
                  <a:latin typeface="Muli"/>
                </a:rPr>
                <a:t>sinh</a:t>
              </a:r>
              <a:r>
                <a:rPr lang="en-US" sz="2100" dirty="0">
                  <a:solidFill>
                    <a:srgbClr val="0E2C4B"/>
                  </a:solidFill>
                  <a:latin typeface="Muli"/>
                </a:rPr>
                <a:t> </a:t>
              </a:r>
              <a:r>
                <a:rPr lang="en-US" sz="2100" dirty="0" err="1">
                  <a:solidFill>
                    <a:srgbClr val="0E2C4B"/>
                  </a:solidFill>
                  <a:latin typeface="Muli"/>
                </a:rPr>
                <a:t>tạo</a:t>
              </a:r>
              <a:r>
                <a:rPr lang="en-US" sz="2100" dirty="0">
                  <a:solidFill>
                    <a:srgbClr val="0E2C4B"/>
                  </a:solidFill>
                  <a:latin typeface="Muli"/>
                </a:rPr>
                <a:t> </a:t>
              </a:r>
              <a:r>
                <a:rPr lang="en-US" sz="2100" dirty="0" err="1">
                  <a:solidFill>
                    <a:srgbClr val="0E2C4B"/>
                  </a:solidFill>
                  <a:latin typeface="Muli"/>
                </a:rPr>
                <a:t>của</a:t>
              </a:r>
              <a:r>
                <a:rPr lang="en-US" sz="2100" dirty="0">
                  <a:solidFill>
                    <a:srgbClr val="0E2C4B"/>
                  </a:solidFill>
                  <a:latin typeface="Muli"/>
                </a:rPr>
                <a:t> GenAI (</a:t>
              </a:r>
              <a:r>
                <a:rPr lang="en-US" sz="2100" dirty="0" err="1">
                  <a:solidFill>
                    <a:srgbClr val="0E2C4B"/>
                  </a:solidFill>
                  <a:latin typeface="Muli"/>
                </a:rPr>
                <a:t>đặc</a:t>
              </a:r>
              <a:r>
                <a:rPr lang="en-US" sz="2100" dirty="0">
                  <a:solidFill>
                    <a:srgbClr val="0E2C4B"/>
                  </a:solidFill>
                  <a:latin typeface="Muli"/>
                </a:rPr>
                <a:t> </a:t>
              </a:r>
              <a:r>
                <a:rPr lang="en-US" sz="2100" dirty="0" err="1">
                  <a:solidFill>
                    <a:srgbClr val="0E2C4B"/>
                  </a:solidFill>
                  <a:latin typeface="Muli"/>
                </a:rPr>
                <a:t>biệt</a:t>
              </a:r>
              <a:r>
                <a:rPr lang="en-US" sz="2100" dirty="0">
                  <a:solidFill>
                    <a:srgbClr val="0E2C4B"/>
                  </a:solidFill>
                  <a:latin typeface="Muli"/>
                </a:rPr>
                <a:t> </a:t>
              </a:r>
              <a:r>
                <a:rPr lang="en-US" sz="2100" dirty="0" err="1">
                  <a:solidFill>
                    <a:srgbClr val="0E2C4B"/>
                  </a:solidFill>
                  <a:latin typeface="Muli"/>
                </a:rPr>
                <a:t>là</a:t>
              </a:r>
              <a:r>
                <a:rPr lang="en-US" sz="2100" dirty="0">
                  <a:solidFill>
                    <a:srgbClr val="0E2C4B"/>
                  </a:solidFill>
                  <a:latin typeface="Muli"/>
                </a:rPr>
                <a:t> Copilot </a:t>
              </a:r>
              <a:r>
                <a:rPr lang="en-US" sz="2100" dirty="0" err="1">
                  <a:solidFill>
                    <a:srgbClr val="0E2C4B"/>
                  </a:solidFill>
                  <a:latin typeface="Muli"/>
                </a:rPr>
                <a:t>hoặc</a:t>
              </a:r>
              <a:r>
                <a:rPr lang="en-US" sz="2100" dirty="0">
                  <a:solidFill>
                    <a:srgbClr val="0E2C4B"/>
                  </a:solidFill>
                  <a:latin typeface="Muli"/>
                </a:rPr>
                <a:t> ChatGPT) </a:t>
              </a:r>
              <a:r>
                <a:rPr lang="en-US" sz="2100" dirty="0" err="1">
                  <a:solidFill>
                    <a:srgbClr val="0E2C4B"/>
                  </a:solidFill>
                  <a:latin typeface="Muli"/>
                </a:rPr>
                <a:t>để</a:t>
              </a:r>
              <a:r>
                <a:rPr lang="en-US" sz="2100" dirty="0">
                  <a:solidFill>
                    <a:srgbClr val="0E2C4B"/>
                  </a:solidFill>
                  <a:latin typeface="Muli"/>
                </a:rPr>
                <a:t> </a:t>
              </a:r>
              <a:r>
                <a:rPr lang="en-US" sz="2100" dirty="0" err="1">
                  <a:solidFill>
                    <a:srgbClr val="0E2C4B"/>
                  </a:solidFill>
                  <a:latin typeface="Muli"/>
                </a:rPr>
                <a:t>tạo</a:t>
              </a:r>
              <a:r>
                <a:rPr lang="en-US" sz="2100" dirty="0">
                  <a:solidFill>
                    <a:srgbClr val="0E2C4B"/>
                  </a:solidFill>
                  <a:latin typeface="Muli"/>
                </a:rPr>
                <a:t> </a:t>
              </a:r>
              <a:r>
                <a:rPr lang="en-US" sz="2100" dirty="0" err="1">
                  <a:solidFill>
                    <a:srgbClr val="0E2C4B"/>
                  </a:solidFill>
                  <a:latin typeface="Muli"/>
                </a:rPr>
                <a:t>ra</a:t>
              </a:r>
              <a:r>
                <a:rPr lang="en-US" sz="2100" dirty="0">
                  <a:solidFill>
                    <a:srgbClr val="0E2C4B"/>
                  </a:solidFill>
                  <a:latin typeface="Muli"/>
                </a:rPr>
                <a:t> </a:t>
              </a:r>
              <a:r>
                <a:rPr lang="en-US" sz="2100" dirty="0" err="1">
                  <a:solidFill>
                    <a:srgbClr val="0E2C4B"/>
                  </a:solidFill>
                  <a:latin typeface="Muli"/>
                </a:rPr>
                <a:t>các</a:t>
              </a:r>
              <a:r>
                <a:rPr lang="en-US" sz="2100" dirty="0">
                  <a:solidFill>
                    <a:srgbClr val="0E2C4B"/>
                  </a:solidFill>
                  <a:latin typeface="Muli"/>
                </a:rPr>
                <a:t> </a:t>
              </a:r>
              <a:r>
                <a:rPr lang="en-US" sz="2100" dirty="0" err="1">
                  <a:solidFill>
                    <a:srgbClr val="0E2C4B"/>
                  </a:solidFill>
                  <a:latin typeface="Muli"/>
                </a:rPr>
                <a:t>tham</a:t>
              </a:r>
              <a:r>
                <a:rPr lang="en-US" sz="2100" dirty="0">
                  <a:solidFill>
                    <a:srgbClr val="0E2C4B"/>
                  </a:solidFill>
                  <a:latin typeface="Muli"/>
                </a:rPr>
                <a:t> </a:t>
              </a:r>
              <a:r>
                <a:rPr lang="en-US" sz="2100" dirty="0" err="1">
                  <a:solidFill>
                    <a:srgbClr val="0E2C4B"/>
                  </a:solidFill>
                  <a:latin typeface="Muli"/>
                </a:rPr>
                <a:t>số</a:t>
              </a:r>
              <a:r>
                <a:rPr lang="en-US" sz="2100" dirty="0">
                  <a:solidFill>
                    <a:srgbClr val="0E2C4B"/>
                  </a:solidFill>
                  <a:latin typeface="Muli"/>
                </a:rPr>
                <a:t> </a:t>
              </a:r>
              <a:r>
                <a:rPr lang="en-US" sz="2100" dirty="0" err="1">
                  <a:solidFill>
                    <a:srgbClr val="0E2C4B"/>
                  </a:solidFill>
                  <a:latin typeface="Muli"/>
                </a:rPr>
                <a:t>đầu</a:t>
              </a:r>
              <a:r>
                <a:rPr lang="en-US" sz="2100" dirty="0">
                  <a:solidFill>
                    <a:srgbClr val="0E2C4B"/>
                  </a:solidFill>
                  <a:latin typeface="Muli"/>
                </a:rPr>
                <a:t> </a:t>
              </a:r>
              <a:r>
                <a:rPr lang="en-US" sz="2100" dirty="0" err="1">
                  <a:solidFill>
                    <a:srgbClr val="0E2C4B"/>
                  </a:solidFill>
                  <a:latin typeface="Muli"/>
                </a:rPr>
                <a:t>vào</a:t>
              </a:r>
              <a:r>
                <a:rPr lang="en-US" sz="2100" dirty="0">
                  <a:solidFill>
                    <a:srgbClr val="0E2C4B"/>
                  </a:solidFill>
                  <a:latin typeface="Muli"/>
                </a:rPr>
                <a:t> </a:t>
              </a:r>
              <a:r>
                <a:rPr lang="en-US" sz="2100" dirty="0" err="1">
                  <a:solidFill>
                    <a:srgbClr val="0E2C4B"/>
                  </a:solidFill>
                  <a:latin typeface="Muli"/>
                </a:rPr>
                <a:t>giả</a:t>
              </a:r>
              <a:r>
                <a:rPr lang="en-US" sz="2100" dirty="0">
                  <a:solidFill>
                    <a:srgbClr val="0E2C4B"/>
                  </a:solidFill>
                  <a:latin typeface="Muli"/>
                </a:rPr>
                <a:t> </a:t>
              </a:r>
              <a:r>
                <a:rPr lang="en-US" sz="2100" dirty="0" err="1">
                  <a:solidFill>
                    <a:srgbClr val="0E2C4B"/>
                  </a:solidFill>
                  <a:latin typeface="Muli"/>
                </a:rPr>
                <a:t>lập</a:t>
              </a:r>
              <a:r>
                <a:rPr lang="en-US" sz="2100" dirty="0">
                  <a:solidFill>
                    <a:srgbClr val="0E2C4B"/>
                  </a:solidFill>
                  <a:latin typeface="Muli"/>
                </a:rPr>
                <a:t>. </a:t>
              </a:r>
              <a:r>
                <a:rPr lang="vi-VN" sz="2100" dirty="0">
                  <a:solidFill>
                    <a:srgbClr val="0E2C4B"/>
                  </a:solidFill>
                  <a:latin typeface="Muli"/>
                </a:rPr>
                <a:t>Sau khi có dữ liệu mẫu, lập trình viên sử dụng trình gỡ lỗi (Debugger) tích hợp trong VS Code hoặc PyCharm để chạy từng bước (step-through). Việc tận mắt quan sát sự biến đổi trạng thái của các biến số bên trong bộ nhớ mang lại sự thấu hiểu sâu sắc và thực tế hơn bất kỳ tài liệu dạng văn bản nào .</a:t>
              </a:r>
              <a:endParaRPr lang="en-US" sz="2100" dirty="0">
                <a:solidFill>
                  <a:srgbClr val="0E2C4B"/>
                </a:solidFill>
                <a:latin typeface="Muli"/>
              </a:endParaRPr>
            </a:p>
            <a:p>
              <a:pPr>
                <a:lnSpc>
                  <a:spcPts val="2940"/>
                </a:lnSpc>
                <a:spcAft>
                  <a:spcPts val="600"/>
                </a:spcAft>
              </a:pPr>
              <a:endParaRPr lang="en-US" sz="2100" dirty="0">
                <a:solidFill>
                  <a:srgbClr val="0E2C4B"/>
                </a:solidFill>
                <a:latin typeface="Muli"/>
                <a:sym typeface="Muli"/>
              </a:endParaRPr>
            </a:p>
            <a:p>
              <a:pPr>
                <a:lnSpc>
                  <a:spcPts val="2940"/>
                </a:lnSpc>
                <a:spcAft>
                  <a:spcPts val="600"/>
                </a:spcAft>
              </a:pPr>
              <a:endParaRPr lang="en-US" sz="2100" dirty="0">
                <a:solidFill>
                  <a:srgbClr val="0E2C4B"/>
                </a:solidFill>
                <a:latin typeface="Muli"/>
                <a:sym typeface="Muli"/>
              </a:endParaRPr>
            </a:p>
          </p:txBody>
        </p:sp>
      </p:grpSp>
      <p:pic>
        <p:nvPicPr>
          <p:cNvPr id="15362" name="Picture 2">
            <a:extLst>
              <a:ext uri="{FF2B5EF4-FFF2-40B4-BE49-F238E27FC236}">
                <a16:creationId xmlns:a16="http://schemas.microsoft.com/office/drawing/2014/main" id="{6934138C-4278-8A11-56CF-C1ED609349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5077493"/>
            <a:ext cx="5526556" cy="3688429"/>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DD3D1176-7468-5EBF-D8CD-DDB150907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714500"/>
            <a:ext cx="5596756" cy="284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812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9417DA-5FC1-DECB-4011-60D8884C7899}"/>
            </a:ext>
          </a:extLst>
        </p:cNvPr>
        <p:cNvGrpSpPr/>
        <p:nvPr/>
      </p:nvGrpSpPr>
      <p:grpSpPr>
        <a:xfrm>
          <a:off x="0" y="0"/>
          <a:ext cx="0" cy="0"/>
          <a:chOff x="0" y="0"/>
          <a:chExt cx="0" cy="0"/>
        </a:xfrm>
      </p:grpSpPr>
      <p:sp>
        <p:nvSpPr>
          <p:cNvPr id="8199" name="Rectangle 8198">
            <a:extLst>
              <a:ext uri="{FF2B5EF4-FFF2-40B4-BE49-F238E27FC236}">
                <a16:creationId xmlns:a16="http://schemas.microsoft.com/office/drawing/2014/main" id="{1A0F2BF6-B9D9-CB8E-2420-5D8AEC846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FB796ED2-DB4A-E9A2-E4B0-47DCDDB0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518" y="720090"/>
            <a:ext cx="16856964"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03" name="Straight Connector 8202">
            <a:extLst>
              <a:ext uri="{FF2B5EF4-FFF2-40B4-BE49-F238E27FC236}">
                <a16:creationId xmlns:a16="http://schemas.microsoft.com/office/drawing/2014/main" id="{F62C223E-92E4-7F98-54E0-D225207B45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19937"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grpSp>
        <p:nvGrpSpPr>
          <p:cNvPr id="2" name="Group 2">
            <a:extLst>
              <a:ext uri="{FF2B5EF4-FFF2-40B4-BE49-F238E27FC236}">
                <a16:creationId xmlns:a16="http://schemas.microsoft.com/office/drawing/2014/main" id="{EE723B4C-45F2-9418-DB94-12EE37A61FB9}"/>
              </a:ext>
            </a:extLst>
          </p:cNvPr>
          <p:cNvGrpSpPr/>
          <p:nvPr/>
        </p:nvGrpSpPr>
        <p:grpSpPr>
          <a:xfrm>
            <a:off x="9380725" y="3043154"/>
            <a:ext cx="7942073" cy="5132444"/>
            <a:chOff x="0" y="297180"/>
            <a:chExt cx="9703567" cy="6270777"/>
          </a:xfrm>
        </p:grpSpPr>
        <p:sp>
          <p:nvSpPr>
            <p:cNvPr id="3" name="TextBox 3">
              <a:extLst>
                <a:ext uri="{FF2B5EF4-FFF2-40B4-BE49-F238E27FC236}">
                  <a16:creationId xmlns:a16="http://schemas.microsoft.com/office/drawing/2014/main" id="{983FF529-F611-745D-7D1D-4598DB4B142D}"/>
                </a:ext>
              </a:extLst>
            </p:cNvPr>
            <p:cNvSpPr txBox="1"/>
            <p:nvPr/>
          </p:nvSpPr>
          <p:spPr>
            <a:xfrm>
              <a:off x="0" y="297180"/>
              <a:ext cx="9703567" cy="787175"/>
            </a:xfrm>
            <a:prstGeom prst="rect">
              <a:avLst/>
            </a:prstGeom>
          </p:spPr>
          <p:txBody>
            <a:bodyPr lIns="0" tIns="0" rIns="0" bIns="0" rtlCol="0" anchor="t">
              <a:spAutoFit/>
            </a:bodyPr>
            <a:lstStyle/>
            <a:p>
              <a:pPr defTabSz="996696">
                <a:lnSpc>
                  <a:spcPts val="5265"/>
                </a:lnSpc>
                <a:spcAft>
                  <a:spcPts val="600"/>
                </a:spcAft>
              </a:pPr>
              <a:r>
                <a:rPr lang="en-US" sz="4387" b="1" kern="1200" dirty="0">
                  <a:solidFill>
                    <a:srgbClr val="0E2C4B"/>
                  </a:solidFill>
                  <a:latin typeface="Muli Ultra-Bold"/>
                  <a:ea typeface="+mn-ea"/>
                  <a:cs typeface="+mn-cs"/>
                </a:rPr>
                <a:t>Debug </a:t>
              </a:r>
              <a:r>
                <a:rPr lang="en-US" sz="4387" b="1" kern="1200" dirty="0" err="1">
                  <a:solidFill>
                    <a:srgbClr val="0E2C4B"/>
                  </a:solidFill>
                  <a:latin typeface="Muli Ultra-Bold"/>
                  <a:ea typeface="+mn-ea"/>
                  <a:cs typeface="+mn-cs"/>
                </a:rPr>
                <a:t>với</a:t>
              </a:r>
              <a:r>
                <a:rPr lang="en-US" sz="4387" b="1" kern="1200" dirty="0">
                  <a:solidFill>
                    <a:srgbClr val="0E2C4B"/>
                  </a:solidFill>
                  <a:latin typeface="Muli Ultra-Bold"/>
                  <a:ea typeface="+mn-ea"/>
                  <a:cs typeface="+mn-cs"/>
                </a:rPr>
                <a:t> GenAI</a:t>
              </a:r>
              <a:endParaRPr lang="en-US" sz="4025" b="1" dirty="0">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696892E0-C22B-9A1D-CDCA-2AD3633BB99E}"/>
                </a:ext>
              </a:extLst>
            </p:cNvPr>
            <p:cNvSpPr txBox="1"/>
            <p:nvPr/>
          </p:nvSpPr>
          <p:spPr>
            <a:xfrm>
              <a:off x="0" y="1322686"/>
              <a:ext cx="8956646" cy="5245271"/>
            </a:xfrm>
            <a:prstGeom prst="rect">
              <a:avLst/>
            </a:prstGeom>
          </p:spPr>
          <p:txBody>
            <a:bodyPr lIns="0" tIns="0" rIns="0" bIns="0" rtlCol="0" anchor="t">
              <a:spAutoFit/>
            </a:bodyPr>
            <a:lstStyle/>
            <a:p>
              <a:pPr>
                <a:lnSpc>
                  <a:spcPts val="2940"/>
                </a:lnSpc>
                <a:spcAft>
                  <a:spcPts val="600"/>
                </a:spcAft>
              </a:pPr>
              <a:r>
                <a:rPr lang="en-US" sz="2400" b="1" dirty="0" err="1">
                  <a:solidFill>
                    <a:srgbClr val="0E2C4B"/>
                  </a:solidFill>
                  <a:sym typeface="Muli Bold"/>
                </a:rPr>
                <a:t>Giải</a:t>
              </a:r>
              <a:r>
                <a:rPr lang="en-US" sz="2400" b="1" dirty="0">
                  <a:solidFill>
                    <a:srgbClr val="0E2C4B"/>
                  </a:solidFill>
                  <a:sym typeface="Muli Bold"/>
                </a:rPr>
                <a:t> </a:t>
              </a:r>
              <a:r>
                <a:rPr lang="en-US" sz="2400" b="1" dirty="0" err="1">
                  <a:solidFill>
                    <a:srgbClr val="0E2C4B"/>
                  </a:solidFill>
                  <a:sym typeface="Muli Bold"/>
                </a:rPr>
                <a:t>pháp</a:t>
              </a:r>
              <a:endParaRPr lang="en-US" sz="2400" b="1" dirty="0">
                <a:solidFill>
                  <a:srgbClr val="0E2C4B"/>
                </a:solidFill>
                <a:sym typeface="Muli Bold"/>
              </a:endParaRPr>
            </a:p>
            <a:p>
              <a:pPr>
                <a:lnSpc>
                  <a:spcPts val="2940"/>
                </a:lnSpc>
                <a:spcAft>
                  <a:spcPts val="600"/>
                </a:spcAft>
              </a:pPr>
              <a:r>
                <a:rPr lang="en-US" sz="2100" dirty="0" err="1">
                  <a:solidFill>
                    <a:srgbClr val="0E2C4B"/>
                  </a:solidFill>
                  <a:latin typeface="Muli"/>
                </a:rPr>
                <a:t>Chúng</a:t>
              </a:r>
              <a:r>
                <a:rPr lang="en-US" sz="2100" dirty="0">
                  <a:solidFill>
                    <a:srgbClr val="0E2C4B"/>
                  </a:solidFill>
                  <a:latin typeface="Muli"/>
                </a:rPr>
                <a:t> ta </a:t>
              </a:r>
              <a:r>
                <a:rPr lang="en-US" sz="2100" dirty="0" err="1">
                  <a:solidFill>
                    <a:srgbClr val="0E2C4B"/>
                  </a:solidFill>
                  <a:latin typeface="Muli"/>
                </a:rPr>
                <a:t>tận</a:t>
              </a:r>
              <a:r>
                <a:rPr lang="en-US" sz="2100" dirty="0">
                  <a:solidFill>
                    <a:srgbClr val="0E2C4B"/>
                  </a:solidFill>
                  <a:latin typeface="Muli"/>
                </a:rPr>
                <a:t> </a:t>
              </a:r>
              <a:r>
                <a:rPr lang="en-US" sz="2100" dirty="0" err="1">
                  <a:solidFill>
                    <a:srgbClr val="0E2C4B"/>
                  </a:solidFill>
                  <a:latin typeface="Muli"/>
                </a:rPr>
                <a:t>dụng</a:t>
              </a:r>
              <a:r>
                <a:rPr lang="en-US" sz="2100" dirty="0">
                  <a:solidFill>
                    <a:srgbClr val="0E2C4B"/>
                  </a:solidFill>
                  <a:latin typeface="Muli"/>
                </a:rPr>
                <a:t> </a:t>
              </a:r>
              <a:r>
                <a:rPr lang="en-US" sz="2100" dirty="0" err="1">
                  <a:solidFill>
                    <a:srgbClr val="0E2C4B"/>
                  </a:solidFill>
                  <a:latin typeface="Muli"/>
                </a:rPr>
                <a:t>năng</a:t>
              </a:r>
              <a:r>
                <a:rPr lang="en-US" sz="2100" dirty="0">
                  <a:solidFill>
                    <a:srgbClr val="0E2C4B"/>
                  </a:solidFill>
                  <a:latin typeface="Muli"/>
                </a:rPr>
                <a:t> </a:t>
              </a:r>
              <a:r>
                <a:rPr lang="en-US" sz="2100" dirty="0" err="1">
                  <a:solidFill>
                    <a:srgbClr val="0E2C4B"/>
                  </a:solidFill>
                  <a:latin typeface="Muli"/>
                </a:rPr>
                <a:t>lực</a:t>
              </a:r>
              <a:r>
                <a:rPr lang="en-US" sz="2100" dirty="0">
                  <a:solidFill>
                    <a:srgbClr val="0E2C4B"/>
                  </a:solidFill>
                  <a:latin typeface="Muli"/>
                </a:rPr>
                <a:t> </a:t>
              </a:r>
              <a:r>
                <a:rPr lang="en-US" sz="2100" dirty="0" err="1">
                  <a:solidFill>
                    <a:srgbClr val="0E2C4B"/>
                  </a:solidFill>
                  <a:latin typeface="Muli"/>
                </a:rPr>
                <a:t>sinh</a:t>
              </a:r>
              <a:r>
                <a:rPr lang="en-US" sz="2100" dirty="0">
                  <a:solidFill>
                    <a:srgbClr val="0E2C4B"/>
                  </a:solidFill>
                  <a:latin typeface="Muli"/>
                </a:rPr>
                <a:t> </a:t>
              </a:r>
              <a:r>
                <a:rPr lang="en-US" sz="2100" dirty="0" err="1">
                  <a:solidFill>
                    <a:srgbClr val="0E2C4B"/>
                  </a:solidFill>
                  <a:latin typeface="Muli"/>
                </a:rPr>
                <a:t>tạo</a:t>
              </a:r>
              <a:r>
                <a:rPr lang="en-US" sz="2100" dirty="0">
                  <a:solidFill>
                    <a:srgbClr val="0E2C4B"/>
                  </a:solidFill>
                  <a:latin typeface="Muli"/>
                </a:rPr>
                <a:t> </a:t>
              </a:r>
              <a:r>
                <a:rPr lang="en-US" sz="2100" dirty="0" err="1">
                  <a:solidFill>
                    <a:srgbClr val="0E2C4B"/>
                  </a:solidFill>
                  <a:latin typeface="Muli"/>
                </a:rPr>
                <a:t>của</a:t>
              </a:r>
              <a:r>
                <a:rPr lang="en-US" sz="2100" dirty="0">
                  <a:solidFill>
                    <a:srgbClr val="0E2C4B"/>
                  </a:solidFill>
                  <a:latin typeface="Muli"/>
                </a:rPr>
                <a:t> GenAI (</a:t>
              </a:r>
              <a:r>
                <a:rPr lang="en-US" sz="2100" dirty="0" err="1">
                  <a:solidFill>
                    <a:srgbClr val="0E2C4B"/>
                  </a:solidFill>
                  <a:latin typeface="Muli"/>
                </a:rPr>
                <a:t>đặc</a:t>
              </a:r>
              <a:r>
                <a:rPr lang="en-US" sz="2100" dirty="0">
                  <a:solidFill>
                    <a:srgbClr val="0E2C4B"/>
                  </a:solidFill>
                  <a:latin typeface="Muli"/>
                </a:rPr>
                <a:t> </a:t>
              </a:r>
              <a:r>
                <a:rPr lang="en-US" sz="2100" dirty="0" err="1">
                  <a:solidFill>
                    <a:srgbClr val="0E2C4B"/>
                  </a:solidFill>
                  <a:latin typeface="Muli"/>
                </a:rPr>
                <a:t>biệt</a:t>
              </a:r>
              <a:r>
                <a:rPr lang="en-US" sz="2100" dirty="0">
                  <a:solidFill>
                    <a:srgbClr val="0E2C4B"/>
                  </a:solidFill>
                  <a:latin typeface="Muli"/>
                </a:rPr>
                <a:t> </a:t>
              </a:r>
              <a:r>
                <a:rPr lang="en-US" sz="2100" dirty="0" err="1">
                  <a:solidFill>
                    <a:srgbClr val="0E2C4B"/>
                  </a:solidFill>
                  <a:latin typeface="Muli"/>
                </a:rPr>
                <a:t>là</a:t>
              </a:r>
              <a:r>
                <a:rPr lang="en-US" sz="2100" dirty="0">
                  <a:solidFill>
                    <a:srgbClr val="0E2C4B"/>
                  </a:solidFill>
                  <a:latin typeface="Muli"/>
                </a:rPr>
                <a:t> Copilot </a:t>
              </a:r>
              <a:r>
                <a:rPr lang="en-US" sz="2100" dirty="0" err="1">
                  <a:solidFill>
                    <a:srgbClr val="0E2C4B"/>
                  </a:solidFill>
                  <a:latin typeface="Muli"/>
                </a:rPr>
                <a:t>hoặc</a:t>
              </a:r>
              <a:r>
                <a:rPr lang="en-US" sz="2100" dirty="0">
                  <a:solidFill>
                    <a:srgbClr val="0E2C4B"/>
                  </a:solidFill>
                  <a:latin typeface="Muli"/>
                </a:rPr>
                <a:t> ChatGPT) </a:t>
              </a:r>
              <a:r>
                <a:rPr lang="en-US" sz="2100" dirty="0" err="1">
                  <a:solidFill>
                    <a:srgbClr val="0E2C4B"/>
                  </a:solidFill>
                  <a:latin typeface="Muli"/>
                </a:rPr>
                <a:t>để</a:t>
              </a:r>
              <a:r>
                <a:rPr lang="en-US" sz="2100" dirty="0">
                  <a:solidFill>
                    <a:srgbClr val="0E2C4B"/>
                  </a:solidFill>
                  <a:latin typeface="Muli"/>
                </a:rPr>
                <a:t> </a:t>
              </a:r>
              <a:r>
                <a:rPr lang="en-US" sz="2100" dirty="0" err="1">
                  <a:solidFill>
                    <a:srgbClr val="0E2C4B"/>
                  </a:solidFill>
                  <a:latin typeface="Muli"/>
                </a:rPr>
                <a:t>tạo</a:t>
              </a:r>
              <a:r>
                <a:rPr lang="en-US" sz="2100" dirty="0">
                  <a:solidFill>
                    <a:srgbClr val="0E2C4B"/>
                  </a:solidFill>
                  <a:latin typeface="Muli"/>
                </a:rPr>
                <a:t> </a:t>
              </a:r>
              <a:r>
                <a:rPr lang="en-US" sz="2100" dirty="0" err="1">
                  <a:solidFill>
                    <a:srgbClr val="0E2C4B"/>
                  </a:solidFill>
                  <a:latin typeface="Muli"/>
                </a:rPr>
                <a:t>ra</a:t>
              </a:r>
              <a:r>
                <a:rPr lang="en-US" sz="2100" dirty="0">
                  <a:solidFill>
                    <a:srgbClr val="0E2C4B"/>
                  </a:solidFill>
                  <a:latin typeface="Muli"/>
                </a:rPr>
                <a:t> </a:t>
              </a:r>
              <a:r>
                <a:rPr lang="en-US" sz="2100" dirty="0" err="1">
                  <a:solidFill>
                    <a:srgbClr val="0E2C4B"/>
                  </a:solidFill>
                  <a:latin typeface="Muli"/>
                </a:rPr>
                <a:t>các</a:t>
              </a:r>
              <a:r>
                <a:rPr lang="en-US" sz="2100" dirty="0">
                  <a:solidFill>
                    <a:srgbClr val="0E2C4B"/>
                  </a:solidFill>
                  <a:latin typeface="Muli"/>
                </a:rPr>
                <a:t> </a:t>
              </a:r>
              <a:r>
                <a:rPr lang="en-US" sz="2100" dirty="0" err="1">
                  <a:solidFill>
                    <a:srgbClr val="0E2C4B"/>
                  </a:solidFill>
                  <a:latin typeface="Muli"/>
                </a:rPr>
                <a:t>tham</a:t>
              </a:r>
              <a:r>
                <a:rPr lang="en-US" sz="2100" dirty="0">
                  <a:solidFill>
                    <a:srgbClr val="0E2C4B"/>
                  </a:solidFill>
                  <a:latin typeface="Muli"/>
                </a:rPr>
                <a:t> </a:t>
              </a:r>
              <a:r>
                <a:rPr lang="en-US" sz="2100" dirty="0" err="1">
                  <a:solidFill>
                    <a:srgbClr val="0E2C4B"/>
                  </a:solidFill>
                  <a:latin typeface="Muli"/>
                </a:rPr>
                <a:t>số</a:t>
              </a:r>
              <a:r>
                <a:rPr lang="en-US" sz="2100" dirty="0">
                  <a:solidFill>
                    <a:srgbClr val="0E2C4B"/>
                  </a:solidFill>
                  <a:latin typeface="Muli"/>
                </a:rPr>
                <a:t> </a:t>
              </a:r>
              <a:r>
                <a:rPr lang="en-US" sz="2100" dirty="0" err="1">
                  <a:solidFill>
                    <a:srgbClr val="0E2C4B"/>
                  </a:solidFill>
                  <a:latin typeface="Muli"/>
                </a:rPr>
                <a:t>đầu</a:t>
              </a:r>
              <a:r>
                <a:rPr lang="en-US" sz="2100" dirty="0">
                  <a:solidFill>
                    <a:srgbClr val="0E2C4B"/>
                  </a:solidFill>
                  <a:latin typeface="Muli"/>
                </a:rPr>
                <a:t> </a:t>
              </a:r>
              <a:r>
                <a:rPr lang="en-US" sz="2100" dirty="0" err="1">
                  <a:solidFill>
                    <a:srgbClr val="0E2C4B"/>
                  </a:solidFill>
                  <a:latin typeface="Muli"/>
                </a:rPr>
                <a:t>vào</a:t>
              </a:r>
              <a:r>
                <a:rPr lang="en-US" sz="2100" dirty="0">
                  <a:solidFill>
                    <a:srgbClr val="0E2C4B"/>
                  </a:solidFill>
                  <a:latin typeface="Muli"/>
                </a:rPr>
                <a:t> </a:t>
              </a:r>
              <a:r>
                <a:rPr lang="en-US" sz="2100" dirty="0" err="1">
                  <a:solidFill>
                    <a:srgbClr val="0E2C4B"/>
                  </a:solidFill>
                  <a:latin typeface="Muli"/>
                </a:rPr>
                <a:t>giả</a:t>
              </a:r>
              <a:r>
                <a:rPr lang="en-US" sz="2100" dirty="0">
                  <a:solidFill>
                    <a:srgbClr val="0E2C4B"/>
                  </a:solidFill>
                  <a:latin typeface="Muli"/>
                </a:rPr>
                <a:t> </a:t>
              </a:r>
              <a:r>
                <a:rPr lang="en-US" sz="2100" dirty="0" err="1">
                  <a:solidFill>
                    <a:srgbClr val="0E2C4B"/>
                  </a:solidFill>
                  <a:latin typeface="Muli"/>
                </a:rPr>
                <a:t>lập</a:t>
              </a:r>
              <a:r>
                <a:rPr lang="en-US" sz="2100" dirty="0">
                  <a:solidFill>
                    <a:srgbClr val="0E2C4B"/>
                  </a:solidFill>
                  <a:latin typeface="Muli"/>
                </a:rPr>
                <a:t>. </a:t>
              </a:r>
              <a:r>
                <a:rPr lang="vi-VN" sz="2100" dirty="0">
                  <a:solidFill>
                    <a:srgbClr val="0E2C4B"/>
                  </a:solidFill>
                  <a:latin typeface="Muli"/>
                </a:rPr>
                <a:t>Sau khi có dữ liệu mẫu, lập trình viên sử dụng trình gỡ lỗi (Debugger) tích hợp trong VS Code hoặc PyCharm để chạy từng bước (step-through). Việc tận mắt quan sát sự biến đổi trạng thái của các biến số bên trong bộ nhớ mang lại sự thấu hiểu sâu sắc và thực tế hơn bất kỳ tài liệu dạng văn bản nào .</a:t>
              </a:r>
              <a:endParaRPr lang="en-US" sz="2100" dirty="0">
                <a:solidFill>
                  <a:srgbClr val="0E2C4B"/>
                </a:solidFill>
                <a:latin typeface="Muli"/>
              </a:endParaRPr>
            </a:p>
            <a:p>
              <a:pPr>
                <a:lnSpc>
                  <a:spcPts val="2940"/>
                </a:lnSpc>
                <a:spcAft>
                  <a:spcPts val="600"/>
                </a:spcAft>
              </a:pPr>
              <a:endParaRPr lang="en-US" sz="2100" dirty="0">
                <a:solidFill>
                  <a:srgbClr val="0E2C4B"/>
                </a:solidFill>
                <a:latin typeface="Muli"/>
                <a:sym typeface="Muli"/>
              </a:endParaRPr>
            </a:p>
            <a:p>
              <a:pPr>
                <a:lnSpc>
                  <a:spcPts val="2940"/>
                </a:lnSpc>
                <a:spcAft>
                  <a:spcPts val="600"/>
                </a:spcAft>
              </a:pPr>
              <a:endParaRPr lang="en-US" sz="2100" dirty="0">
                <a:solidFill>
                  <a:srgbClr val="0E2C4B"/>
                </a:solidFill>
                <a:latin typeface="Muli"/>
                <a:sym typeface="Muli"/>
              </a:endParaRPr>
            </a:p>
          </p:txBody>
        </p:sp>
      </p:grpSp>
      <p:pic>
        <p:nvPicPr>
          <p:cNvPr id="16386" name="Picture 2">
            <a:extLst>
              <a:ext uri="{FF2B5EF4-FFF2-40B4-BE49-F238E27FC236}">
                <a16:creationId xmlns:a16="http://schemas.microsoft.com/office/drawing/2014/main" id="{192D12DD-B78B-33D3-4DFD-7FE3EF7B0F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982" y="2410208"/>
            <a:ext cx="7215727" cy="5765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910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9C2269-C255-74BD-92A0-2961CE64FBF0}"/>
            </a:ext>
          </a:extLst>
        </p:cNvPr>
        <p:cNvGrpSpPr/>
        <p:nvPr/>
      </p:nvGrpSpPr>
      <p:grpSpPr>
        <a:xfrm>
          <a:off x="0" y="0"/>
          <a:ext cx="0" cy="0"/>
          <a:chOff x="0" y="0"/>
          <a:chExt cx="0" cy="0"/>
        </a:xfrm>
      </p:grpSpPr>
      <p:sp>
        <p:nvSpPr>
          <p:cNvPr id="8199" name="Rectangle 8198">
            <a:extLst>
              <a:ext uri="{FF2B5EF4-FFF2-40B4-BE49-F238E27FC236}">
                <a16:creationId xmlns:a16="http://schemas.microsoft.com/office/drawing/2014/main" id="{653F8A06-6D07-A795-6C33-A8342253FA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C2D05502-4E1A-5886-E1FA-EF2E96DE4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518" y="720090"/>
            <a:ext cx="16856964"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03" name="Straight Connector 8202">
            <a:extLst>
              <a:ext uri="{FF2B5EF4-FFF2-40B4-BE49-F238E27FC236}">
                <a16:creationId xmlns:a16="http://schemas.microsoft.com/office/drawing/2014/main" id="{2AD6AFF9-5EB5-9681-2955-EB036B2CB4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19937"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grpSp>
        <p:nvGrpSpPr>
          <p:cNvPr id="2" name="Group 2">
            <a:extLst>
              <a:ext uri="{FF2B5EF4-FFF2-40B4-BE49-F238E27FC236}">
                <a16:creationId xmlns:a16="http://schemas.microsoft.com/office/drawing/2014/main" id="{55F6C21E-01B8-523D-42BC-FE62D282BE42}"/>
              </a:ext>
            </a:extLst>
          </p:cNvPr>
          <p:cNvGrpSpPr/>
          <p:nvPr/>
        </p:nvGrpSpPr>
        <p:grpSpPr>
          <a:xfrm>
            <a:off x="12335612" y="1403500"/>
            <a:ext cx="7942073" cy="1577321"/>
            <a:chOff x="-373462" y="911748"/>
            <a:chExt cx="9703567" cy="1927158"/>
          </a:xfrm>
        </p:grpSpPr>
        <p:sp>
          <p:nvSpPr>
            <p:cNvPr id="3" name="TextBox 3">
              <a:extLst>
                <a:ext uri="{FF2B5EF4-FFF2-40B4-BE49-F238E27FC236}">
                  <a16:creationId xmlns:a16="http://schemas.microsoft.com/office/drawing/2014/main" id="{DBC03BD6-701D-F0FE-AA0B-1D481914AE20}"/>
                </a:ext>
              </a:extLst>
            </p:cNvPr>
            <p:cNvSpPr txBox="1"/>
            <p:nvPr/>
          </p:nvSpPr>
          <p:spPr>
            <a:xfrm>
              <a:off x="-373462" y="911748"/>
              <a:ext cx="9703567" cy="787175"/>
            </a:xfrm>
            <a:prstGeom prst="rect">
              <a:avLst/>
            </a:prstGeom>
          </p:spPr>
          <p:txBody>
            <a:bodyPr lIns="0" tIns="0" rIns="0" bIns="0" rtlCol="0" anchor="t">
              <a:spAutoFit/>
            </a:bodyPr>
            <a:lstStyle/>
            <a:p>
              <a:pPr defTabSz="996696">
                <a:lnSpc>
                  <a:spcPts val="5265"/>
                </a:lnSpc>
                <a:spcAft>
                  <a:spcPts val="600"/>
                </a:spcAft>
              </a:pPr>
              <a:r>
                <a:rPr lang="en-US" sz="4387" b="1" kern="1200" dirty="0">
                  <a:solidFill>
                    <a:srgbClr val="0E2C4B"/>
                  </a:solidFill>
                  <a:latin typeface="Muli Ultra-Bold"/>
                  <a:ea typeface="+mn-ea"/>
                  <a:cs typeface="+mn-cs"/>
                </a:rPr>
                <a:t>Debug </a:t>
              </a:r>
              <a:r>
                <a:rPr lang="en-US" sz="4387" b="1" kern="1200" dirty="0" err="1">
                  <a:solidFill>
                    <a:srgbClr val="0E2C4B"/>
                  </a:solidFill>
                  <a:latin typeface="Muli Ultra-Bold"/>
                  <a:ea typeface="+mn-ea"/>
                  <a:cs typeface="+mn-cs"/>
                </a:rPr>
                <a:t>với</a:t>
              </a:r>
              <a:r>
                <a:rPr lang="en-US" sz="4387" b="1" kern="1200" dirty="0">
                  <a:solidFill>
                    <a:srgbClr val="0E2C4B"/>
                  </a:solidFill>
                  <a:latin typeface="Muli Ultra-Bold"/>
                  <a:ea typeface="+mn-ea"/>
                  <a:cs typeface="+mn-cs"/>
                </a:rPr>
                <a:t> GenAI</a:t>
              </a:r>
              <a:endParaRPr lang="en-US" sz="4025" b="1" dirty="0">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7B15D442-868C-B4DF-C761-97EB5DC8A03C}"/>
                </a:ext>
              </a:extLst>
            </p:cNvPr>
            <p:cNvSpPr txBox="1"/>
            <p:nvPr/>
          </p:nvSpPr>
          <p:spPr>
            <a:xfrm>
              <a:off x="0" y="1322686"/>
              <a:ext cx="8956646" cy="1516220"/>
            </a:xfrm>
            <a:prstGeom prst="rect">
              <a:avLst/>
            </a:prstGeom>
          </p:spPr>
          <p:txBody>
            <a:bodyPr lIns="0" tIns="0" rIns="0" bIns="0" rtlCol="0" anchor="t">
              <a:spAutoFit/>
            </a:bodyPr>
            <a:lstStyle/>
            <a:p>
              <a:pPr>
                <a:lnSpc>
                  <a:spcPts val="2940"/>
                </a:lnSpc>
                <a:spcAft>
                  <a:spcPts val="600"/>
                </a:spcAft>
              </a:pPr>
              <a:endParaRPr lang="en-US" sz="2400" b="1" dirty="0">
                <a:solidFill>
                  <a:srgbClr val="0E2C4B"/>
                </a:solidFill>
                <a:sym typeface="Muli Bold"/>
              </a:endParaRPr>
            </a:p>
            <a:p>
              <a:pPr>
                <a:lnSpc>
                  <a:spcPts val="2940"/>
                </a:lnSpc>
                <a:spcAft>
                  <a:spcPts val="600"/>
                </a:spcAft>
              </a:pPr>
              <a:endParaRPr lang="en-US" sz="2100" dirty="0">
                <a:solidFill>
                  <a:srgbClr val="0E2C4B"/>
                </a:solidFill>
                <a:latin typeface="Muli"/>
                <a:sym typeface="Muli"/>
              </a:endParaRPr>
            </a:p>
            <a:p>
              <a:pPr>
                <a:lnSpc>
                  <a:spcPts val="2940"/>
                </a:lnSpc>
                <a:spcAft>
                  <a:spcPts val="600"/>
                </a:spcAft>
              </a:pPr>
              <a:endParaRPr lang="en-US" sz="2100" dirty="0">
                <a:solidFill>
                  <a:srgbClr val="0E2C4B"/>
                </a:solidFill>
                <a:latin typeface="Muli"/>
                <a:sym typeface="Muli"/>
              </a:endParaRPr>
            </a:p>
          </p:txBody>
        </p:sp>
      </p:grpSp>
      <p:pic>
        <p:nvPicPr>
          <p:cNvPr id="16386" name="Picture 2">
            <a:extLst>
              <a:ext uri="{FF2B5EF4-FFF2-40B4-BE49-F238E27FC236}">
                <a16:creationId xmlns:a16="http://schemas.microsoft.com/office/drawing/2014/main" id="{281CB474-9425-22DD-9279-01956870D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982" y="2410208"/>
            <a:ext cx="7215727" cy="5765390"/>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a:extLst>
              <a:ext uri="{FF2B5EF4-FFF2-40B4-BE49-F238E27FC236}">
                <a16:creationId xmlns:a16="http://schemas.microsoft.com/office/drawing/2014/main" id="{34FD4227-5840-6704-BC5A-6AAD0851A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3082" y="2557654"/>
            <a:ext cx="7725456" cy="5171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916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1D2488-CC3A-3FB6-A300-EAB0D6405F86}"/>
            </a:ext>
          </a:extLst>
        </p:cNvPr>
        <p:cNvGrpSpPr/>
        <p:nvPr/>
      </p:nvGrpSpPr>
      <p:grpSpPr>
        <a:xfrm>
          <a:off x="0" y="0"/>
          <a:ext cx="0" cy="0"/>
          <a:chOff x="0" y="0"/>
          <a:chExt cx="0" cy="0"/>
        </a:xfrm>
      </p:grpSpPr>
      <p:sp>
        <p:nvSpPr>
          <p:cNvPr id="8208" name="Rectangle 820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10" name="Freeform: Shape 820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64234" y="-380505"/>
            <a:ext cx="2741457" cy="2065483"/>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12" name="Rectangle 82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7461" y="633219"/>
            <a:ext cx="968052" cy="96805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4" name="Rectangle 82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5065223" y="982710"/>
            <a:ext cx="1031208" cy="103120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6" name="Freeform: Shape 82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4034964" y="0"/>
            <a:ext cx="4253036" cy="2221255"/>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18" name="Isosceles Triangle 82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64516" y="9173251"/>
            <a:ext cx="2241769" cy="111374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0" name="Isosceles Triangle 82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406120" y="9679714"/>
            <a:ext cx="1222354" cy="607286"/>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1A167FA0-AC5A-A271-D91E-97EADDD55EA5}"/>
              </a:ext>
            </a:extLst>
          </p:cNvPr>
          <p:cNvGraphicFramePr>
            <a:graphicFrameLocks noGrp="1"/>
          </p:cNvGraphicFramePr>
          <p:nvPr>
            <p:extLst>
              <p:ext uri="{D42A27DB-BD31-4B8C-83A1-F6EECF244321}">
                <p14:modId xmlns:p14="http://schemas.microsoft.com/office/powerpoint/2010/main" val="3143196739"/>
              </p:ext>
            </p:extLst>
          </p:nvPr>
        </p:nvGraphicFramePr>
        <p:xfrm>
          <a:off x="965200" y="1827926"/>
          <a:ext cx="16357600" cy="6631149"/>
        </p:xfrm>
        <a:graphic>
          <a:graphicData uri="http://schemas.openxmlformats.org/drawingml/2006/table">
            <a:tbl>
              <a:tblPr>
                <a:tableStyleId>{5940675A-B579-460E-94D1-54222C63F5DA}</a:tableStyleId>
              </a:tblPr>
              <a:tblGrid>
                <a:gridCol w="3927876">
                  <a:extLst>
                    <a:ext uri="{9D8B030D-6E8A-4147-A177-3AD203B41FA5}">
                      <a16:colId xmlns:a16="http://schemas.microsoft.com/office/drawing/2014/main" val="2362443358"/>
                    </a:ext>
                  </a:extLst>
                </a:gridCol>
                <a:gridCol w="4166604">
                  <a:extLst>
                    <a:ext uri="{9D8B030D-6E8A-4147-A177-3AD203B41FA5}">
                      <a16:colId xmlns:a16="http://schemas.microsoft.com/office/drawing/2014/main" val="3735047564"/>
                    </a:ext>
                  </a:extLst>
                </a:gridCol>
                <a:gridCol w="4118447">
                  <a:extLst>
                    <a:ext uri="{9D8B030D-6E8A-4147-A177-3AD203B41FA5}">
                      <a16:colId xmlns:a16="http://schemas.microsoft.com/office/drawing/2014/main" val="613940711"/>
                    </a:ext>
                  </a:extLst>
                </a:gridCol>
                <a:gridCol w="4144673">
                  <a:extLst>
                    <a:ext uri="{9D8B030D-6E8A-4147-A177-3AD203B41FA5}">
                      <a16:colId xmlns:a16="http://schemas.microsoft.com/office/drawing/2014/main" val="3432252274"/>
                    </a:ext>
                  </a:extLst>
                </a:gridCol>
              </a:tblGrid>
              <a:tr h="789570">
                <a:tc>
                  <a:txBody>
                    <a:bodyPr/>
                    <a:lstStyle/>
                    <a:p>
                      <a:pPr rtl="0">
                        <a:buNone/>
                      </a:pPr>
                      <a:r>
                        <a:rPr lang="en-US" sz="2500" b="1" dirty="0">
                          <a:solidFill>
                            <a:schemeClr val="bg1"/>
                          </a:solidFill>
                          <a:effectLst/>
                        </a:rPr>
                        <a:t>Công </a:t>
                      </a:r>
                      <a:r>
                        <a:rPr lang="en-US" sz="2500" b="1" dirty="0" err="1">
                          <a:solidFill>
                            <a:schemeClr val="bg1"/>
                          </a:solidFill>
                          <a:effectLst/>
                        </a:rPr>
                        <a:t>cụ</a:t>
                      </a:r>
                      <a:r>
                        <a:rPr lang="en-US" sz="2500" b="1" dirty="0">
                          <a:solidFill>
                            <a:schemeClr val="bg1"/>
                          </a:solidFill>
                          <a:effectLst/>
                        </a:rPr>
                        <a:t> GenAI</a:t>
                      </a:r>
                      <a:endParaRPr lang="en-US" sz="2500" dirty="0">
                        <a:solidFill>
                          <a:schemeClr val="bg1"/>
                        </a:solidFill>
                        <a:effectLst/>
                        <a:latin typeface="Google Sans Text"/>
                      </a:endParaRPr>
                    </a:p>
                  </a:txBody>
                  <a:tcPr marL="126579" marR="126579" marT="168773" marB="168773" anchor="ctr">
                    <a:solidFill>
                      <a:srgbClr val="41505F"/>
                    </a:solidFill>
                  </a:tcPr>
                </a:tc>
                <a:tc>
                  <a:txBody>
                    <a:bodyPr/>
                    <a:lstStyle/>
                    <a:p>
                      <a:pPr rtl="0">
                        <a:buNone/>
                      </a:pPr>
                      <a:r>
                        <a:rPr lang="vi-VN" sz="2500" b="1">
                          <a:solidFill>
                            <a:schemeClr val="bg1"/>
                          </a:solidFill>
                          <a:effectLst/>
                        </a:rPr>
                        <a:t>Ưu điểm (Pros)</a:t>
                      </a:r>
                      <a:endParaRPr lang="vi-VN" sz="2500">
                        <a:solidFill>
                          <a:schemeClr val="bg1"/>
                        </a:solidFill>
                        <a:effectLst/>
                        <a:latin typeface="Google Sans Text"/>
                      </a:endParaRPr>
                    </a:p>
                  </a:txBody>
                  <a:tcPr marL="126579" marR="126579" marT="168773" marB="168773" anchor="ctr">
                    <a:solidFill>
                      <a:srgbClr val="41505F"/>
                    </a:solidFill>
                  </a:tcPr>
                </a:tc>
                <a:tc>
                  <a:txBody>
                    <a:bodyPr/>
                    <a:lstStyle/>
                    <a:p>
                      <a:pPr rtl="0">
                        <a:buNone/>
                      </a:pPr>
                      <a:r>
                        <a:rPr lang="vi-VN" sz="2500" b="1">
                          <a:solidFill>
                            <a:schemeClr val="bg1"/>
                          </a:solidFill>
                          <a:effectLst/>
                        </a:rPr>
                        <a:t>Nhược điểm (Cons)</a:t>
                      </a:r>
                      <a:endParaRPr lang="vi-VN" sz="2500">
                        <a:solidFill>
                          <a:schemeClr val="bg1"/>
                        </a:solidFill>
                        <a:effectLst/>
                        <a:latin typeface="Google Sans Text"/>
                      </a:endParaRPr>
                    </a:p>
                  </a:txBody>
                  <a:tcPr marL="126579" marR="126579" marT="168773" marB="168773" anchor="ctr">
                    <a:solidFill>
                      <a:srgbClr val="41505F"/>
                    </a:solidFill>
                  </a:tcPr>
                </a:tc>
                <a:tc>
                  <a:txBody>
                    <a:bodyPr/>
                    <a:lstStyle/>
                    <a:p>
                      <a:pPr rtl="0">
                        <a:buNone/>
                      </a:pPr>
                      <a:r>
                        <a:rPr lang="en-US" sz="2500" b="1" dirty="0" err="1">
                          <a:solidFill>
                            <a:schemeClr val="bg1"/>
                          </a:solidFill>
                          <a:effectLst/>
                        </a:rPr>
                        <a:t>Ứng</a:t>
                      </a:r>
                      <a:r>
                        <a:rPr lang="en-US" sz="2500" b="1" dirty="0">
                          <a:solidFill>
                            <a:schemeClr val="bg1"/>
                          </a:solidFill>
                          <a:effectLst/>
                        </a:rPr>
                        <a:t> </a:t>
                      </a:r>
                      <a:r>
                        <a:rPr lang="en-US" sz="2500" b="1" dirty="0" err="1">
                          <a:solidFill>
                            <a:schemeClr val="bg1"/>
                          </a:solidFill>
                          <a:effectLst/>
                        </a:rPr>
                        <a:t>dụng</a:t>
                      </a:r>
                      <a:r>
                        <a:rPr lang="en-US" sz="2500" b="1" dirty="0">
                          <a:solidFill>
                            <a:schemeClr val="bg1"/>
                          </a:solidFill>
                          <a:effectLst/>
                        </a:rPr>
                        <a:t> </a:t>
                      </a:r>
                      <a:r>
                        <a:rPr lang="en-US" sz="2500" b="1" dirty="0" err="1">
                          <a:solidFill>
                            <a:schemeClr val="bg1"/>
                          </a:solidFill>
                          <a:effectLst/>
                        </a:rPr>
                        <a:t>khuyên</a:t>
                      </a:r>
                      <a:r>
                        <a:rPr lang="en-US" sz="2500" b="1" dirty="0">
                          <a:solidFill>
                            <a:schemeClr val="bg1"/>
                          </a:solidFill>
                          <a:effectLst/>
                        </a:rPr>
                        <a:t> </a:t>
                      </a:r>
                      <a:r>
                        <a:rPr lang="en-US" sz="2500" b="1" dirty="0" err="1">
                          <a:solidFill>
                            <a:schemeClr val="bg1"/>
                          </a:solidFill>
                          <a:effectLst/>
                        </a:rPr>
                        <a:t>dùng</a:t>
                      </a:r>
                      <a:endParaRPr lang="en-US" sz="2500" dirty="0">
                        <a:solidFill>
                          <a:schemeClr val="bg1"/>
                        </a:solidFill>
                        <a:effectLst/>
                        <a:latin typeface="Google Sans Text"/>
                      </a:endParaRPr>
                    </a:p>
                  </a:txBody>
                  <a:tcPr marL="126579" marR="126579" marT="168773" marB="168773" anchor="ctr">
                    <a:solidFill>
                      <a:srgbClr val="41505F"/>
                    </a:solidFill>
                  </a:tcPr>
                </a:tc>
                <a:extLst>
                  <a:ext uri="{0D108BD9-81ED-4DB2-BD59-A6C34878D82A}">
                    <a16:rowId xmlns:a16="http://schemas.microsoft.com/office/drawing/2014/main" val="2891763493"/>
                  </a:ext>
                </a:extLst>
              </a:tr>
              <a:tr h="1947193">
                <a:tc>
                  <a:txBody>
                    <a:bodyPr/>
                    <a:lstStyle/>
                    <a:p>
                      <a:pPr rtl="0">
                        <a:buNone/>
                      </a:pPr>
                      <a:r>
                        <a:rPr lang="en-US" sz="2500" b="1">
                          <a:solidFill>
                            <a:srgbClr val="1F1F1F"/>
                          </a:solidFill>
                          <a:effectLst/>
                        </a:rPr>
                        <a:t>GitHub Copilot</a:t>
                      </a:r>
                      <a:endParaRPr lang="en-US" sz="2500">
                        <a:solidFill>
                          <a:srgbClr val="1F1F1F"/>
                        </a:solidFill>
                        <a:effectLst/>
                        <a:latin typeface="Google Sans Text"/>
                      </a:endParaRPr>
                    </a:p>
                  </a:txBody>
                  <a:tcPr marL="126579" marR="126579" marT="168773" marB="168773" anchor="ctr"/>
                </a:tc>
                <a:tc>
                  <a:txBody>
                    <a:bodyPr/>
                    <a:lstStyle/>
                    <a:p>
                      <a:pPr rtl="0">
                        <a:buNone/>
                      </a:pPr>
                      <a:r>
                        <a:rPr lang="vi-VN" sz="2500">
                          <a:solidFill>
                            <a:srgbClr val="1F1F1F"/>
                          </a:solidFill>
                          <a:effectLst/>
                        </a:rPr>
                        <a:t>Phản hồi siêu tốc với ngữ cảnh nội bộ của IDE. Hỗ trợ lệnh </a:t>
                      </a:r>
                      <a:r>
                        <a:rPr lang="vi-VN" sz="2500">
                          <a:solidFill>
                            <a:srgbClr val="444746"/>
                          </a:solidFill>
                          <a:effectLst/>
                        </a:rPr>
                        <a:t>/explain</a:t>
                      </a:r>
                      <a:r>
                        <a:rPr lang="vi-VN" sz="2500">
                          <a:solidFill>
                            <a:srgbClr val="1F1F1F"/>
                          </a:solidFill>
                          <a:effectLst/>
                        </a:rPr>
                        <a:t> tích hợp sẵn rất mượt mà.</a:t>
                      </a:r>
                      <a:endParaRPr lang="vi-VN" sz="2500">
                        <a:solidFill>
                          <a:srgbClr val="1F1F1F"/>
                        </a:solidFill>
                        <a:effectLst/>
                        <a:latin typeface="Google Sans Text"/>
                      </a:endParaRPr>
                    </a:p>
                  </a:txBody>
                  <a:tcPr marL="126579" marR="126579" marT="168773" marB="168773" anchor="ctr"/>
                </a:tc>
                <a:tc>
                  <a:txBody>
                    <a:bodyPr/>
                    <a:lstStyle/>
                    <a:p>
                      <a:pPr rtl="0">
                        <a:buNone/>
                      </a:pPr>
                      <a:r>
                        <a:rPr lang="en-US" sz="2500">
                          <a:solidFill>
                            <a:srgbClr val="1F1F1F"/>
                          </a:solidFill>
                          <a:effectLst/>
                        </a:rPr>
                        <a:t>Không hỗ trợ tinh chỉnh chuyên sâu (ví dụ: khó ép AI liệt kê chi tiết các ca biên).</a:t>
                      </a:r>
                      <a:endParaRPr lang="en-US" sz="2500">
                        <a:solidFill>
                          <a:srgbClr val="1F1F1F"/>
                        </a:solidFill>
                        <a:effectLst/>
                        <a:latin typeface="Google Sans Text"/>
                      </a:endParaRPr>
                    </a:p>
                  </a:txBody>
                  <a:tcPr marL="126579" marR="126579" marT="168773" marB="168773" anchor="ctr"/>
                </a:tc>
                <a:tc>
                  <a:txBody>
                    <a:bodyPr/>
                    <a:lstStyle/>
                    <a:p>
                      <a:pPr rtl="0">
                        <a:buNone/>
                      </a:pPr>
                      <a:r>
                        <a:rPr lang="en-US" sz="2500">
                          <a:solidFill>
                            <a:srgbClr val="1F1F1F"/>
                          </a:solidFill>
                          <a:effectLst/>
                        </a:rPr>
                        <a:t>Dùng để giải thích nhanh các đoạn mã ngắn, sinh dữ liệu mẫu nội tuyến để debug.</a:t>
                      </a:r>
                      <a:endParaRPr lang="en-US" sz="2500">
                        <a:solidFill>
                          <a:srgbClr val="1F1F1F"/>
                        </a:solidFill>
                        <a:effectLst/>
                        <a:latin typeface="Google Sans Text"/>
                      </a:endParaRPr>
                    </a:p>
                  </a:txBody>
                  <a:tcPr marL="126579" marR="126579" marT="168773" marB="168773" anchor="ctr"/>
                </a:tc>
                <a:extLst>
                  <a:ext uri="{0D108BD9-81ED-4DB2-BD59-A6C34878D82A}">
                    <a16:rowId xmlns:a16="http://schemas.microsoft.com/office/drawing/2014/main" val="2697247299"/>
                  </a:ext>
                </a:extLst>
              </a:tr>
              <a:tr h="1947193">
                <a:tc>
                  <a:txBody>
                    <a:bodyPr/>
                    <a:lstStyle/>
                    <a:p>
                      <a:pPr rtl="0">
                        <a:buNone/>
                      </a:pPr>
                      <a:r>
                        <a:rPr lang="en-US" sz="2500" b="1">
                          <a:solidFill>
                            <a:srgbClr val="1F1F1F"/>
                          </a:solidFill>
                          <a:effectLst/>
                        </a:rPr>
                        <a:t>ChatGPT</a:t>
                      </a:r>
                      <a:endParaRPr lang="en-US" sz="2500">
                        <a:solidFill>
                          <a:srgbClr val="1F1F1F"/>
                        </a:solidFill>
                        <a:effectLst/>
                        <a:latin typeface="Google Sans Text"/>
                      </a:endParaRPr>
                    </a:p>
                  </a:txBody>
                  <a:tcPr marL="126579" marR="126579" marT="168773" marB="168773" anchor="ctr"/>
                </a:tc>
                <a:tc>
                  <a:txBody>
                    <a:bodyPr/>
                    <a:lstStyle/>
                    <a:p>
                      <a:pPr rtl="0">
                        <a:buNone/>
                      </a:pPr>
                      <a:r>
                        <a:rPr lang="en-US" sz="2500" dirty="0">
                          <a:solidFill>
                            <a:srgbClr val="1F1F1F"/>
                          </a:solidFill>
                          <a:effectLst/>
                        </a:rPr>
                        <a:t>Cho </a:t>
                      </a:r>
                      <a:r>
                        <a:rPr lang="en-US" sz="2500" dirty="0" err="1">
                          <a:solidFill>
                            <a:srgbClr val="1F1F1F"/>
                          </a:solidFill>
                          <a:effectLst/>
                        </a:rPr>
                        <a:t>phép</a:t>
                      </a:r>
                      <a:r>
                        <a:rPr lang="en-US" sz="2500" dirty="0">
                          <a:solidFill>
                            <a:srgbClr val="1F1F1F"/>
                          </a:solidFill>
                          <a:effectLst/>
                        </a:rPr>
                        <a:t> </a:t>
                      </a:r>
                      <a:r>
                        <a:rPr lang="en-US" sz="2500" dirty="0" err="1">
                          <a:solidFill>
                            <a:srgbClr val="1F1F1F"/>
                          </a:solidFill>
                          <a:effectLst/>
                        </a:rPr>
                        <a:t>thiết</a:t>
                      </a:r>
                      <a:r>
                        <a:rPr lang="en-US" sz="2500" dirty="0">
                          <a:solidFill>
                            <a:srgbClr val="1F1F1F"/>
                          </a:solidFill>
                          <a:effectLst/>
                        </a:rPr>
                        <a:t> </a:t>
                      </a:r>
                      <a:r>
                        <a:rPr lang="en-US" sz="2500" dirty="0" err="1">
                          <a:solidFill>
                            <a:srgbClr val="1F1F1F"/>
                          </a:solidFill>
                          <a:effectLst/>
                        </a:rPr>
                        <a:t>kế</a:t>
                      </a:r>
                      <a:r>
                        <a:rPr lang="en-US" sz="2500" dirty="0">
                          <a:solidFill>
                            <a:srgbClr val="1F1F1F"/>
                          </a:solidFill>
                          <a:effectLst/>
                        </a:rPr>
                        <a:t> </a:t>
                      </a:r>
                      <a:r>
                        <a:rPr lang="en-US" sz="2500" dirty="0" err="1">
                          <a:solidFill>
                            <a:srgbClr val="1F1F1F"/>
                          </a:solidFill>
                          <a:effectLst/>
                        </a:rPr>
                        <a:t>các</a:t>
                      </a:r>
                      <a:r>
                        <a:rPr lang="en-US" sz="2500" dirty="0">
                          <a:solidFill>
                            <a:srgbClr val="1F1F1F"/>
                          </a:solidFill>
                          <a:effectLst/>
                        </a:rPr>
                        <a:t> </a:t>
                      </a:r>
                      <a:r>
                        <a:rPr lang="en-US" sz="2500" dirty="0" err="1">
                          <a:solidFill>
                            <a:srgbClr val="1F1F1F"/>
                          </a:solidFill>
                          <a:effectLst/>
                        </a:rPr>
                        <a:t>giải</a:t>
                      </a:r>
                      <a:r>
                        <a:rPr lang="en-US" sz="2500" dirty="0">
                          <a:solidFill>
                            <a:srgbClr val="1F1F1F"/>
                          </a:solidFill>
                          <a:effectLst/>
                        </a:rPr>
                        <a:t> </a:t>
                      </a:r>
                      <a:r>
                        <a:rPr lang="en-US" sz="2500" dirty="0" err="1">
                          <a:solidFill>
                            <a:srgbClr val="1F1F1F"/>
                          </a:solidFill>
                          <a:effectLst/>
                        </a:rPr>
                        <a:t>thích</a:t>
                      </a:r>
                      <a:r>
                        <a:rPr lang="en-US" sz="2500" dirty="0">
                          <a:solidFill>
                            <a:srgbClr val="1F1F1F"/>
                          </a:solidFill>
                          <a:effectLst/>
                        </a:rPr>
                        <a:t> </a:t>
                      </a:r>
                      <a:r>
                        <a:rPr lang="en-US" sz="2500" dirty="0" err="1">
                          <a:solidFill>
                            <a:srgbClr val="1F1F1F"/>
                          </a:solidFill>
                          <a:effectLst/>
                        </a:rPr>
                        <a:t>mang</a:t>
                      </a:r>
                      <a:r>
                        <a:rPr lang="en-US" sz="2500" dirty="0">
                          <a:solidFill>
                            <a:srgbClr val="1F1F1F"/>
                          </a:solidFill>
                          <a:effectLst/>
                        </a:rPr>
                        <a:t> </a:t>
                      </a:r>
                      <a:r>
                        <a:rPr lang="en-US" sz="2500" dirty="0" err="1">
                          <a:solidFill>
                            <a:srgbClr val="1F1F1F"/>
                          </a:solidFill>
                          <a:effectLst/>
                        </a:rPr>
                        <a:t>tính</a:t>
                      </a:r>
                      <a:r>
                        <a:rPr lang="en-US" sz="2500" dirty="0">
                          <a:solidFill>
                            <a:srgbClr val="1F1F1F"/>
                          </a:solidFill>
                          <a:effectLst/>
                        </a:rPr>
                        <a:t> </a:t>
                      </a:r>
                      <a:r>
                        <a:rPr lang="en-US" sz="2500" dirty="0" err="1">
                          <a:solidFill>
                            <a:srgbClr val="1F1F1F"/>
                          </a:solidFill>
                          <a:effectLst/>
                        </a:rPr>
                        <a:t>tùy</a:t>
                      </a:r>
                      <a:r>
                        <a:rPr lang="en-US" sz="2500" dirty="0">
                          <a:solidFill>
                            <a:srgbClr val="1F1F1F"/>
                          </a:solidFill>
                          <a:effectLst/>
                        </a:rPr>
                        <a:t> </a:t>
                      </a:r>
                      <a:r>
                        <a:rPr lang="en-US" sz="2500" dirty="0" err="1">
                          <a:solidFill>
                            <a:srgbClr val="1F1F1F"/>
                          </a:solidFill>
                          <a:effectLst/>
                        </a:rPr>
                        <a:t>chỉnh</a:t>
                      </a:r>
                      <a:r>
                        <a:rPr lang="en-US" sz="2500" dirty="0">
                          <a:solidFill>
                            <a:srgbClr val="1F1F1F"/>
                          </a:solidFill>
                          <a:effectLst/>
                        </a:rPr>
                        <a:t> </a:t>
                      </a:r>
                      <a:r>
                        <a:rPr lang="en-US" sz="2500" dirty="0" err="1">
                          <a:solidFill>
                            <a:srgbClr val="1F1F1F"/>
                          </a:solidFill>
                          <a:effectLst/>
                        </a:rPr>
                        <a:t>cực</a:t>
                      </a:r>
                      <a:r>
                        <a:rPr lang="en-US" sz="2500" dirty="0">
                          <a:solidFill>
                            <a:srgbClr val="1F1F1F"/>
                          </a:solidFill>
                          <a:effectLst/>
                        </a:rPr>
                        <a:t> </a:t>
                      </a:r>
                      <a:r>
                        <a:rPr lang="en-US" sz="2500" dirty="0" err="1">
                          <a:solidFill>
                            <a:srgbClr val="1F1F1F"/>
                          </a:solidFill>
                          <a:effectLst/>
                        </a:rPr>
                        <a:t>cao</a:t>
                      </a:r>
                      <a:r>
                        <a:rPr lang="en-US" sz="2500" dirty="0">
                          <a:solidFill>
                            <a:srgbClr val="1F1F1F"/>
                          </a:solidFill>
                          <a:effectLst/>
                        </a:rPr>
                        <a:t>, </a:t>
                      </a:r>
                      <a:r>
                        <a:rPr lang="en-US" sz="2500" dirty="0" err="1">
                          <a:solidFill>
                            <a:srgbClr val="1F1F1F"/>
                          </a:solidFill>
                          <a:effectLst/>
                        </a:rPr>
                        <a:t>linh</a:t>
                      </a:r>
                      <a:r>
                        <a:rPr lang="en-US" sz="2500" dirty="0">
                          <a:solidFill>
                            <a:srgbClr val="1F1F1F"/>
                          </a:solidFill>
                          <a:effectLst/>
                        </a:rPr>
                        <a:t> </a:t>
                      </a:r>
                      <a:r>
                        <a:rPr lang="en-US" sz="2500" dirty="0" err="1">
                          <a:solidFill>
                            <a:srgbClr val="1F1F1F"/>
                          </a:solidFill>
                          <a:effectLst/>
                        </a:rPr>
                        <a:t>hoạt</a:t>
                      </a:r>
                      <a:r>
                        <a:rPr lang="en-US" sz="2500" dirty="0">
                          <a:solidFill>
                            <a:srgbClr val="1F1F1F"/>
                          </a:solidFill>
                          <a:effectLst/>
                        </a:rPr>
                        <a:t> </a:t>
                      </a:r>
                      <a:r>
                        <a:rPr lang="en-US" sz="2500" dirty="0" err="1">
                          <a:solidFill>
                            <a:srgbClr val="1F1F1F"/>
                          </a:solidFill>
                          <a:effectLst/>
                        </a:rPr>
                        <a:t>trong</a:t>
                      </a:r>
                      <a:r>
                        <a:rPr lang="en-US" sz="2500" dirty="0">
                          <a:solidFill>
                            <a:srgbClr val="1F1F1F"/>
                          </a:solidFill>
                          <a:effectLst/>
                        </a:rPr>
                        <a:t> </a:t>
                      </a:r>
                      <a:r>
                        <a:rPr lang="en-US" sz="2500" dirty="0" err="1">
                          <a:solidFill>
                            <a:srgbClr val="1F1F1F"/>
                          </a:solidFill>
                          <a:effectLst/>
                        </a:rPr>
                        <a:t>việc</a:t>
                      </a:r>
                      <a:r>
                        <a:rPr lang="en-US" sz="2500" dirty="0">
                          <a:solidFill>
                            <a:srgbClr val="1F1F1F"/>
                          </a:solidFill>
                          <a:effectLst/>
                        </a:rPr>
                        <a:t> </a:t>
                      </a:r>
                      <a:r>
                        <a:rPr lang="en-US" sz="2500" dirty="0" err="1">
                          <a:solidFill>
                            <a:srgbClr val="1F1F1F"/>
                          </a:solidFill>
                          <a:effectLst/>
                        </a:rPr>
                        <a:t>thêm</a:t>
                      </a:r>
                      <a:r>
                        <a:rPr lang="en-US" sz="2500" dirty="0">
                          <a:solidFill>
                            <a:srgbClr val="1F1F1F"/>
                          </a:solidFill>
                          <a:effectLst/>
                        </a:rPr>
                        <a:t>/</a:t>
                      </a:r>
                      <a:r>
                        <a:rPr lang="en-US" sz="2500" dirty="0" err="1">
                          <a:solidFill>
                            <a:srgbClr val="1F1F1F"/>
                          </a:solidFill>
                          <a:effectLst/>
                        </a:rPr>
                        <a:t>bớt</a:t>
                      </a:r>
                      <a:r>
                        <a:rPr lang="en-US" sz="2500" dirty="0">
                          <a:solidFill>
                            <a:srgbClr val="1F1F1F"/>
                          </a:solidFill>
                          <a:effectLst/>
                        </a:rPr>
                        <a:t> </a:t>
                      </a:r>
                      <a:r>
                        <a:rPr lang="en-US" sz="2500" dirty="0" err="1">
                          <a:solidFill>
                            <a:srgbClr val="1F1F1F"/>
                          </a:solidFill>
                          <a:effectLst/>
                        </a:rPr>
                        <a:t>bối</a:t>
                      </a:r>
                      <a:r>
                        <a:rPr lang="en-US" sz="2500" dirty="0">
                          <a:solidFill>
                            <a:srgbClr val="1F1F1F"/>
                          </a:solidFill>
                          <a:effectLst/>
                        </a:rPr>
                        <a:t> </a:t>
                      </a:r>
                      <a:r>
                        <a:rPr lang="en-US" sz="2500" dirty="0" err="1">
                          <a:solidFill>
                            <a:srgbClr val="1F1F1F"/>
                          </a:solidFill>
                          <a:effectLst/>
                        </a:rPr>
                        <a:t>cảnh</a:t>
                      </a:r>
                      <a:r>
                        <a:rPr lang="en-US" sz="2500" dirty="0">
                          <a:solidFill>
                            <a:srgbClr val="1F1F1F"/>
                          </a:solidFill>
                          <a:effectLst/>
                        </a:rPr>
                        <a:t> (context).</a:t>
                      </a:r>
                      <a:endParaRPr lang="en-US" sz="2500" dirty="0">
                        <a:solidFill>
                          <a:srgbClr val="1F1F1F"/>
                        </a:solidFill>
                        <a:effectLst/>
                        <a:latin typeface="Google Sans Text"/>
                      </a:endParaRPr>
                    </a:p>
                  </a:txBody>
                  <a:tcPr marL="126579" marR="126579" marT="168773" marB="168773" anchor="ctr"/>
                </a:tc>
                <a:tc>
                  <a:txBody>
                    <a:bodyPr/>
                    <a:lstStyle/>
                    <a:p>
                      <a:pPr rtl="0">
                        <a:buNone/>
                      </a:pPr>
                      <a:r>
                        <a:rPr lang="vi-VN" sz="2500">
                          <a:solidFill>
                            <a:srgbClr val="1F1F1F"/>
                          </a:solidFill>
                          <a:effectLst/>
                        </a:rPr>
                        <a:t>Đòi hỏi nhiều nỗ lực và thời gian hơn để tinh chỉnh cấu trúc câu lệnh (prompt engineering).</a:t>
                      </a:r>
                      <a:endParaRPr lang="vi-VN" sz="2500">
                        <a:solidFill>
                          <a:srgbClr val="1F1F1F"/>
                        </a:solidFill>
                        <a:effectLst/>
                        <a:latin typeface="Google Sans Text"/>
                      </a:endParaRPr>
                    </a:p>
                  </a:txBody>
                  <a:tcPr marL="126579" marR="126579" marT="168773" marB="168773" anchor="ctr"/>
                </a:tc>
                <a:tc>
                  <a:txBody>
                    <a:bodyPr/>
                    <a:lstStyle/>
                    <a:p>
                      <a:pPr rtl="0">
                        <a:buNone/>
                      </a:pPr>
                      <a:r>
                        <a:rPr lang="en-US" sz="2500">
                          <a:solidFill>
                            <a:srgbClr val="1F1F1F"/>
                          </a:solidFill>
                          <a:effectLst/>
                        </a:rPr>
                        <a:t>Giải quyết các đoạn mã phức tạp, khó hiểu, hoặc phân tích sâu các tệp cấu hình (</a:t>
                      </a:r>
                      <a:r>
                        <a:rPr lang="en-US" sz="2500">
                          <a:solidFill>
                            <a:srgbClr val="444746"/>
                          </a:solidFill>
                          <a:effectLst/>
                        </a:rPr>
                        <a:t>Dockerfile</a:t>
                      </a:r>
                      <a:r>
                        <a:rPr lang="en-US" sz="2500">
                          <a:solidFill>
                            <a:srgbClr val="1F1F1F"/>
                          </a:solidFill>
                          <a:effectLst/>
                        </a:rPr>
                        <a:t>).</a:t>
                      </a:r>
                      <a:endParaRPr lang="en-US" sz="2500">
                        <a:solidFill>
                          <a:srgbClr val="1F1F1F"/>
                        </a:solidFill>
                        <a:effectLst/>
                        <a:latin typeface="Google Sans Text"/>
                      </a:endParaRPr>
                    </a:p>
                  </a:txBody>
                  <a:tcPr marL="126579" marR="126579" marT="168773" marB="168773" anchor="ctr"/>
                </a:tc>
                <a:extLst>
                  <a:ext uri="{0D108BD9-81ED-4DB2-BD59-A6C34878D82A}">
                    <a16:rowId xmlns:a16="http://schemas.microsoft.com/office/drawing/2014/main" val="241392568"/>
                  </a:ext>
                </a:extLst>
              </a:tr>
              <a:tr h="1947193">
                <a:tc>
                  <a:txBody>
                    <a:bodyPr/>
                    <a:lstStyle/>
                    <a:p>
                      <a:pPr rtl="0">
                        <a:buNone/>
                      </a:pPr>
                      <a:r>
                        <a:rPr lang="en-US" sz="2500" b="1">
                          <a:solidFill>
                            <a:srgbClr val="1F1F1F"/>
                          </a:solidFill>
                          <a:effectLst/>
                        </a:rPr>
                        <a:t>OpenAI API</a:t>
                      </a:r>
                      <a:endParaRPr lang="en-US" sz="2500">
                        <a:solidFill>
                          <a:srgbClr val="1F1F1F"/>
                        </a:solidFill>
                        <a:effectLst/>
                        <a:latin typeface="Google Sans Text"/>
                      </a:endParaRPr>
                    </a:p>
                  </a:txBody>
                  <a:tcPr marL="126579" marR="126579" marT="168773" marB="168773" anchor="ctr"/>
                </a:tc>
                <a:tc>
                  <a:txBody>
                    <a:bodyPr/>
                    <a:lstStyle/>
                    <a:p>
                      <a:pPr rtl="0">
                        <a:buNone/>
                      </a:pPr>
                      <a:r>
                        <a:rPr lang="en-US" sz="2500">
                          <a:solidFill>
                            <a:srgbClr val="1F1F1F"/>
                          </a:solidFill>
                          <a:effectLst/>
                        </a:rPr>
                        <a:t>Hoàn hảo cho các giải pháp tự động hóa và tích hợp lập trình hệ thống.</a:t>
                      </a:r>
                      <a:endParaRPr lang="en-US" sz="2500">
                        <a:solidFill>
                          <a:srgbClr val="1F1F1F"/>
                        </a:solidFill>
                        <a:effectLst/>
                        <a:latin typeface="Google Sans Text"/>
                      </a:endParaRPr>
                    </a:p>
                  </a:txBody>
                  <a:tcPr marL="126579" marR="126579" marT="168773" marB="168773" anchor="ctr"/>
                </a:tc>
                <a:tc>
                  <a:txBody>
                    <a:bodyPr/>
                    <a:lstStyle/>
                    <a:p>
                      <a:pPr rtl="0">
                        <a:buNone/>
                      </a:pPr>
                      <a:r>
                        <a:rPr lang="en-US" sz="2500">
                          <a:solidFill>
                            <a:srgbClr val="1F1F1F"/>
                          </a:solidFill>
                          <a:effectLst/>
                        </a:rPr>
                        <a:t>Yêu cầu kỹ năng lập trình kịch bản và tốn kém công sức thiết lập nhất.</a:t>
                      </a:r>
                      <a:endParaRPr lang="en-US" sz="2500">
                        <a:solidFill>
                          <a:srgbClr val="1F1F1F"/>
                        </a:solidFill>
                        <a:effectLst/>
                        <a:latin typeface="Google Sans Text"/>
                      </a:endParaRPr>
                    </a:p>
                  </a:txBody>
                  <a:tcPr marL="126579" marR="126579" marT="168773" marB="168773" anchor="ctr"/>
                </a:tc>
                <a:tc>
                  <a:txBody>
                    <a:bodyPr/>
                    <a:lstStyle/>
                    <a:p>
                      <a:pPr rtl="0">
                        <a:buNone/>
                      </a:pPr>
                      <a:r>
                        <a:rPr lang="vi-VN" sz="2500" dirty="0">
                          <a:solidFill>
                            <a:srgbClr val="1F1F1F"/>
                          </a:solidFill>
                          <a:effectLst/>
                        </a:rPr>
                        <a:t>Xử lý hàng loạt (batch processing), tự động sinh tài liệu giải thích cho toàn bộ kho lưu trữ lớn.</a:t>
                      </a:r>
                      <a:endParaRPr lang="vi-VN" sz="2500" dirty="0">
                        <a:solidFill>
                          <a:srgbClr val="1F1F1F"/>
                        </a:solidFill>
                        <a:effectLst/>
                        <a:latin typeface="Google Sans Text"/>
                      </a:endParaRPr>
                    </a:p>
                  </a:txBody>
                  <a:tcPr marL="126579" marR="126579" marT="168773" marB="168773" anchor="ctr"/>
                </a:tc>
                <a:extLst>
                  <a:ext uri="{0D108BD9-81ED-4DB2-BD59-A6C34878D82A}">
                    <a16:rowId xmlns:a16="http://schemas.microsoft.com/office/drawing/2014/main" val="3885355180"/>
                  </a:ext>
                </a:extLst>
              </a:tr>
            </a:tbl>
          </a:graphicData>
        </a:graphic>
      </p:graphicFrame>
    </p:spTree>
    <p:extLst>
      <p:ext uri="{BB962C8B-B14F-4D97-AF65-F5344CB8AC3E}">
        <p14:creationId xmlns:p14="http://schemas.microsoft.com/office/powerpoint/2010/main" val="3589936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0E6A-E8AB-5302-6638-C27B967B3F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10BDF4-B94C-D8E8-B61B-F09436BC9823}"/>
              </a:ext>
            </a:extLst>
          </p:cNvPr>
          <p:cNvGrpSpPr/>
          <p:nvPr/>
        </p:nvGrpSpPr>
        <p:grpSpPr>
          <a:xfrm>
            <a:off x="9676066" y="3270849"/>
            <a:ext cx="7277675" cy="3605624"/>
            <a:chOff x="0" y="297180"/>
            <a:chExt cx="9703567" cy="4807498"/>
          </a:xfrm>
        </p:grpSpPr>
        <p:sp>
          <p:nvSpPr>
            <p:cNvPr id="3" name="TextBox 3">
              <a:extLst>
                <a:ext uri="{FF2B5EF4-FFF2-40B4-BE49-F238E27FC236}">
                  <a16:creationId xmlns:a16="http://schemas.microsoft.com/office/drawing/2014/main" id="{D4E2207A-FC83-29A4-A4CF-E17F2F84B068}"/>
                </a:ext>
              </a:extLst>
            </p:cNvPr>
            <p:cNvSpPr txBox="1"/>
            <p:nvPr/>
          </p:nvSpPr>
          <p:spPr>
            <a:xfrm>
              <a:off x="0" y="297180"/>
              <a:ext cx="9703567" cy="1641474"/>
            </a:xfrm>
            <a:prstGeom prst="rect">
              <a:avLst/>
            </a:prstGeom>
          </p:spPr>
          <p:txBody>
            <a:bodyPr lIns="0" tIns="0" rIns="0" bIns="0" rtlCol="0" anchor="t">
              <a:spAutoFit/>
            </a:bodyPr>
            <a:lstStyle/>
            <a:p>
              <a:pPr>
                <a:lnSpc>
                  <a:spcPts val="4830"/>
                </a:lnSpc>
              </a:pPr>
              <a:r>
                <a:rPr lang="en-US" sz="4025" b="1" dirty="0">
                  <a:solidFill>
                    <a:srgbClr val="0E2C4B"/>
                  </a:solidFill>
                  <a:latin typeface="Muli Ultra-Bold"/>
                </a:rPr>
                <a:t>Tái </a:t>
              </a:r>
              <a:r>
                <a:rPr lang="en-US" sz="4025" b="1" dirty="0" err="1">
                  <a:solidFill>
                    <a:srgbClr val="0E2C4B"/>
                  </a:solidFill>
                  <a:latin typeface="Muli Ultra-Bold"/>
                </a:rPr>
                <a:t>cấu</a:t>
              </a:r>
              <a:r>
                <a:rPr lang="en-US" sz="4025" b="1" dirty="0">
                  <a:solidFill>
                    <a:srgbClr val="0E2C4B"/>
                  </a:solidFill>
                  <a:latin typeface="Muli Ultra-Bold"/>
                </a:rPr>
                <a:t> </a:t>
              </a:r>
              <a:r>
                <a:rPr lang="en-US" sz="4025" b="1" dirty="0" err="1">
                  <a:solidFill>
                    <a:srgbClr val="0E2C4B"/>
                  </a:solidFill>
                  <a:latin typeface="Muli Ultra-Bold"/>
                </a:rPr>
                <a:t>trúc</a:t>
              </a:r>
              <a:r>
                <a:rPr lang="en-US" sz="4025" b="1" dirty="0">
                  <a:solidFill>
                    <a:srgbClr val="0E2C4B"/>
                  </a:solidFill>
                  <a:latin typeface="Muli Ultra-Bold"/>
                </a:rPr>
                <a:t> </a:t>
              </a:r>
              <a:r>
                <a:rPr lang="en-US" sz="4025" b="1" dirty="0" err="1">
                  <a:solidFill>
                    <a:srgbClr val="0E2C4B"/>
                  </a:solidFill>
                  <a:latin typeface="Muli Ultra-Bold"/>
                </a:rPr>
                <a:t>mã</a:t>
              </a:r>
              <a:r>
                <a:rPr lang="en-US" sz="4025" b="1" dirty="0">
                  <a:solidFill>
                    <a:srgbClr val="0E2C4B"/>
                  </a:solidFill>
                  <a:latin typeface="Muli Ultra-Bold"/>
                </a:rPr>
                <a:t> </a:t>
              </a:r>
              <a:r>
                <a:rPr lang="en-US" sz="4025" b="1" dirty="0" err="1">
                  <a:solidFill>
                    <a:srgbClr val="0E2C4B"/>
                  </a:solidFill>
                  <a:latin typeface="Muli Ultra-Bold"/>
                </a:rPr>
                <a:t>nguồn</a:t>
              </a:r>
              <a:r>
                <a:rPr lang="en-US" sz="4025" b="1" dirty="0">
                  <a:solidFill>
                    <a:srgbClr val="0E2C4B"/>
                  </a:solidFill>
                  <a:latin typeface="Muli Ultra-Bold"/>
                </a:rPr>
                <a:t> </a:t>
              </a:r>
              <a:r>
                <a:rPr lang="en-US" sz="4025" b="1" dirty="0" err="1">
                  <a:solidFill>
                    <a:srgbClr val="0E2C4B"/>
                  </a:solidFill>
                  <a:latin typeface="Muli Ultra-Bold"/>
                </a:rPr>
                <a:t>với</a:t>
              </a:r>
              <a:r>
                <a:rPr lang="en-US" sz="4025" b="1" dirty="0">
                  <a:solidFill>
                    <a:srgbClr val="0E2C4B"/>
                  </a:solidFill>
                  <a:latin typeface="Muli Ultra-Bold"/>
                </a:rPr>
                <a:t> GenAI</a:t>
              </a:r>
              <a:endParaRPr lang="en-US" sz="4025" b="1" dirty="0">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FD1F8DA5-9C99-554C-71FC-526F80BD0D36}"/>
                </a:ext>
              </a:extLst>
            </p:cNvPr>
            <p:cNvSpPr txBox="1"/>
            <p:nvPr/>
          </p:nvSpPr>
          <p:spPr>
            <a:xfrm>
              <a:off x="0" y="2663497"/>
              <a:ext cx="8956646" cy="2441181"/>
            </a:xfrm>
            <a:prstGeom prst="rect">
              <a:avLst/>
            </a:prstGeom>
          </p:spPr>
          <p:txBody>
            <a:bodyPr lIns="0" tIns="0" rIns="0" bIns="0" rtlCol="0" anchor="t">
              <a:spAutoFit/>
            </a:bodyPr>
            <a:lstStyle/>
            <a:p>
              <a:pPr algn="l">
                <a:lnSpc>
                  <a:spcPts val="2940"/>
                </a:lnSpc>
              </a:pPr>
              <a:r>
                <a:rPr lang="en-US" sz="2100" dirty="0">
                  <a:solidFill>
                    <a:srgbClr val="0E2C4B"/>
                  </a:solidFill>
                  <a:latin typeface="Muli"/>
                  <a:ea typeface="Muli"/>
                  <a:cs typeface="Muli"/>
                  <a:sym typeface="Muli"/>
                </a:rPr>
                <a:t>Tái </a:t>
              </a:r>
              <a:r>
                <a:rPr lang="en-US" sz="2100" dirty="0" err="1">
                  <a:solidFill>
                    <a:srgbClr val="0E2C4B"/>
                  </a:solidFill>
                  <a:latin typeface="Muli"/>
                  <a:ea typeface="Muli"/>
                  <a:cs typeface="Muli"/>
                  <a:sym typeface="Muli"/>
                </a:rPr>
                <a:t>cấu</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trúc</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mã</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nguồn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là</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quá</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trình</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cải</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thiện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cấu</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trúc</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bên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trong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của</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mã</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mà</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không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thay</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đổi</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hành</a:t>
              </a:r>
              <a:r>
                <a:rPr lang="en-US" sz="2100" dirty="0">
                  <a:solidFill>
                    <a:srgbClr val="0E2C4B"/>
                  </a:solidFill>
                  <a:latin typeface="Muli"/>
                  <a:ea typeface="Muli"/>
                  <a:cs typeface="Muli"/>
                  <a:sym typeface="Muli"/>
                </a:rPr>
                <a:t> vi </a:t>
              </a:r>
              <a:r>
                <a:rPr lang="en-US" sz="2100" dirty="0" err="1">
                  <a:solidFill>
                    <a:srgbClr val="0E2C4B"/>
                  </a:solidFill>
                  <a:latin typeface="Muli"/>
                  <a:ea typeface="Muli"/>
                  <a:cs typeface="Muli"/>
                  <a:sym typeface="Muli"/>
                </a:rPr>
                <a:t>bên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ngoài</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Đây</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là</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kỹ</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năng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thiết</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yếu</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trong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vòng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đời</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phát</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triển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phần</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mềm</a:t>
              </a:r>
              <a:r>
                <a:rPr lang="en-US" sz="2100" dirty="0">
                  <a:solidFill>
                    <a:srgbClr val="0E2C4B"/>
                  </a:solidFill>
                  <a:latin typeface="Muli"/>
                  <a:ea typeface="Muli"/>
                  <a:cs typeface="Muli"/>
                  <a:sym typeface="Muli"/>
                </a:rPr>
                <a:t> (SDLC), </a:t>
              </a:r>
              <a:r>
                <a:rPr lang="en-US" sz="2100" dirty="0" err="1">
                  <a:solidFill>
                    <a:srgbClr val="0E2C4B"/>
                  </a:solidFill>
                  <a:latin typeface="Muli"/>
                  <a:ea typeface="Muli"/>
                  <a:cs typeface="Muli"/>
                  <a:sym typeface="Muli"/>
                </a:rPr>
                <a:t>giúp</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giảm</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nợ</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kỹ</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thuật</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tăng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khả</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năng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bảo</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trì</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và</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nâng</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cao</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hiệu</a:t>
              </a:r>
              <a:r>
                <a:rPr lang="en-US" sz="2100" dirty="0">
                  <a:solidFill>
                    <a:srgbClr val="0E2C4B"/>
                  </a:solidFill>
                  <a:latin typeface="Muli"/>
                  <a:ea typeface="Muli"/>
                  <a:cs typeface="Muli"/>
                  <a:sym typeface="Muli"/>
                </a:rPr>
                <a:t> </a:t>
              </a:r>
              <a:r>
                <a:rPr lang="en-US" sz="2100" dirty="0" err="1">
                  <a:solidFill>
                    <a:srgbClr val="0E2C4B"/>
                  </a:solidFill>
                  <a:latin typeface="Muli"/>
                  <a:ea typeface="Muli"/>
                  <a:cs typeface="Muli"/>
                  <a:sym typeface="Muli"/>
                </a:rPr>
                <a:t>suất</a:t>
              </a:r>
              <a:r>
                <a:rPr lang="en-US" sz="2100" dirty="0">
                  <a:solidFill>
                    <a:srgbClr val="0E2C4B"/>
                  </a:solidFill>
                  <a:latin typeface="Muli"/>
                  <a:ea typeface="Muli"/>
                  <a:cs typeface="Muli"/>
                  <a:sym typeface="Muli"/>
                </a:rPr>
                <a:t>.</a:t>
              </a:r>
            </a:p>
          </p:txBody>
        </p:sp>
      </p:grpSp>
      <p:grpSp>
        <p:nvGrpSpPr>
          <p:cNvPr id="5" name="Group 5">
            <a:extLst>
              <a:ext uri="{FF2B5EF4-FFF2-40B4-BE49-F238E27FC236}">
                <a16:creationId xmlns:a16="http://schemas.microsoft.com/office/drawing/2014/main" id="{FA155BA0-6805-310E-8B47-EB6920D842EF}"/>
              </a:ext>
            </a:extLst>
          </p:cNvPr>
          <p:cNvGrpSpPr/>
          <p:nvPr/>
        </p:nvGrpSpPr>
        <p:grpSpPr>
          <a:xfrm>
            <a:off x="1028700" y="1747484"/>
            <a:ext cx="7549245" cy="7148517"/>
            <a:chOff x="0" y="0"/>
            <a:chExt cx="10065660" cy="9531355"/>
          </a:xfrm>
        </p:grpSpPr>
        <p:grpSp>
          <p:nvGrpSpPr>
            <p:cNvPr id="6" name="Group 6">
              <a:extLst>
                <a:ext uri="{FF2B5EF4-FFF2-40B4-BE49-F238E27FC236}">
                  <a16:creationId xmlns:a16="http://schemas.microsoft.com/office/drawing/2014/main" id="{36FCC6E3-17BE-4157-B0EB-06B0FB1FEBE0}"/>
                </a:ext>
              </a:extLst>
            </p:cNvPr>
            <p:cNvGrpSpPr/>
            <p:nvPr/>
          </p:nvGrpSpPr>
          <p:grpSpPr>
            <a:xfrm>
              <a:off x="762346" y="0"/>
              <a:ext cx="9303314" cy="9303314"/>
              <a:chOff x="0" y="0"/>
              <a:chExt cx="6350000" cy="6350000"/>
            </a:xfrm>
          </p:grpSpPr>
          <p:sp>
            <p:nvSpPr>
              <p:cNvPr id="7" name="Freeform 7">
                <a:extLst>
                  <a:ext uri="{FF2B5EF4-FFF2-40B4-BE49-F238E27FC236}">
                    <a16:creationId xmlns:a16="http://schemas.microsoft.com/office/drawing/2014/main" id="{2EB2FD3A-48AB-C4EB-0C92-EE942FD4DA1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EBE7"/>
              </a:solidFill>
            </p:spPr>
            <p:txBody>
              <a:bodyPr/>
              <a:lstStyle/>
              <a:p>
                <a:endParaRPr lang="en-US"/>
              </a:p>
            </p:txBody>
          </p:sp>
        </p:grpSp>
        <p:sp>
          <p:nvSpPr>
            <p:cNvPr id="8" name="Freeform 8">
              <a:extLst>
                <a:ext uri="{FF2B5EF4-FFF2-40B4-BE49-F238E27FC236}">
                  <a16:creationId xmlns:a16="http://schemas.microsoft.com/office/drawing/2014/main" id="{D4F0BE80-BE25-A6BE-93D3-7D23A35665DE}"/>
                </a:ext>
              </a:extLst>
            </p:cNvPr>
            <p:cNvSpPr/>
            <p:nvPr/>
          </p:nvSpPr>
          <p:spPr>
            <a:xfrm flipH="1">
              <a:off x="0" y="6584578"/>
              <a:ext cx="8490115" cy="2946777"/>
            </a:xfrm>
            <a:custGeom>
              <a:avLst/>
              <a:gdLst/>
              <a:ahLst/>
              <a:cxnLst/>
              <a:rect l="l" t="t" r="r" b="b"/>
              <a:pathLst>
                <a:path w="8490115" h="2946777">
                  <a:moveTo>
                    <a:pt x="8490115" y="0"/>
                  </a:moveTo>
                  <a:lnTo>
                    <a:pt x="0" y="0"/>
                  </a:lnTo>
                  <a:lnTo>
                    <a:pt x="0" y="2946777"/>
                  </a:lnTo>
                  <a:lnTo>
                    <a:pt x="8490115" y="2946777"/>
                  </a:lnTo>
                  <a:lnTo>
                    <a:pt x="8490115" y="0"/>
                  </a:lnTo>
                  <a:close/>
                </a:path>
              </a:pathLst>
            </a:custGeom>
            <a:blipFill>
              <a:blip r:embed="rId2">
                <a:alphaModFix amt="51000"/>
              </a:blip>
              <a:stretch>
                <a:fillRect/>
              </a:stretch>
            </a:blipFill>
          </p:spPr>
          <p:txBody>
            <a:bodyPr/>
            <a:lstStyle/>
            <a:p>
              <a:endParaRPr lang="en-US"/>
            </a:p>
          </p:txBody>
        </p:sp>
        <p:sp>
          <p:nvSpPr>
            <p:cNvPr id="9" name="Freeform 9">
              <a:extLst>
                <a:ext uri="{FF2B5EF4-FFF2-40B4-BE49-F238E27FC236}">
                  <a16:creationId xmlns:a16="http://schemas.microsoft.com/office/drawing/2014/main" id="{D8BD1FE2-FDAB-424B-478F-FCFC1E7DBE93}"/>
                </a:ext>
              </a:extLst>
            </p:cNvPr>
            <p:cNvSpPr/>
            <p:nvPr/>
          </p:nvSpPr>
          <p:spPr>
            <a:xfrm>
              <a:off x="0" y="1360379"/>
              <a:ext cx="8577310" cy="7805352"/>
            </a:xfrm>
            <a:custGeom>
              <a:avLst/>
              <a:gdLst/>
              <a:ahLst/>
              <a:cxnLst/>
              <a:rect l="l" t="t" r="r" b="b"/>
              <a:pathLst>
                <a:path w="8577310" h="7805352">
                  <a:moveTo>
                    <a:pt x="0" y="0"/>
                  </a:moveTo>
                  <a:lnTo>
                    <a:pt x="8577310" y="0"/>
                  </a:lnTo>
                  <a:lnTo>
                    <a:pt x="8577310" y="7805351"/>
                  </a:lnTo>
                  <a:lnTo>
                    <a:pt x="0" y="7805351"/>
                  </a:lnTo>
                  <a:lnTo>
                    <a:pt x="0" y="0"/>
                  </a:lnTo>
                  <a:close/>
                </a:path>
              </a:pathLst>
            </a:custGeom>
            <a:blipFill>
              <a:blip r:embed="rId3"/>
              <a:stretch>
                <a:fillRect/>
              </a:stretch>
            </a:blipFill>
          </p:spPr>
          <p:txBody>
            <a:bodyPr/>
            <a:lstStyle/>
            <a:p>
              <a:endParaRPr lang="en-US"/>
            </a:p>
          </p:txBody>
        </p:sp>
      </p:grpSp>
    </p:spTree>
    <p:extLst>
      <p:ext uri="{BB962C8B-B14F-4D97-AF65-F5344CB8AC3E}">
        <p14:creationId xmlns:p14="http://schemas.microsoft.com/office/powerpoint/2010/main" val="1346855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4FAD2F-DA92-C9CD-1370-A6A86D91FB27}"/>
            </a:ext>
          </a:extLst>
        </p:cNvPr>
        <p:cNvGrpSpPr/>
        <p:nvPr/>
      </p:nvGrpSpPr>
      <p:grpSpPr>
        <a:xfrm>
          <a:off x="0" y="0"/>
          <a:ext cx="0" cy="0"/>
          <a:chOff x="0" y="0"/>
          <a:chExt cx="0" cy="0"/>
        </a:xfrm>
      </p:grpSpPr>
      <p:sp useBgFill="1">
        <p:nvSpPr>
          <p:cNvPr id="8228" name="Rectangle 822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3">
            <a:extLst>
              <a:ext uri="{FF2B5EF4-FFF2-40B4-BE49-F238E27FC236}">
                <a16:creationId xmlns:a16="http://schemas.microsoft.com/office/drawing/2014/main" id="{01F9CECF-7112-3A1E-91E3-D1C65689A409}"/>
              </a:ext>
            </a:extLst>
          </p:cNvPr>
          <p:cNvSpPr txBox="1"/>
          <p:nvPr/>
        </p:nvSpPr>
        <p:spPr>
          <a:xfrm>
            <a:off x="13901863" y="3034665"/>
            <a:ext cx="3704436" cy="426910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600" b="1" kern="1200">
                <a:solidFill>
                  <a:schemeClr val="tx1"/>
                </a:solidFill>
                <a:latin typeface="+mj-lt"/>
                <a:ea typeface="+mj-ea"/>
                <a:cs typeface="+mj-cs"/>
              </a:rPr>
              <a:t>Các loại tái cấu trúc mã</a:t>
            </a:r>
            <a:endParaRPr lang="en-US" sz="5600" b="1" kern="1200">
              <a:solidFill>
                <a:schemeClr val="tx1"/>
              </a:solidFill>
              <a:latin typeface="+mj-lt"/>
              <a:ea typeface="+mj-ea"/>
              <a:cs typeface="+mj-cs"/>
              <a:sym typeface="Muli Ultra-Bold"/>
            </a:endParaRPr>
          </a:p>
        </p:txBody>
      </p:sp>
      <p:sp>
        <p:nvSpPr>
          <p:cNvPr id="8227" name="Rectangle 822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150960" y="-1240850"/>
            <a:ext cx="2573217" cy="128751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29" name="Rectangle 822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27" y="996462"/>
            <a:ext cx="12123948" cy="840051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1" name="Rectangle 823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25671" y="5088146"/>
            <a:ext cx="2578608" cy="2285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E8788053-1A31-5E2D-F024-1721CC081E3D}"/>
              </a:ext>
            </a:extLst>
          </p:cNvPr>
          <p:cNvSpPr>
            <a:spLocks noChangeArrowheads="1"/>
          </p:cNvSpPr>
          <p:nvPr/>
        </p:nvSpPr>
        <p:spPr bwMode="auto">
          <a:xfrm>
            <a:off x="2278063" y="2422525"/>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Table 2">
            <a:extLst>
              <a:ext uri="{FF2B5EF4-FFF2-40B4-BE49-F238E27FC236}">
                <a16:creationId xmlns:a16="http://schemas.microsoft.com/office/drawing/2014/main" id="{E3099D2F-C33A-E088-91FD-2E86CE922E01}"/>
              </a:ext>
            </a:extLst>
          </p:cNvPr>
          <p:cNvGraphicFramePr>
            <a:graphicFrameLocks noGrp="1"/>
          </p:cNvGraphicFramePr>
          <p:nvPr>
            <p:extLst>
              <p:ext uri="{D42A27DB-BD31-4B8C-83A1-F6EECF244321}">
                <p14:modId xmlns:p14="http://schemas.microsoft.com/office/powerpoint/2010/main" val="1640111348"/>
              </p:ext>
            </p:extLst>
          </p:nvPr>
        </p:nvGraphicFramePr>
        <p:xfrm>
          <a:off x="817857" y="1812083"/>
          <a:ext cx="11412457" cy="6769268"/>
        </p:xfrm>
        <a:graphic>
          <a:graphicData uri="http://schemas.openxmlformats.org/drawingml/2006/table">
            <a:tbl>
              <a:tblPr firstRow="1" bandRow="1">
                <a:solidFill>
                  <a:schemeClr val="bg1"/>
                </a:solidFill>
              </a:tblPr>
              <a:tblGrid>
                <a:gridCol w="3379025">
                  <a:extLst>
                    <a:ext uri="{9D8B030D-6E8A-4147-A177-3AD203B41FA5}">
                      <a16:colId xmlns:a16="http://schemas.microsoft.com/office/drawing/2014/main" val="2093928081"/>
                    </a:ext>
                  </a:extLst>
                </a:gridCol>
                <a:gridCol w="3155333">
                  <a:extLst>
                    <a:ext uri="{9D8B030D-6E8A-4147-A177-3AD203B41FA5}">
                      <a16:colId xmlns:a16="http://schemas.microsoft.com/office/drawing/2014/main" val="4192999284"/>
                    </a:ext>
                  </a:extLst>
                </a:gridCol>
                <a:gridCol w="4878099">
                  <a:extLst>
                    <a:ext uri="{9D8B030D-6E8A-4147-A177-3AD203B41FA5}">
                      <a16:colId xmlns:a16="http://schemas.microsoft.com/office/drawing/2014/main" val="2703777506"/>
                    </a:ext>
                  </a:extLst>
                </a:gridCol>
              </a:tblGrid>
              <a:tr h="910262">
                <a:tc>
                  <a:txBody>
                    <a:bodyPr/>
                    <a:lstStyle/>
                    <a:p>
                      <a:pPr rtl="0" fontAlgn="t">
                        <a:spcBef>
                          <a:spcPts val="1200"/>
                        </a:spcBef>
                        <a:spcAft>
                          <a:spcPts val="1200"/>
                        </a:spcAft>
                        <a:buNone/>
                      </a:pPr>
                      <a:r>
                        <a:rPr lang="en-US" sz="2900" b="0" i="0" u="none" strike="noStrike" cap="none" spc="0">
                          <a:solidFill>
                            <a:schemeClr val="bg1"/>
                          </a:solidFill>
                          <a:effectLst/>
                          <a:latin typeface="Times New Roman" panose="02020603050405020304" pitchFamily="18" charset="0"/>
                        </a:rPr>
                        <a:t>Loại</a:t>
                      </a:r>
                      <a:endParaRPr lang="en-US" sz="2900" b="0" cap="none" spc="0">
                        <a:solidFill>
                          <a:schemeClr val="bg1"/>
                        </a:solidFill>
                        <a:effectLst/>
                      </a:endParaRPr>
                    </a:p>
                  </a:txBody>
                  <a:tcPr marL="250001" marR="160257" marT="192309" marB="19230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rtl="0" fontAlgn="t">
                        <a:spcBef>
                          <a:spcPts val="1200"/>
                        </a:spcBef>
                        <a:spcAft>
                          <a:spcPts val="1200"/>
                        </a:spcAft>
                        <a:buNone/>
                      </a:pPr>
                      <a:r>
                        <a:rPr lang="en-US" sz="2900" b="0" i="0" u="none" strike="noStrike" cap="none" spc="0">
                          <a:solidFill>
                            <a:schemeClr val="bg1"/>
                          </a:solidFill>
                          <a:effectLst/>
                          <a:latin typeface="Times New Roman" panose="02020603050405020304" pitchFamily="18" charset="0"/>
                        </a:rPr>
                        <a:t>Mô tả</a:t>
                      </a:r>
                      <a:endParaRPr lang="en-US" sz="2900" b="0" cap="none" spc="0">
                        <a:solidFill>
                          <a:schemeClr val="bg1"/>
                        </a:solidFill>
                        <a:effectLst/>
                      </a:endParaRPr>
                    </a:p>
                  </a:txBody>
                  <a:tcPr marL="250001" marR="160257" marT="192309" marB="19230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t">
                        <a:spcBef>
                          <a:spcPts val="1200"/>
                        </a:spcBef>
                        <a:spcAft>
                          <a:spcPts val="1200"/>
                        </a:spcAft>
                        <a:buNone/>
                      </a:pPr>
                      <a:r>
                        <a:rPr lang="en-US" sz="2900" b="0" i="0" u="none" strike="noStrike" cap="none" spc="0">
                          <a:solidFill>
                            <a:schemeClr val="bg1"/>
                          </a:solidFill>
                          <a:effectLst/>
                          <a:latin typeface="Times New Roman" panose="02020603050405020304" pitchFamily="18" charset="0"/>
                        </a:rPr>
                        <a:t>Ví dụ</a:t>
                      </a:r>
                      <a:endParaRPr lang="en-US" sz="2900" b="0" cap="none" spc="0">
                        <a:solidFill>
                          <a:schemeClr val="bg1"/>
                        </a:solidFill>
                        <a:effectLst/>
                      </a:endParaRPr>
                    </a:p>
                  </a:txBody>
                  <a:tcPr marL="250001" marR="160257" marT="192309" marB="19230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251672553"/>
                  </a:ext>
                </a:extLst>
              </a:tr>
              <a:tr h="2705143">
                <a:tc>
                  <a:txBody>
                    <a:bodyPr/>
                    <a:lstStyle/>
                    <a:p>
                      <a:pPr rtl="0" fontAlgn="t">
                        <a:spcBef>
                          <a:spcPts val="1200"/>
                        </a:spcBef>
                        <a:spcAft>
                          <a:spcPts val="1200"/>
                        </a:spcAft>
                        <a:buNone/>
                      </a:pPr>
                      <a:r>
                        <a:rPr lang="en-US" sz="2900" b="1" i="0" u="none" strike="noStrike" cap="none" spc="0">
                          <a:solidFill>
                            <a:schemeClr val="tx1"/>
                          </a:solidFill>
                          <a:effectLst/>
                          <a:latin typeface="Times New Roman" panose="02020603050405020304" pitchFamily="18" charset="0"/>
                        </a:rPr>
                        <a:t>Tái cấu trúc cấu trúc (Structural)</a:t>
                      </a:r>
                      <a:endParaRPr lang="en-US" sz="2900" cap="none" spc="0">
                        <a:solidFill>
                          <a:schemeClr val="tx1"/>
                        </a:solidFill>
                        <a:effectLst/>
                      </a:endParaRPr>
                    </a:p>
                  </a:txBody>
                  <a:tcPr marL="250001" marR="160257" marT="192309" marB="192309">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t">
                        <a:spcBef>
                          <a:spcPts val="1200"/>
                        </a:spcBef>
                        <a:spcAft>
                          <a:spcPts val="1200"/>
                        </a:spcAft>
                        <a:buNone/>
                      </a:pPr>
                      <a:r>
                        <a:rPr lang="en-US" sz="2900" b="0" i="0" u="none" strike="noStrike" cap="none" spc="0">
                          <a:solidFill>
                            <a:schemeClr val="tx1"/>
                          </a:solidFill>
                          <a:effectLst/>
                          <a:latin typeface="Times New Roman" panose="02020603050405020304" pitchFamily="18" charset="0"/>
                        </a:rPr>
                        <a:t>Cải thiện tổ chức mã: tách hàm, đặt tên lại, loại bỏ mã trùng lặp</a:t>
                      </a:r>
                      <a:endParaRPr lang="en-US" sz="2900" cap="none" spc="0">
                        <a:solidFill>
                          <a:schemeClr val="tx1"/>
                        </a:solidFill>
                        <a:effectLst/>
                      </a:endParaRPr>
                    </a:p>
                  </a:txBody>
                  <a:tcPr marL="250001" marR="160257" marT="192309" marB="192309">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t">
                        <a:spcBef>
                          <a:spcPts val="1200"/>
                        </a:spcBef>
                        <a:spcAft>
                          <a:spcPts val="1200"/>
                        </a:spcAft>
                        <a:buNone/>
                      </a:pPr>
                      <a:r>
                        <a:rPr lang="en-US" sz="2900" b="0" i="0" u="none" strike="noStrike" cap="none" spc="0">
                          <a:solidFill>
                            <a:schemeClr val="tx1"/>
                          </a:solidFill>
                          <a:effectLst/>
                          <a:latin typeface="Times New Roman" panose="02020603050405020304" pitchFamily="18" charset="0"/>
                        </a:rPr>
                        <a:t>Tách hàm calculate_distance() thành parse_request_parameters(), get_manhattan_dist(), get_euclidean_dist()</a:t>
                      </a:r>
                      <a:endParaRPr lang="en-US" sz="2900" cap="none" spc="0">
                        <a:solidFill>
                          <a:schemeClr val="tx1"/>
                        </a:solidFill>
                        <a:effectLst/>
                      </a:endParaRPr>
                    </a:p>
                  </a:txBody>
                  <a:tcPr marL="250001" marR="160257" marT="192309" marB="192309">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700095422"/>
                  </a:ext>
                </a:extLst>
              </a:tr>
              <a:tr h="3153863">
                <a:tc>
                  <a:txBody>
                    <a:bodyPr/>
                    <a:lstStyle/>
                    <a:p>
                      <a:pPr rtl="0" fontAlgn="t">
                        <a:spcBef>
                          <a:spcPts val="1200"/>
                        </a:spcBef>
                        <a:spcAft>
                          <a:spcPts val="1200"/>
                        </a:spcAft>
                        <a:buNone/>
                      </a:pPr>
                      <a:r>
                        <a:rPr lang="en-US" sz="2900" b="1" i="0" u="none" strike="noStrike" cap="none" spc="0">
                          <a:solidFill>
                            <a:schemeClr val="tx1"/>
                          </a:solidFill>
                          <a:effectLst/>
                          <a:latin typeface="Times New Roman" panose="02020603050405020304" pitchFamily="18" charset="0"/>
                        </a:rPr>
                        <a:t>Tái cấu trúc hiệu suất (Performance)</a:t>
                      </a:r>
                      <a:endParaRPr lang="en-US" sz="2900" cap="none" spc="0">
                        <a:solidFill>
                          <a:schemeClr val="tx1"/>
                        </a:solidFill>
                        <a:effectLst/>
                      </a:endParaRPr>
                    </a:p>
                  </a:txBody>
                  <a:tcPr marL="250001" marR="160257" marT="192309" marB="192309">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t">
                        <a:spcBef>
                          <a:spcPts val="1200"/>
                        </a:spcBef>
                        <a:spcAft>
                          <a:spcPts val="1200"/>
                        </a:spcAft>
                        <a:buNone/>
                      </a:pPr>
                      <a:r>
                        <a:rPr lang="vi-VN" sz="2900" b="0" i="0" u="none" strike="noStrike" cap="none" spc="0">
                          <a:solidFill>
                            <a:schemeClr val="tx1"/>
                          </a:solidFill>
                          <a:effectLst/>
                          <a:latin typeface="Times New Roman" panose="02020603050405020304" pitchFamily="18" charset="0"/>
                        </a:rPr>
                        <a:t>Tối ưu tốc độ thực thi: vector hóa, sử dụng thư viện tối ưu, giảm độ phức tạp thuật toán</a:t>
                      </a:r>
                      <a:endParaRPr lang="vi-VN" sz="2900" cap="none" spc="0">
                        <a:solidFill>
                          <a:schemeClr val="tx1"/>
                        </a:solidFill>
                        <a:effectLst/>
                      </a:endParaRPr>
                    </a:p>
                  </a:txBody>
                  <a:tcPr marL="250001" marR="160257" marT="192309" marB="192309">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t">
                        <a:spcBef>
                          <a:spcPts val="1200"/>
                        </a:spcBef>
                        <a:spcAft>
                          <a:spcPts val="1200"/>
                        </a:spcAft>
                        <a:buNone/>
                      </a:pPr>
                      <a:r>
                        <a:rPr lang="en-US" sz="2900" b="0" i="0" u="none" strike="noStrike" cap="none" spc="0">
                          <a:solidFill>
                            <a:schemeClr val="tx1"/>
                          </a:solidFill>
                          <a:effectLst/>
                          <a:latin typeface="Times New Roman" panose="02020603050405020304" pitchFamily="18" charset="0"/>
                        </a:rPr>
                        <a:t>Thay </a:t>
                      </a:r>
                      <a:r>
                        <a:rPr lang="en-US" sz="2900" b="0" i="0" u="none" strike="noStrike" cap="none" spc="0" err="1">
                          <a:solidFill>
                            <a:schemeClr val="tx1"/>
                          </a:solidFill>
                          <a:effectLst/>
                          <a:latin typeface="Times New Roman" panose="02020603050405020304" pitchFamily="18" charset="0"/>
                        </a:rPr>
                        <a:t>vòng</a:t>
                      </a:r>
                      <a:r>
                        <a:rPr lang="en-US" sz="2900" b="0" i="0" u="none" strike="noStrike" cap="none" spc="0">
                          <a:solidFill>
                            <a:schemeClr val="tx1"/>
                          </a:solidFill>
                          <a:effectLst/>
                          <a:latin typeface="Times New Roman" panose="02020603050405020304" pitchFamily="18" charset="0"/>
                        </a:rPr>
                        <a:t> </a:t>
                      </a:r>
                      <a:r>
                        <a:rPr lang="en-US" sz="2900" b="0" i="0" u="none" strike="noStrike" cap="none" spc="0" err="1">
                          <a:solidFill>
                            <a:schemeClr val="tx1"/>
                          </a:solidFill>
                          <a:effectLst/>
                          <a:latin typeface="Times New Roman" panose="02020603050405020304" pitchFamily="18" charset="0"/>
                        </a:rPr>
                        <a:t>lặp</a:t>
                      </a:r>
                      <a:r>
                        <a:rPr lang="en-US" sz="2900" b="0" i="0" u="none" strike="noStrike" cap="none" spc="0">
                          <a:solidFill>
                            <a:schemeClr val="tx1"/>
                          </a:solidFill>
                          <a:effectLst/>
                          <a:latin typeface="Times New Roman" panose="02020603050405020304" pitchFamily="18" charset="0"/>
                        </a:rPr>
                        <a:t> for </a:t>
                      </a:r>
                      <a:r>
                        <a:rPr lang="en-US" sz="2900" b="0" i="0" u="none" strike="noStrike" cap="none" spc="0" err="1">
                          <a:solidFill>
                            <a:schemeClr val="tx1"/>
                          </a:solidFill>
                          <a:effectLst/>
                          <a:latin typeface="Times New Roman" panose="02020603050405020304" pitchFamily="18" charset="0"/>
                        </a:rPr>
                        <a:t>lồng</a:t>
                      </a:r>
                      <a:r>
                        <a:rPr lang="en-US" sz="2900" b="0" i="0" u="none" strike="noStrike" cap="none" spc="0">
                          <a:solidFill>
                            <a:schemeClr val="tx1"/>
                          </a:solidFill>
                          <a:effectLst/>
                          <a:latin typeface="Times New Roman" panose="02020603050405020304" pitchFamily="18" charset="0"/>
                        </a:rPr>
                        <a:t> </a:t>
                      </a:r>
                      <a:r>
                        <a:rPr lang="en-US" sz="2900" b="0" i="0" u="none" strike="noStrike" cap="none" spc="0" err="1">
                          <a:solidFill>
                            <a:schemeClr val="tx1"/>
                          </a:solidFill>
                          <a:effectLst/>
                          <a:latin typeface="Times New Roman" panose="02020603050405020304" pitchFamily="18" charset="0"/>
                        </a:rPr>
                        <a:t>nhau</a:t>
                      </a:r>
                      <a:r>
                        <a:rPr lang="en-US" sz="2900" b="0" i="0" u="none" strike="noStrike" cap="none" spc="0">
                          <a:solidFill>
                            <a:schemeClr val="tx1"/>
                          </a:solidFill>
                          <a:effectLst/>
                          <a:latin typeface="Times New Roman" panose="02020603050405020304" pitchFamily="18" charset="0"/>
                        </a:rPr>
                        <a:t> </a:t>
                      </a:r>
                      <a:r>
                        <a:rPr lang="en-US" sz="2900" b="0" i="0" u="none" strike="noStrike" cap="none" spc="0" err="1">
                          <a:solidFill>
                            <a:schemeClr val="tx1"/>
                          </a:solidFill>
                          <a:effectLst/>
                          <a:latin typeface="Times New Roman" panose="02020603050405020304" pitchFamily="18" charset="0"/>
                        </a:rPr>
                        <a:t>bằng</a:t>
                      </a:r>
                      <a:r>
                        <a:rPr lang="en-US" sz="2900" b="0" i="0" u="none" strike="noStrike" cap="none" spc="0">
                          <a:solidFill>
                            <a:schemeClr val="tx1"/>
                          </a:solidFill>
                          <a:effectLst/>
                          <a:latin typeface="Times New Roman" panose="02020603050405020304" pitchFamily="18" charset="0"/>
                        </a:rPr>
                        <a:t> </a:t>
                      </a:r>
                      <a:r>
                        <a:rPr lang="en-US" sz="2900" b="0" i="0" u="none" strike="noStrike" cap="none" spc="0" err="1">
                          <a:solidFill>
                            <a:schemeClr val="tx1"/>
                          </a:solidFill>
                          <a:effectLst/>
                          <a:latin typeface="Times New Roman" panose="02020603050405020304" pitchFamily="18" charset="0"/>
                        </a:rPr>
                        <a:t>phép</a:t>
                      </a:r>
                      <a:r>
                        <a:rPr lang="en-US" sz="2900" b="0" i="0" u="none" strike="noStrike" cap="none" spc="0">
                          <a:solidFill>
                            <a:schemeClr val="tx1"/>
                          </a:solidFill>
                          <a:effectLst/>
                          <a:latin typeface="Times New Roman" panose="02020603050405020304" pitchFamily="18" charset="0"/>
                        </a:rPr>
                        <a:t> </a:t>
                      </a:r>
                      <a:r>
                        <a:rPr lang="en-US" sz="2900" b="0" i="0" u="none" strike="noStrike" cap="none" spc="0" err="1">
                          <a:solidFill>
                            <a:schemeClr val="tx1"/>
                          </a:solidFill>
                          <a:effectLst/>
                          <a:latin typeface="Times New Roman" panose="02020603050405020304" pitchFamily="18" charset="0"/>
                        </a:rPr>
                        <a:t>tính</a:t>
                      </a:r>
                      <a:r>
                        <a:rPr lang="en-US" sz="2900" b="0" i="0" u="none" strike="noStrike" cap="none" spc="0">
                          <a:solidFill>
                            <a:schemeClr val="tx1"/>
                          </a:solidFill>
                          <a:effectLst/>
                          <a:latin typeface="Times New Roman" panose="02020603050405020304" pitchFamily="18" charset="0"/>
                        </a:rPr>
                        <a:t> vector NumPy: </a:t>
                      </a:r>
                      <a:r>
                        <a:rPr lang="en-US" sz="2900" b="0" i="0" u="none" strike="noStrike" cap="none" spc="0" err="1">
                          <a:solidFill>
                            <a:schemeClr val="tx1"/>
                          </a:solidFill>
                          <a:effectLst/>
                          <a:latin typeface="Times New Roman" panose="02020603050405020304" pitchFamily="18" charset="0"/>
                        </a:rPr>
                        <a:t>np.sqrt</a:t>
                      </a:r>
                      <a:r>
                        <a:rPr lang="en-US" sz="2900" b="0" i="0" u="none" strike="noStrike" cap="none" spc="0">
                          <a:solidFill>
                            <a:schemeClr val="tx1"/>
                          </a:solidFill>
                          <a:effectLst/>
                          <a:latin typeface="Times New Roman" panose="02020603050405020304" pitchFamily="18" charset="0"/>
                        </a:rPr>
                        <a:t>(</a:t>
                      </a:r>
                      <a:r>
                        <a:rPr lang="en-US" sz="2900" b="0" i="0" u="none" strike="noStrike" cap="none" spc="0" err="1">
                          <a:solidFill>
                            <a:schemeClr val="tx1"/>
                          </a:solidFill>
                          <a:effectLst/>
                          <a:latin typeface="Times New Roman" panose="02020603050405020304" pitchFamily="18" charset="0"/>
                        </a:rPr>
                        <a:t>np.sum</a:t>
                      </a:r>
                      <a:r>
                        <a:rPr lang="en-US" sz="2900" b="0" i="0" u="none" strike="noStrike" cap="none" spc="0">
                          <a:solidFill>
                            <a:schemeClr val="tx1"/>
                          </a:solidFill>
                          <a:effectLst/>
                          <a:latin typeface="Times New Roman" panose="02020603050405020304" pitchFamily="18" charset="0"/>
                        </a:rPr>
                        <a:t>((a-b)**2))</a:t>
                      </a:r>
                      <a:endParaRPr lang="en-US" sz="2900" cap="none" spc="0">
                        <a:solidFill>
                          <a:schemeClr val="tx1"/>
                        </a:solidFill>
                        <a:effectLst/>
                      </a:endParaRPr>
                    </a:p>
                  </a:txBody>
                  <a:tcPr marL="250001" marR="160257" marT="192309" marB="192309">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901341297"/>
                  </a:ext>
                </a:extLst>
              </a:tr>
            </a:tbl>
          </a:graphicData>
        </a:graphic>
      </p:graphicFrame>
    </p:spTree>
    <p:extLst>
      <p:ext uri="{BB962C8B-B14F-4D97-AF65-F5344CB8AC3E}">
        <p14:creationId xmlns:p14="http://schemas.microsoft.com/office/powerpoint/2010/main" val="1616620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BA75D-C399-38A1-550E-78EAD9B147D1}"/>
            </a:ext>
          </a:extLst>
        </p:cNvPr>
        <p:cNvGrpSpPr/>
        <p:nvPr/>
      </p:nvGrpSpPr>
      <p:grpSpPr>
        <a:xfrm>
          <a:off x="0" y="0"/>
          <a:ext cx="0" cy="0"/>
          <a:chOff x="0" y="0"/>
          <a:chExt cx="0" cy="0"/>
        </a:xfrm>
      </p:grpSpPr>
      <p:sp useBgFill="1">
        <p:nvSpPr>
          <p:cNvPr id="8244" name="Rectangle 8243">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5" name="Right Triangle 8244">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865080" y="5003800"/>
            <a:ext cx="4937760" cy="48006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46" name="Rectangle 8245">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01979" y="934912"/>
            <a:ext cx="6018260" cy="841182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3">
            <a:extLst>
              <a:ext uri="{FF2B5EF4-FFF2-40B4-BE49-F238E27FC236}">
                <a16:creationId xmlns:a16="http://schemas.microsoft.com/office/drawing/2014/main" id="{02045882-666E-9D25-C420-611E138B9F14}"/>
              </a:ext>
            </a:extLst>
          </p:cNvPr>
          <p:cNvSpPr txBox="1"/>
          <p:nvPr/>
        </p:nvSpPr>
        <p:spPr>
          <a:xfrm>
            <a:off x="12078745" y="1584960"/>
            <a:ext cx="4796490" cy="468861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7600" b="1" kern="1200">
                <a:solidFill>
                  <a:schemeClr val="tx1"/>
                </a:solidFill>
                <a:latin typeface="+mj-lt"/>
                <a:ea typeface="+mj-ea"/>
                <a:cs typeface="+mj-cs"/>
              </a:rPr>
              <a:t>Tái cấu trúc với Chain-of-Thought (CoT)</a:t>
            </a:r>
            <a:endParaRPr lang="en-US" sz="7600" b="1" kern="1200">
              <a:solidFill>
                <a:schemeClr val="tx1"/>
              </a:solidFill>
              <a:latin typeface="+mj-lt"/>
              <a:ea typeface="+mj-ea"/>
              <a:cs typeface="+mj-cs"/>
              <a:sym typeface="Muli Ultra-Bold"/>
            </a:endParaRPr>
          </a:p>
        </p:txBody>
      </p:sp>
      <p:sp>
        <p:nvSpPr>
          <p:cNvPr id="4" name="Rectangle 1">
            <a:extLst>
              <a:ext uri="{FF2B5EF4-FFF2-40B4-BE49-F238E27FC236}">
                <a16:creationId xmlns:a16="http://schemas.microsoft.com/office/drawing/2014/main" id="{4C0B76F6-EC54-E689-A3A4-7189B596A282}"/>
              </a:ext>
            </a:extLst>
          </p:cNvPr>
          <p:cNvSpPr>
            <a:spLocks noChangeArrowheads="1"/>
          </p:cNvSpPr>
          <p:nvPr/>
        </p:nvSpPr>
        <p:spPr bwMode="auto">
          <a:xfrm>
            <a:off x="2278063" y="2422525"/>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1">
            <a:extLst>
              <a:ext uri="{FF2B5EF4-FFF2-40B4-BE49-F238E27FC236}">
                <a16:creationId xmlns:a16="http://schemas.microsoft.com/office/drawing/2014/main" id="{DD9996C2-D4D2-D7A0-082D-44DA1261F757}"/>
              </a:ext>
            </a:extLst>
          </p:cNvPr>
          <p:cNvSpPr>
            <a:spLocks noChangeArrowheads="1"/>
          </p:cNvSpPr>
          <p:nvPr/>
        </p:nvSpPr>
        <p:spPr bwMode="auto">
          <a:xfrm>
            <a:off x="2282825" y="276860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Table 4">
            <a:extLst>
              <a:ext uri="{FF2B5EF4-FFF2-40B4-BE49-F238E27FC236}">
                <a16:creationId xmlns:a16="http://schemas.microsoft.com/office/drawing/2014/main" id="{93082AA7-2B1A-8954-E400-79B5B4F57ADE}"/>
              </a:ext>
            </a:extLst>
          </p:cNvPr>
          <p:cNvGraphicFramePr>
            <a:graphicFrameLocks noGrp="1"/>
          </p:cNvGraphicFramePr>
          <p:nvPr>
            <p:extLst>
              <p:ext uri="{D42A27DB-BD31-4B8C-83A1-F6EECF244321}">
                <p14:modId xmlns:p14="http://schemas.microsoft.com/office/powerpoint/2010/main" val="613847986"/>
              </p:ext>
            </p:extLst>
          </p:nvPr>
        </p:nvGraphicFramePr>
        <p:xfrm>
          <a:off x="932512" y="1597738"/>
          <a:ext cx="9884307" cy="7086172"/>
        </p:xfrm>
        <a:graphic>
          <a:graphicData uri="http://schemas.openxmlformats.org/drawingml/2006/table">
            <a:tbl>
              <a:tblPr/>
              <a:tblGrid>
                <a:gridCol w="2868622">
                  <a:extLst>
                    <a:ext uri="{9D8B030D-6E8A-4147-A177-3AD203B41FA5}">
                      <a16:colId xmlns:a16="http://schemas.microsoft.com/office/drawing/2014/main" val="3119340381"/>
                    </a:ext>
                  </a:extLst>
                </a:gridCol>
                <a:gridCol w="3417623">
                  <a:extLst>
                    <a:ext uri="{9D8B030D-6E8A-4147-A177-3AD203B41FA5}">
                      <a16:colId xmlns:a16="http://schemas.microsoft.com/office/drawing/2014/main" val="3845371766"/>
                    </a:ext>
                  </a:extLst>
                </a:gridCol>
                <a:gridCol w="3598062">
                  <a:extLst>
                    <a:ext uri="{9D8B030D-6E8A-4147-A177-3AD203B41FA5}">
                      <a16:colId xmlns:a16="http://schemas.microsoft.com/office/drawing/2014/main" val="2253451474"/>
                    </a:ext>
                  </a:extLst>
                </a:gridCol>
              </a:tblGrid>
              <a:tr h="1292416">
                <a:tc>
                  <a:txBody>
                    <a:bodyPr/>
                    <a:lstStyle/>
                    <a:p>
                      <a:pPr algn="l" rtl="0" fontAlgn="t">
                        <a:spcBef>
                          <a:spcPts val="1200"/>
                        </a:spcBef>
                        <a:spcAft>
                          <a:spcPts val="1200"/>
                        </a:spcAft>
                        <a:buNone/>
                      </a:pPr>
                      <a:r>
                        <a:rPr lang="en-US" sz="3100" b="1" i="0" u="none" strike="noStrike" dirty="0" err="1">
                          <a:solidFill>
                            <a:srgbClr val="FFFFFF"/>
                          </a:solidFill>
                          <a:effectLst/>
                          <a:latin typeface="Times New Roman" panose="02020603050405020304" pitchFamily="18" charset="0"/>
                        </a:rPr>
                        <a:t>Cấp</a:t>
                      </a:r>
                      <a:r>
                        <a:rPr lang="en-US" sz="3100" b="1" i="0" u="none" strike="noStrike" dirty="0">
                          <a:solidFill>
                            <a:srgbClr val="FFFFFF"/>
                          </a:solidFill>
                          <a:effectLst/>
                          <a:latin typeface="Times New Roman" panose="02020603050405020304" pitchFamily="18" charset="0"/>
                        </a:rPr>
                        <a:t> </a:t>
                      </a:r>
                      <a:r>
                        <a:rPr lang="en-US" sz="3100" b="1" i="0" u="none" strike="noStrike" dirty="0" err="1">
                          <a:solidFill>
                            <a:srgbClr val="FFFFFF"/>
                          </a:solidFill>
                          <a:effectLst/>
                          <a:latin typeface="Times New Roman" panose="02020603050405020304" pitchFamily="18" charset="0"/>
                        </a:rPr>
                        <a:t>độ</a:t>
                      </a:r>
                      <a:endParaRPr lang="en-US" sz="4400" b="0" i="0" u="none" strike="noStrike" dirty="0">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solidFill>
                      <a:srgbClr val="2E75B6"/>
                    </a:solidFill>
                  </a:tcPr>
                </a:tc>
                <a:tc>
                  <a:txBody>
                    <a:bodyPr/>
                    <a:lstStyle/>
                    <a:p>
                      <a:pPr algn="l"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Mô tả</a:t>
                      </a:r>
                      <a:endParaRPr lang="en-US"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solidFill>
                      <a:srgbClr val="2E75B6"/>
                    </a:solidFill>
                  </a:tcPr>
                </a:tc>
                <a:tc>
                  <a:txBody>
                    <a:bodyPr/>
                    <a:lstStyle/>
                    <a:p>
                      <a:pPr algn="l"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Áp dụng trong CoT</a:t>
                      </a:r>
                      <a:endParaRPr lang="en-US"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solidFill>
                      <a:srgbClr val="2E75B6"/>
                    </a:solidFill>
                  </a:tcPr>
                </a:tc>
                <a:extLst>
                  <a:ext uri="{0D108BD9-81ED-4DB2-BD59-A6C34878D82A}">
                    <a16:rowId xmlns:a16="http://schemas.microsoft.com/office/drawing/2014/main" val="284485241"/>
                  </a:ext>
                </a:extLst>
              </a:tr>
              <a:tr h="1771543">
                <a:tc>
                  <a:txBody>
                    <a:bodyPr/>
                    <a:lstStyle/>
                    <a:p>
                      <a:pPr algn="l" rtl="0" fontAlgn="t">
                        <a:spcBef>
                          <a:spcPts val="1200"/>
                        </a:spcBef>
                        <a:spcAft>
                          <a:spcPts val="1200"/>
                        </a:spcAft>
                        <a:buNone/>
                      </a:pPr>
                      <a:r>
                        <a:rPr lang="vi-VN" sz="3100" b="1" i="0" u="none" strike="noStrike" dirty="0">
                          <a:solidFill>
                            <a:srgbClr val="000000"/>
                          </a:solidFill>
                          <a:effectLst/>
                          <a:latin typeface="Times New Roman" panose="02020603050405020304" pitchFamily="18" charset="0"/>
                        </a:rPr>
                        <a:t>Ý tưởng (Conceptual)</a:t>
                      </a:r>
                      <a:endParaRPr lang="vi-VN" sz="4400" b="0" i="0" u="none" strike="noStrike" dirty="0">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3100" b="0" i="0" u="none" strike="noStrike" dirty="0">
                          <a:solidFill>
                            <a:srgbClr val="000000"/>
                          </a:solidFill>
                          <a:effectLst/>
                          <a:latin typeface="Times New Roman" panose="02020603050405020304" pitchFamily="18" charset="0"/>
                        </a:rPr>
                        <a:t>Xác định mục tiêu tái cấu trúc ở mức trừu tượng cao</a:t>
                      </a:r>
                      <a:endParaRPr lang="vi-VN" sz="4400" b="0" i="0" u="none" strike="noStrike" dirty="0">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3100" b="0" i="0" u="none" strike="noStrike">
                          <a:solidFill>
                            <a:srgbClr val="000000"/>
                          </a:solidFill>
                          <a:effectLst/>
                          <a:latin typeface="Times New Roman" panose="02020603050405020304" pitchFamily="18" charset="0"/>
                        </a:rPr>
                        <a:t>Bước 1 - Cung cấp CONTEXT: mã cũ + hàm đã tách</a:t>
                      </a:r>
                      <a:endParaRPr lang="vi-VN"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63037881"/>
                  </a:ext>
                </a:extLst>
              </a:tr>
              <a:tr h="2250670">
                <a:tc>
                  <a:txBody>
                    <a:bodyPr/>
                    <a:lstStyle/>
                    <a:p>
                      <a:pPr algn="l"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Luận lý (Logical)</a:t>
                      </a:r>
                      <a:endParaRPr lang="en-US"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Thiết kế cấu trúc hàm mới, xác định tham số, kiểu trả về</a:t>
                      </a:r>
                      <a:endParaRPr lang="en-US"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3100" b="0" i="0" u="none" strike="noStrike">
                          <a:solidFill>
                            <a:srgbClr val="000000"/>
                          </a:solidFill>
                          <a:effectLst/>
                          <a:latin typeface="Times New Roman" panose="02020603050405020304" pitchFamily="18" charset="0"/>
                        </a:rPr>
                        <a:t>Bước 2 - Xác định TASK: implement các hàm còn thiếu</a:t>
                      </a:r>
                      <a:endParaRPr lang="vi-VN"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71173605"/>
                  </a:ext>
                </a:extLst>
              </a:tr>
              <a:tr h="1771543">
                <a:tc>
                  <a:txBody>
                    <a:bodyPr/>
                    <a:lstStyle/>
                    <a:p>
                      <a:pPr algn="l"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Vật lý (Physical)</a:t>
                      </a:r>
                      <a:endParaRPr lang="en-US"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Viết mã cụ thể, kiểm thử, triển khai</a:t>
                      </a:r>
                      <a:endParaRPr lang="en-US" sz="4400" b="0" i="0" u="none" strike="noStrike">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3100" b="0" i="0" u="none" strike="noStrike" dirty="0">
                          <a:solidFill>
                            <a:srgbClr val="000000"/>
                          </a:solidFill>
                          <a:effectLst/>
                          <a:latin typeface="Times New Roman" panose="02020603050405020304" pitchFamily="18" charset="0"/>
                        </a:rPr>
                        <a:t>Bước 3 - LLM sinh CODE dựa trên suy luận</a:t>
                      </a:r>
                      <a:endParaRPr lang="vi-VN" sz="4400" b="0" i="0" u="none" strike="noStrike" dirty="0">
                        <a:effectLst/>
                        <a:latin typeface="Arial" panose="020B0604020202020204" pitchFamily="34" charset="0"/>
                      </a:endParaRPr>
                    </a:p>
                  </a:txBody>
                  <a:tcPr marL="184280" marR="184280" marT="122853" marB="122853">
                    <a:lnL w="8509" cap="flat" cmpd="sng" algn="ctr">
                      <a:solidFill>
                        <a:srgbClr val="CCCCCC"/>
                      </a:solidFill>
                      <a:prstDash val="solid"/>
                      <a:round/>
                      <a:headEnd type="none" w="med" len="med"/>
                      <a:tailEnd type="none" w="med" len="med"/>
                    </a:lnL>
                    <a:lnR w="8509" cap="flat" cmpd="sng" algn="ctr">
                      <a:solidFill>
                        <a:srgbClr val="CCCCCC"/>
                      </a:solidFill>
                      <a:prstDash val="solid"/>
                      <a:round/>
                      <a:headEnd type="none" w="med" len="med"/>
                      <a:tailEnd type="none" w="med" len="med"/>
                    </a:lnR>
                    <a:lnT w="8509" cap="flat" cmpd="sng" algn="ctr">
                      <a:solidFill>
                        <a:srgbClr val="CCCCCC"/>
                      </a:solidFill>
                      <a:prstDash val="solid"/>
                      <a:round/>
                      <a:headEnd type="none" w="med" len="med"/>
                      <a:tailEnd type="none" w="med" len="med"/>
                    </a:lnT>
                    <a:lnB w="8509"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5416945"/>
                  </a:ext>
                </a:extLst>
              </a:tr>
            </a:tbl>
          </a:graphicData>
        </a:graphic>
      </p:graphicFrame>
    </p:spTree>
    <p:extLst>
      <p:ext uri="{BB962C8B-B14F-4D97-AF65-F5344CB8AC3E}">
        <p14:creationId xmlns:p14="http://schemas.microsoft.com/office/powerpoint/2010/main" val="2055781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9D50AFBC-AB6B-DA97-A952-CA336F8DEE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6872EB3-C09A-CCB8-1B46-72FA0984F555}"/>
              </a:ext>
            </a:extLst>
          </p:cNvPr>
          <p:cNvGrpSpPr/>
          <p:nvPr/>
        </p:nvGrpSpPr>
        <p:grpSpPr>
          <a:xfrm>
            <a:off x="685800" y="2628900"/>
            <a:ext cx="6172200" cy="7391400"/>
            <a:chOff x="0" y="0"/>
            <a:chExt cx="4026708" cy="3293871"/>
          </a:xfrm>
        </p:grpSpPr>
        <p:sp>
          <p:nvSpPr>
            <p:cNvPr id="3" name="Freeform 3">
              <a:extLst>
                <a:ext uri="{FF2B5EF4-FFF2-40B4-BE49-F238E27FC236}">
                  <a16:creationId xmlns:a16="http://schemas.microsoft.com/office/drawing/2014/main" id="{EE9F3BA8-E6A5-433C-4E67-48BEA8B2AC4A}"/>
                </a:ext>
              </a:extLst>
            </p:cNvPr>
            <p:cNvSpPr/>
            <p:nvPr/>
          </p:nvSpPr>
          <p:spPr>
            <a:xfrm>
              <a:off x="0" y="0"/>
              <a:ext cx="4026708" cy="3293871"/>
            </a:xfrm>
            <a:custGeom>
              <a:avLst/>
              <a:gdLst/>
              <a:ahLst/>
              <a:cxnLst/>
              <a:rect l="l" t="t" r="r" b="b"/>
              <a:pathLst>
                <a:path w="4026708" h="3293871">
                  <a:moveTo>
                    <a:pt x="3902248" y="3293871"/>
                  </a:moveTo>
                  <a:lnTo>
                    <a:pt x="124460" y="3293871"/>
                  </a:lnTo>
                  <a:cubicBezTo>
                    <a:pt x="55880" y="3293871"/>
                    <a:pt x="0" y="3237991"/>
                    <a:pt x="0" y="3169411"/>
                  </a:cubicBezTo>
                  <a:lnTo>
                    <a:pt x="0" y="124460"/>
                  </a:lnTo>
                  <a:cubicBezTo>
                    <a:pt x="0" y="55880"/>
                    <a:pt x="55880" y="0"/>
                    <a:pt x="124460" y="0"/>
                  </a:cubicBezTo>
                  <a:lnTo>
                    <a:pt x="3902248" y="0"/>
                  </a:lnTo>
                  <a:cubicBezTo>
                    <a:pt x="3970828" y="0"/>
                    <a:pt x="4026708" y="55880"/>
                    <a:pt x="4026708" y="124460"/>
                  </a:cubicBezTo>
                  <a:lnTo>
                    <a:pt x="4026708" y="3169411"/>
                  </a:lnTo>
                  <a:cubicBezTo>
                    <a:pt x="4026708" y="3237991"/>
                    <a:pt x="3970828" y="3293871"/>
                    <a:pt x="3902248" y="3293871"/>
                  </a:cubicBezTo>
                  <a:close/>
                </a:path>
              </a:pathLst>
            </a:custGeom>
            <a:solidFill>
              <a:srgbClr val="FFFFFF"/>
            </a:solidFill>
          </p:spPr>
          <p:txBody>
            <a:bodyPr/>
            <a:lstStyle/>
            <a:p>
              <a:endParaRPr lang="en-US"/>
            </a:p>
          </p:txBody>
        </p:sp>
      </p:grpSp>
      <p:sp>
        <p:nvSpPr>
          <p:cNvPr id="9" name="TextBox 9">
            <a:extLst>
              <a:ext uri="{FF2B5EF4-FFF2-40B4-BE49-F238E27FC236}">
                <a16:creationId xmlns:a16="http://schemas.microsoft.com/office/drawing/2014/main" id="{DCFE8971-0C87-95BF-A73F-E9206CB4DF43}"/>
              </a:ext>
            </a:extLst>
          </p:cNvPr>
          <p:cNvSpPr txBox="1"/>
          <p:nvPr/>
        </p:nvSpPr>
        <p:spPr>
          <a:xfrm>
            <a:off x="1028700" y="419100"/>
            <a:ext cx="15065547" cy="846386"/>
          </a:xfrm>
          <a:prstGeom prst="rect">
            <a:avLst/>
          </a:prstGeom>
        </p:spPr>
        <p:txBody>
          <a:bodyPr wrap="square" lIns="0" tIns="0" rIns="0" bIns="0" rtlCol="0" anchor="t">
            <a:spAutoFit/>
          </a:bodyPr>
          <a:lstStyle/>
          <a:p>
            <a:pPr>
              <a:lnSpc>
                <a:spcPts val="6600"/>
              </a:lnSpc>
            </a:pPr>
            <a:r>
              <a:rPr lang="en-US" sz="5500" b="1" dirty="0">
                <a:solidFill>
                  <a:srgbClr val="41505F"/>
                </a:solidFill>
                <a:latin typeface="Muli Ultra-Bold" panose="020B0604020202020204" charset="-93"/>
              </a:rPr>
              <a:t>Tái </a:t>
            </a:r>
            <a:r>
              <a:rPr lang="en-US" sz="5500" b="1" dirty="0" err="1">
                <a:solidFill>
                  <a:srgbClr val="41505F"/>
                </a:solidFill>
                <a:latin typeface="Muli Ultra-Bold" panose="020B0604020202020204" charset="-93"/>
              </a:rPr>
              <a:t>cấu</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trúc</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hiệu</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suất</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với</a:t>
            </a:r>
            <a:r>
              <a:rPr lang="en-US" sz="5500" b="1" dirty="0">
                <a:solidFill>
                  <a:srgbClr val="41505F"/>
                </a:solidFill>
                <a:latin typeface="Muli Ultra-Bold" panose="020B0604020202020204" charset="-93"/>
              </a:rPr>
              <a:t> GenAI</a:t>
            </a:r>
            <a:endParaRPr lang="en-US" sz="5500" b="1" dirty="0">
              <a:solidFill>
                <a:srgbClr val="41505F"/>
              </a:solidFill>
              <a:latin typeface="Muli Ultra-Bold" panose="020B0604020202020204" charset="-93"/>
              <a:sym typeface="Muli Ultra-Bold"/>
            </a:endParaRPr>
          </a:p>
        </p:txBody>
      </p:sp>
      <p:grpSp>
        <p:nvGrpSpPr>
          <p:cNvPr id="10" name="Group 10">
            <a:extLst>
              <a:ext uri="{FF2B5EF4-FFF2-40B4-BE49-F238E27FC236}">
                <a16:creationId xmlns:a16="http://schemas.microsoft.com/office/drawing/2014/main" id="{B567DABE-617D-D4F2-801C-DE997472B6F7}"/>
              </a:ext>
            </a:extLst>
          </p:cNvPr>
          <p:cNvGrpSpPr/>
          <p:nvPr/>
        </p:nvGrpSpPr>
        <p:grpSpPr>
          <a:xfrm>
            <a:off x="1049569" y="3603118"/>
            <a:ext cx="5286268" cy="2697320"/>
            <a:chOff x="0" y="-38100"/>
            <a:chExt cx="5747885" cy="2003369"/>
          </a:xfrm>
        </p:grpSpPr>
        <p:sp>
          <p:nvSpPr>
            <p:cNvPr id="11" name="TextBox 11">
              <a:extLst>
                <a:ext uri="{FF2B5EF4-FFF2-40B4-BE49-F238E27FC236}">
                  <a16:creationId xmlns:a16="http://schemas.microsoft.com/office/drawing/2014/main" id="{8540BB82-CC2F-6282-F210-4C92961CB403}"/>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err="1">
                  <a:solidFill>
                    <a:srgbClr val="0E2C4B"/>
                  </a:solidFill>
                  <a:latin typeface="Muli Bold"/>
                  <a:ea typeface="Muli Bold"/>
                  <a:cs typeface="Muli Bold"/>
                  <a:sym typeface="Muli Bold"/>
                </a:rPr>
                <a:t>Vấn</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đề</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hiệu</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suất</a:t>
              </a:r>
              <a:endParaRPr lang="en-US" sz="2199" b="1" dirty="0">
                <a:solidFill>
                  <a:srgbClr val="0E2C4B"/>
                </a:solidFill>
                <a:latin typeface="Muli Bold"/>
                <a:ea typeface="Muli Bold"/>
                <a:cs typeface="Muli Bold"/>
                <a:sym typeface="Muli Bold"/>
              </a:endParaRPr>
            </a:p>
          </p:txBody>
        </p:sp>
        <p:sp>
          <p:nvSpPr>
            <p:cNvPr id="12" name="TextBox 12">
              <a:extLst>
                <a:ext uri="{FF2B5EF4-FFF2-40B4-BE49-F238E27FC236}">
                  <a16:creationId xmlns:a16="http://schemas.microsoft.com/office/drawing/2014/main" id="{49E21D54-D346-4CE2-F8E6-36518195868A}"/>
                </a:ext>
              </a:extLst>
            </p:cNvPr>
            <p:cNvSpPr txBox="1"/>
            <p:nvPr/>
          </p:nvSpPr>
          <p:spPr>
            <a:xfrm>
              <a:off x="0" y="400974"/>
              <a:ext cx="5747885" cy="1564295"/>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Hàm tính khoảng cách Euclidean ban đầu sử dụng hai vòng lặp for lồng nhau có độ phức tạp O(n×m), rất chậm với dữ liệu lớn</a:t>
              </a:r>
              <a:endParaRPr lang="en-US" sz="2400" dirty="0">
                <a:solidFill>
                  <a:srgbClr val="41505F"/>
                </a:solidFill>
                <a:latin typeface="Muli"/>
                <a:sym typeface="Muli"/>
              </a:endParaRPr>
            </a:p>
          </p:txBody>
        </p:sp>
      </p:grpSp>
      <p:pic>
        <p:nvPicPr>
          <p:cNvPr id="5" name="Picture 4">
            <a:extLst>
              <a:ext uri="{FF2B5EF4-FFF2-40B4-BE49-F238E27FC236}">
                <a16:creationId xmlns:a16="http://schemas.microsoft.com/office/drawing/2014/main" id="{C3E646B8-C357-C134-1ECE-D6B224FCD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3285519"/>
            <a:ext cx="10287000" cy="3715962"/>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221433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4EAB78E9-932F-ECC8-339D-293FB93C58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AC97A63-4223-5E32-E3F0-06B333C7865A}"/>
              </a:ext>
            </a:extLst>
          </p:cNvPr>
          <p:cNvGrpSpPr/>
          <p:nvPr/>
        </p:nvGrpSpPr>
        <p:grpSpPr>
          <a:xfrm>
            <a:off x="685800" y="2628900"/>
            <a:ext cx="6172200" cy="7391400"/>
            <a:chOff x="0" y="0"/>
            <a:chExt cx="4026708" cy="3293871"/>
          </a:xfrm>
        </p:grpSpPr>
        <p:sp>
          <p:nvSpPr>
            <p:cNvPr id="3" name="Freeform 3">
              <a:extLst>
                <a:ext uri="{FF2B5EF4-FFF2-40B4-BE49-F238E27FC236}">
                  <a16:creationId xmlns:a16="http://schemas.microsoft.com/office/drawing/2014/main" id="{B9418740-61EE-4445-3D7C-60EBFE5FC6B3}"/>
                </a:ext>
              </a:extLst>
            </p:cNvPr>
            <p:cNvSpPr/>
            <p:nvPr/>
          </p:nvSpPr>
          <p:spPr>
            <a:xfrm>
              <a:off x="0" y="0"/>
              <a:ext cx="4026708" cy="3293871"/>
            </a:xfrm>
            <a:custGeom>
              <a:avLst/>
              <a:gdLst/>
              <a:ahLst/>
              <a:cxnLst/>
              <a:rect l="l" t="t" r="r" b="b"/>
              <a:pathLst>
                <a:path w="4026708" h="3293871">
                  <a:moveTo>
                    <a:pt x="3902248" y="3293871"/>
                  </a:moveTo>
                  <a:lnTo>
                    <a:pt x="124460" y="3293871"/>
                  </a:lnTo>
                  <a:cubicBezTo>
                    <a:pt x="55880" y="3293871"/>
                    <a:pt x="0" y="3237991"/>
                    <a:pt x="0" y="3169411"/>
                  </a:cubicBezTo>
                  <a:lnTo>
                    <a:pt x="0" y="124460"/>
                  </a:lnTo>
                  <a:cubicBezTo>
                    <a:pt x="0" y="55880"/>
                    <a:pt x="55880" y="0"/>
                    <a:pt x="124460" y="0"/>
                  </a:cubicBezTo>
                  <a:lnTo>
                    <a:pt x="3902248" y="0"/>
                  </a:lnTo>
                  <a:cubicBezTo>
                    <a:pt x="3970828" y="0"/>
                    <a:pt x="4026708" y="55880"/>
                    <a:pt x="4026708" y="124460"/>
                  </a:cubicBezTo>
                  <a:lnTo>
                    <a:pt x="4026708" y="3169411"/>
                  </a:lnTo>
                  <a:cubicBezTo>
                    <a:pt x="4026708" y="3237991"/>
                    <a:pt x="3970828" y="3293871"/>
                    <a:pt x="3902248" y="3293871"/>
                  </a:cubicBezTo>
                  <a:close/>
                </a:path>
              </a:pathLst>
            </a:custGeom>
            <a:solidFill>
              <a:srgbClr val="FFFFFF"/>
            </a:solidFill>
          </p:spPr>
          <p:txBody>
            <a:bodyPr/>
            <a:lstStyle/>
            <a:p>
              <a:endParaRPr lang="en-US"/>
            </a:p>
          </p:txBody>
        </p:sp>
      </p:grpSp>
      <p:sp>
        <p:nvSpPr>
          <p:cNvPr id="9" name="TextBox 9">
            <a:extLst>
              <a:ext uri="{FF2B5EF4-FFF2-40B4-BE49-F238E27FC236}">
                <a16:creationId xmlns:a16="http://schemas.microsoft.com/office/drawing/2014/main" id="{C26E0B8C-41AE-C649-CBFB-5A875D2D7713}"/>
              </a:ext>
            </a:extLst>
          </p:cNvPr>
          <p:cNvSpPr txBox="1"/>
          <p:nvPr/>
        </p:nvSpPr>
        <p:spPr>
          <a:xfrm>
            <a:off x="1028700" y="419100"/>
            <a:ext cx="15065547" cy="846386"/>
          </a:xfrm>
          <a:prstGeom prst="rect">
            <a:avLst/>
          </a:prstGeom>
        </p:spPr>
        <p:txBody>
          <a:bodyPr wrap="square" lIns="0" tIns="0" rIns="0" bIns="0" rtlCol="0" anchor="t">
            <a:spAutoFit/>
          </a:bodyPr>
          <a:lstStyle/>
          <a:p>
            <a:pPr>
              <a:lnSpc>
                <a:spcPts val="6600"/>
              </a:lnSpc>
            </a:pPr>
            <a:r>
              <a:rPr lang="en-US" sz="5500" b="1" dirty="0">
                <a:solidFill>
                  <a:srgbClr val="41505F"/>
                </a:solidFill>
                <a:latin typeface="Muli Ultra-Bold" panose="020B0604020202020204" charset="-93"/>
              </a:rPr>
              <a:t>Tái </a:t>
            </a:r>
            <a:r>
              <a:rPr lang="en-US" sz="5500" b="1" dirty="0" err="1">
                <a:solidFill>
                  <a:srgbClr val="41505F"/>
                </a:solidFill>
                <a:latin typeface="Muli Ultra-Bold" panose="020B0604020202020204" charset="-93"/>
              </a:rPr>
              <a:t>cấu</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trúc</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hiệu</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suất</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với</a:t>
            </a:r>
            <a:r>
              <a:rPr lang="en-US" sz="5500" b="1" dirty="0">
                <a:solidFill>
                  <a:srgbClr val="41505F"/>
                </a:solidFill>
                <a:latin typeface="Muli Ultra-Bold" panose="020B0604020202020204" charset="-93"/>
              </a:rPr>
              <a:t> GenAI</a:t>
            </a:r>
            <a:endParaRPr lang="en-US" sz="5500" b="1" dirty="0">
              <a:solidFill>
                <a:srgbClr val="41505F"/>
              </a:solidFill>
              <a:latin typeface="Muli Ultra-Bold" panose="020B0604020202020204" charset="-93"/>
              <a:sym typeface="Muli Ultra-Bold"/>
            </a:endParaRPr>
          </a:p>
        </p:txBody>
      </p:sp>
      <p:grpSp>
        <p:nvGrpSpPr>
          <p:cNvPr id="10" name="Group 10">
            <a:extLst>
              <a:ext uri="{FF2B5EF4-FFF2-40B4-BE49-F238E27FC236}">
                <a16:creationId xmlns:a16="http://schemas.microsoft.com/office/drawing/2014/main" id="{BA922176-5D98-EF9A-5E85-DAB2BDDE0167}"/>
              </a:ext>
            </a:extLst>
          </p:cNvPr>
          <p:cNvGrpSpPr/>
          <p:nvPr/>
        </p:nvGrpSpPr>
        <p:grpSpPr>
          <a:xfrm>
            <a:off x="1049569" y="3603118"/>
            <a:ext cx="5286268" cy="2697320"/>
            <a:chOff x="0" y="-38100"/>
            <a:chExt cx="5747885" cy="2003369"/>
          </a:xfrm>
        </p:grpSpPr>
        <p:sp>
          <p:nvSpPr>
            <p:cNvPr id="11" name="TextBox 11">
              <a:extLst>
                <a:ext uri="{FF2B5EF4-FFF2-40B4-BE49-F238E27FC236}">
                  <a16:creationId xmlns:a16="http://schemas.microsoft.com/office/drawing/2014/main" id="{D7740312-7AD1-7E63-AAAB-759F7505946B}"/>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a:solidFill>
                    <a:srgbClr val="0E2C4B"/>
                  </a:solidFill>
                  <a:latin typeface="Muli Bold"/>
                  <a:ea typeface="Muli Bold"/>
                  <a:cs typeface="Muli Bold"/>
                  <a:sym typeface="Muli Bold"/>
                </a:rPr>
                <a:t>Vector </a:t>
              </a:r>
              <a:r>
                <a:rPr lang="en-US" sz="2199" b="1" dirty="0" err="1">
                  <a:solidFill>
                    <a:srgbClr val="0E2C4B"/>
                  </a:solidFill>
                  <a:latin typeface="Muli Bold"/>
                  <a:ea typeface="Muli Bold"/>
                  <a:cs typeface="Muli Bold"/>
                  <a:sym typeface="Muli Bold"/>
                </a:rPr>
                <a:t>hóa</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với</a:t>
              </a:r>
              <a:r>
                <a:rPr lang="en-US" sz="2199" b="1" dirty="0">
                  <a:solidFill>
                    <a:srgbClr val="0E2C4B"/>
                  </a:solidFill>
                  <a:latin typeface="Muli Bold"/>
                  <a:ea typeface="Muli Bold"/>
                  <a:cs typeface="Muli Bold"/>
                  <a:sym typeface="Muli Bold"/>
                </a:rPr>
                <a:t> NumPy</a:t>
              </a:r>
            </a:p>
          </p:txBody>
        </p:sp>
        <p:sp>
          <p:nvSpPr>
            <p:cNvPr id="12" name="TextBox 12">
              <a:extLst>
                <a:ext uri="{FF2B5EF4-FFF2-40B4-BE49-F238E27FC236}">
                  <a16:creationId xmlns:a16="http://schemas.microsoft.com/office/drawing/2014/main" id="{68BD9B76-F14A-F893-8B0A-1937864F9488}"/>
                </a:ext>
              </a:extLst>
            </p:cNvPr>
            <p:cNvSpPr txBox="1"/>
            <p:nvPr/>
          </p:nvSpPr>
          <p:spPr>
            <a:xfrm>
              <a:off x="0" y="400974"/>
              <a:ext cx="5747885" cy="1564295"/>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Giải pháp vector hóa thay thế vòng lặp bằng phép tính ma trận NumPy, tận dụng tính toán song song ở cấp thấp (C/Fortran)</a:t>
              </a:r>
              <a:r>
                <a:rPr lang="en-US" sz="2400" dirty="0">
                  <a:solidFill>
                    <a:srgbClr val="0E2C4B"/>
                  </a:solidFill>
                  <a:latin typeface="Muli"/>
                </a:rPr>
                <a:t>.</a:t>
              </a:r>
              <a:endParaRPr lang="en-US" sz="2400" dirty="0">
                <a:solidFill>
                  <a:srgbClr val="41505F"/>
                </a:solidFill>
                <a:latin typeface="Muli"/>
                <a:sym typeface="Muli"/>
              </a:endParaRPr>
            </a:p>
          </p:txBody>
        </p:sp>
      </p:grpSp>
      <p:pic>
        <p:nvPicPr>
          <p:cNvPr id="5" name="Picture 4">
            <a:extLst>
              <a:ext uri="{FF2B5EF4-FFF2-40B4-BE49-F238E27FC236}">
                <a16:creationId xmlns:a16="http://schemas.microsoft.com/office/drawing/2014/main" id="{EBA222EA-BFC9-EE8A-12FC-D8FFF4EE3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3285519"/>
            <a:ext cx="10287000" cy="3715962"/>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6" name="Picture 5">
            <a:extLst>
              <a:ext uri="{FF2B5EF4-FFF2-40B4-BE49-F238E27FC236}">
                <a16:creationId xmlns:a16="http://schemas.microsoft.com/office/drawing/2014/main" id="{7E9D4A99-6F84-A156-9215-EEF83BDE70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7429500"/>
            <a:ext cx="10287000" cy="1219200"/>
          </a:xfrm>
          <a:prstGeom prst="rect">
            <a:avLst/>
          </a:prstGeom>
        </p:spPr>
      </p:pic>
      <p:grpSp>
        <p:nvGrpSpPr>
          <p:cNvPr id="7" name="Group 10">
            <a:extLst>
              <a:ext uri="{FF2B5EF4-FFF2-40B4-BE49-F238E27FC236}">
                <a16:creationId xmlns:a16="http://schemas.microsoft.com/office/drawing/2014/main" id="{72FE6E6C-DBD0-776E-7629-8D44D48416CA}"/>
              </a:ext>
            </a:extLst>
          </p:cNvPr>
          <p:cNvGrpSpPr/>
          <p:nvPr/>
        </p:nvGrpSpPr>
        <p:grpSpPr>
          <a:xfrm>
            <a:off x="914400" y="6690440"/>
            <a:ext cx="5286268" cy="2697320"/>
            <a:chOff x="0" y="-38100"/>
            <a:chExt cx="5747885" cy="2003369"/>
          </a:xfrm>
        </p:grpSpPr>
        <p:sp>
          <p:nvSpPr>
            <p:cNvPr id="8" name="TextBox 11">
              <a:extLst>
                <a:ext uri="{FF2B5EF4-FFF2-40B4-BE49-F238E27FC236}">
                  <a16:creationId xmlns:a16="http://schemas.microsoft.com/office/drawing/2014/main" id="{517377FB-57D5-F46B-1ADE-4E928262C69B}"/>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a:solidFill>
                    <a:srgbClr val="0E2C4B"/>
                  </a:solidFill>
                  <a:latin typeface="Muli Bold"/>
                  <a:ea typeface="Muli Bold"/>
                  <a:cs typeface="Muli Bold"/>
                  <a:sym typeface="Muli Bold"/>
                </a:rPr>
                <a:t>Prompt </a:t>
              </a:r>
              <a:r>
                <a:rPr lang="en-US" sz="2199" b="1" dirty="0" err="1">
                  <a:solidFill>
                    <a:srgbClr val="0E2C4B"/>
                  </a:solidFill>
                  <a:latin typeface="Muli Bold"/>
                  <a:ea typeface="Muli Bold"/>
                  <a:cs typeface="Muli Bold"/>
                  <a:sym typeface="Muli Bold"/>
                </a:rPr>
                <a:t>cho</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tái</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cấu</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trúc</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hiệu</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suất</a:t>
              </a:r>
              <a:endParaRPr lang="en-US" sz="2199" b="1" dirty="0">
                <a:solidFill>
                  <a:srgbClr val="0E2C4B"/>
                </a:solidFill>
                <a:latin typeface="Muli Bold"/>
                <a:ea typeface="Muli Bold"/>
                <a:cs typeface="Muli Bold"/>
                <a:sym typeface="Muli Bold"/>
              </a:endParaRPr>
            </a:p>
          </p:txBody>
        </p:sp>
        <p:sp>
          <p:nvSpPr>
            <p:cNvPr id="13" name="TextBox 12">
              <a:extLst>
                <a:ext uri="{FF2B5EF4-FFF2-40B4-BE49-F238E27FC236}">
                  <a16:creationId xmlns:a16="http://schemas.microsoft.com/office/drawing/2014/main" id="{4B9F0830-7218-D71D-9F1E-B5A1AC811EB7}"/>
                </a:ext>
              </a:extLst>
            </p:cNvPr>
            <p:cNvSpPr txBox="1"/>
            <p:nvPr/>
          </p:nvSpPr>
          <p:spPr>
            <a:xfrm>
              <a:off x="0" y="400974"/>
              <a:ext cx="5747885" cy="1564295"/>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Cấu trúc prompt gồm 3 phần rõ ràng: FUNCTION (hàm gốc), OLD (dòng cần tối ưu), và LIBRARY (thư viện mục tiêu).</a:t>
              </a:r>
              <a:endParaRPr lang="en-US" sz="2400" dirty="0">
                <a:solidFill>
                  <a:srgbClr val="41505F"/>
                </a:solidFill>
                <a:latin typeface="Muli"/>
                <a:sym typeface="Muli"/>
              </a:endParaRPr>
            </a:p>
          </p:txBody>
        </p:sp>
      </p:grpSp>
    </p:spTree>
    <p:extLst>
      <p:ext uri="{BB962C8B-B14F-4D97-AF65-F5344CB8AC3E}">
        <p14:creationId xmlns:p14="http://schemas.microsoft.com/office/powerpoint/2010/main" val="2600122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052E4C13-73EE-400F-21F6-1CD129D862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542643-1F78-751A-43FF-E2657DB6AAC9}"/>
              </a:ext>
            </a:extLst>
          </p:cNvPr>
          <p:cNvGrpSpPr/>
          <p:nvPr/>
        </p:nvGrpSpPr>
        <p:grpSpPr>
          <a:xfrm>
            <a:off x="284300" y="1409700"/>
            <a:ext cx="6202620" cy="7910643"/>
            <a:chOff x="-39329" y="9525"/>
            <a:chExt cx="8270159" cy="10547527"/>
          </a:xfrm>
        </p:grpSpPr>
        <p:sp>
          <p:nvSpPr>
            <p:cNvPr id="3" name="TextBox 3">
              <a:extLst>
                <a:ext uri="{FF2B5EF4-FFF2-40B4-BE49-F238E27FC236}">
                  <a16:creationId xmlns:a16="http://schemas.microsoft.com/office/drawing/2014/main" id="{1E0D13C8-4434-9A82-6A85-56F0A3253A68}"/>
                </a:ext>
              </a:extLst>
            </p:cNvPr>
            <p:cNvSpPr txBox="1"/>
            <p:nvPr/>
          </p:nvSpPr>
          <p:spPr>
            <a:xfrm>
              <a:off x="0" y="9525"/>
              <a:ext cx="8230830" cy="3180357"/>
            </a:xfrm>
            <a:prstGeom prst="rect">
              <a:avLst/>
            </a:prstGeom>
          </p:spPr>
          <p:txBody>
            <a:bodyPr lIns="0" tIns="0" rIns="0" bIns="0" rtlCol="0" anchor="t">
              <a:spAutoFit/>
            </a:bodyPr>
            <a:lstStyle/>
            <a:p>
              <a:pPr>
                <a:lnSpc>
                  <a:spcPts val="6240"/>
                </a:lnSpc>
              </a:pPr>
              <a:r>
                <a:rPr lang="en-US" sz="5200" b="1" dirty="0">
                  <a:solidFill>
                    <a:srgbClr val="0E2C4B"/>
                  </a:solidFill>
                  <a:latin typeface="Muli Ultra-Bold"/>
                </a:rPr>
                <a:t>So </a:t>
              </a:r>
              <a:r>
                <a:rPr lang="en-US" sz="5200" b="1" dirty="0" err="1">
                  <a:solidFill>
                    <a:srgbClr val="0E2C4B"/>
                  </a:solidFill>
                  <a:latin typeface="Muli Ultra-Bold"/>
                </a:rPr>
                <a:t>sánh</a:t>
              </a:r>
              <a:r>
                <a:rPr lang="en-US" sz="5200" b="1" dirty="0">
                  <a:solidFill>
                    <a:srgbClr val="0E2C4B"/>
                  </a:solidFill>
                  <a:latin typeface="Muli Ultra-Bold"/>
                </a:rPr>
                <a:t> </a:t>
              </a:r>
              <a:r>
                <a:rPr lang="en-US" sz="5200" b="1" dirty="0" err="1">
                  <a:solidFill>
                    <a:srgbClr val="0E2C4B"/>
                  </a:solidFill>
                  <a:latin typeface="Muli Ultra-Bold"/>
                </a:rPr>
                <a:t>các</a:t>
              </a:r>
              <a:r>
                <a:rPr lang="en-US" sz="5200" b="1" dirty="0">
                  <a:solidFill>
                    <a:srgbClr val="0E2C4B"/>
                  </a:solidFill>
                  <a:latin typeface="Muli Ultra-Bold"/>
                </a:rPr>
                <a:t> </a:t>
              </a:r>
              <a:r>
                <a:rPr lang="en-US" sz="5200" b="1" dirty="0" err="1">
                  <a:solidFill>
                    <a:srgbClr val="0E2C4B"/>
                  </a:solidFill>
                  <a:latin typeface="Muli Ultra-Bold"/>
                </a:rPr>
                <a:t>công</a:t>
              </a:r>
              <a:r>
                <a:rPr lang="en-US" sz="5200" b="1" dirty="0">
                  <a:solidFill>
                    <a:srgbClr val="0E2C4B"/>
                  </a:solidFill>
                  <a:latin typeface="Muli Ultra-Bold"/>
                </a:rPr>
                <a:t> </a:t>
              </a:r>
              <a:r>
                <a:rPr lang="en-US" sz="5200" b="1" dirty="0" err="1">
                  <a:solidFill>
                    <a:srgbClr val="0E2C4B"/>
                  </a:solidFill>
                  <a:latin typeface="Muli Ultra-Bold"/>
                </a:rPr>
                <a:t>cụ</a:t>
              </a:r>
              <a:r>
                <a:rPr lang="en-US" sz="5200" b="1" dirty="0">
                  <a:solidFill>
                    <a:srgbClr val="0E2C4B"/>
                  </a:solidFill>
                  <a:latin typeface="Muli Ultra-Bold"/>
                </a:rPr>
                <a:t> GenAI </a:t>
              </a:r>
              <a:r>
                <a:rPr lang="en-US" sz="5200" b="1" dirty="0" err="1">
                  <a:solidFill>
                    <a:srgbClr val="0E2C4B"/>
                  </a:solidFill>
                  <a:latin typeface="Muli Ultra-Bold"/>
                </a:rPr>
                <a:t>cho</a:t>
              </a:r>
              <a:r>
                <a:rPr lang="en-US" sz="5200" b="1" dirty="0">
                  <a:solidFill>
                    <a:srgbClr val="0E2C4B"/>
                  </a:solidFill>
                  <a:latin typeface="Muli Ultra-Bold"/>
                </a:rPr>
                <a:t> </a:t>
              </a:r>
              <a:r>
                <a:rPr lang="en-US" sz="5200" b="1" dirty="0" err="1">
                  <a:solidFill>
                    <a:srgbClr val="0E2C4B"/>
                  </a:solidFill>
                  <a:latin typeface="Muli Ultra-Bold"/>
                </a:rPr>
                <a:t>tái</a:t>
              </a:r>
              <a:r>
                <a:rPr lang="en-US" sz="5200" b="1" dirty="0">
                  <a:solidFill>
                    <a:srgbClr val="0E2C4B"/>
                  </a:solidFill>
                  <a:latin typeface="Muli Ultra-Bold"/>
                </a:rPr>
                <a:t> </a:t>
              </a:r>
              <a:r>
                <a:rPr lang="en-US" sz="5200" b="1" dirty="0" err="1">
                  <a:solidFill>
                    <a:srgbClr val="0E2C4B"/>
                  </a:solidFill>
                  <a:latin typeface="Muli Ultra-Bold"/>
                </a:rPr>
                <a:t>cấu</a:t>
              </a:r>
              <a:r>
                <a:rPr lang="en-US" sz="5200" b="1" dirty="0">
                  <a:solidFill>
                    <a:srgbClr val="0E2C4B"/>
                  </a:solidFill>
                  <a:latin typeface="Muli Ultra-Bold"/>
                </a:rPr>
                <a:t> </a:t>
              </a:r>
              <a:r>
                <a:rPr lang="en-US" sz="5200" b="1" dirty="0" err="1">
                  <a:solidFill>
                    <a:srgbClr val="0E2C4B"/>
                  </a:solidFill>
                  <a:latin typeface="Muli Ultra-Bold"/>
                </a:rPr>
                <a:t>trúc</a:t>
              </a:r>
              <a:endParaRPr lang="en-US" sz="5200" b="1" dirty="0">
                <a:solidFill>
                  <a:srgbClr val="0E2C4B"/>
                </a:solidFill>
                <a:latin typeface="Muli Ultra-Bold"/>
                <a:sym typeface="Muli Ultra-Bold"/>
              </a:endParaRPr>
            </a:p>
          </p:txBody>
        </p:sp>
        <p:sp>
          <p:nvSpPr>
            <p:cNvPr id="5" name="Freeform 5">
              <a:extLst>
                <a:ext uri="{FF2B5EF4-FFF2-40B4-BE49-F238E27FC236}">
                  <a16:creationId xmlns:a16="http://schemas.microsoft.com/office/drawing/2014/main" id="{E98DF485-B2D2-D4B6-660C-487A79F283DC}"/>
                </a:ext>
              </a:extLst>
            </p:cNvPr>
            <p:cNvSpPr/>
            <p:nvPr/>
          </p:nvSpPr>
          <p:spPr>
            <a:xfrm>
              <a:off x="-39329" y="9456385"/>
              <a:ext cx="6702581" cy="1100667"/>
            </a:xfrm>
            <a:custGeom>
              <a:avLst/>
              <a:gdLst/>
              <a:ahLst/>
              <a:cxnLst/>
              <a:rect l="l" t="t" r="r" b="b"/>
              <a:pathLst>
                <a:path w="4021548" h="660400">
                  <a:moveTo>
                    <a:pt x="3897087" y="660400"/>
                  </a:moveTo>
                  <a:lnTo>
                    <a:pt x="124460" y="660400"/>
                  </a:lnTo>
                  <a:cubicBezTo>
                    <a:pt x="55880" y="660400"/>
                    <a:pt x="0" y="604520"/>
                    <a:pt x="0" y="535940"/>
                  </a:cubicBezTo>
                  <a:lnTo>
                    <a:pt x="0" y="124460"/>
                  </a:lnTo>
                  <a:cubicBezTo>
                    <a:pt x="0" y="55880"/>
                    <a:pt x="55880" y="0"/>
                    <a:pt x="124460" y="0"/>
                  </a:cubicBezTo>
                  <a:lnTo>
                    <a:pt x="3897088" y="0"/>
                  </a:lnTo>
                  <a:cubicBezTo>
                    <a:pt x="3965668" y="0"/>
                    <a:pt x="4021548" y="55880"/>
                    <a:pt x="4021548" y="124460"/>
                  </a:cubicBezTo>
                  <a:lnTo>
                    <a:pt x="4021548" y="535940"/>
                  </a:lnTo>
                  <a:cubicBezTo>
                    <a:pt x="4021548" y="604520"/>
                    <a:pt x="3965668" y="660400"/>
                    <a:pt x="3897088" y="660400"/>
                  </a:cubicBezTo>
                  <a:close/>
                </a:path>
              </a:pathLst>
            </a:custGeom>
            <a:solidFill>
              <a:srgbClr val="F36825"/>
            </a:solidFill>
          </p:spPr>
          <p:txBody>
            <a:bodyPr/>
            <a:lstStyle/>
            <a:p>
              <a:endParaRPr lang="en-US"/>
            </a:p>
          </p:txBody>
        </p:sp>
      </p:grpSp>
      <p:grpSp>
        <p:nvGrpSpPr>
          <p:cNvPr id="7" name="Group 7">
            <a:extLst>
              <a:ext uri="{FF2B5EF4-FFF2-40B4-BE49-F238E27FC236}">
                <a16:creationId xmlns:a16="http://schemas.microsoft.com/office/drawing/2014/main" id="{C0F1125C-791E-E10F-FAD8-56CC9ECFD8C9}"/>
              </a:ext>
            </a:extLst>
          </p:cNvPr>
          <p:cNvGrpSpPr/>
          <p:nvPr/>
        </p:nvGrpSpPr>
        <p:grpSpPr>
          <a:xfrm>
            <a:off x="6906898" y="236488"/>
            <a:ext cx="11067305" cy="9814023"/>
            <a:chOff x="0" y="0"/>
            <a:chExt cx="8853844" cy="7851218"/>
          </a:xfrm>
        </p:grpSpPr>
        <p:sp>
          <p:nvSpPr>
            <p:cNvPr id="8" name="Freeform 8">
              <a:extLst>
                <a:ext uri="{FF2B5EF4-FFF2-40B4-BE49-F238E27FC236}">
                  <a16:creationId xmlns:a16="http://schemas.microsoft.com/office/drawing/2014/main" id="{4BE297D8-5322-69C7-4EF4-0DA66DED4F9E}"/>
                </a:ext>
              </a:extLst>
            </p:cNvPr>
            <p:cNvSpPr/>
            <p:nvPr/>
          </p:nvSpPr>
          <p:spPr>
            <a:xfrm>
              <a:off x="0" y="0"/>
              <a:ext cx="8853844" cy="7851218"/>
            </a:xfrm>
            <a:custGeom>
              <a:avLst/>
              <a:gdLst/>
              <a:ahLst/>
              <a:cxnLst/>
              <a:rect l="l" t="t" r="r" b="b"/>
              <a:pathLst>
                <a:path w="8853844" h="7851218">
                  <a:moveTo>
                    <a:pt x="8729383" y="7851218"/>
                  </a:moveTo>
                  <a:lnTo>
                    <a:pt x="124460" y="7851218"/>
                  </a:lnTo>
                  <a:cubicBezTo>
                    <a:pt x="55880" y="7851218"/>
                    <a:pt x="0" y="7795338"/>
                    <a:pt x="0" y="7726759"/>
                  </a:cubicBezTo>
                  <a:lnTo>
                    <a:pt x="0" y="124460"/>
                  </a:lnTo>
                  <a:cubicBezTo>
                    <a:pt x="0" y="55880"/>
                    <a:pt x="55880" y="0"/>
                    <a:pt x="124460" y="0"/>
                  </a:cubicBezTo>
                  <a:lnTo>
                    <a:pt x="8729384" y="0"/>
                  </a:lnTo>
                  <a:cubicBezTo>
                    <a:pt x="8797964" y="0"/>
                    <a:pt x="8853844" y="55880"/>
                    <a:pt x="8853844" y="124460"/>
                  </a:cubicBezTo>
                  <a:lnTo>
                    <a:pt x="8853844" y="7726759"/>
                  </a:lnTo>
                  <a:cubicBezTo>
                    <a:pt x="8853844" y="7795338"/>
                    <a:pt x="8797964" y="7851218"/>
                    <a:pt x="8729384" y="7851218"/>
                  </a:cubicBezTo>
                  <a:close/>
                </a:path>
              </a:pathLst>
            </a:custGeom>
            <a:solidFill>
              <a:srgbClr val="FFFFFF"/>
            </a:solidFill>
          </p:spPr>
          <p:txBody>
            <a:bodyPr/>
            <a:lstStyle/>
            <a:p>
              <a:endParaRPr lang="en-US"/>
            </a:p>
          </p:txBody>
        </p:sp>
      </p:grpSp>
      <p:graphicFrame>
        <p:nvGraphicFramePr>
          <p:cNvPr id="14" name="Table 13">
            <a:extLst>
              <a:ext uri="{FF2B5EF4-FFF2-40B4-BE49-F238E27FC236}">
                <a16:creationId xmlns:a16="http://schemas.microsoft.com/office/drawing/2014/main" id="{07ADE262-0E92-A8D9-5A6F-92206F1D6747}"/>
              </a:ext>
            </a:extLst>
          </p:cNvPr>
          <p:cNvGraphicFramePr>
            <a:graphicFrameLocks noGrp="1"/>
          </p:cNvGraphicFramePr>
          <p:nvPr>
            <p:extLst>
              <p:ext uri="{D42A27DB-BD31-4B8C-83A1-F6EECF244321}">
                <p14:modId xmlns:p14="http://schemas.microsoft.com/office/powerpoint/2010/main" val="541234597"/>
              </p:ext>
            </p:extLst>
          </p:nvPr>
        </p:nvGraphicFramePr>
        <p:xfrm>
          <a:off x="7162799" y="1079500"/>
          <a:ext cx="10320976" cy="7909560"/>
        </p:xfrm>
        <a:graphic>
          <a:graphicData uri="http://schemas.openxmlformats.org/drawingml/2006/table">
            <a:tbl>
              <a:tblPr firstRow="1" bandRow="1">
                <a:tableStyleId>{5C22544A-7EE6-4342-B048-85BDC9FD1C3A}</a:tableStyleId>
              </a:tblPr>
              <a:tblGrid>
                <a:gridCol w="2580244">
                  <a:extLst>
                    <a:ext uri="{9D8B030D-6E8A-4147-A177-3AD203B41FA5}">
                      <a16:colId xmlns:a16="http://schemas.microsoft.com/office/drawing/2014/main" val="2943084686"/>
                    </a:ext>
                  </a:extLst>
                </a:gridCol>
                <a:gridCol w="2580244">
                  <a:extLst>
                    <a:ext uri="{9D8B030D-6E8A-4147-A177-3AD203B41FA5}">
                      <a16:colId xmlns:a16="http://schemas.microsoft.com/office/drawing/2014/main" val="2741876027"/>
                    </a:ext>
                  </a:extLst>
                </a:gridCol>
                <a:gridCol w="2580244">
                  <a:extLst>
                    <a:ext uri="{9D8B030D-6E8A-4147-A177-3AD203B41FA5}">
                      <a16:colId xmlns:a16="http://schemas.microsoft.com/office/drawing/2014/main" val="2374529636"/>
                    </a:ext>
                  </a:extLst>
                </a:gridCol>
                <a:gridCol w="2580244">
                  <a:extLst>
                    <a:ext uri="{9D8B030D-6E8A-4147-A177-3AD203B41FA5}">
                      <a16:colId xmlns:a16="http://schemas.microsoft.com/office/drawing/2014/main" val="2345878603"/>
                    </a:ext>
                  </a:extLst>
                </a:gridCol>
              </a:tblGrid>
              <a:tr h="1361440">
                <a:tc>
                  <a:txBody>
                    <a:bodyPr/>
                    <a:lstStyle/>
                    <a:p>
                      <a:pPr rtl="0" fontAlgn="t">
                        <a:spcBef>
                          <a:spcPts val="1200"/>
                        </a:spcBef>
                        <a:spcAft>
                          <a:spcPts val="1200"/>
                        </a:spcAft>
                        <a:buNone/>
                      </a:pPr>
                      <a:r>
                        <a:rPr lang="en-US" sz="3100" b="1" i="0" u="none" strike="noStrike" dirty="0" err="1">
                          <a:solidFill>
                            <a:srgbClr val="FFFFFF"/>
                          </a:solidFill>
                          <a:effectLst/>
                          <a:latin typeface="Times New Roman" panose="02020603050405020304" pitchFamily="18" charset="0"/>
                        </a:rPr>
                        <a:t>Tiêu</a:t>
                      </a:r>
                      <a:r>
                        <a:rPr lang="en-US" sz="3100" b="1" i="0" u="none" strike="noStrike" dirty="0">
                          <a:solidFill>
                            <a:srgbClr val="FFFFFF"/>
                          </a:solidFill>
                          <a:effectLst/>
                          <a:latin typeface="Times New Roman" panose="02020603050405020304" pitchFamily="18" charset="0"/>
                        </a:rPr>
                        <a:t> </a:t>
                      </a:r>
                      <a:r>
                        <a:rPr lang="en-US" sz="3100" b="1" i="0" u="none" strike="noStrike" dirty="0" err="1">
                          <a:solidFill>
                            <a:srgbClr val="FFFFFF"/>
                          </a:solidFill>
                          <a:effectLst/>
                          <a:latin typeface="Times New Roman" panose="02020603050405020304" pitchFamily="18" charset="0"/>
                        </a:rPr>
                        <a:t>chí</a:t>
                      </a:r>
                      <a:endParaRPr lang="en-US" sz="3100" dirty="0">
                        <a:effectLst/>
                      </a:endParaRPr>
                    </a:p>
                  </a:txBody>
                  <a:tcPr marL="76200" marR="76200" marT="50800" marB="50800"/>
                </a:tc>
                <a:tc>
                  <a:txBody>
                    <a:bodyPr/>
                    <a:lstStyle/>
                    <a:p>
                      <a:pPr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GitHub Copilot</a:t>
                      </a:r>
                      <a:endParaRPr lang="en-US" sz="3100">
                        <a:effectLst/>
                      </a:endParaRPr>
                    </a:p>
                  </a:txBody>
                  <a:tcPr marL="76200" marR="76200" marT="50800" marB="50800"/>
                </a:tc>
                <a:tc>
                  <a:txBody>
                    <a:bodyPr/>
                    <a:lstStyle/>
                    <a:p>
                      <a:pPr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ChatGPT</a:t>
                      </a:r>
                      <a:endParaRPr lang="en-US" sz="3100">
                        <a:effectLst/>
                      </a:endParaRPr>
                    </a:p>
                  </a:txBody>
                  <a:tcPr marL="76200" marR="76200" marT="50800" marB="50800"/>
                </a:tc>
                <a:tc>
                  <a:txBody>
                    <a:bodyPr/>
                    <a:lstStyle/>
                    <a:p>
                      <a:pPr rtl="0" fontAlgn="t">
                        <a:spcBef>
                          <a:spcPts val="1200"/>
                        </a:spcBef>
                        <a:spcAft>
                          <a:spcPts val="1200"/>
                        </a:spcAft>
                        <a:buNone/>
                      </a:pPr>
                      <a:r>
                        <a:rPr lang="en-US" sz="3100" b="1" i="0" u="none" strike="noStrike" dirty="0">
                          <a:solidFill>
                            <a:srgbClr val="FFFFFF"/>
                          </a:solidFill>
                          <a:effectLst/>
                          <a:latin typeface="Times New Roman" panose="02020603050405020304" pitchFamily="18" charset="0"/>
                        </a:rPr>
                        <a:t>OpenAI API</a:t>
                      </a:r>
                      <a:endParaRPr lang="en-US" sz="3100" dirty="0">
                        <a:effectLst/>
                      </a:endParaRPr>
                    </a:p>
                  </a:txBody>
                  <a:tcPr marL="76200" marR="76200" marT="50800" marB="50800"/>
                </a:tc>
                <a:extLst>
                  <a:ext uri="{0D108BD9-81ED-4DB2-BD59-A6C34878D82A}">
                    <a16:rowId xmlns:a16="http://schemas.microsoft.com/office/drawing/2014/main" val="2976346037"/>
                  </a:ext>
                </a:extLst>
              </a:tr>
              <a:tr h="1361440">
                <a:tc>
                  <a:txBody>
                    <a:bodyPr/>
                    <a:lstStyle/>
                    <a:p>
                      <a:pPr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Cách sử dụng</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Viết skeleton code, để Copilot gợi ý</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Gửi prompt có cấu trúc qua chat</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Gọi API lập trình với system/user prompt</a:t>
                      </a:r>
                      <a:endParaRPr lang="en-US" sz="3100">
                        <a:effectLst/>
                      </a:endParaRPr>
                    </a:p>
                  </a:txBody>
                  <a:tcPr marL="76200" marR="76200" marT="50800" marB="50800"/>
                </a:tc>
                <a:extLst>
                  <a:ext uri="{0D108BD9-81ED-4DB2-BD59-A6C34878D82A}">
                    <a16:rowId xmlns:a16="http://schemas.microsoft.com/office/drawing/2014/main" val="1912241397"/>
                  </a:ext>
                </a:extLst>
              </a:tr>
              <a:tr h="1361440">
                <a:tc>
                  <a:txBody>
                    <a:bodyPr/>
                    <a:lstStyle/>
                    <a:p>
                      <a:pPr rtl="0" fontAlgn="t">
                        <a:spcBef>
                          <a:spcPts val="1200"/>
                        </a:spcBef>
                        <a:spcAft>
                          <a:spcPts val="1200"/>
                        </a:spcAft>
                        <a:buNone/>
                      </a:pPr>
                      <a:r>
                        <a:rPr lang="vi-VN" sz="3100" b="1" i="0" u="none" strike="noStrike">
                          <a:solidFill>
                            <a:srgbClr val="000000"/>
                          </a:solidFill>
                          <a:effectLst/>
                          <a:latin typeface="Times New Roman" panose="02020603050405020304" pitchFamily="18" charset="0"/>
                        </a:rPr>
                        <a:t>Ưu điểm</a:t>
                      </a:r>
                      <a:endParaRPr lang="vi-VN"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Tích hợp IDE, nhanh, theo ngữ cảnh file</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Giải thích chi tiết, hỗ trợ nhiều vòng</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dirty="0" err="1">
                          <a:solidFill>
                            <a:srgbClr val="000000"/>
                          </a:solidFill>
                          <a:effectLst/>
                          <a:latin typeface="Times New Roman" panose="02020603050405020304" pitchFamily="18" charset="0"/>
                        </a:rPr>
                        <a:t>Tự</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động</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hóa</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tích</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hợp</a:t>
                      </a:r>
                      <a:r>
                        <a:rPr lang="en-US" sz="3100" b="0" i="0" u="none" strike="noStrike" dirty="0">
                          <a:solidFill>
                            <a:srgbClr val="000000"/>
                          </a:solidFill>
                          <a:effectLst/>
                          <a:latin typeface="Times New Roman" panose="02020603050405020304" pitchFamily="18" charset="0"/>
                        </a:rPr>
                        <a:t> pipeline CI/CD</a:t>
                      </a:r>
                      <a:endParaRPr lang="en-US" sz="3100" dirty="0">
                        <a:effectLst/>
                      </a:endParaRPr>
                    </a:p>
                  </a:txBody>
                  <a:tcPr marL="76200" marR="76200" marT="50800" marB="50800"/>
                </a:tc>
                <a:extLst>
                  <a:ext uri="{0D108BD9-81ED-4DB2-BD59-A6C34878D82A}">
                    <a16:rowId xmlns:a16="http://schemas.microsoft.com/office/drawing/2014/main" val="3720744544"/>
                  </a:ext>
                </a:extLst>
              </a:tr>
              <a:tr h="1361440">
                <a:tc>
                  <a:txBody>
                    <a:bodyPr/>
                    <a:lstStyle/>
                    <a:p>
                      <a:pPr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Hạn chế</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Phụ thuộc ngữ cảnh file hiện tại</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Thủ công, copy-paste</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Cần viết code gọi API</a:t>
                      </a:r>
                      <a:endParaRPr lang="en-US" sz="3100">
                        <a:effectLst/>
                      </a:endParaRPr>
                    </a:p>
                  </a:txBody>
                  <a:tcPr marL="76200" marR="76200" marT="50800" marB="50800"/>
                </a:tc>
                <a:extLst>
                  <a:ext uri="{0D108BD9-81ED-4DB2-BD59-A6C34878D82A}">
                    <a16:rowId xmlns:a16="http://schemas.microsoft.com/office/drawing/2014/main" val="2354963800"/>
                  </a:ext>
                </a:extLst>
              </a:tr>
              <a:tr h="1361440">
                <a:tc>
                  <a:txBody>
                    <a:bodyPr/>
                    <a:lstStyle/>
                    <a:p>
                      <a:pPr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Phù hợp nhất</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Tái cấu trúc nhanh trong IDE</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Tái cấu trúc phức tạp cần giải thích</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dirty="0">
                          <a:solidFill>
                            <a:srgbClr val="000000"/>
                          </a:solidFill>
                          <a:effectLst/>
                          <a:latin typeface="Times New Roman" panose="02020603050405020304" pitchFamily="18" charset="0"/>
                        </a:rPr>
                        <a:t>Tái </a:t>
                      </a:r>
                      <a:r>
                        <a:rPr lang="en-US" sz="3100" b="0" i="0" u="none" strike="noStrike" dirty="0" err="1">
                          <a:solidFill>
                            <a:srgbClr val="000000"/>
                          </a:solidFill>
                          <a:effectLst/>
                          <a:latin typeface="Times New Roman" panose="02020603050405020304" pitchFamily="18" charset="0"/>
                        </a:rPr>
                        <a:t>cấu</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trúc</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hàng</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loạt</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tự</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động</a:t>
                      </a:r>
                      <a:endParaRPr lang="en-US" sz="3100" dirty="0">
                        <a:effectLst/>
                      </a:endParaRPr>
                    </a:p>
                  </a:txBody>
                  <a:tcPr marL="76200" marR="76200" marT="50800" marB="50800"/>
                </a:tc>
                <a:extLst>
                  <a:ext uri="{0D108BD9-81ED-4DB2-BD59-A6C34878D82A}">
                    <a16:rowId xmlns:a16="http://schemas.microsoft.com/office/drawing/2014/main" val="1154708269"/>
                  </a:ext>
                </a:extLst>
              </a:tr>
            </a:tbl>
          </a:graphicData>
        </a:graphic>
      </p:graphicFrame>
    </p:spTree>
    <p:extLst>
      <p:ext uri="{BB962C8B-B14F-4D97-AF65-F5344CB8AC3E}">
        <p14:creationId xmlns:p14="http://schemas.microsoft.com/office/powerpoint/2010/main" val="1983933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41848-C8BF-D69A-B601-804FFC74EB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E7A8E3-219C-6CA3-A19A-866A71E2BBFB}"/>
              </a:ext>
            </a:extLst>
          </p:cNvPr>
          <p:cNvGrpSpPr/>
          <p:nvPr/>
        </p:nvGrpSpPr>
        <p:grpSpPr>
          <a:xfrm>
            <a:off x="9676066" y="3270849"/>
            <a:ext cx="7277675" cy="3233727"/>
            <a:chOff x="0" y="297180"/>
            <a:chExt cx="9703567" cy="4311635"/>
          </a:xfrm>
        </p:grpSpPr>
        <p:sp>
          <p:nvSpPr>
            <p:cNvPr id="3" name="TextBox 3">
              <a:extLst>
                <a:ext uri="{FF2B5EF4-FFF2-40B4-BE49-F238E27FC236}">
                  <a16:creationId xmlns:a16="http://schemas.microsoft.com/office/drawing/2014/main" id="{E2746299-F512-B250-E602-7986DD967A65}"/>
                </a:ext>
              </a:extLst>
            </p:cNvPr>
            <p:cNvSpPr txBox="1"/>
            <p:nvPr/>
          </p:nvSpPr>
          <p:spPr>
            <a:xfrm>
              <a:off x="0" y="297180"/>
              <a:ext cx="9703567" cy="820737"/>
            </a:xfrm>
            <a:prstGeom prst="rect">
              <a:avLst/>
            </a:prstGeom>
          </p:spPr>
          <p:txBody>
            <a:bodyPr lIns="0" tIns="0" rIns="0" bIns="0" rtlCol="0" anchor="t">
              <a:spAutoFit/>
            </a:bodyPr>
            <a:lstStyle/>
            <a:p>
              <a:pPr>
                <a:lnSpc>
                  <a:spcPts val="4830"/>
                </a:lnSpc>
              </a:pPr>
              <a:r>
                <a:rPr lang="en-US" sz="4025" b="1" dirty="0">
                  <a:solidFill>
                    <a:srgbClr val="0E2C4B"/>
                  </a:solidFill>
                  <a:latin typeface="Muli Ultra-Bold"/>
                </a:rPr>
                <a:t>Tinh </a:t>
              </a:r>
              <a:r>
                <a:rPr lang="en-US" sz="4025" b="1" dirty="0" err="1">
                  <a:solidFill>
                    <a:srgbClr val="0E2C4B"/>
                  </a:solidFill>
                  <a:latin typeface="Muli Ultra-Bold"/>
                </a:rPr>
                <a:t>chỉnh</a:t>
              </a:r>
              <a:r>
                <a:rPr lang="en-US" sz="4025" b="1" dirty="0">
                  <a:solidFill>
                    <a:srgbClr val="0E2C4B"/>
                  </a:solidFill>
                  <a:latin typeface="Muli Ultra-Bold"/>
                </a:rPr>
                <a:t> </a:t>
              </a:r>
              <a:r>
                <a:rPr lang="en-US" sz="4025" b="1" dirty="0" err="1">
                  <a:solidFill>
                    <a:srgbClr val="0E2C4B"/>
                  </a:solidFill>
                  <a:latin typeface="Muli Ultra-Bold"/>
                </a:rPr>
                <a:t>mô</a:t>
              </a:r>
              <a:r>
                <a:rPr lang="en-US" sz="4025" b="1" dirty="0">
                  <a:solidFill>
                    <a:srgbClr val="0E2C4B"/>
                  </a:solidFill>
                  <a:latin typeface="Muli Ultra-Bold"/>
                </a:rPr>
                <a:t> </a:t>
              </a:r>
              <a:r>
                <a:rPr lang="en-US" sz="4025" b="1" dirty="0" err="1">
                  <a:solidFill>
                    <a:srgbClr val="0E2C4B"/>
                  </a:solidFill>
                  <a:latin typeface="Muli Ultra-Bold"/>
                </a:rPr>
                <a:t>hình</a:t>
              </a:r>
              <a:r>
                <a:rPr lang="en-US" sz="4025" b="1" dirty="0">
                  <a:solidFill>
                    <a:srgbClr val="0E2C4B"/>
                  </a:solidFill>
                  <a:latin typeface="Muli Ultra-Bold"/>
                </a:rPr>
                <a:t> </a:t>
              </a:r>
              <a:r>
                <a:rPr lang="en-US" sz="4025" b="1" dirty="0" err="1">
                  <a:solidFill>
                    <a:srgbClr val="0E2C4B"/>
                  </a:solidFill>
                  <a:latin typeface="Muli Ultra-Bold"/>
                </a:rPr>
                <a:t>với</a:t>
              </a:r>
              <a:r>
                <a:rPr lang="en-US" sz="4025" b="1" dirty="0">
                  <a:solidFill>
                    <a:srgbClr val="0E2C4B"/>
                  </a:solidFill>
                  <a:latin typeface="Muli Ultra-Bold"/>
                </a:rPr>
                <a:t> GenAI</a:t>
              </a:r>
              <a:endParaRPr lang="en-US" sz="4025" b="1" dirty="0">
                <a:solidFill>
                  <a:srgbClr val="0E2C4B"/>
                </a:solidFill>
                <a:latin typeface="Muli Ultra-Bold"/>
                <a:sym typeface="Muli Ultra-Bold"/>
              </a:endParaRPr>
            </a:p>
          </p:txBody>
        </p:sp>
        <p:sp>
          <p:nvSpPr>
            <p:cNvPr id="4" name="TextBox 4">
              <a:extLst>
                <a:ext uri="{FF2B5EF4-FFF2-40B4-BE49-F238E27FC236}">
                  <a16:creationId xmlns:a16="http://schemas.microsoft.com/office/drawing/2014/main" id="{152BF6C0-7B3C-6115-E1E6-AFE4FF886F8A}"/>
                </a:ext>
              </a:extLst>
            </p:cNvPr>
            <p:cNvSpPr txBox="1"/>
            <p:nvPr/>
          </p:nvSpPr>
          <p:spPr>
            <a:xfrm>
              <a:off x="0" y="2663497"/>
              <a:ext cx="8956646" cy="1945318"/>
            </a:xfrm>
            <a:prstGeom prst="rect">
              <a:avLst/>
            </a:prstGeom>
          </p:spPr>
          <p:txBody>
            <a:bodyPr lIns="0" tIns="0" rIns="0" bIns="0" rtlCol="0" anchor="t">
              <a:spAutoFit/>
            </a:bodyPr>
            <a:lstStyle/>
            <a:p>
              <a:pPr algn="l">
                <a:lnSpc>
                  <a:spcPts val="2940"/>
                </a:lnSpc>
              </a:pPr>
              <a:r>
                <a:rPr lang="vi-VN" sz="2100" dirty="0">
                  <a:solidFill>
                    <a:srgbClr val="0E2C4B"/>
                  </a:solidFill>
                  <a:latin typeface="Muli"/>
                  <a:ea typeface="Muli"/>
                  <a:cs typeface="Muli"/>
                  <a:sym typeface="Muli"/>
                </a:rPr>
                <a:t>Mục tiêu cốt lõi là giúp lập trình viên hiểu khi nào nên sử dụng prompt engineering (chi phí thấp, linh hoạt) và khi nào nên đầu tư vào fine-tuning (chi phí cao hơn nhưng chuyên biệt hơn) cho các tác vụ sinh mã nguồn.</a:t>
              </a:r>
              <a:endParaRPr lang="en-US" sz="2100" dirty="0">
                <a:solidFill>
                  <a:srgbClr val="0E2C4B"/>
                </a:solidFill>
                <a:latin typeface="Muli"/>
                <a:ea typeface="Muli"/>
                <a:cs typeface="Muli"/>
                <a:sym typeface="Muli"/>
              </a:endParaRPr>
            </a:p>
          </p:txBody>
        </p:sp>
      </p:grpSp>
      <p:grpSp>
        <p:nvGrpSpPr>
          <p:cNvPr id="5" name="Group 5">
            <a:extLst>
              <a:ext uri="{FF2B5EF4-FFF2-40B4-BE49-F238E27FC236}">
                <a16:creationId xmlns:a16="http://schemas.microsoft.com/office/drawing/2014/main" id="{18D10381-C7C9-DCE2-8FD2-0F9C98132D1D}"/>
              </a:ext>
            </a:extLst>
          </p:cNvPr>
          <p:cNvGrpSpPr/>
          <p:nvPr/>
        </p:nvGrpSpPr>
        <p:grpSpPr>
          <a:xfrm>
            <a:off x="1028700" y="1747484"/>
            <a:ext cx="7549245" cy="7148517"/>
            <a:chOff x="0" y="0"/>
            <a:chExt cx="10065660" cy="9531355"/>
          </a:xfrm>
        </p:grpSpPr>
        <p:grpSp>
          <p:nvGrpSpPr>
            <p:cNvPr id="6" name="Group 6">
              <a:extLst>
                <a:ext uri="{FF2B5EF4-FFF2-40B4-BE49-F238E27FC236}">
                  <a16:creationId xmlns:a16="http://schemas.microsoft.com/office/drawing/2014/main" id="{649EDC8E-3A54-9CEF-E7C6-FCD67AA85D6F}"/>
                </a:ext>
              </a:extLst>
            </p:cNvPr>
            <p:cNvGrpSpPr/>
            <p:nvPr/>
          </p:nvGrpSpPr>
          <p:grpSpPr>
            <a:xfrm>
              <a:off x="762346" y="0"/>
              <a:ext cx="9303314" cy="9303314"/>
              <a:chOff x="0" y="0"/>
              <a:chExt cx="6350000" cy="6350000"/>
            </a:xfrm>
          </p:grpSpPr>
          <p:sp>
            <p:nvSpPr>
              <p:cNvPr id="7" name="Freeform 7">
                <a:extLst>
                  <a:ext uri="{FF2B5EF4-FFF2-40B4-BE49-F238E27FC236}">
                    <a16:creationId xmlns:a16="http://schemas.microsoft.com/office/drawing/2014/main" id="{320B47CC-4FE6-303E-EBA5-0CD58636985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EBE7"/>
              </a:solidFill>
            </p:spPr>
            <p:txBody>
              <a:bodyPr/>
              <a:lstStyle/>
              <a:p>
                <a:endParaRPr lang="en-US"/>
              </a:p>
            </p:txBody>
          </p:sp>
        </p:grpSp>
        <p:sp>
          <p:nvSpPr>
            <p:cNvPr id="8" name="Freeform 8">
              <a:extLst>
                <a:ext uri="{FF2B5EF4-FFF2-40B4-BE49-F238E27FC236}">
                  <a16:creationId xmlns:a16="http://schemas.microsoft.com/office/drawing/2014/main" id="{35FBBFB0-9127-D279-1B77-0D0DB3D4011C}"/>
                </a:ext>
              </a:extLst>
            </p:cNvPr>
            <p:cNvSpPr/>
            <p:nvPr/>
          </p:nvSpPr>
          <p:spPr>
            <a:xfrm flipH="1">
              <a:off x="0" y="6584578"/>
              <a:ext cx="8490115" cy="2946777"/>
            </a:xfrm>
            <a:custGeom>
              <a:avLst/>
              <a:gdLst/>
              <a:ahLst/>
              <a:cxnLst/>
              <a:rect l="l" t="t" r="r" b="b"/>
              <a:pathLst>
                <a:path w="8490115" h="2946777">
                  <a:moveTo>
                    <a:pt x="8490115" y="0"/>
                  </a:moveTo>
                  <a:lnTo>
                    <a:pt x="0" y="0"/>
                  </a:lnTo>
                  <a:lnTo>
                    <a:pt x="0" y="2946777"/>
                  </a:lnTo>
                  <a:lnTo>
                    <a:pt x="8490115" y="2946777"/>
                  </a:lnTo>
                  <a:lnTo>
                    <a:pt x="8490115" y="0"/>
                  </a:lnTo>
                  <a:close/>
                </a:path>
              </a:pathLst>
            </a:custGeom>
            <a:blipFill>
              <a:blip r:embed="rId2">
                <a:alphaModFix amt="51000"/>
              </a:blip>
              <a:stretch>
                <a:fillRect/>
              </a:stretch>
            </a:blipFill>
          </p:spPr>
          <p:txBody>
            <a:bodyPr/>
            <a:lstStyle/>
            <a:p>
              <a:endParaRPr lang="en-US"/>
            </a:p>
          </p:txBody>
        </p:sp>
        <p:sp>
          <p:nvSpPr>
            <p:cNvPr id="9" name="Freeform 9">
              <a:extLst>
                <a:ext uri="{FF2B5EF4-FFF2-40B4-BE49-F238E27FC236}">
                  <a16:creationId xmlns:a16="http://schemas.microsoft.com/office/drawing/2014/main" id="{530DEB26-B4AE-F104-2E4D-03BBB4833BA5}"/>
                </a:ext>
              </a:extLst>
            </p:cNvPr>
            <p:cNvSpPr/>
            <p:nvPr/>
          </p:nvSpPr>
          <p:spPr>
            <a:xfrm>
              <a:off x="0" y="1360379"/>
              <a:ext cx="8577310" cy="7805352"/>
            </a:xfrm>
            <a:custGeom>
              <a:avLst/>
              <a:gdLst/>
              <a:ahLst/>
              <a:cxnLst/>
              <a:rect l="l" t="t" r="r" b="b"/>
              <a:pathLst>
                <a:path w="8577310" h="7805352">
                  <a:moveTo>
                    <a:pt x="0" y="0"/>
                  </a:moveTo>
                  <a:lnTo>
                    <a:pt x="8577310" y="0"/>
                  </a:lnTo>
                  <a:lnTo>
                    <a:pt x="8577310" y="7805351"/>
                  </a:lnTo>
                  <a:lnTo>
                    <a:pt x="0" y="7805351"/>
                  </a:lnTo>
                  <a:lnTo>
                    <a:pt x="0" y="0"/>
                  </a:lnTo>
                  <a:close/>
                </a:path>
              </a:pathLst>
            </a:custGeom>
            <a:blipFill>
              <a:blip r:embed="rId3"/>
              <a:stretch>
                <a:fillRect/>
              </a:stretch>
            </a:blipFill>
          </p:spPr>
          <p:txBody>
            <a:bodyPr/>
            <a:lstStyle/>
            <a:p>
              <a:endParaRPr lang="en-US"/>
            </a:p>
          </p:txBody>
        </p:sp>
      </p:grpSp>
    </p:spTree>
    <p:extLst>
      <p:ext uri="{BB962C8B-B14F-4D97-AF65-F5344CB8AC3E}">
        <p14:creationId xmlns:p14="http://schemas.microsoft.com/office/powerpoint/2010/main" val="15462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D44D7CA9-C044-B050-ED9D-EB18BC58F6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C011E2-2FA9-318A-0701-40D2996237A0}"/>
              </a:ext>
            </a:extLst>
          </p:cNvPr>
          <p:cNvGrpSpPr/>
          <p:nvPr/>
        </p:nvGrpSpPr>
        <p:grpSpPr>
          <a:xfrm>
            <a:off x="685800" y="2628900"/>
            <a:ext cx="6172200" cy="7391400"/>
            <a:chOff x="0" y="0"/>
            <a:chExt cx="4026708" cy="3293871"/>
          </a:xfrm>
        </p:grpSpPr>
        <p:sp>
          <p:nvSpPr>
            <p:cNvPr id="3" name="Freeform 3">
              <a:extLst>
                <a:ext uri="{FF2B5EF4-FFF2-40B4-BE49-F238E27FC236}">
                  <a16:creationId xmlns:a16="http://schemas.microsoft.com/office/drawing/2014/main" id="{BC6B67A6-C9DB-F704-E5E6-6D7B5774B5E7}"/>
                </a:ext>
              </a:extLst>
            </p:cNvPr>
            <p:cNvSpPr/>
            <p:nvPr/>
          </p:nvSpPr>
          <p:spPr>
            <a:xfrm>
              <a:off x="0" y="0"/>
              <a:ext cx="4026708" cy="3293871"/>
            </a:xfrm>
            <a:custGeom>
              <a:avLst/>
              <a:gdLst/>
              <a:ahLst/>
              <a:cxnLst/>
              <a:rect l="l" t="t" r="r" b="b"/>
              <a:pathLst>
                <a:path w="4026708" h="3293871">
                  <a:moveTo>
                    <a:pt x="3902248" y="3293871"/>
                  </a:moveTo>
                  <a:lnTo>
                    <a:pt x="124460" y="3293871"/>
                  </a:lnTo>
                  <a:cubicBezTo>
                    <a:pt x="55880" y="3293871"/>
                    <a:pt x="0" y="3237991"/>
                    <a:pt x="0" y="3169411"/>
                  </a:cubicBezTo>
                  <a:lnTo>
                    <a:pt x="0" y="124460"/>
                  </a:lnTo>
                  <a:cubicBezTo>
                    <a:pt x="0" y="55880"/>
                    <a:pt x="55880" y="0"/>
                    <a:pt x="124460" y="0"/>
                  </a:cubicBezTo>
                  <a:lnTo>
                    <a:pt x="3902248" y="0"/>
                  </a:lnTo>
                  <a:cubicBezTo>
                    <a:pt x="3970828" y="0"/>
                    <a:pt x="4026708" y="55880"/>
                    <a:pt x="4026708" y="124460"/>
                  </a:cubicBezTo>
                  <a:lnTo>
                    <a:pt x="4026708" y="3169411"/>
                  </a:lnTo>
                  <a:cubicBezTo>
                    <a:pt x="4026708" y="3237991"/>
                    <a:pt x="3970828" y="3293871"/>
                    <a:pt x="3902248" y="3293871"/>
                  </a:cubicBezTo>
                  <a:close/>
                </a:path>
              </a:pathLst>
            </a:custGeom>
            <a:solidFill>
              <a:srgbClr val="FFFFFF"/>
            </a:solidFill>
          </p:spPr>
          <p:txBody>
            <a:bodyPr/>
            <a:lstStyle/>
            <a:p>
              <a:endParaRPr lang="en-US"/>
            </a:p>
          </p:txBody>
        </p:sp>
      </p:grpSp>
      <p:sp>
        <p:nvSpPr>
          <p:cNvPr id="9" name="TextBox 9">
            <a:extLst>
              <a:ext uri="{FF2B5EF4-FFF2-40B4-BE49-F238E27FC236}">
                <a16:creationId xmlns:a16="http://schemas.microsoft.com/office/drawing/2014/main" id="{9BE358C8-70E2-FBC3-C054-1CF1718D4520}"/>
              </a:ext>
            </a:extLst>
          </p:cNvPr>
          <p:cNvSpPr txBox="1"/>
          <p:nvPr/>
        </p:nvSpPr>
        <p:spPr>
          <a:xfrm>
            <a:off x="1028700" y="419100"/>
            <a:ext cx="15065547" cy="846386"/>
          </a:xfrm>
          <a:prstGeom prst="rect">
            <a:avLst/>
          </a:prstGeom>
        </p:spPr>
        <p:txBody>
          <a:bodyPr wrap="square" lIns="0" tIns="0" rIns="0" bIns="0" rtlCol="0" anchor="t">
            <a:spAutoFit/>
          </a:bodyPr>
          <a:lstStyle/>
          <a:p>
            <a:pPr>
              <a:lnSpc>
                <a:spcPts val="6600"/>
              </a:lnSpc>
            </a:pPr>
            <a:r>
              <a:rPr lang="en-US" sz="5500" b="1" dirty="0">
                <a:solidFill>
                  <a:srgbClr val="41505F"/>
                </a:solidFill>
                <a:latin typeface="Muli Ultra-Bold" panose="020B0604020202020204" charset="-93"/>
              </a:rPr>
              <a:t>Chuyên </a:t>
            </a:r>
            <a:r>
              <a:rPr lang="en-US" sz="5500" b="1" dirty="0" err="1">
                <a:solidFill>
                  <a:srgbClr val="41505F"/>
                </a:solidFill>
                <a:latin typeface="Muli Ultra-Bold" panose="020B0604020202020204" charset="-93"/>
              </a:rPr>
              <a:t>biệt</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hóa</a:t>
            </a:r>
            <a:r>
              <a:rPr lang="en-US" sz="5500" b="1" dirty="0">
                <a:solidFill>
                  <a:srgbClr val="41505F"/>
                </a:solidFill>
                <a:latin typeface="Muli Ultra-Bold" panose="020B0604020202020204" charset="-93"/>
              </a:rPr>
              <a:t> LLM</a:t>
            </a:r>
            <a:endParaRPr lang="en-US" sz="5500" b="1" dirty="0">
              <a:solidFill>
                <a:srgbClr val="41505F"/>
              </a:solidFill>
              <a:latin typeface="Muli Ultra-Bold" panose="020B0604020202020204" charset="-93"/>
              <a:sym typeface="Muli Ultra-Bold"/>
            </a:endParaRPr>
          </a:p>
        </p:txBody>
      </p:sp>
      <p:grpSp>
        <p:nvGrpSpPr>
          <p:cNvPr id="10" name="Group 10">
            <a:extLst>
              <a:ext uri="{FF2B5EF4-FFF2-40B4-BE49-F238E27FC236}">
                <a16:creationId xmlns:a16="http://schemas.microsoft.com/office/drawing/2014/main" id="{3183EB56-F2F2-EC47-B3F2-3F3B5DBA81A7}"/>
              </a:ext>
            </a:extLst>
          </p:cNvPr>
          <p:cNvGrpSpPr/>
          <p:nvPr/>
        </p:nvGrpSpPr>
        <p:grpSpPr>
          <a:xfrm>
            <a:off x="1049569" y="3603118"/>
            <a:ext cx="5286268" cy="2697320"/>
            <a:chOff x="0" y="-38100"/>
            <a:chExt cx="5747885" cy="2003369"/>
          </a:xfrm>
        </p:grpSpPr>
        <p:sp>
          <p:nvSpPr>
            <p:cNvPr id="11" name="TextBox 11">
              <a:extLst>
                <a:ext uri="{FF2B5EF4-FFF2-40B4-BE49-F238E27FC236}">
                  <a16:creationId xmlns:a16="http://schemas.microsoft.com/office/drawing/2014/main" id="{8446D005-4C92-74BB-CEE0-BFE2600A7494}"/>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a:solidFill>
                    <a:srgbClr val="0E2C4B"/>
                  </a:solidFill>
                  <a:latin typeface="Muli Bold"/>
                  <a:ea typeface="Muli Bold"/>
                  <a:cs typeface="Muli Bold"/>
                  <a:sym typeface="Muli Bold"/>
                </a:rPr>
                <a:t>Vector </a:t>
              </a:r>
              <a:r>
                <a:rPr lang="en-US" sz="2199" b="1" dirty="0" err="1">
                  <a:solidFill>
                    <a:srgbClr val="0E2C4B"/>
                  </a:solidFill>
                  <a:latin typeface="Muli Bold"/>
                  <a:ea typeface="Muli Bold"/>
                  <a:cs typeface="Muli Bold"/>
                  <a:sym typeface="Muli Bold"/>
                </a:rPr>
                <a:t>hóa</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với</a:t>
              </a:r>
              <a:r>
                <a:rPr lang="en-US" sz="2199" b="1" dirty="0">
                  <a:solidFill>
                    <a:srgbClr val="0E2C4B"/>
                  </a:solidFill>
                  <a:latin typeface="Muli Bold"/>
                  <a:ea typeface="Muli Bold"/>
                  <a:cs typeface="Muli Bold"/>
                  <a:sym typeface="Muli Bold"/>
                </a:rPr>
                <a:t> NumPy</a:t>
              </a:r>
            </a:p>
          </p:txBody>
        </p:sp>
        <p:sp>
          <p:nvSpPr>
            <p:cNvPr id="12" name="TextBox 12">
              <a:extLst>
                <a:ext uri="{FF2B5EF4-FFF2-40B4-BE49-F238E27FC236}">
                  <a16:creationId xmlns:a16="http://schemas.microsoft.com/office/drawing/2014/main" id="{C530A90B-1F88-1E02-F881-4DB44CA3BD26}"/>
                </a:ext>
              </a:extLst>
            </p:cNvPr>
            <p:cNvSpPr txBox="1"/>
            <p:nvPr/>
          </p:nvSpPr>
          <p:spPr>
            <a:xfrm>
              <a:off x="0" y="400974"/>
              <a:ext cx="5747885" cy="1564295"/>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Giải pháp vector hóa thay thế vòng lặp bằng phép tính ma trận NumPy, tận dụng tính toán song song ở cấp thấp (C/Fortran)</a:t>
              </a:r>
              <a:r>
                <a:rPr lang="en-US" sz="2400" dirty="0">
                  <a:solidFill>
                    <a:srgbClr val="0E2C4B"/>
                  </a:solidFill>
                  <a:latin typeface="Muli"/>
                </a:rPr>
                <a:t>.</a:t>
              </a:r>
              <a:endParaRPr lang="en-US" sz="2400" dirty="0">
                <a:solidFill>
                  <a:srgbClr val="41505F"/>
                </a:solidFill>
                <a:latin typeface="Muli"/>
                <a:sym typeface="Muli"/>
              </a:endParaRPr>
            </a:p>
          </p:txBody>
        </p:sp>
      </p:grpSp>
      <p:pic>
        <p:nvPicPr>
          <p:cNvPr id="5" name="Picture 4">
            <a:extLst>
              <a:ext uri="{FF2B5EF4-FFF2-40B4-BE49-F238E27FC236}">
                <a16:creationId xmlns:a16="http://schemas.microsoft.com/office/drawing/2014/main" id="{1F35ED9C-1282-AE84-788D-B2AEE6C1B8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3285519"/>
            <a:ext cx="10287000" cy="3715962"/>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6" name="Picture 5">
            <a:extLst>
              <a:ext uri="{FF2B5EF4-FFF2-40B4-BE49-F238E27FC236}">
                <a16:creationId xmlns:a16="http://schemas.microsoft.com/office/drawing/2014/main" id="{7C38E6C3-5C1F-7DA6-8ED1-D7836E77A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7429500"/>
            <a:ext cx="10287000" cy="1219200"/>
          </a:xfrm>
          <a:prstGeom prst="rect">
            <a:avLst/>
          </a:prstGeom>
        </p:spPr>
      </p:pic>
      <p:grpSp>
        <p:nvGrpSpPr>
          <p:cNvPr id="7" name="Group 10">
            <a:extLst>
              <a:ext uri="{FF2B5EF4-FFF2-40B4-BE49-F238E27FC236}">
                <a16:creationId xmlns:a16="http://schemas.microsoft.com/office/drawing/2014/main" id="{EE443C38-44AD-019B-240F-78E83B29B521}"/>
              </a:ext>
            </a:extLst>
          </p:cNvPr>
          <p:cNvGrpSpPr/>
          <p:nvPr/>
        </p:nvGrpSpPr>
        <p:grpSpPr>
          <a:xfrm>
            <a:off x="914400" y="6690440"/>
            <a:ext cx="5286268" cy="2697320"/>
            <a:chOff x="0" y="-38100"/>
            <a:chExt cx="5747885" cy="2003369"/>
          </a:xfrm>
        </p:grpSpPr>
        <p:sp>
          <p:nvSpPr>
            <p:cNvPr id="8" name="TextBox 11">
              <a:extLst>
                <a:ext uri="{FF2B5EF4-FFF2-40B4-BE49-F238E27FC236}">
                  <a16:creationId xmlns:a16="http://schemas.microsoft.com/office/drawing/2014/main" id="{E60453C3-00F4-8C98-1B64-3E9E92DE8430}"/>
                </a:ext>
              </a:extLst>
            </p:cNvPr>
            <p:cNvSpPr txBox="1"/>
            <p:nvPr/>
          </p:nvSpPr>
          <p:spPr>
            <a:xfrm>
              <a:off x="0" y="-38100"/>
              <a:ext cx="5747885" cy="271550"/>
            </a:xfrm>
            <a:prstGeom prst="rect">
              <a:avLst/>
            </a:prstGeom>
          </p:spPr>
          <p:txBody>
            <a:bodyPr lIns="0" tIns="0" rIns="0" bIns="0" rtlCol="0" anchor="t">
              <a:spAutoFit/>
            </a:bodyPr>
            <a:lstStyle/>
            <a:p>
              <a:pPr algn="l">
                <a:lnSpc>
                  <a:spcPts val="3079"/>
                </a:lnSpc>
              </a:pPr>
              <a:r>
                <a:rPr lang="en-US" sz="2199" b="1" dirty="0">
                  <a:solidFill>
                    <a:srgbClr val="0E2C4B"/>
                  </a:solidFill>
                  <a:latin typeface="Muli Bold"/>
                  <a:ea typeface="Muli Bold"/>
                  <a:cs typeface="Muli Bold"/>
                  <a:sym typeface="Muli Bold"/>
                </a:rPr>
                <a:t>Prompt </a:t>
              </a:r>
              <a:r>
                <a:rPr lang="en-US" sz="2199" b="1" dirty="0" err="1">
                  <a:solidFill>
                    <a:srgbClr val="0E2C4B"/>
                  </a:solidFill>
                  <a:latin typeface="Muli Bold"/>
                  <a:ea typeface="Muli Bold"/>
                  <a:cs typeface="Muli Bold"/>
                  <a:sym typeface="Muli Bold"/>
                </a:rPr>
                <a:t>cho</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tái</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cấu</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trúc</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hiệu</a:t>
              </a:r>
              <a:r>
                <a:rPr lang="en-US" sz="2199" b="1" dirty="0">
                  <a:solidFill>
                    <a:srgbClr val="0E2C4B"/>
                  </a:solidFill>
                  <a:latin typeface="Muli Bold"/>
                  <a:ea typeface="Muli Bold"/>
                  <a:cs typeface="Muli Bold"/>
                  <a:sym typeface="Muli Bold"/>
                </a:rPr>
                <a:t> </a:t>
              </a:r>
              <a:r>
                <a:rPr lang="en-US" sz="2199" b="1" dirty="0" err="1">
                  <a:solidFill>
                    <a:srgbClr val="0E2C4B"/>
                  </a:solidFill>
                  <a:latin typeface="Muli Bold"/>
                  <a:ea typeface="Muli Bold"/>
                  <a:cs typeface="Muli Bold"/>
                  <a:sym typeface="Muli Bold"/>
                </a:rPr>
                <a:t>suất</a:t>
              </a:r>
              <a:endParaRPr lang="en-US" sz="2199" b="1" dirty="0">
                <a:solidFill>
                  <a:srgbClr val="0E2C4B"/>
                </a:solidFill>
                <a:latin typeface="Muli Bold"/>
                <a:ea typeface="Muli Bold"/>
                <a:cs typeface="Muli Bold"/>
                <a:sym typeface="Muli Bold"/>
              </a:endParaRPr>
            </a:p>
          </p:txBody>
        </p:sp>
        <p:sp>
          <p:nvSpPr>
            <p:cNvPr id="13" name="TextBox 12">
              <a:extLst>
                <a:ext uri="{FF2B5EF4-FFF2-40B4-BE49-F238E27FC236}">
                  <a16:creationId xmlns:a16="http://schemas.microsoft.com/office/drawing/2014/main" id="{4EE66B19-D8BF-6AD6-E4DC-D631753DDBFC}"/>
                </a:ext>
              </a:extLst>
            </p:cNvPr>
            <p:cNvSpPr txBox="1"/>
            <p:nvPr/>
          </p:nvSpPr>
          <p:spPr>
            <a:xfrm>
              <a:off x="0" y="400974"/>
              <a:ext cx="5747885" cy="1564295"/>
            </a:xfrm>
            <a:prstGeom prst="rect">
              <a:avLst/>
            </a:prstGeom>
          </p:spPr>
          <p:txBody>
            <a:bodyPr lIns="0" tIns="0" rIns="0" bIns="0" rtlCol="0" anchor="t">
              <a:spAutoFit/>
            </a:bodyPr>
            <a:lstStyle/>
            <a:p>
              <a:pPr algn="l">
                <a:lnSpc>
                  <a:spcPts val="3079"/>
                </a:lnSpc>
              </a:pPr>
              <a:endParaRPr dirty="0"/>
            </a:p>
            <a:p>
              <a:pPr>
                <a:lnSpc>
                  <a:spcPts val="3359"/>
                </a:lnSpc>
              </a:pPr>
              <a:r>
                <a:rPr lang="vi-VN" sz="2400" dirty="0">
                  <a:solidFill>
                    <a:srgbClr val="0E2C4B"/>
                  </a:solidFill>
                  <a:latin typeface="Muli"/>
                </a:rPr>
                <a:t>Cấu trúc prompt gồm 3 phần rõ ràng: FUNCTION (hàm gốc), OLD (dòng cần tối ưu), và LIBRARY (thư viện mục tiêu).</a:t>
              </a:r>
              <a:endParaRPr lang="en-US" sz="2400" dirty="0">
                <a:solidFill>
                  <a:srgbClr val="41505F"/>
                </a:solidFill>
                <a:latin typeface="Muli"/>
                <a:sym typeface="Muli"/>
              </a:endParaRPr>
            </a:p>
          </p:txBody>
        </p:sp>
      </p:grpSp>
    </p:spTree>
    <p:extLst>
      <p:ext uri="{BB962C8B-B14F-4D97-AF65-F5344CB8AC3E}">
        <p14:creationId xmlns:p14="http://schemas.microsoft.com/office/powerpoint/2010/main" val="3372202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118A9085-53A9-5135-7727-824E5F8FCDE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81860E4-C386-01BF-E46A-C8396AC4090A}"/>
              </a:ext>
            </a:extLst>
          </p:cNvPr>
          <p:cNvGrpSpPr/>
          <p:nvPr/>
        </p:nvGrpSpPr>
        <p:grpSpPr>
          <a:xfrm>
            <a:off x="838200" y="4651917"/>
            <a:ext cx="5033385" cy="4878577"/>
            <a:chOff x="0" y="0"/>
            <a:chExt cx="4026708" cy="3902862"/>
          </a:xfrm>
        </p:grpSpPr>
        <p:sp>
          <p:nvSpPr>
            <p:cNvPr id="3" name="Freeform 3">
              <a:extLst>
                <a:ext uri="{FF2B5EF4-FFF2-40B4-BE49-F238E27FC236}">
                  <a16:creationId xmlns:a16="http://schemas.microsoft.com/office/drawing/2014/main" id="{C2F07F6F-8C82-6376-4EA3-65AC41A75E90}"/>
                </a:ext>
              </a:extLst>
            </p:cNvPr>
            <p:cNvSpPr/>
            <p:nvPr/>
          </p:nvSpPr>
          <p:spPr>
            <a:xfrm>
              <a:off x="0" y="0"/>
              <a:ext cx="4026708" cy="3902862"/>
            </a:xfrm>
            <a:custGeom>
              <a:avLst/>
              <a:gdLst/>
              <a:ahLst/>
              <a:cxnLst/>
              <a:rect l="l" t="t" r="r" b="b"/>
              <a:pathLst>
                <a:path w="4026708" h="3902862">
                  <a:moveTo>
                    <a:pt x="3902248" y="3902862"/>
                  </a:moveTo>
                  <a:lnTo>
                    <a:pt x="124460" y="3902862"/>
                  </a:lnTo>
                  <a:cubicBezTo>
                    <a:pt x="55880" y="3902862"/>
                    <a:pt x="0" y="3846982"/>
                    <a:pt x="0" y="3778402"/>
                  </a:cubicBezTo>
                  <a:lnTo>
                    <a:pt x="0" y="124460"/>
                  </a:lnTo>
                  <a:cubicBezTo>
                    <a:pt x="0" y="55880"/>
                    <a:pt x="55880" y="0"/>
                    <a:pt x="124460" y="0"/>
                  </a:cubicBezTo>
                  <a:lnTo>
                    <a:pt x="3902248" y="0"/>
                  </a:lnTo>
                  <a:cubicBezTo>
                    <a:pt x="3970828" y="0"/>
                    <a:pt x="4026708" y="55880"/>
                    <a:pt x="4026708" y="124460"/>
                  </a:cubicBezTo>
                  <a:lnTo>
                    <a:pt x="4026708" y="3778402"/>
                  </a:lnTo>
                  <a:cubicBezTo>
                    <a:pt x="4026708" y="3846982"/>
                    <a:pt x="3970828" y="3902862"/>
                    <a:pt x="3902248" y="3902862"/>
                  </a:cubicBezTo>
                  <a:close/>
                </a:path>
              </a:pathLst>
            </a:custGeom>
            <a:solidFill>
              <a:srgbClr val="FFFFFF"/>
            </a:solidFill>
          </p:spPr>
          <p:txBody>
            <a:bodyPr/>
            <a:lstStyle/>
            <a:p>
              <a:endParaRPr lang="en-US"/>
            </a:p>
          </p:txBody>
        </p:sp>
      </p:grpSp>
      <p:grpSp>
        <p:nvGrpSpPr>
          <p:cNvPr id="4" name="Group 4">
            <a:extLst>
              <a:ext uri="{FF2B5EF4-FFF2-40B4-BE49-F238E27FC236}">
                <a16:creationId xmlns:a16="http://schemas.microsoft.com/office/drawing/2014/main" id="{D43DF5D3-E656-C258-30E8-9A17A23DCABE}"/>
              </a:ext>
            </a:extLst>
          </p:cNvPr>
          <p:cNvGrpSpPr/>
          <p:nvPr/>
        </p:nvGrpSpPr>
        <p:grpSpPr>
          <a:xfrm>
            <a:off x="6436808" y="4652340"/>
            <a:ext cx="5033385" cy="4878154"/>
            <a:chOff x="0" y="0"/>
            <a:chExt cx="4026708" cy="3902523"/>
          </a:xfrm>
        </p:grpSpPr>
        <p:sp>
          <p:nvSpPr>
            <p:cNvPr id="5" name="Freeform 5">
              <a:extLst>
                <a:ext uri="{FF2B5EF4-FFF2-40B4-BE49-F238E27FC236}">
                  <a16:creationId xmlns:a16="http://schemas.microsoft.com/office/drawing/2014/main" id="{8924AF9B-04AC-15F8-6539-0D2D999656FE}"/>
                </a:ext>
              </a:extLst>
            </p:cNvPr>
            <p:cNvSpPr/>
            <p:nvPr/>
          </p:nvSpPr>
          <p:spPr>
            <a:xfrm>
              <a:off x="0" y="0"/>
              <a:ext cx="4026708" cy="3902523"/>
            </a:xfrm>
            <a:custGeom>
              <a:avLst/>
              <a:gdLst/>
              <a:ahLst/>
              <a:cxnLst/>
              <a:rect l="l" t="t" r="r" b="b"/>
              <a:pathLst>
                <a:path w="4026708" h="3902523">
                  <a:moveTo>
                    <a:pt x="3902248" y="3902523"/>
                  </a:moveTo>
                  <a:lnTo>
                    <a:pt x="124460" y="3902523"/>
                  </a:lnTo>
                  <a:cubicBezTo>
                    <a:pt x="55880" y="3902523"/>
                    <a:pt x="0" y="3846643"/>
                    <a:pt x="0" y="3778063"/>
                  </a:cubicBezTo>
                  <a:lnTo>
                    <a:pt x="0" y="124460"/>
                  </a:lnTo>
                  <a:cubicBezTo>
                    <a:pt x="0" y="55880"/>
                    <a:pt x="55880" y="0"/>
                    <a:pt x="124460" y="0"/>
                  </a:cubicBezTo>
                  <a:lnTo>
                    <a:pt x="3902248" y="0"/>
                  </a:lnTo>
                  <a:cubicBezTo>
                    <a:pt x="3970828" y="0"/>
                    <a:pt x="4026708" y="55880"/>
                    <a:pt x="4026708" y="124460"/>
                  </a:cubicBezTo>
                  <a:lnTo>
                    <a:pt x="4026708" y="3778064"/>
                  </a:lnTo>
                  <a:cubicBezTo>
                    <a:pt x="4026708" y="3846643"/>
                    <a:pt x="3970828" y="3902523"/>
                    <a:pt x="3902248" y="3902523"/>
                  </a:cubicBezTo>
                  <a:close/>
                </a:path>
              </a:pathLst>
            </a:custGeom>
            <a:solidFill>
              <a:srgbClr val="FFFFFF"/>
            </a:solidFill>
          </p:spPr>
          <p:txBody>
            <a:bodyPr/>
            <a:lstStyle/>
            <a:p>
              <a:endParaRPr lang="en-US"/>
            </a:p>
          </p:txBody>
        </p:sp>
      </p:grpSp>
      <p:grpSp>
        <p:nvGrpSpPr>
          <p:cNvPr id="6" name="Group 6">
            <a:extLst>
              <a:ext uri="{FF2B5EF4-FFF2-40B4-BE49-F238E27FC236}">
                <a16:creationId xmlns:a16="http://schemas.microsoft.com/office/drawing/2014/main" id="{60E14FEB-E368-CAA8-4D5A-089F3C4EAB4A}"/>
              </a:ext>
            </a:extLst>
          </p:cNvPr>
          <p:cNvGrpSpPr/>
          <p:nvPr/>
        </p:nvGrpSpPr>
        <p:grpSpPr>
          <a:xfrm>
            <a:off x="12035415" y="4652340"/>
            <a:ext cx="5033385" cy="4878154"/>
            <a:chOff x="0" y="0"/>
            <a:chExt cx="4026708" cy="3902523"/>
          </a:xfrm>
        </p:grpSpPr>
        <p:sp>
          <p:nvSpPr>
            <p:cNvPr id="7" name="Freeform 7">
              <a:extLst>
                <a:ext uri="{FF2B5EF4-FFF2-40B4-BE49-F238E27FC236}">
                  <a16:creationId xmlns:a16="http://schemas.microsoft.com/office/drawing/2014/main" id="{F600999B-E5EB-2173-032B-61A59B35BB5A}"/>
                </a:ext>
              </a:extLst>
            </p:cNvPr>
            <p:cNvSpPr/>
            <p:nvPr/>
          </p:nvSpPr>
          <p:spPr>
            <a:xfrm>
              <a:off x="0" y="0"/>
              <a:ext cx="4026708" cy="3902523"/>
            </a:xfrm>
            <a:custGeom>
              <a:avLst/>
              <a:gdLst/>
              <a:ahLst/>
              <a:cxnLst/>
              <a:rect l="l" t="t" r="r" b="b"/>
              <a:pathLst>
                <a:path w="4026708" h="3902523">
                  <a:moveTo>
                    <a:pt x="3902248" y="3902523"/>
                  </a:moveTo>
                  <a:lnTo>
                    <a:pt x="124460" y="3902523"/>
                  </a:lnTo>
                  <a:cubicBezTo>
                    <a:pt x="55880" y="3902523"/>
                    <a:pt x="0" y="3846643"/>
                    <a:pt x="0" y="3778063"/>
                  </a:cubicBezTo>
                  <a:lnTo>
                    <a:pt x="0" y="124460"/>
                  </a:lnTo>
                  <a:cubicBezTo>
                    <a:pt x="0" y="55880"/>
                    <a:pt x="55880" y="0"/>
                    <a:pt x="124460" y="0"/>
                  </a:cubicBezTo>
                  <a:lnTo>
                    <a:pt x="3902248" y="0"/>
                  </a:lnTo>
                  <a:cubicBezTo>
                    <a:pt x="3970828" y="0"/>
                    <a:pt x="4026708" y="55880"/>
                    <a:pt x="4026708" y="124460"/>
                  </a:cubicBezTo>
                  <a:lnTo>
                    <a:pt x="4026708" y="3778064"/>
                  </a:lnTo>
                  <a:cubicBezTo>
                    <a:pt x="4026708" y="3846643"/>
                    <a:pt x="3970828" y="3902523"/>
                    <a:pt x="3902248" y="3902523"/>
                  </a:cubicBezTo>
                  <a:close/>
                </a:path>
              </a:pathLst>
            </a:custGeom>
            <a:solidFill>
              <a:srgbClr val="FFFFFF"/>
            </a:solidFill>
          </p:spPr>
          <p:txBody>
            <a:bodyPr/>
            <a:lstStyle/>
            <a:p>
              <a:endParaRPr lang="en-US"/>
            </a:p>
          </p:txBody>
        </p:sp>
      </p:grpSp>
      <p:grpSp>
        <p:nvGrpSpPr>
          <p:cNvPr id="10" name="Group 10">
            <a:extLst>
              <a:ext uri="{FF2B5EF4-FFF2-40B4-BE49-F238E27FC236}">
                <a16:creationId xmlns:a16="http://schemas.microsoft.com/office/drawing/2014/main" id="{5133A57C-A917-E590-2185-74FB3E4A8B3E}"/>
              </a:ext>
            </a:extLst>
          </p:cNvPr>
          <p:cNvGrpSpPr/>
          <p:nvPr/>
        </p:nvGrpSpPr>
        <p:grpSpPr>
          <a:xfrm>
            <a:off x="1199436" y="5573786"/>
            <a:ext cx="4310914" cy="3463881"/>
            <a:chOff x="0" y="-38100"/>
            <a:chExt cx="5747885" cy="4618507"/>
          </a:xfrm>
        </p:grpSpPr>
        <p:sp>
          <p:nvSpPr>
            <p:cNvPr id="11" name="TextBox 11">
              <a:extLst>
                <a:ext uri="{FF2B5EF4-FFF2-40B4-BE49-F238E27FC236}">
                  <a16:creationId xmlns:a16="http://schemas.microsoft.com/office/drawing/2014/main" id="{76F208DA-529F-491C-D3E1-D6BD04D7F2F2}"/>
                </a:ext>
              </a:extLst>
            </p:cNvPr>
            <p:cNvSpPr txBox="1"/>
            <p:nvPr/>
          </p:nvSpPr>
          <p:spPr>
            <a:xfrm>
              <a:off x="0" y="-38100"/>
              <a:ext cx="5747885" cy="1017544"/>
            </a:xfrm>
            <a:prstGeom prst="rect">
              <a:avLst/>
            </a:prstGeom>
          </p:spPr>
          <p:txBody>
            <a:bodyPr lIns="0" tIns="0" rIns="0" bIns="0" rtlCol="0" anchor="t">
              <a:spAutoFit/>
            </a:bodyPr>
            <a:lstStyle/>
            <a:p>
              <a:pPr algn="l">
                <a:lnSpc>
                  <a:spcPts val="3079"/>
                </a:lnSpc>
              </a:pPr>
              <a:r>
                <a:rPr lang="en-US" sz="2199" b="1" dirty="0">
                  <a:solidFill>
                    <a:srgbClr val="0E2C4B"/>
                  </a:solidFill>
                  <a:latin typeface="Muli Ultra-Bold"/>
                  <a:ea typeface="Muli Ultra-Bold"/>
                  <a:cs typeface="Muli Ultra-Bold"/>
                  <a:sym typeface="Muli Ultra-Bold"/>
                </a:rPr>
                <a:t>LLM</a:t>
              </a:r>
            </a:p>
            <a:p>
              <a:pPr algn="l">
                <a:lnSpc>
                  <a:spcPts val="3079"/>
                </a:lnSpc>
              </a:pPr>
              <a:endParaRPr lang="en-US" sz="2199" b="1" dirty="0">
                <a:solidFill>
                  <a:srgbClr val="0E2C4B"/>
                </a:solidFill>
                <a:latin typeface="Muli Ultra-Bold"/>
                <a:ea typeface="Muli Ultra-Bold"/>
                <a:cs typeface="Muli Ultra-Bold"/>
                <a:sym typeface="Muli Ultra-Bold"/>
              </a:endParaRPr>
            </a:p>
          </p:txBody>
        </p:sp>
        <p:sp>
          <p:nvSpPr>
            <p:cNvPr id="12" name="TextBox 12">
              <a:extLst>
                <a:ext uri="{FF2B5EF4-FFF2-40B4-BE49-F238E27FC236}">
                  <a16:creationId xmlns:a16="http://schemas.microsoft.com/office/drawing/2014/main" id="{197EF22D-98C6-901E-E52E-1C5D0ACF997A}"/>
                </a:ext>
              </a:extLst>
            </p:cNvPr>
            <p:cNvSpPr txBox="1"/>
            <p:nvPr/>
          </p:nvSpPr>
          <p:spPr>
            <a:xfrm>
              <a:off x="0" y="1450833"/>
              <a:ext cx="5747885" cy="3129574"/>
            </a:xfrm>
            <a:prstGeom prst="rect">
              <a:avLst/>
            </a:prstGeom>
          </p:spPr>
          <p:txBody>
            <a:bodyPr lIns="0" tIns="0" rIns="0" bIns="0" rtlCol="0" anchor="t">
              <a:spAutoFit/>
            </a:bodyPr>
            <a:lstStyle/>
            <a:p>
              <a:pPr>
                <a:lnSpc>
                  <a:spcPts val="3079"/>
                </a:lnSpc>
              </a:pPr>
              <a:r>
                <a:rPr lang="vi-VN" sz="2000" dirty="0">
                  <a:solidFill>
                    <a:schemeClr val="tx2">
                      <a:lumMod val="50000"/>
                    </a:schemeClr>
                  </a:solidFill>
                  <a:latin typeface="Muli" panose="020B0604020202020204" charset="-93"/>
                </a:rPr>
                <a:t>LLM như GPT-4o, GPT-4o-mini được huấn luyện trên dữ liệu tổng quát rất lớn. Tuy nhiên, trong nhiều trường hợp, chúng ta cần mô hình chuyên biệt cho một tác vụ cụ thể. Có hai cách tiếp cận chính</a:t>
              </a:r>
              <a:endParaRPr lang="en-US" sz="2000" dirty="0">
                <a:solidFill>
                  <a:schemeClr val="tx2">
                    <a:lumMod val="50000"/>
                  </a:schemeClr>
                </a:solidFill>
                <a:latin typeface="Muli" panose="020B0604020202020204" charset="-93"/>
                <a:ea typeface="Muli"/>
                <a:cs typeface="Muli"/>
                <a:sym typeface="Muli"/>
              </a:endParaRPr>
            </a:p>
          </p:txBody>
        </p:sp>
      </p:grpSp>
      <p:grpSp>
        <p:nvGrpSpPr>
          <p:cNvPr id="13" name="Group 13">
            <a:extLst>
              <a:ext uri="{FF2B5EF4-FFF2-40B4-BE49-F238E27FC236}">
                <a16:creationId xmlns:a16="http://schemas.microsoft.com/office/drawing/2014/main" id="{31202685-3B19-E720-908A-7A4684125D6A}"/>
              </a:ext>
            </a:extLst>
          </p:cNvPr>
          <p:cNvGrpSpPr/>
          <p:nvPr/>
        </p:nvGrpSpPr>
        <p:grpSpPr>
          <a:xfrm>
            <a:off x="6667500" y="5573786"/>
            <a:ext cx="4441457" cy="2145163"/>
            <a:chOff x="-174057" y="-38100"/>
            <a:chExt cx="5921942" cy="2860219"/>
          </a:xfrm>
        </p:grpSpPr>
        <p:sp>
          <p:nvSpPr>
            <p:cNvPr id="14" name="TextBox 14">
              <a:extLst>
                <a:ext uri="{FF2B5EF4-FFF2-40B4-BE49-F238E27FC236}">
                  <a16:creationId xmlns:a16="http://schemas.microsoft.com/office/drawing/2014/main" id="{9A65711F-CDF3-BBF8-27B8-BEDE6D4AAC32}"/>
                </a:ext>
              </a:extLst>
            </p:cNvPr>
            <p:cNvSpPr txBox="1"/>
            <p:nvPr/>
          </p:nvSpPr>
          <p:spPr>
            <a:xfrm>
              <a:off x="0" y="-38100"/>
              <a:ext cx="5747885" cy="1017544"/>
            </a:xfrm>
            <a:prstGeom prst="rect">
              <a:avLst/>
            </a:prstGeom>
          </p:spPr>
          <p:txBody>
            <a:bodyPr lIns="0" tIns="0" rIns="0" bIns="0" rtlCol="0" anchor="t">
              <a:spAutoFit/>
            </a:bodyPr>
            <a:lstStyle/>
            <a:p>
              <a:pPr>
                <a:lnSpc>
                  <a:spcPts val="3079"/>
                </a:lnSpc>
              </a:pPr>
              <a:r>
                <a:rPr lang="en-US" sz="2200" b="1" dirty="0">
                  <a:solidFill>
                    <a:schemeClr val="tx2">
                      <a:lumMod val="50000"/>
                    </a:schemeClr>
                  </a:solidFill>
                  <a:latin typeface="Muli Ultra-Bold" panose="020B0604020202020204" charset="-93"/>
                </a:rPr>
                <a:t>Prompt Engineering (Few-shot learning)</a:t>
              </a:r>
              <a:endParaRPr lang="en-US" sz="2200" b="1" dirty="0">
                <a:solidFill>
                  <a:schemeClr val="tx2">
                    <a:lumMod val="50000"/>
                  </a:schemeClr>
                </a:solidFill>
                <a:latin typeface="Muli Ultra-Bold" panose="020B0604020202020204" charset="-93"/>
                <a:ea typeface="Muli Ultra-Bold"/>
                <a:cs typeface="Muli Ultra-Bold"/>
                <a:sym typeface="Muli Ultra-Bold"/>
              </a:endParaRPr>
            </a:p>
          </p:txBody>
        </p:sp>
        <p:sp>
          <p:nvSpPr>
            <p:cNvPr id="15" name="TextBox 15">
              <a:extLst>
                <a:ext uri="{FF2B5EF4-FFF2-40B4-BE49-F238E27FC236}">
                  <a16:creationId xmlns:a16="http://schemas.microsoft.com/office/drawing/2014/main" id="{16BB7D2D-ED49-04B2-B3CF-F2F039FC6F68}"/>
                </a:ext>
              </a:extLst>
            </p:cNvPr>
            <p:cNvSpPr txBox="1"/>
            <p:nvPr/>
          </p:nvSpPr>
          <p:spPr>
            <a:xfrm>
              <a:off x="-174057" y="1282722"/>
              <a:ext cx="5747885" cy="1539397"/>
            </a:xfrm>
            <a:prstGeom prst="rect">
              <a:avLst/>
            </a:prstGeom>
          </p:spPr>
          <p:txBody>
            <a:bodyPr lIns="0" tIns="0" rIns="0" bIns="0" rtlCol="0" anchor="t">
              <a:spAutoFit/>
            </a:bodyPr>
            <a:lstStyle/>
            <a:p>
              <a:pPr>
                <a:lnSpc>
                  <a:spcPts val="3079"/>
                </a:lnSpc>
              </a:pPr>
              <a:r>
                <a:rPr lang="vi-VN" sz="2000" dirty="0">
                  <a:solidFill>
                    <a:schemeClr val="tx2">
                      <a:lumMod val="50000"/>
                    </a:schemeClr>
                  </a:solidFill>
                  <a:latin typeface="Muli" panose="020B0604020202020204" charset="-93"/>
                </a:rPr>
                <a:t>Cung cấp ví dụ trong prompt để hướng dẫn mô hình. Không thay đổi trọng số mô hình.</a:t>
              </a:r>
              <a:endParaRPr lang="en-US" sz="2200" dirty="0">
                <a:solidFill>
                  <a:schemeClr val="tx2">
                    <a:lumMod val="50000"/>
                  </a:schemeClr>
                </a:solidFill>
                <a:latin typeface="Muli" panose="020B0604020202020204" charset="-93"/>
                <a:ea typeface="Muli"/>
                <a:cs typeface="Muli"/>
                <a:sym typeface="Muli"/>
              </a:endParaRPr>
            </a:p>
          </p:txBody>
        </p:sp>
      </p:grpSp>
      <p:grpSp>
        <p:nvGrpSpPr>
          <p:cNvPr id="16" name="Group 16">
            <a:extLst>
              <a:ext uri="{FF2B5EF4-FFF2-40B4-BE49-F238E27FC236}">
                <a16:creationId xmlns:a16="http://schemas.microsoft.com/office/drawing/2014/main" id="{6E7EE762-FFD7-06C3-8133-33B1AED612E2}"/>
              </a:ext>
            </a:extLst>
          </p:cNvPr>
          <p:cNvGrpSpPr/>
          <p:nvPr/>
        </p:nvGrpSpPr>
        <p:grpSpPr>
          <a:xfrm>
            <a:off x="12396651" y="5573786"/>
            <a:ext cx="4310914" cy="2937206"/>
            <a:chOff x="0" y="-38100"/>
            <a:chExt cx="5747885" cy="3916274"/>
          </a:xfrm>
        </p:grpSpPr>
        <p:sp>
          <p:nvSpPr>
            <p:cNvPr id="17" name="TextBox 17">
              <a:extLst>
                <a:ext uri="{FF2B5EF4-FFF2-40B4-BE49-F238E27FC236}">
                  <a16:creationId xmlns:a16="http://schemas.microsoft.com/office/drawing/2014/main" id="{4D878CBC-80C7-C7C6-6E96-1B66FA7209CA}"/>
                </a:ext>
              </a:extLst>
            </p:cNvPr>
            <p:cNvSpPr txBox="1"/>
            <p:nvPr/>
          </p:nvSpPr>
          <p:spPr>
            <a:xfrm>
              <a:off x="0" y="-38100"/>
              <a:ext cx="5747885" cy="487484"/>
            </a:xfrm>
            <a:prstGeom prst="rect">
              <a:avLst/>
            </a:prstGeom>
          </p:spPr>
          <p:txBody>
            <a:bodyPr lIns="0" tIns="0" rIns="0" bIns="0" rtlCol="0" anchor="t">
              <a:spAutoFit/>
            </a:bodyPr>
            <a:lstStyle/>
            <a:p>
              <a:pPr>
                <a:lnSpc>
                  <a:spcPts val="3079"/>
                </a:lnSpc>
              </a:pPr>
              <a:r>
                <a:rPr lang="vi-VN" sz="2200" b="1" dirty="0">
                  <a:solidFill>
                    <a:schemeClr val="tx2">
                      <a:lumMod val="50000"/>
                    </a:schemeClr>
                  </a:solidFill>
                  <a:latin typeface="Muli Ultra-Bold" panose="020B0604020202020204" charset="-93"/>
                </a:rPr>
                <a:t>Fine-tuning</a:t>
              </a:r>
              <a:endParaRPr lang="en-US" sz="2200" b="1" dirty="0">
                <a:solidFill>
                  <a:schemeClr val="tx2">
                    <a:lumMod val="50000"/>
                  </a:schemeClr>
                </a:solidFill>
                <a:latin typeface="Muli Ultra-Bold" panose="020B0604020202020204" charset="-93"/>
                <a:ea typeface="Muli Ultra-Bold"/>
                <a:cs typeface="Muli Ultra-Bold"/>
                <a:sym typeface="Muli Ultra-Bold"/>
              </a:endParaRPr>
            </a:p>
          </p:txBody>
        </p:sp>
        <p:sp>
          <p:nvSpPr>
            <p:cNvPr id="18" name="TextBox 18">
              <a:extLst>
                <a:ext uri="{FF2B5EF4-FFF2-40B4-BE49-F238E27FC236}">
                  <a16:creationId xmlns:a16="http://schemas.microsoft.com/office/drawing/2014/main" id="{A5CEA1E5-D583-5619-F93C-D87EF526092B}"/>
                </a:ext>
              </a:extLst>
            </p:cNvPr>
            <p:cNvSpPr txBox="1"/>
            <p:nvPr/>
          </p:nvSpPr>
          <p:spPr>
            <a:xfrm>
              <a:off x="0" y="1278660"/>
              <a:ext cx="5747885" cy="2599514"/>
            </a:xfrm>
            <a:prstGeom prst="rect">
              <a:avLst/>
            </a:prstGeom>
          </p:spPr>
          <p:txBody>
            <a:bodyPr lIns="0" tIns="0" rIns="0" bIns="0" rtlCol="0" anchor="t">
              <a:spAutoFit/>
            </a:bodyPr>
            <a:lstStyle/>
            <a:p>
              <a:pPr>
                <a:lnSpc>
                  <a:spcPts val="3079"/>
                </a:lnSpc>
              </a:pPr>
              <a:r>
                <a:rPr lang="vi-VN" sz="2000" dirty="0">
                  <a:solidFill>
                    <a:schemeClr val="tx2">
                      <a:lumMod val="50000"/>
                    </a:schemeClr>
                  </a:solidFill>
                  <a:latin typeface="Muli" panose="020B0604020202020204" charset="-93"/>
                </a:rPr>
                <a:t>Huấn luyện lại mô hình trên dữ liệu tùy chỉnh, thay đổi trọng số để tạo phiên bản chuyên biệt. Kết quả được lưu thành mô hình mới có thể sử dụng như mô hình gốc.</a:t>
              </a:r>
              <a:endParaRPr lang="en-US" sz="2000" dirty="0">
                <a:solidFill>
                  <a:schemeClr val="tx2">
                    <a:lumMod val="50000"/>
                  </a:schemeClr>
                </a:solidFill>
                <a:latin typeface="Muli" panose="020B0604020202020204" charset="-93"/>
                <a:ea typeface="Muli"/>
                <a:cs typeface="Muli"/>
                <a:sym typeface="Muli"/>
              </a:endParaRPr>
            </a:p>
          </p:txBody>
        </p:sp>
      </p:grpSp>
      <p:sp>
        <p:nvSpPr>
          <p:cNvPr id="8" name="TextBox 9">
            <a:extLst>
              <a:ext uri="{FF2B5EF4-FFF2-40B4-BE49-F238E27FC236}">
                <a16:creationId xmlns:a16="http://schemas.microsoft.com/office/drawing/2014/main" id="{DDE77AAB-79C7-FBEC-7C9C-8E80EEE0C0CA}"/>
              </a:ext>
            </a:extLst>
          </p:cNvPr>
          <p:cNvSpPr txBox="1"/>
          <p:nvPr/>
        </p:nvSpPr>
        <p:spPr>
          <a:xfrm>
            <a:off x="533400" y="756506"/>
            <a:ext cx="15065547" cy="846386"/>
          </a:xfrm>
          <a:prstGeom prst="rect">
            <a:avLst/>
          </a:prstGeom>
        </p:spPr>
        <p:txBody>
          <a:bodyPr wrap="square" lIns="0" tIns="0" rIns="0" bIns="0" rtlCol="0" anchor="t">
            <a:spAutoFit/>
          </a:bodyPr>
          <a:lstStyle/>
          <a:p>
            <a:pPr>
              <a:lnSpc>
                <a:spcPts val="6600"/>
              </a:lnSpc>
            </a:pPr>
            <a:r>
              <a:rPr lang="en-US" sz="5500" b="1" dirty="0">
                <a:solidFill>
                  <a:srgbClr val="41505F"/>
                </a:solidFill>
                <a:latin typeface="Muli Ultra-Bold" panose="020B0604020202020204" charset="-93"/>
              </a:rPr>
              <a:t>Chuyên </a:t>
            </a:r>
            <a:r>
              <a:rPr lang="en-US" sz="5500" b="1" dirty="0" err="1">
                <a:solidFill>
                  <a:srgbClr val="41505F"/>
                </a:solidFill>
                <a:latin typeface="Muli Ultra-Bold" panose="020B0604020202020204" charset="-93"/>
              </a:rPr>
              <a:t>biệt</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hóa</a:t>
            </a:r>
            <a:r>
              <a:rPr lang="en-US" sz="5500" b="1" dirty="0">
                <a:solidFill>
                  <a:srgbClr val="41505F"/>
                </a:solidFill>
                <a:latin typeface="Muli Ultra-Bold" panose="020B0604020202020204" charset="-93"/>
              </a:rPr>
              <a:t> LLM</a:t>
            </a:r>
            <a:endParaRPr lang="en-US" sz="5500" b="1" dirty="0">
              <a:solidFill>
                <a:srgbClr val="41505F"/>
              </a:solidFill>
              <a:latin typeface="Muli Ultra-Bold" panose="020B0604020202020204" charset="-93"/>
              <a:sym typeface="Muli Ultra-Bold"/>
            </a:endParaRPr>
          </a:p>
        </p:txBody>
      </p:sp>
    </p:spTree>
    <p:extLst>
      <p:ext uri="{BB962C8B-B14F-4D97-AF65-F5344CB8AC3E}">
        <p14:creationId xmlns:p14="http://schemas.microsoft.com/office/powerpoint/2010/main" val="269765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7BE75D90-B48F-C5F2-0BC4-A8CA5DFF382D}"/>
            </a:ext>
          </a:extLst>
        </p:cNvPr>
        <p:cNvGrpSpPr/>
        <p:nvPr/>
      </p:nvGrpSpPr>
      <p:grpSpPr>
        <a:xfrm>
          <a:off x="0" y="0"/>
          <a:ext cx="0" cy="0"/>
          <a:chOff x="0" y="0"/>
          <a:chExt cx="0" cy="0"/>
        </a:xfrm>
      </p:grpSpPr>
      <p:sp>
        <p:nvSpPr>
          <p:cNvPr id="8" name="TextBox 9">
            <a:extLst>
              <a:ext uri="{FF2B5EF4-FFF2-40B4-BE49-F238E27FC236}">
                <a16:creationId xmlns:a16="http://schemas.microsoft.com/office/drawing/2014/main" id="{3CFF2AC4-8923-638E-8683-1944BBC6C733}"/>
              </a:ext>
            </a:extLst>
          </p:cNvPr>
          <p:cNvSpPr txBox="1"/>
          <p:nvPr/>
        </p:nvSpPr>
        <p:spPr>
          <a:xfrm>
            <a:off x="533400" y="756506"/>
            <a:ext cx="15065547" cy="846386"/>
          </a:xfrm>
          <a:prstGeom prst="rect">
            <a:avLst/>
          </a:prstGeom>
        </p:spPr>
        <p:txBody>
          <a:bodyPr wrap="square" lIns="0" tIns="0" rIns="0" bIns="0" rtlCol="0" anchor="t">
            <a:spAutoFit/>
          </a:bodyPr>
          <a:lstStyle/>
          <a:p>
            <a:pPr>
              <a:lnSpc>
                <a:spcPts val="6600"/>
              </a:lnSpc>
            </a:pPr>
            <a:r>
              <a:rPr lang="en-US" sz="5500" b="1" dirty="0">
                <a:solidFill>
                  <a:srgbClr val="41505F"/>
                </a:solidFill>
                <a:latin typeface="Muli Ultra-Bold" panose="020B0604020202020204" charset="-93"/>
              </a:rPr>
              <a:t>Quy </a:t>
            </a:r>
            <a:r>
              <a:rPr lang="en-US" sz="5500" b="1" dirty="0" err="1">
                <a:solidFill>
                  <a:srgbClr val="41505F"/>
                </a:solidFill>
                <a:latin typeface="Muli Ultra-Bold" panose="020B0604020202020204" charset="-93"/>
              </a:rPr>
              <a:t>trình</a:t>
            </a:r>
            <a:r>
              <a:rPr lang="en-US" sz="5500" b="1" dirty="0">
                <a:solidFill>
                  <a:srgbClr val="41505F"/>
                </a:solidFill>
                <a:latin typeface="Muli Ultra-Bold" panose="020B0604020202020204" charset="-93"/>
              </a:rPr>
              <a:t> Fine-tuning </a:t>
            </a:r>
            <a:r>
              <a:rPr lang="en-US" sz="5500" b="1" dirty="0" err="1">
                <a:solidFill>
                  <a:srgbClr val="41505F"/>
                </a:solidFill>
                <a:latin typeface="Muli Ultra-Bold" panose="020B0604020202020204" charset="-93"/>
              </a:rPr>
              <a:t>với</a:t>
            </a:r>
            <a:r>
              <a:rPr lang="en-US" sz="5500" b="1" dirty="0">
                <a:solidFill>
                  <a:srgbClr val="41505F"/>
                </a:solidFill>
                <a:latin typeface="Muli Ultra-Bold" panose="020B0604020202020204" charset="-93"/>
              </a:rPr>
              <a:t> OpenAI</a:t>
            </a:r>
            <a:endParaRPr lang="en-US" sz="5500" b="1" dirty="0">
              <a:solidFill>
                <a:srgbClr val="41505F"/>
              </a:solidFill>
              <a:latin typeface="Muli Ultra-Bold" panose="020B0604020202020204" charset="-93"/>
              <a:sym typeface="Muli Ultra-Bold"/>
            </a:endParaRPr>
          </a:p>
        </p:txBody>
      </p:sp>
      <p:pic>
        <p:nvPicPr>
          <p:cNvPr id="19" name="Picture 18">
            <a:extLst>
              <a:ext uri="{FF2B5EF4-FFF2-40B4-BE49-F238E27FC236}">
                <a16:creationId xmlns:a16="http://schemas.microsoft.com/office/drawing/2014/main" id="{1BABA54A-4E74-E661-65C6-45F3B100B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770" y="3390900"/>
            <a:ext cx="17018460" cy="3505200"/>
          </a:xfrm>
          <a:prstGeom prst="rect">
            <a:avLst/>
          </a:prstGeom>
        </p:spPr>
      </p:pic>
    </p:spTree>
    <p:extLst>
      <p:ext uri="{BB962C8B-B14F-4D97-AF65-F5344CB8AC3E}">
        <p14:creationId xmlns:p14="http://schemas.microsoft.com/office/powerpoint/2010/main" val="1279614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B88A2990-424D-1C76-68C2-500A926573D6}"/>
            </a:ext>
          </a:extLst>
        </p:cNvPr>
        <p:cNvGrpSpPr/>
        <p:nvPr/>
      </p:nvGrpSpPr>
      <p:grpSpPr>
        <a:xfrm>
          <a:off x="0" y="0"/>
          <a:ext cx="0" cy="0"/>
          <a:chOff x="0" y="0"/>
          <a:chExt cx="0" cy="0"/>
        </a:xfrm>
      </p:grpSpPr>
      <p:sp>
        <p:nvSpPr>
          <p:cNvPr id="8" name="TextBox 9">
            <a:extLst>
              <a:ext uri="{FF2B5EF4-FFF2-40B4-BE49-F238E27FC236}">
                <a16:creationId xmlns:a16="http://schemas.microsoft.com/office/drawing/2014/main" id="{740EF98E-0B59-0BE3-89D5-A227F80ABB7C}"/>
              </a:ext>
            </a:extLst>
          </p:cNvPr>
          <p:cNvSpPr txBox="1"/>
          <p:nvPr/>
        </p:nvSpPr>
        <p:spPr>
          <a:xfrm>
            <a:off x="533400" y="756506"/>
            <a:ext cx="15065547" cy="846386"/>
          </a:xfrm>
          <a:prstGeom prst="rect">
            <a:avLst/>
          </a:prstGeom>
        </p:spPr>
        <p:txBody>
          <a:bodyPr wrap="square" lIns="0" tIns="0" rIns="0" bIns="0" rtlCol="0" anchor="t">
            <a:spAutoFit/>
          </a:bodyPr>
          <a:lstStyle/>
          <a:p>
            <a:pPr>
              <a:lnSpc>
                <a:spcPts val="6600"/>
              </a:lnSpc>
            </a:pPr>
            <a:r>
              <a:rPr lang="en-US" sz="5500" b="1" dirty="0" err="1">
                <a:solidFill>
                  <a:srgbClr val="41505F"/>
                </a:solidFill>
                <a:latin typeface="Muli Ultra-Bold" panose="020B0604020202020204" charset="-93"/>
              </a:rPr>
              <a:t>Cấu</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trúc</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dữ</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liệu</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huấn</a:t>
            </a:r>
            <a:r>
              <a:rPr lang="en-US" sz="5500" b="1" dirty="0">
                <a:solidFill>
                  <a:srgbClr val="41505F"/>
                </a:solidFill>
                <a:latin typeface="Muli Ultra-Bold" panose="020B0604020202020204" charset="-93"/>
              </a:rPr>
              <a:t> </a:t>
            </a:r>
            <a:r>
              <a:rPr lang="en-US" sz="5500" b="1" dirty="0" err="1">
                <a:solidFill>
                  <a:srgbClr val="41505F"/>
                </a:solidFill>
                <a:latin typeface="Muli Ultra-Bold" panose="020B0604020202020204" charset="-93"/>
              </a:rPr>
              <a:t>luyện</a:t>
            </a:r>
            <a:r>
              <a:rPr lang="en-US" sz="5500" b="1" dirty="0">
                <a:solidFill>
                  <a:srgbClr val="41505F"/>
                </a:solidFill>
                <a:latin typeface="Muli Ultra-Bold" panose="020B0604020202020204" charset="-93"/>
              </a:rPr>
              <a:t> JSONL</a:t>
            </a:r>
            <a:endParaRPr lang="en-US" sz="5500" b="1" dirty="0">
              <a:solidFill>
                <a:srgbClr val="41505F"/>
              </a:solidFill>
              <a:latin typeface="Muli Ultra-Bold" panose="020B0604020202020204" charset="-93"/>
              <a:sym typeface="Muli Ultra-Bold"/>
            </a:endParaRPr>
          </a:p>
        </p:txBody>
      </p:sp>
      <p:pic>
        <p:nvPicPr>
          <p:cNvPr id="3" name="Picture 2">
            <a:extLst>
              <a:ext uri="{FF2B5EF4-FFF2-40B4-BE49-F238E27FC236}">
                <a16:creationId xmlns:a16="http://schemas.microsoft.com/office/drawing/2014/main" id="{A1855ADF-1AA3-9ED0-2569-8ABAFFE9D6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943100"/>
            <a:ext cx="13716000" cy="7793182"/>
          </a:xfrm>
          <a:prstGeom prst="rect">
            <a:avLst/>
          </a:prstGeom>
        </p:spPr>
      </p:pic>
    </p:spTree>
    <p:extLst>
      <p:ext uri="{BB962C8B-B14F-4D97-AF65-F5344CB8AC3E}">
        <p14:creationId xmlns:p14="http://schemas.microsoft.com/office/powerpoint/2010/main" val="3134039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a:extLst>
            <a:ext uri="{FF2B5EF4-FFF2-40B4-BE49-F238E27FC236}">
              <a16:creationId xmlns:a16="http://schemas.microsoft.com/office/drawing/2014/main" id="{9F9EB1C9-87DE-EEB3-6981-4C885E2161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501638-C72E-AE18-970A-DD27200BC7AC}"/>
              </a:ext>
            </a:extLst>
          </p:cNvPr>
          <p:cNvGrpSpPr/>
          <p:nvPr/>
        </p:nvGrpSpPr>
        <p:grpSpPr>
          <a:xfrm>
            <a:off x="284300" y="1409700"/>
            <a:ext cx="6202620" cy="7910643"/>
            <a:chOff x="-39329" y="9525"/>
            <a:chExt cx="8270159" cy="10547527"/>
          </a:xfrm>
        </p:grpSpPr>
        <p:sp>
          <p:nvSpPr>
            <p:cNvPr id="3" name="TextBox 3">
              <a:extLst>
                <a:ext uri="{FF2B5EF4-FFF2-40B4-BE49-F238E27FC236}">
                  <a16:creationId xmlns:a16="http://schemas.microsoft.com/office/drawing/2014/main" id="{B26CEFE7-18D7-61F7-2CF3-9A438E06BFCD}"/>
                </a:ext>
              </a:extLst>
            </p:cNvPr>
            <p:cNvSpPr txBox="1"/>
            <p:nvPr/>
          </p:nvSpPr>
          <p:spPr>
            <a:xfrm>
              <a:off x="0" y="9525"/>
              <a:ext cx="8230830" cy="3180357"/>
            </a:xfrm>
            <a:prstGeom prst="rect">
              <a:avLst/>
            </a:prstGeom>
          </p:spPr>
          <p:txBody>
            <a:bodyPr lIns="0" tIns="0" rIns="0" bIns="0" rtlCol="0" anchor="t">
              <a:spAutoFit/>
            </a:bodyPr>
            <a:lstStyle/>
            <a:p>
              <a:pPr>
                <a:lnSpc>
                  <a:spcPts val="6240"/>
                </a:lnSpc>
              </a:pPr>
              <a:r>
                <a:rPr lang="en-US" sz="5200" b="1" dirty="0">
                  <a:solidFill>
                    <a:srgbClr val="0E2C4B"/>
                  </a:solidFill>
                  <a:latin typeface="Muli Ultra-Bold"/>
                </a:rPr>
                <a:t>Các </a:t>
              </a:r>
              <a:r>
                <a:rPr lang="en-US" sz="5200" b="1" dirty="0" err="1">
                  <a:solidFill>
                    <a:srgbClr val="0E2C4B"/>
                  </a:solidFill>
                  <a:latin typeface="Muli Ultra-Bold"/>
                </a:rPr>
                <a:t>loại</a:t>
              </a:r>
              <a:r>
                <a:rPr lang="en-US" sz="5200" b="1" dirty="0">
                  <a:solidFill>
                    <a:srgbClr val="0E2C4B"/>
                  </a:solidFill>
                  <a:latin typeface="Muli Ultra-Bold"/>
                </a:rPr>
                <a:t> training examples </a:t>
              </a:r>
              <a:r>
                <a:rPr lang="en-US" sz="5200" b="1" dirty="0" err="1">
                  <a:solidFill>
                    <a:srgbClr val="0E2C4B"/>
                  </a:solidFill>
                  <a:latin typeface="Muli Ultra-Bold"/>
                </a:rPr>
                <a:t>trong</a:t>
              </a:r>
              <a:r>
                <a:rPr lang="en-US" sz="5200" b="1" dirty="0">
                  <a:solidFill>
                    <a:srgbClr val="0E2C4B"/>
                  </a:solidFill>
                  <a:latin typeface="Muli Ultra-Bold"/>
                </a:rPr>
                <a:t> </a:t>
              </a:r>
              <a:r>
                <a:rPr lang="en-US" sz="5200" b="1" dirty="0" err="1">
                  <a:solidFill>
                    <a:srgbClr val="0E2C4B"/>
                  </a:solidFill>
                  <a:latin typeface="Muli Ultra-Bold"/>
                </a:rPr>
                <a:t>dữ</a:t>
              </a:r>
              <a:r>
                <a:rPr lang="en-US" sz="5200" b="1" dirty="0">
                  <a:solidFill>
                    <a:srgbClr val="0E2C4B"/>
                  </a:solidFill>
                  <a:latin typeface="Muli Ultra-Bold"/>
                </a:rPr>
                <a:t> </a:t>
              </a:r>
              <a:r>
                <a:rPr lang="en-US" sz="5200" b="1" dirty="0" err="1">
                  <a:solidFill>
                    <a:srgbClr val="0E2C4B"/>
                  </a:solidFill>
                  <a:latin typeface="Muli Ultra-Bold"/>
                </a:rPr>
                <a:t>liệu</a:t>
              </a:r>
              <a:endParaRPr lang="en-US" sz="5200" b="1" dirty="0">
                <a:solidFill>
                  <a:srgbClr val="0E2C4B"/>
                </a:solidFill>
                <a:latin typeface="Muli Ultra-Bold"/>
                <a:sym typeface="Muli Ultra-Bold"/>
              </a:endParaRPr>
            </a:p>
          </p:txBody>
        </p:sp>
        <p:sp>
          <p:nvSpPr>
            <p:cNvPr id="5" name="Freeform 5">
              <a:extLst>
                <a:ext uri="{FF2B5EF4-FFF2-40B4-BE49-F238E27FC236}">
                  <a16:creationId xmlns:a16="http://schemas.microsoft.com/office/drawing/2014/main" id="{20FADC83-134C-E039-6AED-6E28273B6DA5}"/>
                </a:ext>
              </a:extLst>
            </p:cNvPr>
            <p:cNvSpPr/>
            <p:nvPr/>
          </p:nvSpPr>
          <p:spPr>
            <a:xfrm>
              <a:off x="-39329" y="9456385"/>
              <a:ext cx="6702581" cy="1100667"/>
            </a:xfrm>
            <a:custGeom>
              <a:avLst/>
              <a:gdLst/>
              <a:ahLst/>
              <a:cxnLst/>
              <a:rect l="l" t="t" r="r" b="b"/>
              <a:pathLst>
                <a:path w="4021548" h="660400">
                  <a:moveTo>
                    <a:pt x="3897087" y="660400"/>
                  </a:moveTo>
                  <a:lnTo>
                    <a:pt x="124460" y="660400"/>
                  </a:lnTo>
                  <a:cubicBezTo>
                    <a:pt x="55880" y="660400"/>
                    <a:pt x="0" y="604520"/>
                    <a:pt x="0" y="535940"/>
                  </a:cubicBezTo>
                  <a:lnTo>
                    <a:pt x="0" y="124460"/>
                  </a:lnTo>
                  <a:cubicBezTo>
                    <a:pt x="0" y="55880"/>
                    <a:pt x="55880" y="0"/>
                    <a:pt x="124460" y="0"/>
                  </a:cubicBezTo>
                  <a:lnTo>
                    <a:pt x="3897088" y="0"/>
                  </a:lnTo>
                  <a:cubicBezTo>
                    <a:pt x="3965668" y="0"/>
                    <a:pt x="4021548" y="55880"/>
                    <a:pt x="4021548" y="124460"/>
                  </a:cubicBezTo>
                  <a:lnTo>
                    <a:pt x="4021548" y="535940"/>
                  </a:lnTo>
                  <a:cubicBezTo>
                    <a:pt x="4021548" y="604520"/>
                    <a:pt x="3965668" y="660400"/>
                    <a:pt x="3897088" y="660400"/>
                  </a:cubicBezTo>
                  <a:close/>
                </a:path>
              </a:pathLst>
            </a:custGeom>
            <a:solidFill>
              <a:srgbClr val="F36825"/>
            </a:solidFill>
          </p:spPr>
          <p:txBody>
            <a:bodyPr/>
            <a:lstStyle/>
            <a:p>
              <a:endParaRPr lang="en-US"/>
            </a:p>
          </p:txBody>
        </p:sp>
      </p:grpSp>
      <p:grpSp>
        <p:nvGrpSpPr>
          <p:cNvPr id="7" name="Group 7">
            <a:extLst>
              <a:ext uri="{FF2B5EF4-FFF2-40B4-BE49-F238E27FC236}">
                <a16:creationId xmlns:a16="http://schemas.microsoft.com/office/drawing/2014/main" id="{F2A57C7B-E087-AAC1-1C83-44D6E43F59C3}"/>
              </a:ext>
            </a:extLst>
          </p:cNvPr>
          <p:cNvGrpSpPr/>
          <p:nvPr/>
        </p:nvGrpSpPr>
        <p:grpSpPr>
          <a:xfrm>
            <a:off x="6906898" y="236488"/>
            <a:ext cx="11067305" cy="9814023"/>
            <a:chOff x="0" y="0"/>
            <a:chExt cx="8853844" cy="7851218"/>
          </a:xfrm>
        </p:grpSpPr>
        <p:sp>
          <p:nvSpPr>
            <p:cNvPr id="8" name="Freeform 8">
              <a:extLst>
                <a:ext uri="{FF2B5EF4-FFF2-40B4-BE49-F238E27FC236}">
                  <a16:creationId xmlns:a16="http://schemas.microsoft.com/office/drawing/2014/main" id="{A536A6A9-8ACD-BCE4-1494-9EE1BDABDAE0}"/>
                </a:ext>
              </a:extLst>
            </p:cNvPr>
            <p:cNvSpPr/>
            <p:nvPr/>
          </p:nvSpPr>
          <p:spPr>
            <a:xfrm>
              <a:off x="0" y="0"/>
              <a:ext cx="8853844" cy="7851218"/>
            </a:xfrm>
            <a:custGeom>
              <a:avLst/>
              <a:gdLst/>
              <a:ahLst/>
              <a:cxnLst/>
              <a:rect l="l" t="t" r="r" b="b"/>
              <a:pathLst>
                <a:path w="8853844" h="7851218">
                  <a:moveTo>
                    <a:pt x="8729383" y="7851218"/>
                  </a:moveTo>
                  <a:lnTo>
                    <a:pt x="124460" y="7851218"/>
                  </a:lnTo>
                  <a:cubicBezTo>
                    <a:pt x="55880" y="7851218"/>
                    <a:pt x="0" y="7795338"/>
                    <a:pt x="0" y="7726759"/>
                  </a:cubicBezTo>
                  <a:lnTo>
                    <a:pt x="0" y="124460"/>
                  </a:lnTo>
                  <a:cubicBezTo>
                    <a:pt x="0" y="55880"/>
                    <a:pt x="55880" y="0"/>
                    <a:pt x="124460" y="0"/>
                  </a:cubicBezTo>
                  <a:lnTo>
                    <a:pt x="8729384" y="0"/>
                  </a:lnTo>
                  <a:cubicBezTo>
                    <a:pt x="8797964" y="0"/>
                    <a:pt x="8853844" y="55880"/>
                    <a:pt x="8853844" y="124460"/>
                  </a:cubicBezTo>
                  <a:lnTo>
                    <a:pt x="8853844" y="7726759"/>
                  </a:lnTo>
                  <a:cubicBezTo>
                    <a:pt x="8853844" y="7795338"/>
                    <a:pt x="8797964" y="7851218"/>
                    <a:pt x="8729384" y="7851218"/>
                  </a:cubicBezTo>
                  <a:close/>
                </a:path>
              </a:pathLst>
            </a:custGeom>
            <a:solidFill>
              <a:srgbClr val="FFFFFF"/>
            </a:solidFill>
          </p:spPr>
          <p:txBody>
            <a:bodyPr/>
            <a:lstStyle/>
            <a:p>
              <a:endParaRPr lang="en-US"/>
            </a:p>
          </p:txBody>
        </p:sp>
      </p:grpSp>
      <p:graphicFrame>
        <p:nvGraphicFramePr>
          <p:cNvPr id="14" name="Table 13">
            <a:extLst>
              <a:ext uri="{FF2B5EF4-FFF2-40B4-BE49-F238E27FC236}">
                <a16:creationId xmlns:a16="http://schemas.microsoft.com/office/drawing/2014/main" id="{65C72B19-3515-F371-0CFD-C39159CED043}"/>
              </a:ext>
            </a:extLst>
          </p:cNvPr>
          <p:cNvGraphicFramePr>
            <a:graphicFrameLocks noGrp="1"/>
          </p:cNvGraphicFramePr>
          <p:nvPr>
            <p:extLst>
              <p:ext uri="{D42A27DB-BD31-4B8C-83A1-F6EECF244321}">
                <p14:modId xmlns:p14="http://schemas.microsoft.com/office/powerpoint/2010/main" val="2941497183"/>
              </p:ext>
            </p:extLst>
          </p:nvPr>
        </p:nvGraphicFramePr>
        <p:xfrm>
          <a:off x="7162799" y="1079500"/>
          <a:ext cx="10320976" cy="7807960"/>
        </p:xfrm>
        <a:graphic>
          <a:graphicData uri="http://schemas.openxmlformats.org/drawingml/2006/table">
            <a:tbl>
              <a:tblPr firstRow="1" bandRow="1">
                <a:tableStyleId>{5C22544A-7EE6-4342-B048-85BDC9FD1C3A}</a:tableStyleId>
              </a:tblPr>
              <a:tblGrid>
                <a:gridCol w="2580244">
                  <a:extLst>
                    <a:ext uri="{9D8B030D-6E8A-4147-A177-3AD203B41FA5}">
                      <a16:colId xmlns:a16="http://schemas.microsoft.com/office/drawing/2014/main" val="2943084686"/>
                    </a:ext>
                  </a:extLst>
                </a:gridCol>
                <a:gridCol w="2580244">
                  <a:extLst>
                    <a:ext uri="{9D8B030D-6E8A-4147-A177-3AD203B41FA5}">
                      <a16:colId xmlns:a16="http://schemas.microsoft.com/office/drawing/2014/main" val="2741876027"/>
                    </a:ext>
                  </a:extLst>
                </a:gridCol>
                <a:gridCol w="2580244">
                  <a:extLst>
                    <a:ext uri="{9D8B030D-6E8A-4147-A177-3AD203B41FA5}">
                      <a16:colId xmlns:a16="http://schemas.microsoft.com/office/drawing/2014/main" val="2374529636"/>
                    </a:ext>
                  </a:extLst>
                </a:gridCol>
                <a:gridCol w="2580244">
                  <a:extLst>
                    <a:ext uri="{9D8B030D-6E8A-4147-A177-3AD203B41FA5}">
                      <a16:colId xmlns:a16="http://schemas.microsoft.com/office/drawing/2014/main" val="2345878603"/>
                    </a:ext>
                  </a:extLst>
                </a:gridCol>
              </a:tblGrid>
              <a:tr h="1361440">
                <a:tc>
                  <a:txBody>
                    <a:bodyPr/>
                    <a:lstStyle/>
                    <a:p>
                      <a:pPr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Nhóm</a:t>
                      </a:r>
                      <a:endParaRPr lang="en-US" sz="3100">
                        <a:effectLst/>
                      </a:endParaRPr>
                    </a:p>
                  </a:txBody>
                  <a:tcPr marL="76200" marR="76200" marT="50800" marB="50800"/>
                </a:tc>
                <a:tc>
                  <a:txBody>
                    <a:bodyPr/>
                    <a:lstStyle/>
                    <a:p>
                      <a:pPr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Ví dụ</a:t>
                      </a:r>
                      <a:endParaRPr lang="en-US" sz="3100">
                        <a:effectLst/>
                      </a:endParaRPr>
                    </a:p>
                  </a:txBody>
                  <a:tcPr marL="76200" marR="76200" marT="50800" marB="50800"/>
                </a:tc>
                <a:tc>
                  <a:txBody>
                    <a:bodyPr/>
                    <a:lstStyle/>
                    <a:p>
                      <a:pPr rtl="0" fontAlgn="t">
                        <a:spcBef>
                          <a:spcPts val="1200"/>
                        </a:spcBef>
                        <a:spcAft>
                          <a:spcPts val="1200"/>
                        </a:spcAft>
                        <a:buNone/>
                      </a:pPr>
                      <a:r>
                        <a:rPr lang="en-US" sz="3100" b="1" i="0" u="none" strike="noStrike">
                          <a:solidFill>
                            <a:srgbClr val="FFFFFF"/>
                          </a:solidFill>
                          <a:effectLst/>
                          <a:latin typeface="Times New Roman" panose="02020603050405020304" pitchFamily="18" charset="0"/>
                        </a:rPr>
                        <a:t>Đặc điểm</a:t>
                      </a:r>
                      <a:endParaRPr lang="en-US" sz="3100">
                        <a:effectLst/>
                      </a:endParaRPr>
                    </a:p>
                  </a:txBody>
                  <a:tcPr marL="76200" marR="76200" marT="50800" marB="50800"/>
                </a:tc>
                <a:tc>
                  <a:txBody>
                    <a:bodyPr/>
                    <a:lstStyle/>
                    <a:p>
                      <a:pPr rtl="0" fontAlgn="t">
                        <a:spcBef>
                          <a:spcPts val="1200"/>
                        </a:spcBef>
                        <a:spcAft>
                          <a:spcPts val="1200"/>
                        </a:spcAft>
                        <a:buNone/>
                      </a:pPr>
                      <a:r>
                        <a:rPr lang="vi-VN" sz="3100" b="1" i="0" u="none" strike="noStrike">
                          <a:solidFill>
                            <a:srgbClr val="FFFFFF"/>
                          </a:solidFill>
                          <a:effectLst/>
                          <a:latin typeface="Times New Roman" panose="02020603050405020304" pitchFamily="18" charset="0"/>
                        </a:rPr>
                        <a:t>Số lượng</a:t>
                      </a:r>
                      <a:endParaRPr lang="vi-VN" sz="3100">
                        <a:effectLst/>
                      </a:endParaRPr>
                    </a:p>
                  </a:txBody>
                  <a:tcPr marL="76200" marR="76200" marT="50800" marB="50800"/>
                </a:tc>
                <a:extLst>
                  <a:ext uri="{0D108BD9-81ED-4DB2-BD59-A6C34878D82A}">
                    <a16:rowId xmlns:a16="http://schemas.microsoft.com/office/drawing/2014/main" val="2976346037"/>
                  </a:ext>
                </a:extLst>
              </a:tr>
              <a:tr h="1361440">
                <a:tc>
                  <a:txBody>
                    <a:bodyPr/>
                    <a:lstStyle/>
                    <a:p>
                      <a:pPr rtl="0" fontAlgn="t">
                        <a:spcBef>
                          <a:spcPts val="1200"/>
                        </a:spcBef>
                        <a:spcAft>
                          <a:spcPts val="1200"/>
                        </a:spcAft>
                        <a:buNone/>
                      </a:pPr>
                      <a:r>
                        <a:rPr lang="vi-VN" sz="3100" b="1" i="0" u="none" strike="noStrike">
                          <a:solidFill>
                            <a:srgbClr val="000000"/>
                          </a:solidFill>
                          <a:effectLst/>
                          <a:latin typeface="Times New Roman" panose="02020603050405020304" pitchFamily="18" charset="0"/>
                        </a:rPr>
                        <a:t>Hàm đơn giản</a:t>
                      </a:r>
                      <a:endParaRPr lang="vi-VN"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get_arithmetic_mean, reverse_string, is_even</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Trả về code trực tiếp, weight=1</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5 examples</a:t>
                      </a:r>
                      <a:endParaRPr lang="en-US" sz="3100">
                        <a:effectLst/>
                      </a:endParaRPr>
                    </a:p>
                  </a:txBody>
                  <a:tcPr marL="76200" marR="76200" marT="50800" marB="50800"/>
                </a:tc>
                <a:extLst>
                  <a:ext uri="{0D108BD9-81ED-4DB2-BD59-A6C34878D82A}">
                    <a16:rowId xmlns:a16="http://schemas.microsoft.com/office/drawing/2014/main" val="1912241397"/>
                  </a:ext>
                </a:extLst>
              </a:tr>
              <a:tr h="1361440">
                <a:tc>
                  <a:txBody>
                    <a:bodyPr/>
                    <a:lstStyle/>
                    <a:p>
                      <a:pPr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Hàm có correction</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is_palindrome, sum_of_squares, flatten_list</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Phản hồi dài (weight=0) rồi chỉ code (weight=1)</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5 examples</a:t>
                      </a:r>
                      <a:endParaRPr lang="en-US" sz="3100">
                        <a:effectLst/>
                      </a:endParaRPr>
                    </a:p>
                  </a:txBody>
                  <a:tcPr marL="76200" marR="76200" marT="50800" marB="50800"/>
                </a:tc>
                <a:extLst>
                  <a:ext uri="{0D108BD9-81ED-4DB2-BD59-A6C34878D82A}">
                    <a16:rowId xmlns:a16="http://schemas.microsoft.com/office/drawing/2014/main" val="3720744544"/>
                  </a:ext>
                </a:extLst>
              </a:tr>
              <a:tr h="1361440">
                <a:tc>
                  <a:txBody>
                    <a:bodyPr/>
                    <a:lstStyle/>
                    <a:p>
                      <a:pPr rtl="0" fontAlgn="t">
                        <a:spcBef>
                          <a:spcPts val="1200"/>
                        </a:spcBef>
                        <a:spcAft>
                          <a:spcPts val="1200"/>
                        </a:spcAft>
                        <a:buNone/>
                      </a:pPr>
                      <a:r>
                        <a:rPr lang="en-US" sz="3100" b="1" i="0" u="none" strike="noStrike">
                          <a:solidFill>
                            <a:srgbClr val="000000"/>
                          </a:solidFill>
                          <a:effectLst/>
                          <a:latin typeface="Times New Roman" panose="02020603050405020304" pitchFamily="18" charset="0"/>
                        </a:rPr>
                        <a:t>Hàm phức tạp (clean code)</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dirty="0" err="1">
                          <a:solidFill>
                            <a:srgbClr val="000000"/>
                          </a:solidFill>
                          <a:effectLst/>
                          <a:latin typeface="Times New Roman" panose="02020603050405020304" pitchFamily="18" charset="0"/>
                        </a:rPr>
                        <a:t>get_highest_even</a:t>
                      </a:r>
                      <a:r>
                        <a:rPr lang="en-US" sz="3100" b="0" i="0" u="none" strike="noStrike" dirty="0">
                          <a:solidFill>
                            <a:srgbClr val="000000"/>
                          </a:solidFill>
                          <a:effectLst/>
                          <a:latin typeface="Times New Roman" panose="02020603050405020304" pitchFamily="18" charset="0"/>
                        </a:rPr>
                        <a:t>, </a:t>
                      </a:r>
                      <a:r>
                        <a:rPr lang="en-US" sz="3100" b="0" i="0" u="none" strike="noStrike" dirty="0" err="1">
                          <a:solidFill>
                            <a:srgbClr val="000000"/>
                          </a:solidFill>
                          <a:effectLst/>
                          <a:latin typeface="Times New Roman" panose="02020603050405020304" pitchFamily="18" charset="0"/>
                        </a:rPr>
                        <a:t>get_sum_of_absolute_differences</a:t>
                      </a:r>
                      <a:endParaRPr lang="en-US" sz="3100" dirty="0">
                        <a:effectLst/>
                      </a:endParaRPr>
                    </a:p>
                  </a:txBody>
                  <a:tcPr marL="76200" marR="76200" marT="50800" marB="50800"/>
                </a:tc>
                <a:tc>
                  <a:txBody>
                    <a:bodyPr/>
                    <a:lstStyle/>
                    <a:p>
                      <a:pPr rtl="0" fontAlgn="t">
                        <a:spcBef>
                          <a:spcPts val="1200"/>
                        </a:spcBef>
                        <a:spcAft>
                          <a:spcPts val="1200"/>
                        </a:spcAft>
                        <a:buNone/>
                      </a:pPr>
                      <a:r>
                        <a:rPr lang="en-US" sz="3100" b="0" i="0" u="none" strike="noStrike">
                          <a:solidFill>
                            <a:srgbClr val="000000"/>
                          </a:solidFill>
                          <a:effectLst/>
                          <a:latin typeface="Times New Roman" panose="02020603050405020304" pitchFamily="18" charset="0"/>
                        </a:rPr>
                        <a:t>Tách thành helper functions, weight=1</a:t>
                      </a:r>
                      <a:endParaRPr lang="en-US" sz="3100">
                        <a:effectLst/>
                      </a:endParaRPr>
                    </a:p>
                  </a:txBody>
                  <a:tcPr marL="76200" marR="76200" marT="50800" marB="50800"/>
                </a:tc>
                <a:tc>
                  <a:txBody>
                    <a:bodyPr/>
                    <a:lstStyle/>
                    <a:p>
                      <a:pPr rtl="0" fontAlgn="t">
                        <a:spcBef>
                          <a:spcPts val="1200"/>
                        </a:spcBef>
                        <a:spcAft>
                          <a:spcPts val="1200"/>
                        </a:spcAft>
                        <a:buNone/>
                      </a:pPr>
                      <a:r>
                        <a:rPr lang="en-US" sz="3100" b="0" i="0" u="none" strike="noStrike" dirty="0">
                          <a:solidFill>
                            <a:srgbClr val="000000"/>
                          </a:solidFill>
                          <a:effectLst/>
                          <a:latin typeface="Times New Roman" panose="02020603050405020304" pitchFamily="18" charset="0"/>
                        </a:rPr>
                        <a:t>5 examples</a:t>
                      </a:r>
                      <a:endParaRPr lang="en-US" sz="3100" dirty="0">
                        <a:effectLst/>
                      </a:endParaRPr>
                    </a:p>
                  </a:txBody>
                  <a:tcPr marL="76200" marR="76200" marT="50800" marB="50800"/>
                </a:tc>
                <a:extLst>
                  <a:ext uri="{0D108BD9-81ED-4DB2-BD59-A6C34878D82A}">
                    <a16:rowId xmlns:a16="http://schemas.microsoft.com/office/drawing/2014/main" val="2354963800"/>
                  </a:ext>
                </a:extLst>
              </a:tr>
            </a:tbl>
          </a:graphicData>
        </a:graphic>
      </p:graphicFrame>
    </p:spTree>
    <p:extLst>
      <p:ext uri="{BB962C8B-B14F-4D97-AF65-F5344CB8AC3E}">
        <p14:creationId xmlns:p14="http://schemas.microsoft.com/office/powerpoint/2010/main" val="695968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781344-CACE-4262-FDB0-FAB15C1CC585}"/>
            </a:ext>
          </a:extLst>
        </p:cNvPr>
        <p:cNvGrpSpPr/>
        <p:nvPr/>
      </p:nvGrpSpPr>
      <p:grpSpPr>
        <a:xfrm>
          <a:off x="0" y="0"/>
          <a:ext cx="0" cy="0"/>
          <a:chOff x="0" y="0"/>
          <a:chExt cx="0" cy="0"/>
        </a:xfrm>
      </p:grpSpPr>
      <p:sp>
        <p:nvSpPr>
          <p:cNvPr id="8239" name="Rectangle 823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40" name="Freeform: Shape 823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64234" y="-380505"/>
            <a:ext cx="2741457" cy="2065483"/>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41" name="Rectangle 824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7461" y="633219"/>
            <a:ext cx="968052" cy="96805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2" name="Rectangle 8241">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5065223" y="982710"/>
            <a:ext cx="1031208" cy="103120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3" name="Freeform: Shape 824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4034964" y="0"/>
            <a:ext cx="4253036" cy="2221255"/>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44" name="Isosceles Triangle 824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64516" y="9173251"/>
            <a:ext cx="2241769" cy="111374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5" name="Isosceles Triangle 824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406120" y="9679714"/>
            <a:ext cx="1222354" cy="607286"/>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5B189058-96BA-FCBE-5A7E-A5A31338BE39}"/>
              </a:ext>
            </a:extLst>
          </p:cNvPr>
          <p:cNvSpPr>
            <a:spLocks noChangeArrowheads="1"/>
          </p:cNvSpPr>
          <p:nvPr/>
        </p:nvSpPr>
        <p:spPr bwMode="auto">
          <a:xfrm>
            <a:off x="2352675" y="1538288"/>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 name="Table 1">
            <a:extLst>
              <a:ext uri="{FF2B5EF4-FFF2-40B4-BE49-F238E27FC236}">
                <a16:creationId xmlns:a16="http://schemas.microsoft.com/office/drawing/2014/main" id="{8CFD2577-C4EC-1080-E9D7-5DFC203142F5}"/>
              </a:ext>
            </a:extLst>
          </p:cNvPr>
          <p:cNvGraphicFramePr>
            <a:graphicFrameLocks noGrp="1"/>
          </p:cNvGraphicFramePr>
          <p:nvPr>
            <p:extLst>
              <p:ext uri="{D42A27DB-BD31-4B8C-83A1-F6EECF244321}">
                <p14:modId xmlns:p14="http://schemas.microsoft.com/office/powerpoint/2010/main" val="590815097"/>
              </p:ext>
            </p:extLst>
          </p:nvPr>
        </p:nvGraphicFramePr>
        <p:xfrm>
          <a:off x="965200" y="1457686"/>
          <a:ext cx="16357600" cy="7371634"/>
        </p:xfrm>
        <a:graphic>
          <a:graphicData uri="http://schemas.openxmlformats.org/drawingml/2006/table">
            <a:tbl>
              <a:tblPr/>
              <a:tblGrid>
                <a:gridCol w="4068988">
                  <a:extLst>
                    <a:ext uri="{9D8B030D-6E8A-4147-A177-3AD203B41FA5}">
                      <a16:colId xmlns:a16="http://schemas.microsoft.com/office/drawing/2014/main" val="3446987448"/>
                    </a:ext>
                  </a:extLst>
                </a:gridCol>
                <a:gridCol w="6139105">
                  <a:extLst>
                    <a:ext uri="{9D8B030D-6E8A-4147-A177-3AD203B41FA5}">
                      <a16:colId xmlns:a16="http://schemas.microsoft.com/office/drawing/2014/main" val="2395312352"/>
                    </a:ext>
                  </a:extLst>
                </a:gridCol>
                <a:gridCol w="6149507">
                  <a:extLst>
                    <a:ext uri="{9D8B030D-6E8A-4147-A177-3AD203B41FA5}">
                      <a16:colId xmlns:a16="http://schemas.microsoft.com/office/drawing/2014/main" val="1850930462"/>
                    </a:ext>
                  </a:extLst>
                </a:gridCol>
              </a:tblGrid>
              <a:tr h="724254">
                <a:tc>
                  <a:txBody>
                    <a:bodyPr/>
                    <a:lstStyle/>
                    <a:p>
                      <a:pPr algn="l" rtl="0" fontAlgn="t">
                        <a:spcBef>
                          <a:spcPts val="1200"/>
                        </a:spcBef>
                        <a:spcAft>
                          <a:spcPts val="1200"/>
                        </a:spcAft>
                        <a:buNone/>
                      </a:pPr>
                      <a:r>
                        <a:rPr lang="en-US" sz="2800" b="1" i="0" u="none" strike="noStrike">
                          <a:solidFill>
                            <a:srgbClr val="FFFFFF"/>
                          </a:solidFill>
                          <a:effectLst/>
                          <a:latin typeface="Times New Roman" panose="02020603050405020304" pitchFamily="18" charset="0"/>
                        </a:rPr>
                        <a:t>Tiêu chí</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1F4E79"/>
                    </a:solidFill>
                  </a:tcPr>
                </a:tc>
                <a:tc>
                  <a:txBody>
                    <a:bodyPr/>
                    <a:lstStyle/>
                    <a:p>
                      <a:pPr algn="l" rtl="0" fontAlgn="t">
                        <a:spcBef>
                          <a:spcPts val="1200"/>
                        </a:spcBef>
                        <a:spcAft>
                          <a:spcPts val="1200"/>
                        </a:spcAft>
                        <a:buNone/>
                      </a:pPr>
                      <a:r>
                        <a:rPr lang="en-US" sz="2800" b="1" i="0" u="none" strike="noStrike">
                          <a:solidFill>
                            <a:srgbClr val="FFFFFF"/>
                          </a:solidFill>
                          <a:effectLst/>
                          <a:latin typeface="Times New Roman" panose="02020603050405020304" pitchFamily="18" charset="0"/>
                        </a:rPr>
                        <a:t>Few-shot Learning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1F4E79"/>
                    </a:solidFill>
                  </a:tcPr>
                </a:tc>
                <a:tc>
                  <a:txBody>
                    <a:bodyPr/>
                    <a:lstStyle/>
                    <a:p>
                      <a:pPr algn="l" rtl="0" fontAlgn="t">
                        <a:spcBef>
                          <a:spcPts val="1200"/>
                        </a:spcBef>
                        <a:spcAft>
                          <a:spcPts val="1200"/>
                        </a:spcAft>
                        <a:buNone/>
                      </a:pPr>
                      <a:r>
                        <a:rPr lang="en-US" sz="2800" b="1" i="0" u="none" strike="noStrike">
                          <a:solidFill>
                            <a:srgbClr val="FFFFFF"/>
                          </a:solidFill>
                          <a:effectLst/>
                          <a:latin typeface="Times New Roman" panose="02020603050405020304" pitchFamily="18" charset="0"/>
                        </a:rPr>
                        <a:t>Fine-tuning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1F4E79"/>
                    </a:solidFill>
                  </a:tcPr>
                </a:tc>
                <a:extLst>
                  <a:ext uri="{0D108BD9-81ED-4DB2-BD59-A6C34878D82A}">
                    <a16:rowId xmlns:a16="http://schemas.microsoft.com/office/drawing/2014/main" val="2128787043"/>
                  </a:ext>
                </a:extLst>
              </a:tr>
              <a:tr h="1150928">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Cách hoạt động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Cung cấp ví dụ trong prompt mỗi lần gọi</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Huấn luyện mô hình một lần, sử dụng nhiều lần</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13137245"/>
                  </a:ext>
                </a:extLst>
              </a:tr>
              <a:tr h="724254">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Chi phí ban đầu</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Thấp (không cần training)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Cao (tốn thời gian + tiền training)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62009302"/>
                  </a:ext>
                </a:extLst>
              </a:tr>
              <a:tr h="724254">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Chi phí mỗi request</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2800" b="0" i="0" u="none" strike="noStrike">
                          <a:solidFill>
                            <a:srgbClr val="000000"/>
                          </a:solidFill>
                          <a:effectLst/>
                          <a:latin typeface="Times New Roman" panose="02020603050405020304" pitchFamily="18" charset="0"/>
                        </a:rPr>
                        <a:t>Cao (prompt dài hơn = nhiều token)</a:t>
                      </a:r>
                      <a:endParaRPr lang="vi-VN"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Thấp (prompt ngắn, model đã biết)</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0499369"/>
                  </a:ext>
                </a:extLst>
              </a:tr>
              <a:tr h="724254">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Tính linh hoạt</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Cao (thay đổi ví dụ dễ dàng)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Thấp (cần re-train khi thay đổi)</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49400230"/>
                  </a:ext>
                </a:extLst>
              </a:tr>
              <a:tr h="724254">
                <a:tc>
                  <a:txBody>
                    <a:bodyPr/>
                    <a:lstStyle/>
                    <a:p>
                      <a:pPr algn="l" rtl="0" fontAlgn="t">
                        <a:spcBef>
                          <a:spcPts val="1200"/>
                        </a:spcBef>
                        <a:spcAft>
                          <a:spcPts val="1200"/>
                        </a:spcAft>
                        <a:buNone/>
                      </a:pPr>
                      <a:r>
                        <a:rPr lang="vi-VN" sz="2800" b="1" i="0" u="none" strike="noStrike">
                          <a:solidFill>
                            <a:srgbClr val="000000"/>
                          </a:solidFill>
                          <a:effectLst/>
                          <a:latin typeface="Times New Roman" panose="02020603050405020304" pitchFamily="18" charset="0"/>
                        </a:rPr>
                        <a:t>Chất lượng output</a:t>
                      </a:r>
                      <a:endParaRPr lang="vi-VN"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Tốt cho tác vụ chung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2800" b="0" i="0" u="none" strike="noStrike">
                          <a:solidFill>
                            <a:srgbClr val="000000"/>
                          </a:solidFill>
                          <a:effectLst/>
                          <a:latin typeface="Times New Roman" panose="02020603050405020304" pitchFamily="18" charset="0"/>
                        </a:rPr>
                        <a:t>Tốt hơn cho tác vụ chuyên biệt</a:t>
                      </a:r>
                      <a:endParaRPr lang="vi-VN"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4925285"/>
                  </a:ext>
                </a:extLst>
              </a:tr>
              <a:tr h="1150928">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Phù hợp khi</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2800" b="0" i="0" u="none" strike="noStrike">
                          <a:solidFill>
                            <a:srgbClr val="000000"/>
                          </a:solidFill>
                          <a:effectLst/>
                          <a:latin typeface="Times New Roman" panose="02020603050405020304" pitchFamily="18" charset="0"/>
                        </a:rPr>
                        <a:t>Prototype, tác vụ đa dạng, thay đổi thường xuyên</a:t>
                      </a:r>
                      <a:endParaRPr lang="vi-VN"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Production, tác vụ lặp lại nhiều, cần nhất quán</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60736014"/>
                  </a:ext>
                </a:extLst>
              </a:tr>
              <a:tr h="724254">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Giới hạn ví dụ</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Bị giới hạn bởi context window</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Có thể dùng hàng nghìn examples</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37707870"/>
                  </a:ext>
                </a:extLst>
              </a:tr>
              <a:tr h="724254">
                <a:tc>
                  <a:txBody>
                    <a:bodyPr/>
                    <a:lstStyle/>
                    <a:p>
                      <a:pPr algn="l" rtl="0" fontAlgn="t">
                        <a:spcBef>
                          <a:spcPts val="1200"/>
                        </a:spcBef>
                        <a:spcAft>
                          <a:spcPts val="1200"/>
                        </a:spcAft>
                        <a:buNone/>
                      </a:pPr>
                      <a:r>
                        <a:rPr lang="en-US" sz="2800" b="1" i="0" u="none" strike="noStrike">
                          <a:solidFill>
                            <a:srgbClr val="000000"/>
                          </a:solidFill>
                          <a:effectLst/>
                          <a:latin typeface="Times New Roman" panose="02020603050405020304" pitchFamily="18" charset="0"/>
                        </a:rPr>
                        <a:t>Khả năng mở rộng</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en-US" sz="2800" b="0" i="0" u="none" strike="noStrike">
                          <a:solidFill>
                            <a:srgbClr val="000000"/>
                          </a:solidFill>
                          <a:effectLst/>
                          <a:latin typeface="Times New Roman" panose="02020603050405020304" pitchFamily="18" charset="0"/>
                        </a:rPr>
                        <a:t>Không hiệu quả khi cần nhiều ví dụ</a:t>
                      </a:r>
                      <a:endParaRPr lang="en-US"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lgn="l" rtl="0" fontAlgn="t">
                        <a:spcBef>
                          <a:spcPts val="1200"/>
                        </a:spcBef>
                        <a:spcAft>
                          <a:spcPts val="1200"/>
                        </a:spcAft>
                        <a:buNone/>
                      </a:pPr>
                      <a:r>
                        <a:rPr lang="vi-VN" sz="2800" b="0" i="0" u="none" strike="noStrike">
                          <a:solidFill>
                            <a:srgbClr val="000000"/>
                          </a:solidFill>
                          <a:effectLst/>
                          <a:latin typeface="Times New Roman" panose="02020603050405020304" pitchFamily="18" charset="0"/>
                        </a:rPr>
                        <a:t>Scale tốt với lượng data lớn</a:t>
                      </a:r>
                      <a:endParaRPr lang="vi-VN" sz="3900" b="0" i="0" u="none" strike="noStrike">
                        <a:effectLst/>
                        <a:latin typeface="Arial" panose="020B0604020202020204" pitchFamily="34" charset="0"/>
                      </a:endParaRPr>
                    </a:p>
                  </a:txBody>
                  <a:tcPr marL="164106" marR="164106" marT="109404" marB="109404">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28116897"/>
                  </a:ext>
                </a:extLst>
              </a:tr>
            </a:tbl>
          </a:graphicData>
        </a:graphic>
      </p:graphicFrame>
    </p:spTree>
    <p:extLst>
      <p:ext uri="{BB962C8B-B14F-4D97-AF65-F5344CB8AC3E}">
        <p14:creationId xmlns:p14="http://schemas.microsoft.com/office/powerpoint/2010/main" val="377067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a:xfrm>
          <a:off x="0" y="0"/>
          <a:ext cx="0" cy="0"/>
          <a:chOff x="0" y="0"/>
          <a:chExt cx="0" cy="0"/>
        </a:xfrm>
      </p:grpSpPr>
      <p:sp>
        <p:nvSpPr>
          <p:cNvPr id="2" name="Freeform 2"/>
          <p:cNvSpPr/>
          <p:nvPr/>
        </p:nvSpPr>
        <p:spPr>
          <a:xfrm>
            <a:off x="13971016" y="7410359"/>
            <a:ext cx="3288284" cy="1141308"/>
          </a:xfrm>
          <a:custGeom>
            <a:avLst/>
            <a:gdLst/>
            <a:ahLst/>
            <a:cxnLst/>
            <a:rect l="l" t="t" r="r" b="b"/>
            <a:pathLst>
              <a:path w="3288284" h="1141308">
                <a:moveTo>
                  <a:pt x="0" y="0"/>
                </a:moveTo>
                <a:lnTo>
                  <a:pt x="3288284" y="0"/>
                </a:lnTo>
                <a:lnTo>
                  <a:pt x="3288284" y="1141308"/>
                </a:lnTo>
                <a:lnTo>
                  <a:pt x="0" y="1141308"/>
                </a:lnTo>
                <a:lnTo>
                  <a:pt x="0" y="0"/>
                </a:lnTo>
                <a:close/>
              </a:path>
            </a:pathLst>
          </a:custGeom>
          <a:blipFill>
            <a:blip r:embed="rId2">
              <a:alphaModFix amt="21999"/>
            </a:blip>
            <a:stretch>
              <a:fillRect/>
            </a:stretch>
          </a:blipFill>
        </p:spPr>
        <p:txBody>
          <a:bodyPr/>
          <a:lstStyle/>
          <a:p>
            <a:endParaRPr lang="en-US"/>
          </a:p>
        </p:txBody>
      </p:sp>
      <p:grpSp>
        <p:nvGrpSpPr>
          <p:cNvPr id="3" name="Group 3"/>
          <p:cNvGrpSpPr/>
          <p:nvPr/>
        </p:nvGrpSpPr>
        <p:grpSpPr>
          <a:xfrm>
            <a:off x="3063954" y="2122975"/>
            <a:ext cx="12160093" cy="6041050"/>
            <a:chOff x="0" y="0"/>
            <a:chExt cx="9728074" cy="4832840"/>
          </a:xfrm>
        </p:grpSpPr>
        <p:sp>
          <p:nvSpPr>
            <p:cNvPr id="4" name="Freeform 4"/>
            <p:cNvSpPr/>
            <p:nvPr/>
          </p:nvSpPr>
          <p:spPr>
            <a:xfrm>
              <a:off x="0" y="0"/>
              <a:ext cx="9728074" cy="4832840"/>
            </a:xfrm>
            <a:custGeom>
              <a:avLst/>
              <a:gdLst/>
              <a:ahLst/>
              <a:cxnLst/>
              <a:rect l="l" t="t" r="r" b="b"/>
              <a:pathLst>
                <a:path w="9728074" h="4832840">
                  <a:moveTo>
                    <a:pt x="9603614" y="4832840"/>
                  </a:moveTo>
                  <a:lnTo>
                    <a:pt x="124460" y="4832840"/>
                  </a:lnTo>
                  <a:cubicBezTo>
                    <a:pt x="55880" y="4832840"/>
                    <a:pt x="0" y="4776960"/>
                    <a:pt x="0" y="4708380"/>
                  </a:cubicBezTo>
                  <a:lnTo>
                    <a:pt x="0" y="124460"/>
                  </a:lnTo>
                  <a:cubicBezTo>
                    <a:pt x="0" y="55880"/>
                    <a:pt x="55880" y="0"/>
                    <a:pt x="124460" y="0"/>
                  </a:cubicBezTo>
                  <a:lnTo>
                    <a:pt x="9603614" y="0"/>
                  </a:lnTo>
                  <a:cubicBezTo>
                    <a:pt x="9672194" y="0"/>
                    <a:pt x="9728074" y="55880"/>
                    <a:pt x="9728074" y="124460"/>
                  </a:cubicBezTo>
                  <a:lnTo>
                    <a:pt x="9728074" y="4708380"/>
                  </a:lnTo>
                  <a:cubicBezTo>
                    <a:pt x="9728074" y="4776960"/>
                    <a:pt x="9672194" y="4832840"/>
                    <a:pt x="9603614" y="4832840"/>
                  </a:cubicBezTo>
                  <a:close/>
                </a:path>
              </a:pathLst>
            </a:custGeom>
            <a:solidFill>
              <a:srgbClr val="FFFFFF"/>
            </a:solidFill>
          </p:spPr>
          <p:txBody>
            <a:bodyPr/>
            <a:lstStyle/>
            <a:p>
              <a:endParaRPr lang="en-US"/>
            </a:p>
          </p:txBody>
        </p:sp>
      </p:grpSp>
      <p:sp>
        <p:nvSpPr>
          <p:cNvPr id="5" name="Freeform 5"/>
          <p:cNvSpPr/>
          <p:nvPr/>
        </p:nvSpPr>
        <p:spPr>
          <a:xfrm flipH="1">
            <a:off x="13379131" y="5697655"/>
            <a:ext cx="2628231" cy="2635783"/>
          </a:xfrm>
          <a:custGeom>
            <a:avLst/>
            <a:gdLst/>
            <a:ahLst/>
            <a:cxnLst/>
            <a:rect l="l" t="t" r="r" b="b"/>
            <a:pathLst>
              <a:path w="2628231" h="2635783">
                <a:moveTo>
                  <a:pt x="2628231" y="0"/>
                </a:moveTo>
                <a:lnTo>
                  <a:pt x="0" y="0"/>
                </a:lnTo>
                <a:lnTo>
                  <a:pt x="0" y="2635783"/>
                </a:lnTo>
                <a:lnTo>
                  <a:pt x="2628231" y="2635783"/>
                </a:lnTo>
                <a:lnTo>
                  <a:pt x="2628231" y="0"/>
                </a:lnTo>
                <a:close/>
              </a:path>
            </a:pathLst>
          </a:custGeom>
          <a:blipFill>
            <a:blip r:embed="rId3"/>
            <a:stretch>
              <a:fillRect/>
            </a:stretch>
          </a:blipFill>
        </p:spPr>
        <p:txBody>
          <a:bodyPr/>
          <a:lstStyle/>
          <a:p>
            <a:endParaRPr lang="en-US"/>
          </a:p>
        </p:txBody>
      </p:sp>
      <p:grpSp>
        <p:nvGrpSpPr>
          <p:cNvPr id="6" name="Group 6"/>
          <p:cNvGrpSpPr/>
          <p:nvPr/>
        </p:nvGrpSpPr>
        <p:grpSpPr>
          <a:xfrm>
            <a:off x="4908869" y="3556226"/>
            <a:ext cx="8470263" cy="2092507"/>
            <a:chOff x="0" y="0"/>
            <a:chExt cx="11293684" cy="2790010"/>
          </a:xfrm>
        </p:grpSpPr>
        <p:sp>
          <p:nvSpPr>
            <p:cNvPr id="7" name="TextBox 7"/>
            <p:cNvSpPr txBox="1"/>
            <p:nvPr/>
          </p:nvSpPr>
          <p:spPr>
            <a:xfrm>
              <a:off x="0" y="0"/>
              <a:ext cx="11293684" cy="1409700"/>
            </a:xfrm>
            <a:prstGeom prst="rect">
              <a:avLst/>
            </a:prstGeom>
          </p:spPr>
          <p:txBody>
            <a:bodyPr lIns="0" tIns="0" rIns="0" bIns="0" rtlCol="0" anchor="t">
              <a:spAutoFit/>
            </a:bodyPr>
            <a:lstStyle/>
            <a:p>
              <a:pPr algn="ctr">
                <a:lnSpc>
                  <a:spcPts val="8400"/>
                </a:lnSpc>
              </a:pPr>
              <a:r>
                <a:rPr lang="en-US" sz="7000" b="1">
                  <a:solidFill>
                    <a:srgbClr val="0E2C4B"/>
                  </a:solidFill>
                  <a:latin typeface="Muli Bold"/>
                  <a:ea typeface="Muli Bold"/>
                  <a:cs typeface="Muli Bold"/>
                  <a:sym typeface="Muli Bold"/>
                </a:rPr>
                <a:t>THANKS</a:t>
              </a:r>
            </a:p>
          </p:txBody>
        </p:sp>
        <p:sp>
          <p:nvSpPr>
            <p:cNvPr id="8" name="TextBox 8"/>
            <p:cNvSpPr txBox="1"/>
            <p:nvPr/>
          </p:nvSpPr>
          <p:spPr>
            <a:xfrm>
              <a:off x="0" y="2317852"/>
              <a:ext cx="11293684" cy="419100"/>
            </a:xfrm>
            <a:prstGeom prst="rect">
              <a:avLst/>
            </a:prstGeom>
          </p:spPr>
          <p:txBody>
            <a:bodyPr lIns="0" tIns="0" rIns="0" bIns="0" rtlCol="0" anchor="t">
              <a:spAutoFit/>
            </a:bodyPr>
            <a:lstStyle/>
            <a:p>
              <a:pPr algn="ctr">
                <a:lnSpc>
                  <a:spcPts val="2520"/>
                </a:lnSpc>
              </a:pPr>
              <a:r>
                <a:rPr lang="en-US" sz="2100" b="1">
                  <a:solidFill>
                    <a:srgbClr val="0E2C4B"/>
                  </a:solidFill>
                  <a:latin typeface="Muli Semi-Bold"/>
                  <a:ea typeface="Muli Semi-Bold"/>
                  <a:cs typeface="Muli Semi-Bold"/>
                  <a:sym typeface="Muli Semi-Bold"/>
                </a:rPr>
                <a:t>Hy vọng bạn đã học được thêm điều mới mẻ.</a:t>
              </a:r>
            </a:p>
          </p:txBody>
        </p:sp>
      </p:grpSp>
      <p:sp>
        <p:nvSpPr>
          <p:cNvPr id="9" name="Freeform 9"/>
          <p:cNvSpPr/>
          <p:nvPr/>
        </p:nvSpPr>
        <p:spPr>
          <a:xfrm>
            <a:off x="2470041" y="2784527"/>
            <a:ext cx="2223383" cy="771699"/>
          </a:xfrm>
          <a:custGeom>
            <a:avLst/>
            <a:gdLst/>
            <a:ahLst/>
            <a:cxnLst/>
            <a:rect l="l" t="t" r="r" b="b"/>
            <a:pathLst>
              <a:path w="2223383" h="771699">
                <a:moveTo>
                  <a:pt x="0" y="0"/>
                </a:moveTo>
                <a:lnTo>
                  <a:pt x="2223383" y="0"/>
                </a:lnTo>
                <a:lnTo>
                  <a:pt x="2223383" y="771699"/>
                </a:lnTo>
                <a:lnTo>
                  <a:pt x="0" y="771699"/>
                </a:lnTo>
                <a:lnTo>
                  <a:pt x="0" y="0"/>
                </a:lnTo>
                <a:close/>
              </a:path>
            </a:pathLst>
          </a:custGeom>
          <a:blipFill>
            <a:blip r:embed="rId2">
              <a:alphaModFix amt="21999"/>
            </a:blip>
            <a:stretch>
              <a:fillRect/>
            </a:stretch>
          </a:blipFill>
        </p:spPr>
        <p:txBody>
          <a:bodyPr/>
          <a:lstStyle/>
          <a:p>
            <a:endParaRPr lang="en-US"/>
          </a:p>
        </p:txBody>
      </p:sp>
      <p:sp>
        <p:nvSpPr>
          <p:cNvPr id="10" name="Freeform 10"/>
          <p:cNvSpPr/>
          <p:nvPr/>
        </p:nvSpPr>
        <p:spPr>
          <a:xfrm rot="-1251902">
            <a:off x="2297276" y="1924267"/>
            <a:ext cx="2945311" cy="1144990"/>
          </a:xfrm>
          <a:custGeom>
            <a:avLst/>
            <a:gdLst/>
            <a:ahLst/>
            <a:cxnLst/>
            <a:rect l="l" t="t" r="r" b="b"/>
            <a:pathLst>
              <a:path w="2945311" h="1144990">
                <a:moveTo>
                  <a:pt x="0" y="0"/>
                </a:moveTo>
                <a:lnTo>
                  <a:pt x="2945311" y="0"/>
                </a:lnTo>
                <a:lnTo>
                  <a:pt x="2945311" y="1144990"/>
                </a:lnTo>
                <a:lnTo>
                  <a:pt x="0" y="1144990"/>
                </a:lnTo>
                <a:lnTo>
                  <a:pt x="0" y="0"/>
                </a:lnTo>
                <a:close/>
              </a:path>
            </a:pathLst>
          </a:custGeom>
          <a:blipFill>
            <a:blip r:embed="rId4"/>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2864</Words>
  <Application>Microsoft Office PowerPoint</Application>
  <PresentationFormat>Custom</PresentationFormat>
  <Paragraphs>235</Paragraphs>
  <Slides>36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Muli Ultra-Bold</vt:lpstr>
      <vt:lpstr>Muli</vt:lpstr>
      <vt:lpstr>Muli Semi-Bold</vt:lpstr>
      <vt:lpstr>Calibri</vt:lpstr>
      <vt:lpstr>Arial</vt:lpstr>
      <vt:lpstr>Times New Roman</vt:lpstr>
      <vt:lpstr>Muli Bold</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Màu cam và Xanh dương Thành phần 3D Công nghệ trong Kinh doanh và tại Nơi làm việc Bản thuyết trình</dc:title>
  <cp:lastModifiedBy>Trần Hoàng Bảo</cp:lastModifiedBy>
  <cp:revision>3</cp:revision>
  <dcterms:created xsi:type="dcterms:W3CDTF">2006-08-16T00:00:00Z</dcterms:created>
  <dcterms:modified xsi:type="dcterms:W3CDTF">2026-03-19T13:10:25Z</dcterms:modified>
  <dc:identifier>DAHASUB1F6s</dc:identifier>
</cp:coreProperties>
</file>