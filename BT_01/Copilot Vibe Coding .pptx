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Lst>
  <p:sldSz cx="18288000" cy="10287000"/>
  <p:notesSz cx="6858000" cy="9144000"/>
  <p:embeddedFontLst>
    <p:embeddedFont>
      <p:font typeface="Roboto Bold" charset="1" panose="02000000000000000000"/>
      <p:regular r:id="rId60"/>
    </p:embeddedFont>
    <p:embeddedFont>
      <p:font typeface="Roboto" charset="1" panose="02000000000000000000"/>
      <p:regular r:id="rId6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slides/slide52.xml" Type="http://schemas.openxmlformats.org/officeDocument/2006/relationships/slide"/><Relationship Id="rId58" Target="slides/slide53.xml" Type="http://schemas.openxmlformats.org/officeDocument/2006/relationships/slide"/><Relationship Id="rId59" Target="slides/slide54.xml" Type="http://schemas.openxmlformats.org/officeDocument/2006/relationships/slide"/><Relationship Id="rId6" Target="slides/slide1.xml" Type="http://schemas.openxmlformats.org/officeDocument/2006/relationships/slide"/><Relationship Id="rId60" Target="fonts/font60.fntdata" Type="http://schemas.openxmlformats.org/officeDocument/2006/relationships/font"/><Relationship Id="rId61" Target="fonts/font61.fntdata" Type="http://schemas.openxmlformats.org/officeDocument/2006/relationships/font"/><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1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1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22.png" Type="http://schemas.openxmlformats.org/officeDocument/2006/relationships/image"/><Relationship Id="rId7" Target="../media/image23.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24.png" Type="http://schemas.openxmlformats.org/officeDocument/2006/relationships/image"/><Relationship Id="rId7" Target="../media/image25.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24.png" Type="http://schemas.openxmlformats.org/officeDocument/2006/relationships/image"/><Relationship Id="rId7" Target="../media/image26.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24.png" Type="http://schemas.openxmlformats.org/officeDocument/2006/relationships/image"/><Relationship Id="rId7" Target="../media/image27.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36.png" Type="http://schemas.openxmlformats.org/officeDocument/2006/relationships/image"/><Relationship Id="rId7" Target="../media/image37.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8.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png" Type="http://schemas.openxmlformats.org/officeDocument/2006/relationships/image"/><Relationship Id="rId3" Target="../media/image40.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1.png" Type="http://schemas.openxmlformats.org/officeDocument/2006/relationships/image"/><Relationship Id="rId3" Target="../media/image42.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43.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4.png" Type="http://schemas.openxmlformats.org/officeDocument/2006/relationships/image"/><Relationship Id="rId3" Target="../media/image45.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5.png" Type="http://schemas.openxmlformats.org/officeDocument/2006/relationships/image"/><Relationship Id="rId3" Target="../media/image46.png" Type="http://schemas.openxmlformats.org/officeDocument/2006/relationships/image"/><Relationship Id="rId4" Target="../media/image47.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5.png" Type="http://schemas.openxmlformats.org/officeDocument/2006/relationships/image"/><Relationship Id="rId3" Target="../media/image48.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9.png" Type="http://schemas.openxmlformats.org/officeDocument/2006/relationships/image"/><Relationship Id="rId3" Target="../media/image50.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1.jpe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2.jpeg" Type="http://schemas.openxmlformats.org/officeDocument/2006/relationships/image"/><Relationship Id="rId3" Target="../media/image53.png" Type="http://schemas.openxmlformats.org/officeDocument/2006/relationships/image"/><Relationship Id="rId4" Target="../media/image54.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2.jpeg" Type="http://schemas.openxmlformats.org/officeDocument/2006/relationships/image"/><Relationship Id="rId3" Target="../media/image55.png" Type="http://schemas.openxmlformats.org/officeDocument/2006/relationships/image"/><Relationship Id="rId4" Target="../media/image56.pn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7.png" Type="http://schemas.openxmlformats.org/officeDocument/2006/relationships/image"/><Relationship Id="rId3" Target="../media/image58.pn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7.png" Type="http://schemas.openxmlformats.org/officeDocument/2006/relationships/image"/><Relationship Id="rId3" Target="../media/image58.pn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9.pn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0.png" Type="http://schemas.openxmlformats.org/officeDocument/2006/relationships/image"/><Relationship Id="rId3" Target="../media/image61.pn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2.pn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3.png" Type="http://schemas.openxmlformats.org/officeDocument/2006/relationships/image"/><Relationship Id="rId3" Target="../media/image64.pn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3.png" Type="http://schemas.openxmlformats.org/officeDocument/2006/relationships/image"/><Relationship Id="rId3" Target="../media/image64.pn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4.png" Type="http://schemas.openxmlformats.org/officeDocument/2006/relationships/image"/><Relationship Id="rId3" Target="../media/image65.png" Type="http://schemas.openxmlformats.org/officeDocument/2006/relationships/image"/></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6.png" Type="http://schemas.openxmlformats.org/officeDocument/2006/relationships/image"/></Relationships>
</file>

<file path=ppt/slides/_rels/slide5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7.png" Type="http://schemas.openxmlformats.org/officeDocument/2006/relationships/image"/><Relationship Id="rId3" Target="../media/image68.svg" Type="http://schemas.openxmlformats.org/officeDocument/2006/relationships/image"/></Relationships>
</file>

<file path=ppt/slides/_rels/slide5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7.png" Type="http://schemas.openxmlformats.org/officeDocument/2006/relationships/image"/><Relationship Id="rId3" Target="../media/image68.svg" Type="http://schemas.openxmlformats.org/officeDocument/2006/relationships/image"/></Relationships>
</file>

<file path=ppt/slides/_rels/slide5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9.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6078" t="-10008" r="0" b="-15714"/>
            </a:stretch>
          </a:blipFill>
        </p:spPr>
      </p:sp>
      <p:sp>
        <p:nvSpPr>
          <p:cNvPr name="TextBox 3" id="3"/>
          <p:cNvSpPr txBox="true"/>
          <p:nvPr/>
        </p:nvSpPr>
        <p:spPr>
          <a:xfrm rot="0">
            <a:off x="1471821" y="3108325"/>
            <a:ext cx="11553408" cy="3489326"/>
          </a:xfrm>
          <a:prstGeom prst="rect">
            <a:avLst/>
          </a:prstGeom>
        </p:spPr>
        <p:txBody>
          <a:bodyPr anchor="t" rtlCol="false" tIns="0" lIns="0" bIns="0" rIns="0">
            <a:spAutoFit/>
          </a:bodyPr>
          <a:lstStyle/>
          <a:p>
            <a:pPr algn="l">
              <a:lnSpc>
                <a:spcPts val="13999"/>
              </a:lnSpc>
            </a:pPr>
            <a:r>
              <a:rPr lang="en-US" b="true" sz="9999" spc="199">
                <a:solidFill>
                  <a:srgbClr val="FFFFFF"/>
                </a:solidFill>
                <a:latin typeface="Roboto Bold"/>
                <a:ea typeface="Roboto Bold"/>
                <a:cs typeface="Roboto Bold"/>
                <a:sym typeface="Roboto Bold"/>
              </a:rPr>
              <a:t>VIBE CODING GITHUB COPILOT</a:t>
            </a:r>
          </a:p>
        </p:txBody>
      </p:sp>
      <p:sp>
        <p:nvSpPr>
          <p:cNvPr name="TextBox 4" id="4"/>
          <p:cNvSpPr txBox="true"/>
          <p:nvPr/>
        </p:nvSpPr>
        <p:spPr>
          <a:xfrm rot="0">
            <a:off x="1471821" y="7152069"/>
            <a:ext cx="11553408" cy="1298575"/>
          </a:xfrm>
          <a:prstGeom prst="rect">
            <a:avLst/>
          </a:prstGeom>
        </p:spPr>
        <p:txBody>
          <a:bodyPr anchor="t" rtlCol="false" tIns="0" lIns="0" bIns="0" rIns="0">
            <a:spAutoFit/>
          </a:bodyPr>
          <a:lstStyle/>
          <a:p>
            <a:pPr algn="l">
              <a:lnSpc>
                <a:spcPts val="3499"/>
              </a:lnSpc>
            </a:pPr>
            <a:r>
              <a:rPr lang="en-US" sz="2499" spc="49">
                <a:solidFill>
                  <a:srgbClr val="FFBE40"/>
                </a:solidFill>
                <a:latin typeface="Roboto"/>
                <a:ea typeface="Roboto"/>
                <a:cs typeface="Roboto"/>
                <a:sym typeface="Roboto"/>
              </a:rPr>
              <a:t>Trần Hoàng Bảo - 3122411014</a:t>
            </a:r>
          </a:p>
          <a:p>
            <a:pPr algn="l">
              <a:lnSpc>
                <a:spcPts val="3499"/>
              </a:lnSpc>
            </a:pPr>
            <a:r>
              <a:rPr lang="en-US" sz="2499" spc="49">
                <a:solidFill>
                  <a:srgbClr val="FFBE40"/>
                </a:solidFill>
                <a:latin typeface="Roboto"/>
                <a:ea typeface="Roboto"/>
                <a:cs typeface="Roboto"/>
                <a:sym typeface="Roboto"/>
              </a:rPr>
              <a:t>Thái Trí Văn - 3122411242</a:t>
            </a:r>
          </a:p>
          <a:p>
            <a:pPr algn="l">
              <a:lnSpc>
                <a:spcPts val="3500"/>
              </a:lnSpc>
            </a:pPr>
            <a:r>
              <a:rPr lang="en-US" sz="2500" spc="50">
                <a:solidFill>
                  <a:srgbClr val="FFBE40"/>
                </a:solidFill>
                <a:latin typeface="Roboto"/>
                <a:ea typeface="Roboto"/>
                <a:cs typeface="Roboto"/>
                <a:sym typeface="Roboto"/>
              </a:rPr>
              <a:t>Phùng Anh Tuấn - 3122411237</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090909"/>
        </a:solidFill>
      </p:bgPr>
    </p:bg>
    <p:spTree>
      <p:nvGrpSpPr>
        <p:cNvPr id="1" name=""/>
        <p:cNvGrpSpPr/>
        <p:nvPr/>
      </p:nvGrpSpPr>
      <p:grpSpPr>
        <a:xfrm>
          <a:off x="0" y="0"/>
          <a:ext cx="0" cy="0"/>
          <a:chOff x="0" y="0"/>
          <a:chExt cx="0" cy="0"/>
        </a:xfrm>
      </p:grpSpPr>
      <p:grpSp>
        <p:nvGrpSpPr>
          <p:cNvPr name="Group 2" id="2"/>
          <p:cNvGrpSpPr/>
          <p:nvPr/>
        </p:nvGrpSpPr>
        <p:grpSpPr>
          <a:xfrm rot="0">
            <a:off x="1733550" y="2545811"/>
            <a:ext cx="5479596" cy="3762817"/>
            <a:chOff x="0" y="0"/>
            <a:chExt cx="7306129" cy="5017090"/>
          </a:xfrm>
        </p:grpSpPr>
        <p:sp>
          <p:nvSpPr>
            <p:cNvPr name="TextBox 3" id="3"/>
            <p:cNvSpPr txBox="true"/>
            <p:nvPr/>
          </p:nvSpPr>
          <p:spPr>
            <a:xfrm rot="0">
              <a:off x="0" y="1135970"/>
              <a:ext cx="7306129" cy="3149600"/>
            </a:xfrm>
            <a:prstGeom prst="rect">
              <a:avLst/>
            </a:prstGeom>
          </p:spPr>
          <p:txBody>
            <a:bodyPr anchor="t" rtlCol="false" tIns="0" lIns="0" bIns="0" rIns="0">
              <a:spAutoFit/>
            </a:bodyPr>
            <a:lstStyle/>
            <a:p>
              <a:pPr algn="l">
                <a:lnSpc>
                  <a:spcPts val="9360"/>
                </a:lnSpc>
              </a:pPr>
              <a:r>
                <a:rPr lang="en-US" sz="7800" b="true">
                  <a:solidFill>
                    <a:srgbClr val="FFFFFF"/>
                  </a:solidFill>
                  <a:latin typeface="Roboto Bold"/>
                  <a:ea typeface="Roboto Bold"/>
                  <a:cs typeface="Roboto Bold"/>
                  <a:sym typeface="Roboto Bold"/>
                </a:rPr>
                <a:t>Vibe Coding Workshop</a:t>
              </a:r>
            </a:p>
          </p:txBody>
        </p:sp>
        <p:sp>
          <p:nvSpPr>
            <p:cNvPr name="TextBox 4" id="4"/>
            <p:cNvSpPr txBox="true"/>
            <p:nvPr/>
          </p:nvSpPr>
          <p:spPr>
            <a:xfrm rot="0">
              <a:off x="0" y="-9525"/>
              <a:ext cx="7306129" cy="619125"/>
            </a:xfrm>
            <a:prstGeom prst="rect">
              <a:avLst/>
            </a:prstGeom>
          </p:spPr>
          <p:txBody>
            <a:bodyPr anchor="t" rtlCol="false" tIns="0" lIns="0" bIns="0" rIns="0">
              <a:spAutoFit/>
            </a:bodyPr>
            <a:lstStyle/>
            <a:p>
              <a:pPr algn="l">
                <a:lnSpc>
                  <a:spcPts val="3599"/>
                </a:lnSpc>
              </a:pPr>
              <a:r>
                <a:rPr lang="en-US" b="true" sz="2999" spc="89">
                  <a:solidFill>
                    <a:srgbClr val="FFBE40"/>
                  </a:solidFill>
                  <a:latin typeface="Roboto Bold"/>
                  <a:ea typeface="Roboto Bold"/>
                  <a:cs typeface="Roboto Bold"/>
                  <a:sym typeface="Roboto Bold"/>
                </a:rPr>
                <a:t>NỘI DUNG</a:t>
              </a:r>
            </a:p>
          </p:txBody>
        </p:sp>
      </p:grpSp>
      <p:grpSp>
        <p:nvGrpSpPr>
          <p:cNvPr name="Group 5" id="5"/>
          <p:cNvGrpSpPr/>
          <p:nvPr/>
        </p:nvGrpSpPr>
        <p:grpSpPr>
          <a:xfrm rot="0">
            <a:off x="9284360" y="2678334"/>
            <a:ext cx="7503319" cy="332740"/>
            <a:chOff x="0" y="0"/>
            <a:chExt cx="10004425" cy="443653"/>
          </a:xfrm>
        </p:grpSpPr>
        <p:grpSp>
          <p:nvGrpSpPr>
            <p:cNvPr name="Group 6" id="6"/>
            <p:cNvGrpSpPr/>
            <p:nvPr/>
          </p:nvGrpSpPr>
          <p:grpSpPr>
            <a:xfrm rot="0">
              <a:off x="0" y="106620"/>
              <a:ext cx="230414" cy="230414"/>
              <a:chOff x="0" y="0"/>
              <a:chExt cx="6350000" cy="6350000"/>
            </a:xfrm>
          </p:grpSpPr>
          <p:sp>
            <p:nvSpPr>
              <p:cNvPr name="Freeform 7" id="7"/>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BE40"/>
              </a:solidFill>
            </p:spPr>
          </p:sp>
        </p:grpSp>
        <p:sp>
          <p:nvSpPr>
            <p:cNvPr name="TextBox 8" id="8"/>
            <p:cNvSpPr txBox="true"/>
            <p:nvPr/>
          </p:nvSpPr>
          <p:spPr>
            <a:xfrm rot="0">
              <a:off x="800554" y="-63077"/>
              <a:ext cx="9203871" cy="512657"/>
            </a:xfrm>
            <a:prstGeom prst="rect">
              <a:avLst/>
            </a:prstGeom>
          </p:spPr>
          <p:txBody>
            <a:bodyPr anchor="t" rtlCol="false" tIns="0" lIns="0" bIns="0" rIns="0">
              <a:spAutoFit/>
            </a:bodyPr>
            <a:lstStyle/>
            <a:p>
              <a:pPr algn="l">
                <a:lnSpc>
                  <a:spcPts val="3219"/>
                </a:lnSpc>
              </a:pPr>
              <a:r>
                <a:rPr lang="en-US" sz="2300">
                  <a:solidFill>
                    <a:srgbClr val="FFFFFF"/>
                  </a:solidFill>
                  <a:latin typeface="Roboto"/>
                  <a:ea typeface="Roboto"/>
                  <a:cs typeface="Roboto"/>
                  <a:sym typeface="Roboto"/>
                </a:rPr>
                <a:t>Workshop Background</a:t>
              </a:r>
            </a:p>
          </p:txBody>
        </p:sp>
      </p:grpSp>
      <p:grpSp>
        <p:nvGrpSpPr>
          <p:cNvPr name="Group 9" id="9"/>
          <p:cNvGrpSpPr/>
          <p:nvPr/>
        </p:nvGrpSpPr>
        <p:grpSpPr>
          <a:xfrm rot="0">
            <a:off x="9284360" y="3592734"/>
            <a:ext cx="7503319" cy="332740"/>
            <a:chOff x="0" y="0"/>
            <a:chExt cx="10004425" cy="443653"/>
          </a:xfrm>
        </p:grpSpPr>
        <p:grpSp>
          <p:nvGrpSpPr>
            <p:cNvPr name="Group 10" id="10"/>
            <p:cNvGrpSpPr/>
            <p:nvPr/>
          </p:nvGrpSpPr>
          <p:grpSpPr>
            <a:xfrm rot="0">
              <a:off x="0" y="106620"/>
              <a:ext cx="230414" cy="230414"/>
              <a:chOff x="0" y="0"/>
              <a:chExt cx="6350000" cy="6350000"/>
            </a:xfrm>
          </p:grpSpPr>
          <p:sp>
            <p:nvSpPr>
              <p:cNvPr name="Freeform 11" id="11"/>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BE40"/>
              </a:solidFill>
            </p:spPr>
          </p:sp>
        </p:grpSp>
        <p:sp>
          <p:nvSpPr>
            <p:cNvPr name="TextBox 12" id="12"/>
            <p:cNvSpPr txBox="true"/>
            <p:nvPr/>
          </p:nvSpPr>
          <p:spPr>
            <a:xfrm rot="0">
              <a:off x="800554" y="-63077"/>
              <a:ext cx="9203871" cy="512657"/>
            </a:xfrm>
            <a:prstGeom prst="rect">
              <a:avLst/>
            </a:prstGeom>
          </p:spPr>
          <p:txBody>
            <a:bodyPr anchor="t" rtlCol="false" tIns="0" lIns="0" bIns="0" rIns="0">
              <a:spAutoFit/>
            </a:bodyPr>
            <a:lstStyle/>
            <a:p>
              <a:pPr algn="l">
                <a:lnSpc>
                  <a:spcPts val="3219"/>
                </a:lnSpc>
              </a:pPr>
              <a:r>
                <a:rPr lang="en-US" sz="2300">
                  <a:solidFill>
                    <a:srgbClr val="FFFFFF"/>
                  </a:solidFill>
                  <a:latin typeface="Roboto"/>
                  <a:ea typeface="Roboto"/>
                  <a:cs typeface="Roboto"/>
                  <a:sym typeface="Roboto"/>
                </a:rPr>
                <a:t>Development Environment</a:t>
              </a:r>
            </a:p>
          </p:txBody>
        </p:sp>
      </p:grpSp>
      <p:grpSp>
        <p:nvGrpSpPr>
          <p:cNvPr name="Group 13" id="13"/>
          <p:cNvGrpSpPr/>
          <p:nvPr/>
        </p:nvGrpSpPr>
        <p:grpSpPr>
          <a:xfrm rot="0">
            <a:off x="9284360" y="4513676"/>
            <a:ext cx="7503319" cy="332740"/>
            <a:chOff x="0" y="0"/>
            <a:chExt cx="10004425" cy="443653"/>
          </a:xfrm>
        </p:grpSpPr>
        <p:grpSp>
          <p:nvGrpSpPr>
            <p:cNvPr name="Group 14" id="14"/>
            <p:cNvGrpSpPr/>
            <p:nvPr/>
          </p:nvGrpSpPr>
          <p:grpSpPr>
            <a:xfrm rot="0">
              <a:off x="0" y="106620"/>
              <a:ext cx="230414" cy="230414"/>
              <a:chOff x="0" y="0"/>
              <a:chExt cx="6350000" cy="6350000"/>
            </a:xfrm>
          </p:grpSpPr>
          <p:sp>
            <p:nvSpPr>
              <p:cNvPr name="Freeform 15" id="15"/>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BE40"/>
              </a:solidFill>
            </p:spPr>
          </p:sp>
        </p:grpSp>
        <p:sp>
          <p:nvSpPr>
            <p:cNvPr name="TextBox 16" id="16"/>
            <p:cNvSpPr txBox="true"/>
            <p:nvPr/>
          </p:nvSpPr>
          <p:spPr>
            <a:xfrm rot="0">
              <a:off x="800554" y="-63077"/>
              <a:ext cx="9203871" cy="512657"/>
            </a:xfrm>
            <a:prstGeom prst="rect">
              <a:avLst/>
            </a:prstGeom>
          </p:spPr>
          <p:txBody>
            <a:bodyPr anchor="t" rtlCol="false" tIns="0" lIns="0" bIns="0" rIns="0">
              <a:spAutoFit/>
            </a:bodyPr>
            <a:lstStyle/>
            <a:p>
              <a:pPr algn="l">
                <a:lnSpc>
                  <a:spcPts val="3219"/>
                </a:lnSpc>
              </a:pPr>
              <a:r>
                <a:rPr lang="en-US" sz="2300">
                  <a:solidFill>
                    <a:srgbClr val="FFFFFF"/>
                  </a:solidFill>
                  <a:latin typeface="Roboto"/>
                  <a:ea typeface="Roboto"/>
                  <a:cs typeface="Roboto"/>
                  <a:sym typeface="Roboto"/>
                </a:rPr>
                <a:t>Design &amp; Architect</a:t>
              </a:r>
            </a:p>
          </p:txBody>
        </p:sp>
      </p:grpSp>
      <p:grpSp>
        <p:nvGrpSpPr>
          <p:cNvPr name="Group 17" id="17"/>
          <p:cNvGrpSpPr/>
          <p:nvPr/>
        </p:nvGrpSpPr>
        <p:grpSpPr>
          <a:xfrm rot="0">
            <a:off x="9284360" y="5428076"/>
            <a:ext cx="7503319" cy="332740"/>
            <a:chOff x="0" y="0"/>
            <a:chExt cx="10004425" cy="443653"/>
          </a:xfrm>
        </p:grpSpPr>
        <p:grpSp>
          <p:nvGrpSpPr>
            <p:cNvPr name="Group 18" id="18"/>
            <p:cNvGrpSpPr/>
            <p:nvPr/>
          </p:nvGrpSpPr>
          <p:grpSpPr>
            <a:xfrm rot="0">
              <a:off x="0" y="106620"/>
              <a:ext cx="230414" cy="230414"/>
              <a:chOff x="0" y="0"/>
              <a:chExt cx="6350000" cy="6350000"/>
            </a:xfrm>
          </p:grpSpPr>
          <p:sp>
            <p:nvSpPr>
              <p:cNvPr name="Freeform 19" id="19"/>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BE40"/>
              </a:solidFill>
            </p:spPr>
          </p:sp>
        </p:grpSp>
        <p:sp>
          <p:nvSpPr>
            <p:cNvPr name="TextBox 20" id="20"/>
            <p:cNvSpPr txBox="true"/>
            <p:nvPr/>
          </p:nvSpPr>
          <p:spPr>
            <a:xfrm rot="0">
              <a:off x="800554" y="-63077"/>
              <a:ext cx="9203871" cy="512657"/>
            </a:xfrm>
            <a:prstGeom prst="rect">
              <a:avLst/>
            </a:prstGeom>
          </p:spPr>
          <p:txBody>
            <a:bodyPr anchor="t" rtlCol="false" tIns="0" lIns="0" bIns="0" rIns="0">
              <a:spAutoFit/>
            </a:bodyPr>
            <a:lstStyle/>
            <a:p>
              <a:pPr algn="l">
                <a:lnSpc>
                  <a:spcPts val="3219"/>
                </a:lnSpc>
              </a:pPr>
              <a:r>
                <a:rPr lang="en-US" sz="2300">
                  <a:solidFill>
                    <a:srgbClr val="FFFFFF"/>
                  </a:solidFill>
                  <a:latin typeface="Roboto"/>
                  <a:ea typeface="Roboto"/>
                  <a:cs typeface="Roboto"/>
                  <a:sym typeface="Roboto"/>
                </a:rPr>
                <a:t>Frontend</a:t>
              </a:r>
            </a:p>
          </p:txBody>
        </p:sp>
      </p:grpSp>
      <p:grpSp>
        <p:nvGrpSpPr>
          <p:cNvPr name="Group 21" id="21"/>
          <p:cNvGrpSpPr/>
          <p:nvPr/>
        </p:nvGrpSpPr>
        <p:grpSpPr>
          <a:xfrm rot="0">
            <a:off x="9284360" y="6361526"/>
            <a:ext cx="7503319" cy="332740"/>
            <a:chOff x="0" y="0"/>
            <a:chExt cx="10004425" cy="443653"/>
          </a:xfrm>
        </p:grpSpPr>
        <p:grpSp>
          <p:nvGrpSpPr>
            <p:cNvPr name="Group 22" id="22"/>
            <p:cNvGrpSpPr/>
            <p:nvPr/>
          </p:nvGrpSpPr>
          <p:grpSpPr>
            <a:xfrm rot="0">
              <a:off x="0" y="106620"/>
              <a:ext cx="230414" cy="230414"/>
              <a:chOff x="0" y="0"/>
              <a:chExt cx="6350000" cy="6350000"/>
            </a:xfrm>
          </p:grpSpPr>
          <p:sp>
            <p:nvSpPr>
              <p:cNvPr name="Freeform 23" id="2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BE40"/>
              </a:solidFill>
            </p:spPr>
          </p:sp>
        </p:grpSp>
        <p:sp>
          <p:nvSpPr>
            <p:cNvPr name="TextBox 24" id="24"/>
            <p:cNvSpPr txBox="true"/>
            <p:nvPr/>
          </p:nvSpPr>
          <p:spPr>
            <a:xfrm rot="0">
              <a:off x="800554" y="-63077"/>
              <a:ext cx="9203871" cy="512657"/>
            </a:xfrm>
            <a:prstGeom prst="rect">
              <a:avLst/>
            </a:prstGeom>
          </p:spPr>
          <p:txBody>
            <a:bodyPr anchor="t" rtlCol="false" tIns="0" lIns="0" bIns="0" rIns="0">
              <a:spAutoFit/>
            </a:bodyPr>
            <a:lstStyle/>
            <a:p>
              <a:pPr algn="l">
                <a:lnSpc>
                  <a:spcPts val="3219"/>
                </a:lnSpc>
              </a:pPr>
              <a:r>
                <a:rPr lang="en-US" sz="2300">
                  <a:solidFill>
                    <a:srgbClr val="FFFFFF"/>
                  </a:solidFill>
                  <a:latin typeface="Roboto"/>
                  <a:ea typeface="Roboto"/>
                  <a:cs typeface="Roboto"/>
                  <a:sym typeface="Roboto"/>
                </a:rPr>
                <a:t>Backend</a:t>
              </a:r>
            </a:p>
          </p:txBody>
        </p:sp>
      </p:grpSp>
      <p:grpSp>
        <p:nvGrpSpPr>
          <p:cNvPr name="Group 25" id="25"/>
          <p:cNvGrpSpPr/>
          <p:nvPr/>
        </p:nvGrpSpPr>
        <p:grpSpPr>
          <a:xfrm rot="0">
            <a:off x="9284360" y="7275926"/>
            <a:ext cx="7503319" cy="332740"/>
            <a:chOff x="0" y="0"/>
            <a:chExt cx="10004425" cy="443653"/>
          </a:xfrm>
        </p:grpSpPr>
        <p:grpSp>
          <p:nvGrpSpPr>
            <p:cNvPr name="Group 26" id="26"/>
            <p:cNvGrpSpPr/>
            <p:nvPr/>
          </p:nvGrpSpPr>
          <p:grpSpPr>
            <a:xfrm rot="0">
              <a:off x="0" y="106620"/>
              <a:ext cx="230414" cy="230414"/>
              <a:chOff x="0" y="0"/>
              <a:chExt cx="6350000" cy="6350000"/>
            </a:xfrm>
          </p:grpSpPr>
          <p:sp>
            <p:nvSpPr>
              <p:cNvPr name="Freeform 27" id="27"/>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BE40"/>
              </a:solidFill>
            </p:spPr>
          </p:sp>
        </p:grpSp>
        <p:sp>
          <p:nvSpPr>
            <p:cNvPr name="TextBox 28" id="28"/>
            <p:cNvSpPr txBox="true"/>
            <p:nvPr/>
          </p:nvSpPr>
          <p:spPr>
            <a:xfrm rot="0">
              <a:off x="800554" y="-63077"/>
              <a:ext cx="9203871" cy="512657"/>
            </a:xfrm>
            <a:prstGeom prst="rect">
              <a:avLst/>
            </a:prstGeom>
          </p:spPr>
          <p:txBody>
            <a:bodyPr anchor="t" rtlCol="false" tIns="0" lIns="0" bIns="0" rIns="0">
              <a:spAutoFit/>
            </a:bodyPr>
            <a:lstStyle/>
            <a:p>
              <a:pPr algn="l">
                <a:lnSpc>
                  <a:spcPts val="3219"/>
                </a:lnSpc>
              </a:pPr>
              <a:r>
                <a:rPr lang="en-US" sz="2300">
                  <a:solidFill>
                    <a:srgbClr val="FFFFFF"/>
                  </a:solidFill>
                  <a:latin typeface="Roboto"/>
                  <a:ea typeface="Roboto"/>
                  <a:cs typeface="Roboto"/>
                  <a:sym typeface="Roboto"/>
                </a:rPr>
                <a:t>Đóng gói &amp; Kiểm thử hệ thống</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366250" y="405000"/>
            <a:ext cx="11301259" cy="9882000"/>
          </a:xfrm>
          <a:custGeom>
            <a:avLst/>
            <a:gdLst/>
            <a:ahLst/>
            <a:cxnLst/>
            <a:rect r="r" b="b" t="t" l="l"/>
            <a:pathLst>
              <a:path h="9882000" w="11301259">
                <a:moveTo>
                  <a:pt x="0" y="0"/>
                </a:moveTo>
                <a:lnTo>
                  <a:pt x="11301259" y="0"/>
                </a:lnTo>
                <a:lnTo>
                  <a:pt x="11301259" y="9882000"/>
                </a:lnTo>
                <a:lnTo>
                  <a:pt x="0" y="9882000"/>
                </a:lnTo>
                <a:lnTo>
                  <a:pt x="0" y="0"/>
                </a:lnTo>
                <a:close/>
              </a:path>
            </a:pathLst>
          </a:custGeom>
          <a:blipFill>
            <a:blip r:embed="rId2"/>
            <a:stretch>
              <a:fillRect l="-27725" t="0" r="-27725" b="0"/>
            </a:stretch>
          </a:blipFill>
        </p:spPr>
      </p:sp>
      <p:grpSp>
        <p:nvGrpSpPr>
          <p:cNvPr name="Group 3" id="3"/>
          <p:cNvGrpSpPr/>
          <p:nvPr/>
        </p:nvGrpSpPr>
        <p:grpSpPr>
          <a:xfrm rot="0">
            <a:off x="6740979" y="2948726"/>
            <a:ext cx="10518321" cy="4389548"/>
            <a:chOff x="0" y="0"/>
            <a:chExt cx="14024429" cy="5852731"/>
          </a:xfrm>
        </p:grpSpPr>
        <p:sp>
          <p:nvSpPr>
            <p:cNvPr name="TextBox 4" id="4"/>
            <p:cNvSpPr txBox="true"/>
            <p:nvPr/>
          </p:nvSpPr>
          <p:spPr>
            <a:xfrm rot="0">
              <a:off x="0" y="-9525"/>
              <a:ext cx="14024429" cy="1635125"/>
            </a:xfrm>
            <a:prstGeom prst="rect">
              <a:avLst/>
            </a:prstGeom>
          </p:spPr>
          <p:txBody>
            <a:bodyPr anchor="t" rtlCol="false" tIns="0" lIns="0" bIns="0" rIns="0">
              <a:spAutoFit/>
            </a:bodyPr>
            <a:lstStyle/>
            <a:p>
              <a:pPr algn="l" marL="0" indent="0" lvl="0">
                <a:lnSpc>
                  <a:spcPts val="9600"/>
                </a:lnSpc>
                <a:spcBef>
                  <a:spcPct val="0"/>
                </a:spcBef>
              </a:pPr>
              <a:r>
                <a:rPr lang="en-US" b="true" sz="8000">
                  <a:solidFill>
                    <a:srgbClr val="090909"/>
                  </a:solidFill>
                  <a:latin typeface="Roboto Bold"/>
                  <a:ea typeface="Roboto Bold"/>
                  <a:cs typeface="Roboto Bold"/>
                  <a:sym typeface="Roboto Bold"/>
                </a:rPr>
                <a:t>Workshop Background</a:t>
              </a:r>
            </a:p>
          </p:txBody>
        </p:sp>
        <p:sp>
          <p:nvSpPr>
            <p:cNvPr name="TextBox 5" id="5"/>
            <p:cNvSpPr txBox="true"/>
            <p:nvPr/>
          </p:nvSpPr>
          <p:spPr>
            <a:xfrm rot="0">
              <a:off x="0" y="2322131"/>
              <a:ext cx="14024429" cy="3530600"/>
            </a:xfrm>
            <a:prstGeom prst="rect">
              <a:avLst/>
            </a:prstGeom>
          </p:spPr>
          <p:txBody>
            <a:bodyPr anchor="t" rtlCol="false" tIns="0" lIns="0" bIns="0" rIns="0">
              <a:spAutoFit/>
            </a:bodyPr>
            <a:lstStyle/>
            <a:p>
              <a:pPr algn="l" marL="0" indent="0" lvl="1">
                <a:lnSpc>
                  <a:spcPts val="4200"/>
                </a:lnSpc>
                <a:spcBef>
                  <a:spcPct val="0"/>
                </a:spcBef>
              </a:pPr>
              <a:r>
                <a:rPr lang="en-US" sz="3000" u="none">
                  <a:solidFill>
                    <a:srgbClr val="090909"/>
                  </a:solidFill>
                  <a:latin typeface="Roboto"/>
                  <a:ea typeface="Roboto"/>
                  <a:cs typeface="Roboto"/>
                  <a:sym typeface="Roboto"/>
                </a:rPr>
                <a:t>Contoso, một công ty chuyên kinh doanh các sản phẩm hoạt động ngoài trời. Để quảng bá sản phẩm và kết nối với khách hàng, bộ phận Marketing của Contoso mong muốn ra mắt một trang web mạng xã hội siêu nhỏ (micro social media) trong thời gian ngắn nhất dưới dạng một phiên bản MVP. </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740979" y="2682026"/>
            <a:ext cx="10518321" cy="4922948"/>
            <a:chOff x="0" y="0"/>
            <a:chExt cx="14024429" cy="6563931"/>
          </a:xfrm>
        </p:grpSpPr>
        <p:sp>
          <p:nvSpPr>
            <p:cNvPr name="TextBox 3" id="3"/>
            <p:cNvSpPr txBox="true"/>
            <p:nvPr/>
          </p:nvSpPr>
          <p:spPr>
            <a:xfrm rot="0">
              <a:off x="0" y="-9525"/>
              <a:ext cx="14024429" cy="1635125"/>
            </a:xfrm>
            <a:prstGeom prst="rect">
              <a:avLst/>
            </a:prstGeom>
          </p:spPr>
          <p:txBody>
            <a:bodyPr anchor="t" rtlCol="false" tIns="0" lIns="0" bIns="0" rIns="0">
              <a:spAutoFit/>
            </a:bodyPr>
            <a:lstStyle/>
            <a:p>
              <a:pPr algn="l" marL="0" indent="0" lvl="0">
                <a:lnSpc>
                  <a:spcPts val="9600"/>
                </a:lnSpc>
                <a:spcBef>
                  <a:spcPct val="0"/>
                </a:spcBef>
              </a:pPr>
              <a:r>
                <a:rPr lang="en-US" b="true" sz="8000">
                  <a:solidFill>
                    <a:srgbClr val="090909"/>
                  </a:solidFill>
                  <a:latin typeface="Roboto Bold"/>
                  <a:ea typeface="Roboto Bold"/>
                  <a:cs typeface="Roboto Bold"/>
                  <a:sym typeface="Roboto Bold"/>
                </a:rPr>
                <a:t>Mục tiêu</a:t>
              </a:r>
            </a:p>
          </p:txBody>
        </p:sp>
        <p:sp>
          <p:nvSpPr>
            <p:cNvPr name="TextBox 4" id="4"/>
            <p:cNvSpPr txBox="true"/>
            <p:nvPr/>
          </p:nvSpPr>
          <p:spPr>
            <a:xfrm rot="0">
              <a:off x="0" y="2322131"/>
              <a:ext cx="14024429" cy="4241800"/>
            </a:xfrm>
            <a:prstGeom prst="rect">
              <a:avLst/>
            </a:prstGeom>
          </p:spPr>
          <p:txBody>
            <a:bodyPr anchor="t" rtlCol="false" tIns="0" lIns="0" bIns="0" rIns="0">
              <a:spAutoFit/>
            </a:bodyPr>
            <a:lstStyle/>
            <a:p>
              <a:pPr algn="l">
                <a:lnSpc>
                  <a:spcPts val="4200"/>
                </a:lnSpc>
                <a:spcBef>
                  <a:spcPct val="0"/>
                </a:spcBef>
              </a:pPr>
              <a:r>
                <a:rPr lang="en-US" sz="3000">
                  <a:solidFill>
                    <a:srgbClr val="090909"/>
                  </a:solidFill>
                  <a:latin typeface="Roboto"/>
                  <a:ea typeface="Roboto"/>
                  <a:cs typeface="Roboto"/>
                  <a:sym typeface="Roboto"/>
                </a:rPr>
                <a:t>Thách thức đặ</a:t>
              </a:r>
              <a:r>
                <a:rPr lang="en-US" sz="3000" u="none">
                  <a:solidFill>
                    <a:srgbClr val="090909"/>
                  </a:solidFill>
                  <a:latin typeface="Roboto"/>
                  <a:ea typeface="Roboto"/>
                  <a:cs typeface="Roboto"/>
                  <a:sym typeface="Roboto"/>
                </a:rPr>
                <a:t>t ra là đội ngũ IT của Contoso hiện chỉ có hai lập trình viên sử dụng hai ngôn ngữ khác nhau là Python và JavaScript. Trong khi đó, thời hạn ra mắt đang cận kề, đòi hỏi cả hai phải phối hợp và bàn giao ứng dụng một cách nhanh chóng nhất có thể.</a:t>
              </a:r>
            </a:p>
            <a:p>
              <a:pPr algn="l" marL="0" indent="0" lvl="1">
                <a:lnSpc>
                  <a:spcPts val="4200"/>
                </a:lnSpc>
                <a:spcBef>
                  <a:spcPct val="0"/>
                </a:spcBef>
              </a:pPr>
            </a:p>
          </p:txBody>
        </p:sp>
      </p:grpSp>
      <p:sp>
        <p:nvSpPr>
          <p:cNvPr name="Freeform 5" id="5"/>
          <p:cNvSpPr/>
          <p:nvPr/>
        </p:nvSpPr>
        <p:spPr>
          <a:xfrm flipH="false" flipV="false" rot="0">
            <a:off x="-5366250" y="405000"/>
            <a:ext cx="11301259" cy="9882000"/>
          </a:xfrm>
          <a:custGeom>
            <a:avLst/>
            <a:gdLst/>
            <a:ahLst/>
            <a:cxnLst/>
            <a:rect r="r" b="b" t="t" l="l"/>
            <a:pathLst>
              <a:path h="9882000" w="11301259">
                <a:moveTo>
                  <a:pt x="0" y="0"/>
                </a:moveTo>
                <a:lnTo>
                  <a:pt x="11301259" y="0"/>
                </a:lnTo>
                <a:lnTo>
                  <a:pt x="11301259" y="9882000"/>
                </a:lnTo>
                <a:lnTo>
                  <a:pt x="0" y="9882000"/>
                </a:lnTo>
                <a:lnTo>
                  <a:pt x="0" y="0"/>
                </a:lnTo>
                <a:close/>
              </a:path>
            </a:pathLst>
          </a:custGeom>
          <a:blipFill>
            <a:blip r:embed="rId2"/>
            <a:stretch>
              <a:fillRect l="-27725" t="0" r="-27725" b="0"/>
            </a:stretch>
          </a:blipFill>
        </p:spPr>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1134155" y="4752975"/>
            <a:ext cx="17153845" cy="0"/>
          </a:xfrm>
          <a:prstGeom prst="line">
            <a:avLst/>
          </a:prstGeom>
          <a:ln cap="rnd" w="19050">
            <a:solidFill>
              <a:srgbClr val="090909"/>
            </a:solidFill>
            <a:prstDash val="solid"/>
            <a:headEnd type="none" len="sm" w="sm"/>
            <a:tailEnd type="none" len="sm" w="sm"/>
          </a:ln>
        </p:spPr>
      </p:sp>
      <p:sp>
        <p:nvSpPr>
          <p:cNvPr name="TextBox 3" id="3"/>
          <p:cNvSpPr txBox="true"/>
          <p:nvPr/>
        </p:nvSpPr>
        <p:spPr>
          <a:xfrm rot="0">
            <a:off x="1028700" y="1009650"/>
            <a:ext cx="15597945" cy="933450"/>
          </a:xfrm>
          <a:prstGeom prst="rect">
            <a:avLst/>
          </a:prstGeom>
        </p:spPr>
        <p:txBody>
          <a:bodyPr anchor="t" rtlCol="false" tIns="0" lIns="0" bIns="0" rIns="0">
            <a:spAutoFit/>
          </a:bodyPr>
          <a:lstStyle/>
          <a:p>
            <a:pPr algn="l" marL="0" indent="0" lvl="0">
              <a:lnSpc>
                <a:spcPts val="7200"/>
              </a:lnSpc>
              <a:spcBef>
                <a:spcPct val="0"/>
              </a:spcBef>
            </a:pPr>
            <a:r>
              <a:rPr lang="en-US" b="true" sz="6000">
                <a:solidFill>
                  <a:srgbClr val="090909"/>
                </a:solidFill>
                <a:latin typeface="Roboto Bold"/>
                <a:ea typeface="Roboto Bold"/>
                <a:cs typeface="Roboto Bold"/>
                <a:sym typeface="Roboto Bold"/>
              </a:rPr>
              <a:t>Cài đặt codespace</a:t>
            </a:r>
          </a:p>
        </p:txBody>
      </p:sp>
      <p:grpSp>
        <p:nvGrpSpPr>
          <p:cNvPr name="Group 4" id="4"/>
          <p:cNvGrpSpPr/>
          <p:nvPr/>
        </p:nvGrpSpPr>
        <p:grpSpPr>
          <a:xfrm rot="0">
            <a:off x="1028700" y="4647520"/>
            <a:ext cx="210911" cy="210911"/>
            <a:chOff x="0" y="0"/>
            <a:chExt cx="6350000" cy="6350000"/>
          </a:xfrm>
        </p:grpSpPr>
        <p:sp>
          <p:nvSpPr>
            <p:cNvPr name="Freeform 5" id="5"/>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BE40"/>
            </a:solidFill>
          </p:spPr>
        </p:sp>
      </p:grpSp>
      <p:sp>
        <p:nvSpPr>
          <p:cNvPr name="TextBox 6" id="6"/>
          <p:cNvSpPr txBox="true"/>
          <p:nvPr/>
        </p:nvSpPr>
        <p:spPr>
          <a:xfrm rot="0">
            <a:off x="1028700" y="3599770"/>
            <a:ext cx="2345108" cy="476250"/>
          </a:xfrm>
          <a:prstGeom prst="rect">
            <a:avLst/>
          </a:prstGeom>
        </p:spPr>
        <p:txBody>
          <a:bodyPr anchor="t" rtlCol="false" tIns="0" lIns="0" bIns="0" rIns="0">
            <a:spAutoFit/>
          </a:bodyPr>
          <a:lstStyle/>
          <a:p>
            <a:pPr algn="l">
              <a:lnSpc>
                <a:spcPts val="3600"/>
              </a:lnSpc>
            </a:pPr>
            <a:r>
              <a:rPr lang="en-US" sz="3000" b="true">
                <a:solidFill>
                  <a:srgbClr val="090909"/>
                </a:solidFill>
                <a:latin typeface="Roboto Bold"/>
                <a:ea typeface="Roboto Bold"/>
                <a:cs typeface="Roboto Bold"/>
                <a:sym typeface="Roboto Bold"/>
              </a:rPr>
              <a:t>Intent</a:t>
            </a:r>
          </a:p>
        </p:txBody>
      </p:sp>
      <p:grpSp>
        <p:nvGrpSpPr>
          <p:cNvPr name="Group 7" id="7"/>
          <p:cNvGrpSpPr/>
          <p:nvPr/>
        </p:nvGrpSpPr>
        <p:grpSpPr>
          <a:xfrm rot="0">
            <a:off x="1028700" y="5525180"/>
            <a:ext cx="2790608" cy="2277593"/>
            <a:chOff x="0" y="0"/>
            <a:chExt cx="3720811" cy="3036791"/>
          </a:xfrm>
        </p:grpSpPr>
        <p:sp>
          <p:nvSpPr>
            <p:cNvPr name="TextBox 8" id="8"/>
            <p:cNvSpPr txBox="true"/>
            <p:nvPr/>
          </p:nvSpPr>
          <p:spPr>
            <a:xfrm rot="0">
              <a:off x="0" y="2577474"/>
              <a:ext cx="3720811" cy="459317"/>
            </a:xfrm>
            <a:prstGeom prst="rect">
              <a:avLst/>
            </a:prstGeom>
          </p:spPr>
          <p:txBody>
            <a:bodyPr anchor="t" rtlCol="false" tIns="0" lIns="0" bIns="0" rIns="0">
              <a:spAutoFit/>
            </a:bodyPr>
            <a:lstStyle/>
            <a:p>
              <a:pPr algn="l" marL="0" indent="0" lvl="1">
                <a:lnSpc>
                  <a:spcPts val="2800"/>
                </a:lnSpc>
                <a:spcBef>
                  <a:spcPct val="0"/>
                </a:spcBef>
              </a:pPr>
            </a:p>
          </p:txBody>
        </p:sp>
        <p:sp>
          <p:nvSpPr>
            <p:cNvPr name="TextBox 9" id="9"/>
            <p:cNvSpPr txBox="true"/>
            <p:nvPr/>
          </p:nvSpPr>
          <p:spPr>
            <a:xfrm rot="0">
              <a:off x="0" y="-57150"/>
              <a:ext cx="3720811" cy="2309283"/>
            </a:xfrm>
            <a:prstGeom prst="rect">
              <a:avLst/>
            </a:prstGeom>
          </p:spPr>
          <p:txBody>
            <a:bodyPr anchor="t" rtlCol="false" tIns="0" lIns="0" bIns="0" rIns="0">
              <a:spAutoFit/>
            </a:bodyPr>
            <a:lstStyle/>
            <a:p>
              <a:pPr algn="l" marL="0" indent="0" lvl="1">
                <a:lnSpc>
                  <a:spcPts val="3500"/>
                </a:lnSpc>
                <a:spcBef>
                  <a:spcPct val="0"/>
                </a:spcBef>
              </a:pPr>
              <a:r>
                <a:rPr lang="en-US" sz="2500">
                  <a:solidFill>
                    <a:srgbClr val="090909"/>
                  </a:solidFill>
                  <a:latin typeface="Roboto"/>
                  <a:ea typeface="Roboto"/>
                  <a:cs typeface="Roboto"/>
                  <a:sym typeface="Roboto"/>
                </a:rPr>
                <a:t>Lập trìn</a:t>
              </a:r>
              <a:r>
                <a:rPr lang="en-US" sz="2500" u="none">
                  <a:solidFill>
                    <a:srgbClr val="090909"/>
                  </a:solidFill>
                  <a:latin typeface="Roboto"/>
                  <a:ea typeface="Roboto"/>
                  <a:cs typeface="Roboto"/>
                  <a:sym typeface="Roboto"/>
                </a:rPr>
                <a:t>h viên mô tả nghiệp vụ bằng ngôn ngữ tự nhiên (Natural Language)</a:t>
              </a:r>
            </a:p>
          </p:txBody>
        </p:sp>
      </p:grpSp>
      <p:grpSp>
        <p:nvGrpSpPr>
          <p:cNvPr name="Group 10" id="10"/>
          <p:cNvGrpSpPr/>
          <p:nvPr/>
        </p:nvGrpSpPr>
        <p:grpSpPr>
          <a:xfrm rot="0">
            <a:off x="4500073" y="4647520"/>
            <a:ext cx="210911" cy="210911"/>
            <a:chOff x="0" y="0"/>
            <a:chExt cx="6350000" cy="6350000"/>
          </a:xfrm>
        </p:grpSpPr>
        <p:sp>
          <p:nvSpPr>
            <p:cNvPr name="Freeform 11" id="11"/>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BE40"/>
            </a:solidFill>
          </p:spPr>
        </p:sp>
      </p:grpSp>
      <p:grpSp>
        <p:nvGrpSpPr>
          <p:cNvPr name="Group 12" id="12"/>
          <p:cNvGrpSpPr/>
          <p:nvPr/>
        </p:nvGrpSpPr>
        <p:grpSpPr>
          <a:xfrm rot="0">
            <a:off x="7971446" y="4647520"/>
            <a:ext cx="210911" cy="210911"/>
            <a:chOff x="0" y="0"/>
            <a:chExt cx="6350000" cy="6350000"/>
          </a:xfrm>
        </p:grpSpPr>
        <p:sp>
          <p:nvSpPr>
            <p:cNvPr name="Freeform 13" id="1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BE40"/>
            </a:solidFill>
          </p:spPr>
        </p:sp>
      </p:grpSp>
      <p:sp>
        <p:nvSpPr>
          <p:cNvPr name="TextBox 14" id="14"/>
          <p:cNvSpPr txBox="true"/>
          <p:nvPr/>
        </p:nvSpPr>
        <p:spPr>
          <a:xfrm rot="0">
            <a:off x="7971446" y="3599770"/>
            <a:ext cx="2345108" cy="476250"/>
          </a:xfrm>
          <a:prstGeom prst="rect">
            <a:avLst/>
          </a:prstGeom>
        </p:spPr>
        <p:txBody>
          <a:bodyPr anchor="t" rtlCol="false" tIns="0" lIns="0" bIns="0" rIns="0">
            <a:spAutoFit/>
          </a:bodyPr>
          <a:lstStyle/>
          <a:p>
            <a:pPr algn="l">
              <a:lnSpc>
                <a:spcPts val="3600"/>
              </a:lnSpc>
            </a:pPr>
            <a:r>
              <a:rPr lang="en-US" sz="3000" b="true">
                <a:solidFill>
                  <a:srgbClr val="090909"/>
                </a:solidFill>
                <a:latin typeface="Roboto Bold"/>
                <a:ea typeface="Roboto Bold"/>
                <a:cs typeface="Roboto Bold"/>
                <a:sym typeface="Roboto Bold"/>
              </a:rPr>
              <a:t>Context</a:t>
            </a:r>
          </a:p>
        </p:txBody>
      </p:sp>
      <p:grpSp>
        <p:nvGrpSpPr>
          <p:cNvPr name="Group 15" id="15"/>
          <p:cNvGrpSpPr/>
          <p:nvPr/>
        </p:nvGrpSpPr>
        <p:grpSpPr>
          <a:xfrm rot="0">
            <a:off x="7971446" y="5525180"/>
            <a:ext cx="2770358" cy="2277593"/>
            <a:chOff x="0" y="0"/>
            <a:chExt cx="3693811" cy="3036791"/>
          </a:xfrm>
        </p:grpSpPr>
        <p:sp>
          <p:nvSpPr>
            <p:cNvPr name="TextBox 16" id="16"/>
            <p:cNvSpPr txBox="true"/>
            <p:nvPr/>
          </p:nvSpPr>
          <p:spPr>
            <a:xfrm rot="0">
              <a:off x="0" y="2577474"/>
              <a:ext cx="3693811" cy="459317"/>
            </a:xfrm>
            <a:prstGeom prst="rect">
              <a:avLst/>
            </a:prstGeom>
          </p:spPr>
          <p:txBody>
            <a:bodyPr anchor="t" rtlCol="false" tIns="0" lIns="0" bIns="0" rIns="0">
              <a:spAutoFit/>
            </a:bodyPr>
            <a:lstStyle/>
            <a:p>
              <a:pPr algn="l" marL="0" indent="0" lvl="1">
                <a:lnSpc>
                  <a:spcPts val="2800"/>
                </a:lnSpc>
                <a:spcBef>
                  <a:spcPct val="0"/>
                </a:spcBef>
              </a:pPr>
              <a:r>
                <a:rPr lang="en-US" sz="2000">
                  <a:solidFill>
                    <a:srgbClr val="090909"/>
                  </a:solidFill>
                  <a:latin typeface="Roboto"/>
                  <a:ea typeface="Roboto"/>
                  <a:cs typeface="Roboto"/>
                  <a:sym typeface="Roboto"/>
                </a:rPr>
                <a:t>=</a:t>
              </a:r>
            </a:p>
          </p:txBody>
        </p:sp>
        <p:sp>
          <p:nvSpPr>
            <p:cNvPr name="TextBox 17" id="17"/>
            <p:cNvSpPr txBox="true"/>
            <p:nvPr/>
          </p:nvSpPr>
          <p:spPr>
            <a:xfrm rot="0">
              <a:off x="0" y="-57150"/>
              <a:ext cx="3693811" cy="2309283"/>
            </a:xfrm>
            <a:prstGeom prst="rect">
              <a:avLst/>
            </a:prstGeom>
          </p:spPr>
          <p:txBody>
            <a:bodyPr anchor="t" rtlCol="false" tIns="0" lIns="0" bIns="0" rIns="0">
              <a:spAutoFit/>
            </a:bodyPr>
            <a:lstStyle/>
            <a:p>
              <a:pPr algn="l" marL="0" indent="0" lvl="1">
                <a:lnSpc>
                  <a:spcPts val="3500"/>
                </a:lnSpc>
                <a:spcBef>
                  <a:spcPct val="0"/>
                </a:spcBef>
              </a:pPr>
              <a:r>
                <a:rPr lang="en-US" sz="2500">
                  <a:solidFill>
                    <a:srgbClr val="090909"/>
                  </a:solidFill>
                  <a:latin typeface="Roboto"/>
                  <a:ea typeface="Roboto"/>
                  <a:cs typeface="Roboto"/>
                  <a:sym typeface="Roboto"/>
                </a:rPr>
                <a:t>Hệ</a:t>
              </a:r>
              <a:r>
                <a:rPr lang="en-US" sz="2500">
                  <a:solidFill>
                    <a:srgbClr val="090909"/>
                  </a:solidFill>
                  <a:latin typeface="Roboto"/>
                  <a:ea typeface="Roboto"/>
                  <a:cs typeface="Roboto"/>
                  <a:sym typeface="Roboto"/>
                </a:rPr>
                <a:t> thống cung cấp tài liệu dự án (PRD) và quy tắc (Rules) cho AI</a:t>
              </a:r>
            </a:p>
          </p:txBody>
        </p:sp>
      </p:grpSp>
      <p:grpSp>
        <p:nvGrpSpPr>
          <p:cNvPr name="Group 18" id="18"/>
          <p:cNvGrpSpPr/>
          <p:nvPr/>
        </p:nvGrpSpPr>
        <p:grpSpPr>
          <a:xfrm rot="0">
            <a:off x="11442819" y="4647520"/>
            <a:ext cx="210911" cy="210911"/>
            <a:chOff x="0" y="0"/>
            <a:chExt cx="6350000" cy="6350000"/>
          </a:xfrm>
        </p:grpSpPr>
        <p:sp>
          <p:nvSpPr>
            <p:cNvPr name="Freeform 19" id="19"/>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BE40"/>
            </a:solidFill>
          </p:spPr>
        </p:sp>
      </p:grpSp>
      <p:grpSp>
        <p:nvGrpSpPr>
          <p:cNvPr name="Group 20" id="20"/>
          <p:cNvGrpSpPr/>
          <p:nvPr/>
        </p:nvGrpSpPr>
        <p:grpSpPr>
          <a:xfrm rot="0">
            <a:off x="14914192" y="4647520"/>
            <a:ext cx="210911" cy="210911"/>
            <a:chOff x="0" y="0"/>
            <a:chExt cx="6350000" cy="6350000"/>
          </a:xfrm>
        </p:grpSpPr>
        <p:sp>
          <p:nvSpPr>
            <p:cNvPr name="Freeform 21" id="21"/>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BE40"/>
            </a:solidFill>
          </p:spPr>
        </p:sp>
      </p:grpSp>
      <p:sp>
        <p:nvSpPr>
          <p:cNvPr name="TextBox 22" id="22"/>
          <p:cNvSpPr txBox="true"/>
          <p:nvPr/>
        </p:nvSpPr>
        <p:spPr>
          <a:xfrm rot="0">
            <a:off x="14914192" y="3599770"/>
            <a:ext cx="2345108" cy="476250"/>
          </a:xfrm>
          <a:prstGeom prst="rect">
            <a:avLst/>
          </a:prstGeom>
        </p:spPr>
        <p:txBody>
          <a:bodyPr anchor="t" rtlCol="false" tIns="0" lIns="0" bIns="0" rIns="0">
            <a:spAutoFit/>
          </a:bodyPr>
          <a:lstStyle/>
          <a:p>
            <a:pPr algn="l">
              <a:lnSpc>
                <a:spcPts val="3600"/>
              </a:lnSpc>
            </a:pPr>
            <a:r>
              <a:rPr lang="en-US" sz="3000" b="true">
                <a:solidFill>
                  <a:srgbClr val="090909"/>
                </a:solidFill>
                <a:latin typeface="Roboto Bold"/>
                <a:ea typeface="Roboto Bold"/>
                <a:cs typeface="Roboto Bold"/>
                <a:sym typeface="Roboto Bold"/>
              </a:rPr>
              <a:t>Generation</a:t>
            </a:r>
          </a:p>
        </p:txBody>
      </p:sp>
      <p:sp>
        <p:nvSpPr>
          <p:cNvPr name="TextBox 23" id="23"/>
          <p:cNvSpPr txBox="true"/>
          <p:nvPr/>
        </p:nvSpPr>
        <p:spPr>
          <a:xfrm rot="0">
            <a:off x="14914192" y="5468030"/>
            <a:ext cx="2608358" cy="2622550"/>
          </a:xfrm>
          <a:prstGeom prst="rect">
            <a:avLst/>
          </a:prstGeom>
        </p:spPr>
        <p:txBody>
          <a:bodyPr anchor="t" rtlCol="false" tIns="0" lIns="0" bIns="0" rIns="0">
            <a:spAutoFit/>
          </a:bodyPr>
          <a:lstStyle/>
          <a:p>
            <a:pPr algn="l" marL="0" indent="0" lvl="1">
              <a:lnSpc>
                <a:spcPts val="3500"/>
              </a:lnSpc>
              <a:spcBef>
                <a:spcPct val="0"/>
              </a:spcBef>
            </a:pPr>
            <a:r>
              <a:rPr lang="en-US" sz="2500">
                <a:solidFill>
                  <a:srgbClr val="090909"/>
                </a:solidFill>
                <a:latin typeface="Roboto"/>
                <a:ea typeface="Roboto"/>
                <a:cs typeface="Roboto"/>
                <a:sym typeface="Roboto"/>
              </a:rPr>
              <a:t>AI p</a:t>
            </a:r>
            <a:r>
              <a:rPr lang="en-US" sz="2500">
                <a:solidFill>
                  <a:srgbClr val="090909"/>
                </a:solidFill>
                <a:latin typeface="Roboto"/>
                <a:ea typeface="Roboto"/>
                <a:cs typeface="Roboto"/>
                <a:sym typeface="Roboto"/>
              </a:rPr>
              <a:t>hân tích và chuyển đổi ý định thành các đặc tả kỹ thuật (OpenAPI) và mã nguồn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90909"/>
        </a:solidFill>
      </p:bgPr>
    </p:bg>
    <p:spTree>
      <p:nvGrpSpPr>
        <p:cNvPr id="1" name=""/>
        <p:cNvGrpSpPr/>
        <p:nvPr/>
      </p:nvGrpSpPr>
      <p:grpSpPr>
        <a:xfrm>
          <a:off x="0" y="0"/>
          <a:ext cx="0" cy="0"/>
          <a:chOff x="0" y="0"/>
          <a:chExt cx="0" cy="0"/>
        </a:xfrm>
      </p:grpSpPr>
      <p:sp>
        <p:nvSpPr>
          <p:cNvPr name="Freeform 2" id="2"/>
          <p:cNvSpPr/>
          <p:nvPr/>
        </p:nvSpPr>
        <p:spPr>
          <a:xfrm flipH="false" flipV="false" rot="0">
            <a:off x="14394862" y="8042971"/>
            <a:ext cx="579754" cy="612024"/>
          </a:xfrm>
          <a:custGeom>
            <a:avLst/>
            <a:gdLst/>
            <a:ahLst/>
            <a:cxnLst/>
            <a:rect r="r" b="b" t="t" l="l"/>
            <a:pathLst>
              <a:path h="612024" w="579754">
                <a:moveTo>
                  <a:pt x="0" y="0"/>
                </a:moveTo>
                <a:lnTo>
                  <a:pt x="579754" y="0"/>
                </a:lnTo>
                <a:lnTo>
                  <a:pt x="579754" y="612024"/>
                </a:lnTo>
                <a:lnTo>
                  <a:pt x="0" y="6120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313384" y="8042971"/>
            <a:ext cx="624949" cy="642471"/>
          </a:xfrm>
          <a:custGeom>
            <a:avLst/>
            <a:gdLst/>
            <a:ahLst/>
            <a:cxnLst/>
            <a:rect r="r" b="b" t="t" l="l"/>
            <a:pathLst>
              <a:path h="642471" w="624949">
                <a:moveTo>
                  <a:pt x="0" y="0"/>
                </a:moveTo>
                <a:lnTo>
                  <a:pt x="624949" y="0"/>
                </a:lnTo>
                <a:lnTo>
                  <a:pt x="624949" y="642471"/>
                </a:lnTo>
                <a:lnTo>
                  <a:pt x="0" y="6424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8854123" y="8042971"/>
            <a:ext cx="662962" cy="642471"/>
          </a:xfrm>
          <a:custGeom>
            <a:avLst/>
            <a:gdLst/>
            <a:ahLst/>
            <a:cxnLst/>
            <a:rect r="r" b="b" t="t" l="l"/>
            <a:pathLst>
              <a:path h="642471" w="662962">
                <a:moveTo>
                  <a:pt x="0" y="0"/>
                </a:moveTo>
                <a:lnTo>
                  <a:pt x="662962" y="0"/>
                </a:lnTo>
                <a:lnTo>
                  <a:pt x="662962" y="642471"/>
                </a:lnTo>
                <a:lnTo>
                  <a:pt x="0" y="64247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2684421" y="2212223"/>
            <a:ext cx="12919159" cy="5659299"/>
          </a:xfrm>
          <a:custGeom>
            <a:avLst/>
            <a:gdLst/>
            <a:ahLst/>
            <a:cxnLst/>
            <a:rect r="r" b="b" t="t" l="l"/>
            <a:pathLst>
              <a:path h="5659299" w="12919159">
                <a:moveTo>
                  <a:pt x="0" y="0"/>
                </a:moveTo>
                <a:lnTo>
                  <a:pt x="12919158" y="0"/>
                </a:lnTo>
                <a:lnTo>
                  <a:pt x="12919158" y="5659298"/>
                </a:lnTo>
                <a:lnTo>
                  <a:pt x="0" y="5659298"/>
                </a:lnTo>
                <a:lnTo>
                  <a:pt x="0" y="0"/>
                </a:lnTo>
                <a:close/>
              </a:path>
            </a:pathLst>
          </a:custGeom>
          <a:blipFill>
            <a:blip r:embed="rId8"/>
            <a:stretch>
              <a:fillRect l="0" t="-15773" r="0" b="-15773"/>
            </a:stretch>
          </a:blipFill>
        </p:spPr>
      </p:sp>
      <p:sp>
        <p:nvSpPr>
          <p:cNvPr name="TextBox 6" id="6"/>
          <p:cNvSpPr txBox="true"/>
          <p:nvPr/>
        </p:nvSpPr>
        <p:spPr>
          <a:xfrm rot="0">
            <a:off x="1623995" y="1587294"/>
            <a:ext cx="13060744" cy="457200"/>
          </a:xfrm>
          <a:prstGeom prst="rect">
            <a:avLst/>
          </a:prstGeom>
        </p:spPr>
        <p:txBody>
          <a:bodyPr anchor="t" rtlCol="false" tIns="0" lIns="0" bIns="0" rIns="0">
            <a:spAutoFit/>
          </a:bodyPr>
          <a:lstStyle/>
          <a:p>
            <a:pPr algn="l">
              <a:lnSpc>
                <a:spcPts val="3599"/>
              </a:lnSpc>
            </a:pPr>
            <a:r>
              <a:rPr lang="en-US" b="true" sz="2999" spc="89">
                <a:solidFill>
                  <a:srgbClr val="FFBE40"/>
                </a:solidFill>
                <a:latin typeface="Roboto Bold"/>
                <a:ea typeface="Roboto Bold"/>
                <a:cs typeface="Roboto Bold"/>
                <a:sym typeface="Roboto Bold"/>
              </a:rPr>
              <a:t>LOGICAL LEVEL</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9144000" y="0"/>
            <a:ext cx="9144000" cy="10287000"/>
          </a:xfrm>
          <a:prstGeom prst="rect">
            <a:avLst/>
          </a:prstGeom>
          <a:solidFill>
            <a:srgbClr val="090909"/>
          </a:solidFill>
        </p:spPr>
      </p:sp>
      <p:grpSp>
        <p:nvGrpSpPr>
          <p:cNvPr name="Group 3" id="3"/>
          <p:cNvGrpSpPr/>
          <p:nvPr/>
        </p:nvGrpSpPr>
        <p:grpSpPr>
          <a:xfrm rot="0">
            <a:off x="10650141" y="5927250"/>
            <a:ext cx="6131719" cy="806450"/>
            <a:chOff x="0" y="0"/>
            <a:chExt cx="8175625" cy="1075267"/>
          </a:xfrm>
        </p:grpSpPr>
        <p:grpSp>
          <p:nvGrpSpPr>
            <p:cNvPr name="Group 4" id="4"/>
            <p:cNvGrpSpPr/>
            <p:nvPr/>
          </p:nvGrpSpPr>
          <p:grpSpPr>
            <a:xfrm rot="0">
              <a:off x="0" y="134560"/>
              <a:ext cx="230414" cy="230414"/>
              <a:chOff x="0" y="0"/>
              <a:chExt cx="6350000" cy="6350000"/>
            </a:xfrm>
          </p:grpSpPr>
          <p:sp>
            <p:nvSpPr>
              <p:cNvPr name="Freeform 5" id="5"/>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BE40"/>
              </a:solidFill>
            </p:spPr>
          </p:sp>
        </p:grpSp>
        <p:sp>
          <p:nvSpPr>
            <p:cNvPr name="TextBox 6" id="6"/>
            <p:cNvSpPr txBox="true"/>
            <p:nvPr/>
          </p:nvSpPr>
          <p:spPr>
            <a:xfrm rot="0">
              <a:off x="800554" y="-57150"/>
              <a:ext cx="7375071" cy="1140883"/>
            </a:xfrm>
            <a:prstGeom prst="rect">
              <a:avLst/>
            </a:prstGeom>
          </p:spPr>
          <p:txBody>
            <a:bodyPr anchor="t" rtlCol="false" tIns="0" lIns="0" bIns="0" rIns="0">
              <a:spAutoFit/>
            </a:bodyPr>
            <a:lstStyle/>
            <a:p>
              <a:pPr algn="l">
                <a:lnSpc>
                  <a:spcPts val="3500"/>
                </a:lnSpc>
              </a:pPr>
              <a:r>
                <a:rPr lang="en-US" sz="2500">
                  <a:solidFill>
                    <a:srgbClr val="FFFFFF"/>
                  </a:solidFill>
                  <a:latin typeface="Roboto"/>
                  <a:ea typeface="Roboto"/>
                  <a:cs typeface="Roboto"/>
                  <a:sym typeface="Roboto"/>
                </a:rPr>
                <a:t>Sao </a:t>
              </a:r>
              <a:r>
                <a:rPr lang="en-US" sz="2500">
                  <a:solidFill>
                    <a:srgbClr val="FFFFFF"/>
                  </a:solidFill>
                  <a:latin typeface="Roboto"/>
                  <a:ea typeface="Roboto"/>
                  <a:cs typeface="Roboto"/>
                  <a:sym typeface="Roboto"/>
                </a:rPr>
                <a:t>chép cấu hình từ thư mục docs/ để kích hoạt các extension hỗ trợ.</a:t>
              </a:r>
            </a:p>
          </p:txBody>
        </p:sp>
      </p:grpSp>
      <p:grpSp>
        <p:nvGrpSpPr>
          <p:cNvPr name="Group 7" id="7"/>
          <p:cNvGrpSpPr/>
          <p:nvPr/>
        </p:nvGrpSpPr>
        <p:grpSpPr>
          <a:xfrm rot="0">
            <a:off x="1506141" y="1595218"/>
            <a:ext cx="6131719" cy="2739013"/>
            <a:chOff x="0" y="0"/>
            <a:chExt cx="8175625" cy="3652017"/>
          </a:xfrm>
        </p:grpSpPr>
        <p:sp>
          <p:nvSpPr>
            <p:cNvPr name="TextBox 8" id="8"/>
            <p:cNvSpPr txBox="true"/>
            <p:nvPr/>
          </p:nvSpPr>
          <p:spPr>
            <a:xfrm rot="0">
              <a:off x="0" y="1610492"/>
              <a:ext cx="8175625" cy="1025525"/>
            </a:xfrm>
            <a:prstGeom prst="rect">
              <a:avLst/>
            </a:prstGeom>
          </p:spPr>
          <p:txBody>
            <a:bodyPr anchor="t" rtlCol="false" tIns="0" lIns="0" bIns="0" rIns="0">
              <a:spAutoFit/>
            </a:bodyPr>
            <a:lstStyle/>
            <a:p>
              <a:pPr algn="l">
                <a:lnSpc>
                  <a:spcPts val="6000"/>
                </a:lnSpc>
              </a:pPr>
              <a:r>
                <a:rPr lang="en-US" sz="5000" b="true">
                  <a:solidFill>
                    <a:srgbClr val="090909"/>
                  </a:solidFill>
                  <a:latin typeface="Roboto Bold"/>
                  <a:ea typeface="Roboto Bold"/>
                  <a:cs typeface="Roboto Bold"/>
                  <a:sym typeface="Roboto Bold"/>
                </a:rPr>
                <a:t>Cấu hình AI Agent</a:t>
              </a:r>
            </a:p>
          </p:txBody>
        </p:sp>
        <p:sp>
          <p:nvSpPr>
            <p:cNvPr name="Freeform 9" id="9"/>
            <p:cNvSpPr/>
            <p:nvPr/>
          </p:nvSpPr>
          <p:spPr>
            <a:xfrm flipH="false" flipV="false" rot="0">
              <a:off x="0" y="0"/>
              <a:ext cx="967672" cy="943041"/>
            </a:xfrm>
            <a:custGeom>
              <a:avLst/>
              <a:gdLst/>
              <a:ahLst/>
              <a:cxnLst/>
              <a:rect r="r" b="b" t="t" l="l"/>
              <a:pathLst>
                <a:path h="943041" w="967672">
                  <a:moveTo>
                    <a:pt x="0" y="0"/>
                  </a:moveTo>
                  <a:lnTo>
                    <a:pt x="967672" y="0"/>
                  </a:lnTo>
                  <a:lnTo>
                    <a:pt x="967672" y="943041"/>
                  </a:lnTo>
                  <a:lnTo>
                    <a:pt x="0" y="9430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10" id="10"/>
          <p:cNvGrpSpPr/>
          <p:nvPr/>
        </p:nvGrpSpPr>
        <p:grpSpPr>
          <a:xfrm rot="0">
            <a:off x="10650141" y="1691649"/>
            <a:ext cx="6131719" cy="2642583"/>
            <a:chOff x="0" y="0"/>
            <a:chExt cx="8175625" cy="3523444"/>
          </a:xfrm>
        </p:grpSpPr>
        <p:sp>
          <p:nvSpPr>
            <p:cNvPr name="TextBox 11" id="11"/>
            <p:cNvSpPr txBox="true"/>
            <p:nvPr/>
          </p:nvSpPr>
          <p:spPr>
            <a:xfrm rot="0">
              <a:off x="0" y="1481919"/>
              <a:ext cx="8175625" cy="1025525"/>
            </a:xfrm>
            <a:prstGeom prst="rect">
              <a:avLst/>
            </a:prstGeom>
          </p:spPr>
          <p:txBody>
            <a:bodyPr anchor="t" rtlCol="false" tIns="0" lIns="0" bIns="0" rIns="0">
              <a:spAutoFit/>
            </a:bodyPr>
            <a:lstStyle/>
            <a:p>
              <a:pPr algn="l">
                <a:lnSpc>
                  <a:spcPts val="6000"/>
                </a:lnSpc>
              </a:pPr>
              <a:r>
                <a:rPr lang="en-US" sz="5000" b="true">
                  <a:solidFill>
                    <a:srgbClr val="FFFFFF"/>
                  </a:solidFill>
                  <a:latin typeface="Roboto Bold"/>
                  <a:ea typeface="Roboto Bold"/>
                  <a:cs typeface="Roboto Bold"/>
                  <a:sym typeface="Roboto Bold"/>
                </a:rPr>
                <a:t>Workspace setting</a:t>
              </a:r>
            </a:p>
          </p:txBody>
        </p:sp>
        <p:sp>
          <p:nvSpPr>
            <p:cNvPr name="Freeform 12" id="12"/>
            <p:cNvSpPr/>
            <p:nvPr/>
          </p:nvSpPr>
          <p:spPr>
            <a:xfrm flipH="false" flipV="false" rot="0">
              <a:off x="0" y="0"/>
              <a:ext cx="1148608" cy="814467"/>
            </a:xfrm>
            <a:custGeom>
              <a:avLst/>
              <a:gdLst/>
              <a:ahLst/>
              <a:cxnLst/>
              <a:rect r="r" b="b" t="t" l="l"/>
              <a:pathLst>
                <a:path h="814467" w="1148608">
                  <a:moveTo>
                    <a:pt x="0" y="0"/>
                  </a:moveTo>
                  <a:lnTo>
                    <a:pt x="1148608" y="0"/>
                  </a:lnTo>
                  <a:lnTo>
                    <a:pt x="1148608" y="814467"/>
                  </a:lnTo>
                  <a:lnTo>
                    <a:pt x="0" y="81446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Freeform 13" id="13"/>
          <p:cNvSpPr/>
          <p:nvPr/>
        </p:nvSpPr>
        <p:spPr>
          <a:xfrm flipH="false" flipV="false" rot="0">
            <a:off x="1374363" y="3901670"/>
            <a:ext cx="6263496" cy="5664060"/>
          </a:xfrm>
          <a:custGeom>
            <a:avLst/>
            <a:gdLst/>
            <a:ahLst/>
            <a:cxnLst/>
            <a:rect r="r" b="b" t="t" l="l"/>
            <a:pathLst>
              <a:path h="5664060" w="6263496">
                <a:moveTo>
                  <a:pt x="0" y="0"/>
                </a:moveTo>
                <a:lnTo>
                  <a:pt x="6263496" y="0"/>
                </a:lnTo>
                <a:lnTo>
                  <a:pt x="6263496" y="5664060"/>
                </a:lnTo>
                <a:lnTo>
                  <a:pt x="0" y="5664060"/>
                </a:lnTo>
                <a:lnTo>
                  <a:pt x="0" y="0"/>
                </a:lnTo>
                <a:close/>
              </a:path>
            </a:pathLst>
          </a:custGeom>
          <a:blipFill>
            <a:blip r:embed="rId6"/>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9144000" y="0"/>
            <a:ext cx="9144000" cy="10287000"/>
          </a:xfrm>
          <a:prstGeom prst="rect">
            <a:avLst/>
          </a:prstGeom>
          <a:solidFill>
            <a:srgbClr val="090909"/>
          </a:solidFill>
        </p:spPr>
      </p:sp>
      <p:grpSp>
        <p:nvGrpSpPr>
          <p:cNvPr name="Group 3" id="3"/>
          <p:cNvGrpSpPr/>
          <p:nvPr/>
        </p:nvGrpSpPr>
        <p:grpSpPr>
          <a:xfrm rot="0">
            <a:off x="10650141" y="5927250"/>
            <a:ext cx="6131719" cy="806450"/>
            <a:chOff x="0" y="0"/>
            <a:chExt cx="8175625" cy="1075267"/>
          </a:xfrm>
        </p:grpSpPr>
        <p:grpSp>
          <p:nvGrpSpPr>
            <p:cNvPr name="Group 4" id="4"/>
            <p:cNvGrpSpPr/>
            <p:nvPr/>
          </p:nvGrpSpPr>
          <p:grpSpPr>
            <a:xfrm rot="0">
              <a:off x="0" y="134560"/>
              <a:ext cx="230414" cy="230414"/>
              <a:chOff x="0" y="0"/>
              <a:chExt cx="6350000" cy="6350000"/>
            </a:xfrm>
          </p:grpSpPr>
          <p:sp>
            <p:nvSpPr>
              <p:cNvPr name="Freeform 5" id="5"/>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BE40"/>
              </a:solidFill>
            </p:spPr>
          </p:sp>
        </p:grpSp>
        <p:sp>
          <p:nvSpPr>
            <p:cNvPr name="TextBox 6" id="6"/>
            <p:cNvSpPr txBox="true"/>
            <p:nvPr/>
          </p:nvSpPr>
          <p:spPr>
            <a:xfrm rot="0">
              <a:off x="800554" y="-57150"/>
              <a:ext cx="7375071" cy="1140883"/>
            </a:xfrm>
            <a:prstGeom prst="rect">
              <a:avLst/>
            </a:prstGeom>
          </p:spPr>
          <p:txBody>
            <a:bodyPr anchor="t" rtlCol="false" tIns="0" lIns="0" bIns="0" rIns="0">
              <a:spAutoFit/>
            </a:bodyPr>
            <a:lstStyle/>
            <a:p>
              <a:pPr algn="l">
                <a:lnSpc>
                  <a:spcPts val="3500"/>
                </a:lnSpc>
              </a:pPr>
              <a:r>
                <a:rPr lang="en-US" sz="2500">
                  <a:solidFill>
                    <a:srgbClr val="FFFFFF"/>
                  </a:solidFill>
                  <a:latin typeface="Roboto"/>
                  <a:ea typeface="Roboto"/>
                  <a:cs typeface="Roboto"/>
                  <a:sym typeface="Roboto"/>
                </a:rPr>
                <a:t>Sao </a:t>
              </a:r>
              <a:r>
                <a:rPr lang="en-US" sz="2500">
                  <a:solidFill>
                    <a:srgbClr val="FFFFFF"/>
                  </a:solidFill>
                  <a:latin typeface="Roboto"/>
                  <a:ea typeface="Roboto"/>
                  <a:cs typeface="Roboto"/>
                  <a:sym typeface="Roboto"/>
                </a:rPr>
                <a:t>chép cấu hình từ thư mục docs/ để kích hoạt các extension hỗ trợ.</a:t>
              </a:r>
            </a:p>
          </p:txBody>
        </p:sp>
      </p:grpSp>
      <p:grpSp>
        <p:nvGrpSpPr>
          <p:cNvPr name="Group 7" id="7"/>
          <p:cNvGrpSpPr/>
          <p:nvPr/>
        </p:nvGrpSpPr>
        <p:grpSpPr>
          <a:xfrm rot="0">
            <a:off x="10650141" y="7073976"/>
            <a:ext cx="6131719" cy="800100"/>
            <a:chOff x="0" y="0"/>
            <a:chExt cx="8175625" cy="1066800"/>
          </a:xfrm>
        </p:grpSpPr>
        <p:grpSp>
          <p:nvGrpSpPr>
            <p:cNvPr name="Group 8" id="8"/>
            <p:cNvGrpSpPr/>
            <p:nvPr/>
          </p:nvGrpSpPr>
          <p:grpSpPr>
            <a:xfrm rot="0">
              <a:off x="0" y="134560"/>
              <a:ext cx="230414" cy="230414"/>
              <a:chOff x="0" y="0"/>
              <a:chExt cx="6350000" cy="6350000"/>
            </a:xfrm>
          </p:grpSpPr>
          <p:sp>
            <p:nvSpPr>
              <p:cNvPr name="Freeform 9" id="9"/>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BE40"/>
              </a:solidFill>
            </p:spPr>
          </p:sp>
        </p:grpSp>
        <p:sp>
          <p:nvSpPr>
            <p:cNvPr name="TextBox 10" id="10"/>
            <p:cNvSpPr txBox="true"/>
            <p:nvPr/>
          </p:nvSpPr>
          <p:spPr>
            <a:xfrm rot="0">
              <a:off x="800554" y="-57150"/>
              <a:ext cx="7375071" cy="1725083"/>
            </a:xfrm>
            <a:prstGeom prst="rect">
              <a:avLst/>
            </a:prstGeom>
          </p:spPr>
          <p:txBody>
            <a:bodyPr anchor="t" rtlCol="false" tIns="0" lIns="0" bIns="0" rIns="0">
              <a:spAutoFit/>
            </a:bodyPr>
            <a:lstStyle/>
            <a:p>
              <a:pPr algn="l">
                <a:lnSpc>
                  <a:spcPts val="3500"/>
                </a:lnSpc>
              </a:pPr>
              <a:r>
                <a:rPr lang="en-US" sz="2500">
                  <a:solidFill>
                    <a:srgbClr val="FFFFFF"/>
                  </a:solidFill>
                  <a:latin typeface="Roboto"/>
                  <a:ea typeface="Roboto"/>
                  <a:cs typeface="Roboto"/>
                  <a:sym typeface="Roboto"/>
                </a:rPr>
                <a:t>Đã</a:t>
              </a:r>
              <a:r>
                <a:rPr lang="en-US" sz="2500">
                  <a:solidFill>
                    <a:srgbClr val="FFFFFF"/>
                  </a:solidFill>
                  <a:latin typeface="Roboto"/>
                  <a:ea typeface="Roboto"/>
                  <a:cs typeface="Roboto"/>
                  <a:sym typeface="Roboto"/>
                </a:rPr>
                <a:t> kích hoạt context7 và awesome-copilot để AI truy cập sâu vào file hệ thống.</a:t>
              </a:r>
            </a:p>
          </p:txBody>
        </p:sp>
      </p:grpSp>
      <p:grpSp>
        <p:nvGrpSpPr>
          <p:cNvPr name="Group 11" id="11"/>
          <p:cNvGrpSpPr/>
          <p:nvPr/>
        </p:nvGrpSpPr>
        <p:grpSpPr>
          <a:xfrm rot="0">
            <a:off x="1506141" y="1595218"/>
            <a:ext cx="6131719" cy="2739013"/>
            <a:chOff x="0" y="0"/>
            <a:chExt cx="8175625" cy="3652017"/>
          </a:xfrm>
        </p:grpSpPr>
        <p:sp>
          <p:nvSpPr>
            <p:cNvPr name="TextBox 12" id="12"/>
            <p:cNvSpPr txBox="true"/>
            <p:nvPr/>
          </p:nvSpPr>
          <p:spPr>
            <a:xfrm rot="0">
              <a:off x="0" y="1610492"/>
              <a:ext cx="8175625" cy="1025525"/>
            </a:xfrm>
            <a:prstGeom prst="rect">
              <a:avLst/>
            </a:prstGeom>
          </p:spPr>
          <p:txBody>
            <a:bodyPr anchor="t" rtlCol="false" tIns="0" lIns="0" bIns="0" rIns="0">
              <a:spAutoFit/>
            </a:bodyPr>
            <a:lstStyle/>
            <a:p>
              <a:pPr algn="l">
                <a:lnSpc>
                  <a:spcPts val="6000"/>
                </a:lnSpc>
              </a:pPr>
              <a:r>
                <a:rPr lang="en-US" sz="5000" b="true">
                  <a:solidFill>
                    <a:srgbClr val="090909"/>
                  </a:solidFill>
                  <a:latin typeface="Roboto Bold"/>
                  <a:ea typeface="Roboto Bold"/>
                  <a:cs typeface="Roboto Bold"/>
                  <a:sym typeface="Roboto Bold"/>
                </a:rPr>
                <a:t>Cấu hình AI Agent</a:t>
              </a:r>
            </a:p>
          </p:txBody>
        </p:sp>
        <p:sp>
          <p:nvSpPr>
            <p:cNvPr name="Freeform 13" id="13"/>
            <p:cNvSpPr/>
            <p:nvPr/>
          </p:nvSpPr>
          <p:spPr>
            <a:xfrm flipH="false" flipV="false" rot="0">
              <a:off x="0" y="0"/>
              <a:ext cx="967672" cy="943041"/>
            </a:xfrm>
            <a:custGeom>
              <a:avLst/>
              <a:gdLst/>
              <a:ahLst/>
              <a:cxnLst/>
              <a:rect r="r" b="b" t="t" l="l"/>
              <a:pathLst>
                <a:path h="943041" w="967672">
                  <a:moveTo>
                    <a:pt x="0" y="0"/>
                  </a:moveTo>
                  <a:lnTo>
                    <a:pt x="967672" y="0"/>
                  </a:lnTo>
                  <a:lnTo>
                    <a:pt x="967672" y="943041"/>
                  </a:lnTo>
                  <a:lnTo>
                    <a:pt x="0" y="9430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14" id="14"/>
          <p:cNvGrpSpPr/>
          <p:nvPr/>
        </p:nvGrpSpPr>
        <p:grpSpPr>
          <a:xfrm rot="0">
            <a:off x="10650141" y="1691649"/>
            <a:ext cx="6131719" cy="2642583"/>
            <a:chOff x="0" y="0"/>
            <a:chExt cx="8175625" cy="3523444"/>
          </a:xfrm>
        </p:grpSpPr>
        <p:sp>
          <p:nvSpPr>
            <p:cNvPr name="TextBox 15" id="15"/>
            <p:cNvSpPr txBox="true"/>
            <p:nvPr/>
          </p:nvSpPr>
          <p:spPr>
            <a:xfrm rot="0">
              <a:off x="0" y="1481919"/>
              <a:ext cx="8175625" cy="1025525"/>
            </a:xfrm>
            <a:prstGeom prst="rect">
              <a:avLst/>
            </a:prstGeom>
          </p:spPr>
          <p:txBody>
            <a:bodyPr anchor="t" rtlCol="false" tIns="0" lIns="0" bIns="0" rIns="0">
              <a:spAutoFit/>
            </a:bodyPr>
            <a:lstStyle/>
            <a:p>
              <a:pPr algn="l">
                <a:lnSpc>
                  <a:spcPts val="6000"/>
                </a:lnSpc>
              </a:pPr>
              <a:r>
                <a:rPr lang="en-US" sz="5000" b="true">
                  <a:solidFill>
                    <a:srgbClr val="FFFFFF"/>
                  </a:solidFill>
                  <a:latin typeface="Roboto Bold"/>
                  <a:ea typeface="Roboto Bold"/>
                  <a:cs typeface="Roboto Bold"/>
                  <a:sym typeface="Roboto Bold"/>
                </a:rPr>
                <a:t>Work</a:t>
              </a:r>
              <a:r>
                <a:rPr lang="en-US" sz="5000" b="true">
                  <a:solidFill>
                    <a:srgbClr val="FFFFFF"/>
                  </a:solidFill>
                  <a:latin typeface="Roboto Bold"/>
                  <a:ea typeface="Roboto Bold"/>
                  <a:cs typeface="Roboto Bold"/>
                  <a:sym typeface="Roboto Bold"/>
                </a:rPr>
                <a:t>space setting</a:t>
              </a:r>
            </a:p>
          </p:txBody>
        </p:sp>
        <p:sp>
          <p:nvSpPr>
            <p:cNvPr name="Freeform 16" id="16"/>
            <p:cNvSpPr/>
            <p:nvPr/>
          </p:nvSpPr>
          <p:spPr>
            <a:xfrm flipH="false" flipV="false" rot="0">
              <a:off x="0" y="0"/>
              <a:ext cx="1148608" cy="814467"/>
            </a:xfrm>
            <a:custGeom>
              <a:avLst/>
              <a:gdLst/>
              <a:ahLst/>
              <a:cxnLst/>
              <a:rect r="r" b="b" t="t" l="l"/>
              <a:pathLst>
                <a:path h="814467" w="1148608">
                  <a:moveTo>
                    <a:pt x="0" y="0"/>
                  </a:moveTo>
                  <a:lnTo>
                    <a:pt x="1148608" y="0"/>
                  </a:lnTo>
                  <a:lnTo>
                    <a:pt x="1148608" y="814467"/>
                  </a:lnTo>
                  <a:lnTo>
                    <a:pt x="0" y="81446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Freeform 17" id="17"/>
          <p:cNvSpPr/>
          <p:nvPr/>
        </p:nvSpPr>
        <p:spPr>
          <a:xfrm flipH="false" flipV="false" rot="0">
            <a:off x="541370" y="3983936"/>
            <a:ext cx="8061259" cy="3277365"/>
          </a:xfrm>
          <a:custGeom>
            <a:avLst/>
            <a:gdLst/>
            <a:ahLst/>
            <a:cxnLst/>
            <a:rect r="r" b="b" t="t" l="l"/>
            <a:pathLst>
              <a:path h="3277365" w="8061259">
                <a:moveTo>
                  <a:pt x="0" y="0"/>
                </a:moveTo>
                <a:lnTo>
                  <a:pt x="8061260" y="0"/>
                </a:lnTo>
                <a:lnTo>
                  <a:pt x="8061260" y="3277365"/>
                </a:lnTo>
                <a:lnTo>
                  <a:pt x="0" y="3277365"/>
                </a:lnTo>
                <a:lnTo>
                  <a:pt x="0" y="0"/>
                </a:lnTo>
                <a:close/>
              </a:path>
            </a:pathLst>
          </a:custGeom>
          <a:blipFill>
            <a:blip r:embed="rId6"/>
            <a:stretch>
              <a:fillRect l="0" t="0" r="-40192"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2776" y="1028700"/>
            <a:ext cx="18553551" cy="8349098"/>
          </a:xfrm>
          <a:custGeom>
            <a:avLst/>
            <a:gdLst/>
            <a:ahLst/>
            <a:cxnLst/>
            <a:rect r="r" b="b" t="t" l="l"/>
            <a:pathLst>
              <a:path h="8349098" w="18553551">
                <a:moveTo>
                  <a:pt x="0" y="0"/>
                </a:moveTo>
                <a:lnTo>
                  <a:pt x="18553552" y="0"/>
                </a:lnTo>
                <a:lnTo>
                  <a:pt x="18553552" y="8349098"/>
                </a:lnTo>
                <a:lnTo>
                  <a:pt x="0" y="8349098"/>
                </a:lnTo>
                <a:lnTo>
                  <a:pt x="0" y="0"/>
                </a:lnTo>
                <a:close/>
              </a:path>
            </a:pathLst>
          </a:custGeom>
          <a:blipFill>
            <a:blip r:embed="rId2"/>
            <a:stretch>
              <a:fillRect l="0" t="0" r="0" b="0"/>
            </a:stretch>
          </a:blipFill>
        </p:spPr>
      </p:sp>
      <p:sp>
        <p:nvSpPr>
          <p:cNvPr name="TextBox 3" id="3"/>
          <p:cNvSpPr txBox="true"/>
          <p:nvPr/>
        </p:nvSpPr>
        <p:spPr>
          <a:xfrm rot="0">
            <a:off x="779871" y="-19050"/>
            <a:ext cx="15597945" cy="933450"/>
          </a:xfrm>
          <a:prstGeom prst="rect">
            <a:avLst/>
          </a:prstGeom>
        </p:spPr>
        <p:txBody>
          <a:bodyPr anchor="t" rtlCol="false" tIns="0" lIns="0" bIns="0" rIns="0">
            <a:spAutoFit/>
          </a:bodyPr>
          <a:lstStyle/>
          <a:p>
            <a:pPr algn="l" marL="0" indent="0" lvl="0">
              <a:lnSpc>
                <a:spcPts val="7200"/>
              </a:lnSpc>
              <a:spcBef>
                <a:spcPct val="0"/>
              </a:spcBef>
            </a:pPr>
            <a:r>
              <a:rPr lang="en-US" b="true" sz="6000" u="none">
                <a:solidFill>
                  <a:srgbClr val="090909"/>
                </a:solidFill>
                <a:latin typeface="Roboto Bold"/>
                <a:ea typeface="Roboto Bold"/>
                <a:cs typeface="Roboto Bold"/>
                <a:sym typeface="Roboto Bold"/>
              </a:rPr>
              <a:t>Cài đặt codespace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025574" y="2200473"/>
            <a:ext cx="14601071" cy="7866327"/>
          </a:xfrm>
          <a:custGeom>
            <a:avLst/>
            <a:gdLst/>
            <a:ahLst/>
            <a:cxnLst/>
            <a:rect r="r" b="b" t="t" l="l"/>
            <a:pathLst>
              <a:path h="7866327" w="14601071">
                <a:moveTo>
                  <a:pt x="0" y="0"/>
                </a:moveTo>
                <a:lnTo>
                  <a:pt x="14601071" y="0"/>
                </a:lnTo>
                <a:lnTo>
                  <a:pt x="14601071" y="7866327"/>
                </a:lnTo>
                <a:lnTo>
                  <a:pt x="0" y="7866327"/>
                </a:lnTo>
                <a:lnTo>
                  <a:pt x="0" y="0"/>
                </a:lnTo>
                <a:close/>
              </a:path>
            </a:pathLst>
          </a:custGeom>
          <a:blipFill>
            <a:blip r:embed="rId2"/>
            <a:stretch>
              <a:fillRect l="0" t="0" r="0" b="0"/>
            </a:stretch>
          </a:blipFill>
        </p:spPr>
      </p:sp>
      <p:sp>
        <p:nvSpPr>
          <p:cNvPr name="TextBox 3" id="3"/>
          <p:cNvSpPr txBox="true"/>
          <p:nvPr/>
        </p:nvSpPr>
        <p:spPr>
          <a:xfrm rot="0">
            <a:off x="1028700" y="1009650"/>
            <a:ext cx="15597945" cy="933450"/>
          </a:xfrm>
          <a:prstGeom prst="rect">
            <a:avLst/>
          </a:prstGeom>
        </p:spPr>
        <p:txBody>
          <a:bodyPr anchor="t" rtlCol="false" tIns="0" lIns="0" bIns="0" rIns="0">
            <a:spAutoFit/>
          </a:bodyPr>
          <a:lstStyle/>
          <a:p>
            <a:pPr algn="l" marL="0" indent="0" lvl="0">
              <a:lnSpc>
                <a:spcPts val="7200"/>
              </a:lnSpc>
              <a:spcBef>
                <a:spcPct val="0"/>
              </a:spcBef>
            </a:pPr>
            <a:r>
              <a:rPr lang="en-US" b="true" sz="6000">
                <a:solidFill>
                  <a:srgbClr val="090909"/>
                </a:solidFill>
                <a:latin typeface="Roboto Bold"/>
                <a:ea typeface="Roboto Bold"/>
                <a:cs typeface="Roboto Bold"/>
                <a:sym typeface="Roboto Bold"/>
              </a:rPr>
              <a:t>Working Log</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020162" y="2162900"/>
            <a:ext cx="12821638" cy="7789145"/>
          </a:xfrm>
          <a:custGeom>
            <a:avLst/>
            <a:gdLst/>
            <a:ahLst/>
            <a:cxnLst/>
            <a:rect r="r" b="b" t="t" l="l"/>
            <a:pathLst>
              <a:path h="7789145" w="12821638">
                <a:moveTo>
                  <a:pt x="0" y="0"/>
                </a:moveTo>
                <a:lnTo>
                  <a:pt x="12821638" y="0"/>
                </a:lnTo>
                <a:lnTo>
                  <a:pt x="12821638" y="7789145"/>
                </a:lnTo>
                <a:lnTo>
                  <a:pt x="0" y="7789145"/>
                </a:lnTo>
                <a:lnTo>
                  <a:pt x="0" y="0"/>
                </a:lnTo>
                <a:close/>
              </a:path>
            </a:pathLst>
          </a:custGeom>
          <a:blipFill>
            <a:blip r:embed="rId2"/>
            <a:stretch>
              <a:fillRect l="0" t="0" r="0" b="0"/>
            </a:stretch>
          </a:blipFill>
        </p:spPr>
      </p:sp>
      <p:sp>
        <p:nvSpPr>
          <p:cNvPr name="TextBox 3" id="3"/>
          <p:cNvSpPr txBox="true"/>
          <p:nvPr/>
        </p:nvSpPr>
        <p:spPr>
          <a:xfrm rot="0">
            <a:off x="1028700" y="1009650"/>
            <a:ext cx="15597945" cy="933450"/>
          </a:xfrm>
          <a:prstGeom prst="rect">
            <a:avLst/>
          </a:prstGeom>
        </p:spPr>
        <p:txBody>
          <a:bodyPr anchor="t" rtlCol="false" tIns="0" lIns="0" bIns="0" rIns="0">
            <a:spAutoFit/>
          </a:bodyPr>
          <a:lstStyle/>
          <a:p>
            <a:pPr algn="l" marL="0" indent="0" lvl="0">
              <a:lnSpc>
                <a:spcPts val="7200"/>
              </a:lnSpc>
              <a:spcBef>
                <a:spcPct val="0"/>
              </a:spcBef>
            </a:pPr>
            <a:r>
              <a:rPr lang="en-US" b="true" sz="6000">
                <a:solidFill>
                  <a:srgbClr val="090909"/>
                </a:solidFill>
                <a:latin typeface="Roboto Bold"/>
                <a:ea typeface="Roboto Bold"/>
                <a:cs typeface="Roboto Bold"/>
                <a:sym typeface="Roboto Bold"/>
              </a:rPr>
              <a:t>Working Log</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90909"/>
        </a:solidFill>
      </p:bgPr>
    </p:bg>
    <p:spTree>
      <p:nvGrpSpPr>
        <p:cNvPr id="1" name=""/>
        <p:cNvGrpSpPr/>
        <p:nvPr/>
      </p:nvGrpSpPr>
      <p:grpSpPr>
        <a:xfrm>
          <a:off x="0" y="0"/>
          <a:ext cx="0" cy="0"/>
          <a:chOff x="0" y="0"/>
          <a:chExt cx="0" cy="0"/>
        </a:xfrm>
      </p:grpSpPr>
      <p:sp>
        <p:nvSpPr>
          <p:cNvPr name="Freeform 2" id="2"/>
          <p:cNvSpPr/>
          <p:nvPr/>
        </p:nvSpPr>
        <p:spPr>
          <a:xfrm flipH="false" flipV="false" rot="0">
            <a:off x="6794120" y="4544060"/>
            <a:ext cx="11301259" cy="1178629"/>
          </a:xfrm>
          <a:custGeom>
            <a:avLst/>
            <a:gdLst/>
            <a:ahLst/>
            <a:cxnLst/>
            <a:rect r="r" b="b" t="t" l="l"/>
            <a:pathLst>
              <a:path h="1178629" w="11301259">
                <a:moveTo>
                  <a:pt x="0" y="0"/>
                </a:moveTo>
                <a:lnTo>
                  <a:pt x="11301259" y="0"/>
                </a:lnTo>
                <a:lnTo>
                  <a:pt x="11301259" y="1178630"/>
                </a:lnTo>
                <a:lnTo>
                  <a:pt x="0" y="1178630"/>
                </a:lnTo>
                <a:lnTo>
                  <a:pt x="0" y="0"/>
                </a:lnTo>
                <a:close/>
              </a:path>
            </a:pathLst>
          </a:custGeom>
          <a:blipFill>
            <a:blip r:embed="rId2"/>
            <a:stretch>
              <a:fillRect l="-874" t="0" r="-874" b="0"/>
            </a:stretch>
          </a:blipFill>
        </p:spPr>
      </p:sp>
      <p:grpSp>
        <p:nvGrpSpPr>
          <p:cNvPr name="Group 3" id="3"/>
          <p:cNvGrpSpPr/>
          <p:nvPr/>
        </p:nvGrpSpPr>
        <p:grpSpPr>
          <a:xfrm rot="0">
            <a:off x="1673679" y="2497193"/>
            <a:ext cx="8146596" cy="5292613"/>
            <a:chOff x="0" y="0"/>
            <a:chExt cx="10862129" cy="7056818"/>
          </a:xfrm>
        </p:grpSpPr>
        <p:sp>
          <p:nvSpPr>
            <p:cNvPr name="TextBox 4" id="4"/>
            <p:cNvSpPr txBox="true"/>
            <p:nvPr/>
          </p:nvSpPr>
          <p:spPr>
            <a:xfrm rot="0">
              <a:off x="0" y="1886934"/>
              <a:ext cx="10862129" cy="3260725"/>
            </a:xfrm>
            <a:prstGeom prst="rect">
              <a:avLst/>
            </a:prstGeom>
          </p:spPr>
          <p:txBody>
            <a:bodyPr anchor="t" rtlCol="false" tIns="0" lIns="0" bIns="0" rIns="0">
              <a:spAutoFit/>
            </a:bodyPr>
            <a:lstStyle/>
            <a:p>
              <a:pPr algn="l">
                <a:lnSpc>
                  <a:spcPts val="9600"/>
                </a:lnSpc>
              </a:pPr>
              <a:r>
                <a:rPr lang="en-US" sz="8000" b="true">
                  <a:solidFill>
                    <a:srgbClr val="FFFFFF"/>
                  </a:solidFill>
                  <a:latin typeface="Roboto Bold"/>
                  <a:ea typeface="Roboto Bold"/>
                  <a:cs typeface="Roboto Bold"/>
                  <a:sym typeface="Roboto Bold"/>
                </a:rPr>
                <a:t>Design &amp; Architect</a:t>
              </a:r>
            </a:p>
          </p:txBody>
        </p:sp>
        <p:sp>
          <p:nvSpPr>
            <p:cNvPr name="TextBox 5" id="5"/>
            <p:cNvSpPr txBox="true"/>
            <p:nvPr/>
          </p:nvSpPr>
          <p:spPr>
            <a:xfrm rot="0">
              <a:off x="0" y="-9525"/>
              <a:ext cx="10862129" cy="606425"/>
            </a:xfrm>
            <a:prstGeom prst="rect">
              <a:avLst/>
            </a:prstGeom>
          </p:spPr>
          <p:txBody>
            <a:bodyPr anchor="t" rtlCol="false" tIns="0" lIns="0" bIns="0" rIns="0">
              <a:spAutoFit/>
            </a:bodyPr>
            <a:lstStyle/>
            <a:p>
              <a:pPr algn="l">
                <a:lnSpc>
                  <a:spcPts val="3599"/>
                </a:lnSpc>
              </a:pPr>
              <a:r>
                <a:rPr lang="en-US" b="true" sz="2999" spc="89">
                  <a:solidFill>
                    <a:srgbClr val="FFBE40"/>
                  </a:solidFill>
                  <a:latin typeface="Roboto Bold"/>
                  <a:ea typeface="Roboto Bold"/>
                  <a:cs typeface="Roboto Bold"/>
                  <a:sym typeface="Roboto Bold"/>
                </a:rPr>
                <a:t>PYTHON BACKEND</a:t>
              </a:r>
            </a:p>
          </p:txBody>
        </p:sp>
        <p:sp>
          <p:nvSpPr>
            <p:cNvPr name="TextBox 6" id="6"/>
            <p:cNvSpPr txBox="true"/>
            <p:nvPr/>
          </p:nvSpPr>
          <p:spPr>
            <a:xfrm rot="0">
              <a:off x="0" y="6371018"/>
              <a:ext cx="10862129" cy="685800"/>
            </a:xfrm>
            <a:prstGeom prst="rect">
              <a:avLst/>
            </a:prstGeom>
          </p:spPr>
          <p:txBody>
            <a:bodyPr anchor="t" rtlCol="false" tIns="0" lIns="0" bIns="0" rIns="0">
              <a:spAutoFit/>
            </a:bodyPr>
            <a:lstStyle/>
            <a:p>
              <a:pPr algn="l">
                <a:lnSpc>
                  <a:spcPts val="4200"/>
                </a:lnSpc>
              </a:pPr>
              <a:r>
                <a:rPr lang="en-US" sz="3000">
                  <a:solidFill>
                    <a:srgbClr val="FFFFFF"/>
                  </a:solidFill>
                  <a:latin typeface="Roboto"/>
                  <a:ea typeface="Roboto"/>
                  <a:cs typeface="Roboto"/>
                  <a:sym typeface="Roboto"/>
                </a:rPr>
                <a:t>Phương pháp phát triển "Spec-First"</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90909"/>
        </a:solidFill>
      </p:bgPr>
    </p:bg>
    <p:spTree>
      <p:nvGrpSpPr>
        <p:cNvPr id="1" name=""/>
        <p:cNvGrpSpPr/>
        <p:nvPr/>
      </p:nvGrpSpPr>
      <p:grpSpPr>
        <a:xfrm>
          <a:off x="0" y="0"/>
          <a:ext cx="0" cy="0"/>
          <a:chOff x="0" y="0"/>
          <a:chExt cx="0" cy="0"/>
        </a:xfrm>
      </p:grpSpPr>
      <p:sp>
        <p:nvSpPr>
          <p:cNvPr name="Freeform 2" id="2"/>
          <p:cNvSpPr/>
          <p:nvPr/>
        </p:nvSpPr>
        <p:spPr>
          <a:xfrm flipH="false" flipV="false" rot="0">
            <a:off x="6794120" y="4544060"/>
            <a:ext cx="11301259" cy="1178629"/>
          </a:xfrm>
          <a:custGeom>
            <a:avLst/>
            <a:gdLst/>
            <a:ahLst/>
            <a:cxnLst/>
            <a:rect r="r" b="b" t="t" l="l"/>
            <a:pathLst>
              <a:path h="1178629" w="11301259">
                <a:moveTo>
                  <a:pt x="0" y="0"/>
                </a:moveTo>
                <a:lnTo>
                  <a:pt x="11301259" y="0"/>
                </a:lnTo>
                <a:lnTo>
                  <a:pt x="11301259" y="1178630"/>
                </a:lnTo>
                <a:lnTo>
                  <a:pt x="0" y="1178630"/>
                </a:lnTo>
                <a:lnTo>
                  <a:pt x="0" y="0"/>
                </a:lnTo>
                <a:close/>
              </a:path>
            </a:pathLst>
          </a:custGeom>
          <a:blipFill>
            <a:blip r:embed="rId2"/>
            <a:stretch>
              <a:fillRect l="-874" t="0" r="-874" b="0"/>
            </a:stretch>
          </a:blipFill>
        </p:spPr>
      </p:sp>
      <p:grpSp>
        <p:nvGrpSpPr>
          <p:cNvPr name="Group 3" id="3"/>
          <p:cNvGrpSpPr/>
          <p:nvPr/>
        </p:nvGrpSpPr>
        <p:grpSpPr>
          <a:xfrm rot="0">
            <a:off x="1673679" y="2497193"/>
            <a:ext cx="8146596" cy="5292613"/>
            <a:chOff x="0" y="0"/>
            <a:chExt cx="10862129" cy="7056818"/>
          </a:xfrm>
        </p:grpSpPr>
        <p:sp>
          <p:nvSpPr>
            <p:cNvPr name="TextBox 4" id="4"/>
            <p:cNvSpPr txBox="true"/>
            <p:nvPr/>
          </p:nvSpPr>
          <p:spPr>
            <a:xfrm rot="0">
              <a:off x="0" y="1886934"/>
              <a:ext cx="10862129" cy="3260725"/>
            </a:xfrm>
            <a:prstGeom prst="rect">
              <a:avLst/>
            </a:prstGeom>
          </p:spPr>
          <p:txBody>
            <a:bodyPr anchor="t" rtlCol="false" tIns="0" lIns="0" bIns="0" rIns="0">
              <a:spAutoFit/>
            </a:bodyPr>
            <a:lstStyle/>
            <a:p>
              <a:pPr algn="l">
                <a:lnSpc>
                  <a:spcPts val="9600"/>
                </a:lnSpc>
              </a:pPr>
              <a:r>
                <a:rPr lang="en-US" sz="8000" b="true">
                  <a:solidFill>
                    <a:srgbClr val="FFFFFF"/>
                  </a:solidFill>
                  <a:latin typeface="Roboto Bold"/>
                  <a:ea typeface="Roboto Bold"/>
                  <a:cs typeface="Roboto Bold"/>
                  <a:sym typeface="Roboto Bold"/>
                </a:rPr>
                <a:t>Design &amp; Architect</a:t>
              </a:r>
            </a:p>
          </p:txBody>
        </p:sp>
        <p:sp>
          <p:nvSpPr>
            <p:cNvPr name="TextBox 5" id="5"/>
            <p:cNvSpPr txBox="true"/>
            <p:nvPr/>
          </p:nvSpPr>
          <p:spPr>
            <a:xfrm rot="0">
              <a:off x="0" y="-9525"/>
              <a:ext cx="10862129" cy="606425"/>
            </a:xfrm>
            <a:prstGeom prst="rect">
              <a:avLst/>
            </a:prstGeom>
          </p:spPr>
          <p:txBody>
            <a:bodyPr anchor="t" rtlCol="false" tIns="0" lIns="0" bIns="0" rIns="0">
              <a:spAutoFit/>
            </a:bodyPr>
            <a:lstStyle/>
            <a:p>
              <a:pPr algn="l">
                <a:lnSpc>
                  <a:spcPts val="3599"/>
                </a:lnSpc>
              </a:pPr>
              <a:r>
                <a:rPr lang="en-US" b="true" sz="2999" spc="89">
                  <a:solidFill>
                    <a:srgbClr val="FFBE40"/>
                  </a:solidFill>
                  <a:latin typeface="Roboto Bold"/>
                  <a:ea typeface="Roboto Bold"/>
                  <a:cs typeface="Roboto Bold"/>
                  <a:sym typeface="Roboto Bold"/>
                </a:rPr>
                <a:t>PYTHON BACKEND</a:t>
              </a:r>
            </a:p>
          </p:txBody>
        </p:sp>
        <p:sp>
          <p:nvSpPr>
            <p:cNvPr name="TextBox 6" id="6"/>
            <p:cNvSpPr txBox="true"/>
            <p:nvPr/>
          </p:nvSpPr>
          <p:spPr>
            <a:xfrm rot="0">
              <a:off x="0" y="6371018"/>
              <a:ext cx="10862129" cy="685800"/>
            </a:xfrm>
            <a:prstGeom prst="rect">
              <a:avLst/>
            </a:prstGeom>
          </p:spPr>
          <p:txBody>
            <a:bodyPr anchor="t" rtlCol="false" tIns="0" lIns="0" bIns="0" rIns="0">
              <a:spAutoFit/>
            </a:bodyPr>
            <a:lstStyle/>
            <a:p>
              <a:pPr algn="l">
                <a:lnSpc>
                  <a:spcPts val="4200"/>
                </a:lnSpc>
              </a:pPr>
              <a:r>
                <a:rPr lang="en-US" sz="3000">
                  <a:solidFill>
                    <a:srgbClr val="FFFFFF"/>
                  </a:solidFill>
                  <a:latin typeface="Roboto"/>
                  <a:ea typeface="Roboto"/>
                  <a:cs typeface="Roboto"/>
                  <a:sym typeface="Roboto"/>
                </a:rPr>
                <a:t>Phương pháp phát triển "Spec-First"</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217526" y="3840292"/>
            <a:ext cx="11491490" cy="2536886"/>
          </a:xfrm>
          <a:custGeom>
            <a:avLst/>
            <a:gdLst/>
            <a:ahLst/>
            <a:cxnLst/>
            <a:rect r="r" b="b" t="t" l="l"/>
            <a:pathLst>
              <a:path h="2536886" w="11491490">
                <a:moveTo>
                  <a:pt x="0" y="0"/>
                </a:moveTo>
                <a:lnTo>
                  <a:pt x="11491491" y="0"/>
                </a:lnTo>
                <a:lnTo>
                  <a:pt x="11491491" y="2536886"/>
                </a:lnTo>
                <a:lnTo>
                  <a:pt x="0" y="2536886"/>
                </a:lnTo>
                <a:lnTo>
                  <a:pt x="0" y="0"/>
                </a:lnTo>
                <a:close/>
              </a:path>
            </a:pathLst>
          </a:custGeom>
          <a:blipFill>
            <a:blip r:embed="rId2"/>
            <a:stretch>
              <a:fillRect l="0" t="0" r="0" b="0"/>
            </a:stretch>
          </a:blipFill>
        </p:spPr>
      </p:sp>
      <p:grpSp>
        <p:nvGrpSpPr>
          <p:cNvPr name="Group 3" id="3"/>
          <p:cNvGrpSpPr/>
          <p:nvPr/>
        </p:nvGrpSpPr>
        <p:grpSpPr>
          <a:xfrm rot="0">
            <a:off x="1028700" y="2497193"/>
            <a:ext cx="8146596" cy="5292613"/>
            <a:chOff x="0" y="0"/>
            <a:chExt cx="10862129" cy="7056818"/>
          </a:xfrm>
        </p:grpSpPr>
        <p:sp>
          <p:nvSpPr>
            <p:cNvPr name="TextBox 4" id="4"/>
            <p:cNvSpPr txBox="true"/>
            <p:nvPr/>
          </p:nvSpPr>
          <p:spPr>
            <a:xfrm rot="0">
              <a:off x="0" y="1886934"/>
              <a:ext cx="10862129" cy="3260725"/>
            </a:xfrm>
            <a:prstGeom prst="rect">
              <a:avLst/>
            </a:prstGeom>
          </p:spPr>
          <p:txBody>
            <a:bodyPr anchor="t" rtlCol="false" tIns="0" lIns="0" bIns="0" rIns="0">
              <a:spAutoFit/>
            </a:bodyPr>
            <a:lstStyle/>
            <a:p>
              <a:pPr algn="l">
                <a:lnSpc>
                  <a:spcPts val="9600"/>
                </a:lnSpc>
              </a:pPr>
              <a:r>
                <a:rPr lang="en-US" b="true" sz="8000">
                  <a:solidFill>
                    <a:srgbClr val="090909"/>
                  </a:solidFill>
                  <a:latin typeface="Roboto Bold"/>
                  <a:ea typeface="Roboto Bold"/>
                  <a:cs typeface="Roboto Bold"/>
                  <a:sym typeface="Roboto Bold"/>
                </a:rPr>
                <a:t>Design &amp; Architect</a:t>
              </a:r>
            </a:p>
          </p:txBody>
        </p:sp>
        <p:sp>
          <p:nvSpPr>
            <p:cNvPr name="TextBox 5" id="5"/>
            <p:cNvSpPr txBox="true"/>
            <p:nvPr/>
          </p:nvSpPr>
          <p:spPr>
            <a:xfrm rot="0">
              <a:off x="0" y="-9525"/>
              <a:ext cx="10862129" cy="606425"/>
            </a:xfrm>
            <a:prstGeom prst="rect">
              <a:avLst/>
            </a:prstGeom>
          </p:spPr>
          <p:txBody>
            <a:bodyPr anchor="t" rtlCol="false" tIns="0" lIns="0" bIns="0" rIns="0">
              <a:spAutoFit/>
            </a:bodyPr>
            <a:lstStyle/>
            <a:p>
              <a:pPr algn="l">
                <a:lnSpc>
                  <a:spcPts val="3599"/>
                </a:lnSpc>
              </a:pPr>
              <a:r>
                <a:rPr lang="en-US" b="true" sz="2999" spc="89">
                  <a:solidFill>
                    <a:srgbClr val="FFBE40"/>
                  </a:solidFill>
                  <a:latin typeface="Roboto Bold"/>
                  <a:ea typeface="Roboto Bold"/>
                  <a:cs typeface="Roboto Bold"/>
                  <a:sym typeface="Roboto Bold"/>
                </a:rPr>
                <a:t>PYTHON BACKEND</a:t>
              </a:r>
            </a:p>
          </p:txBody>
        </p:sp>
        <p:sp>
          <p:nvSpPr>
            <p:cNvPr name="TextBox 6" id="6"/>
            <p:cNvSpPr txBox="true"/>
            <p:nvPr/>
          </p:nvSpPr>
          <p:spPr>
            <a:xfrm rot="0">
              <a:off x="0" y="6371018"/>
              <a:ext cx="10862129" cy="685800"/>
            </a:xfrm>
            <a:prstGeom prst="rect">
              <a:avLst/>
            </a:prstGeom>
          </p:spPr>
          <p:txBody>
            <a:bodyPr anchor="t" rtlCol="false" tIns="0" lIns="0" bIns="0" rIns="0">
              <a:spAutoFit/>
            </a:bodyPr>
            <a:lstStyle/>
            <a:p>
              <a:pPr algn="l">
                <a:lnSpc>
                  <a:spcPts val="4200"/>
                </a:lnSpc>
              </a:pPr>
              <a:r>
                <a:rPr lang="en-US" sz="3000">
                  <a:solidFill>
                    <a:srgbClr val="090909"/>
                  </a:solidFill>
                  <a:latin typeface="Roboto"/>
                  <a:ea typeface="Roboto"/>
                  <a:cs typeface="Roboto"/>
                  <a:sym typeface="Roboto"/>
                </a:rPr>
                <a:t>Phương pháp phát triển "Spec-First"</a:t>
              </a: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90909"/>
        </a:solidFill>
      </p:bgPr>
    </p:bg>
    <p:spTree>
      <p:nvGrpSpPr>
        <p:cNvPr id="1" name=""/>
        <p:cNvGrpSpPr/>
        <p:nvPr/>
      </p:nvGrpSpPr>
      <p:grpSpPr>
        <a:xfrm>
          <a:off x="0" y="0"/>
          <a:ext cx="0" cy="0"/>
          <a:chOff x="0" y="0"/>
          <a:chExt cx="0" cy="0"/>
        </a:xfrm>
      </p:grpSpPr>
      <p:sp>
        <p:nvSpPr>
          <p:cNvPr name="Freeform 2" id="2"/>
          <p:cNvSpPr/>
          <p:nvPr/>
        </p:nvSpPr>
        <p:spPr>
          <a:xfrm flipH="false" flipV="false" rot="0">
            <a:off x="6733370" y="2890824"/>
            <a:ext cx="11301259" cy="5396351"/>
          </a:xfrm>
          <a:custGeom>
            <a:avLst/>
            <a:gdLst/>
            <a:ahLst/>
            <a:cxnLst/>
            <a:rect r="r" b="b" t="t" l="l"/>
            <a:pathLst>
              <a:path h="5396351" w="11301259">
                <a:moveTo>
                  <a:pt x="0" y="0"/>
                </a:moveTo>
                <a:lnTo>
                  <a:pt x="11301259" y="0"/>
                </a:lnTo>
                <a:lnTo>
                  <a:pt x="11301259" y="5396352"/>
                </a:lnTo>
                <a:lnTo>
                  <a:pt x="0" y="5396352"/>
                </a:lnTo>
                <a:lnTo>
                  <a:pt x="0" y="0"/>
                </a:lnTo>
                <a:close/>
              </a:path>
            </a:pathLst>
          </a:custGeom>
          <a:blipFill>
            <a:blip r:embed="rId2"/>
            <a:stretch>
              <a:fillRect l="0" t="0" r="0" b="0"/>
            </a:stretch>
          </a:blipFill>
        </p:spPr>
      </p:sp>
      <p:grpSp>
        <p:nvGrpSpPr>
          <p:cNvPr name="Group 3" id="3"/>
          <p:cNvGrpSpPr/>
          <p:nvPr/>
        </p:nvGrpSpPr>
        <p:grpSpPr>
          <a:xfrm rot="0">
            <a:off x="1673679" y="2497193"/>
            <a:ext cx="8146596" cy="3860744"/>
            <a:chOff x="0" y="0"/>
            <a:chExt cx="10862129" cy="5147659"/>
          </a:xfrm>
        </p:grpSpPr>
        <p:sp>
          <p:nvSpPr>
            <p:cNvPr name="TextBox 4" id="4"/>
            <p:cNvSpPr txBox="true"/>
            <p:nvPr/>
          </p:nvSpPr>
          <p:spPr>
            <a:xfrm rot="0">
              <a:off x="0" y="1886934"/>
              <a:ext cx="10862129" cy="3260725"/>
            </a:xfrm>
            <a:prstGeom prst="rect">
              <a:avLst/>
            </a:prstGeom>
          </p:spPr>
          <p:txBody>
            <a:bodyPr anchor="t" rtlCol="false" tIns="0" lIns="0" bIns="0" rIns="0">
              <a:spAutoFit/>
            </a:bodyPr>
            <a:lstStyle/>
            <a:p>
              <a:pPr algn="l">
                <a:lnSpc>
                  <a:spcPts val="9600"/>
                </a:lnSpc>
              </a:pPr>
              <a:r>
                <a:rPr lang="en-US" sz="8000" b="true">
                  <a:solidFill>
                    <a:srgbClr val="FFFFFF"/>
                  </a:solidFill>
                  <a:latin typeface="Roboto Bold"/>
                  <a:ea typeface="Roboto Bold"/>
                  <a:cs typeface="Roboto Bold"/>
                  <a:sym typeface="Roboto Bold"/>
                </a:rPr>
                <a:t>Design &amp; Architect</a:t>
              </a:r>
            </a:p>
          </p:txBody>
        </p:sp>
        <p:sp>
          <p:nvSpPr>
            <p:cNvPr name="TextBox 5" id="5"/>
            <p:cNvSpPr txBox="true"/>
            <p:nvPr/>
          </p:nvSpPr>
          <p:spPr>
            <a:xfrm rot="0">
              <a:off x="0" y="-9525"/>
              <a:ext cx="10862129" cy="606425"/>
            </a:xfrm>
            <a:prstGeom prst="rect">
              <a:avLst/>
            </a:prstGeom>
          </p:spPr>
          <p:txBody>
            <a:bodyPr anchor="t" rtlCol="false" tIns="0" lIns="0" bIns="0" rIns="0">
              <a:spAutoFit/>
            </a:bodyPr>
            <a:lstStyle/>
            <a:p>
              <a:pPr algn="l">
                <a:lnSpc>
                  <a:spcPts val="3599"/>
                </a:lnSpc>
              </a:pPr>
              <a:r>
                <a:rPr lang="en-US" b="true" sz="2999" spc="89">
                  <a:solidFill>
                    <a:srgbClr val="FFBE40"/>
                  </a:solidFill>
                  <a:latin typeface="Roboto Bold"/>
                  <a:ea typeface="Roboto Bold"/>
                  <a:cs typeface="Roboto Bold"/>
                  <a:sym typeface="Roboto Bold"/>
                </a:rPr>
                <a:t>PYTHON BACKEND</a:t>
              </a: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9144000" y="0"/>
            <a:ext cx="9144000" cy="10287000"/>
          </a:xfrm>
          <a:prstGeom prst="rect">
            <a:avLst/>
          </a:prstGeom>
          <a:solidFill>
            <a:srgbClr val="090909"/>
          </a:solidFill>
        </p:spPr>
      </p:sp>
      <p:grpSp>
        <p:nvGrpSpPr>
          <p:cNvPr name="Group 3" id="3"/>
          <p:cNvGrpSpPr/>
          <p:nvPr/>
        </p:nvGrpSpPr>
        <p:grpSpPr>
          <a:xfrm rot="0">
            <a:off x="1506141" y="1595218"/>
            <a:ext cx="6131719" cy="2739013"/>
            <a:chOff x="0" y="0"/>
            <a:chExt cx="8175625" cy="3652017"/>
          </a:xfrm>
        </p:grpSpPr>
        <p:sp>
          <p:nvSpPr>
            <p:cNvPr name="TextBox 4" id="4"/>
            <p:cNvSpPr txBox="true"/>
            <p:nvPr/>
          </p:nvSpPr>
          <p:spPr>
            <a:xfrm rot="0">
              <a:off x="0" y="1610492"/>
              <a:ext cx="8175625" cy="1025525"/>
            </a:xfrm>
            <a:prstGeom prst="rect">
              <a:avLst/>
            </a:prstGeom>
          </p:spPr>
          <p:txBody>
            <a:bodyPr anchor="t" rtlCol="false" tIns="0" lIns="0" bIns="0" rIns="0">
              <a:spAutoFit/>
            </a:bodyPr>
            <a:lstStyle/>
            <a:p>
              <a:pPr algn="l">
                <a:lnSpc>
                  <a:spcPts val="6000"/>
                </a:lnSpc>
              </a:pPr>
              <a:r>
                <a:rPr lang="en-US" sz="5000" b="true">
                  <a:solidFill>
                    <a:srgbClr val="090909"/>
                  </a:solidFill>
                  <a:latin typeface="Roboto Bold"/>
                  <a:ea typeface="Roboto Bold"/>
                  <a:cs typeface="Roboto Bold"/>
                  <a:sym typeface="Roboto Bold"/>
                </a:rPr>
                <a:t>Output</a:t>
              </a:r>
            </a:p>
          </p:txBody>
        </p:sp>
        <p:sp>
          <p:nvSpPr>
            <p:cNvPr name="Freeform 5" id="5"/>
            <p:cNvSpPr/>
            <p:nvPr/>
          </p:nvSpPr>
          <p:spPr>
            <a:xfrm flipH="false" flipV="false" rot="0">
              <a:off x="0" y="0"/>
              <a:ext cx="967672" cy="943041"/>
            </a:xfrm>
            <a:custGeom>
              <a:avLst/>
              <a:gdLst/>
              <a:ahLst/>
              <a:cxnLst/>
              <a:rect r="r" b="b" t="t" l="l"/>
              <a:pathLst>
                <a:path h="943041" w="967672">
                  <a:moveTo>
                    <a:pt x="0" y="0"/>
                  </a:moveTo>
                  <a:lnTo>
                    <a:pt x="967672" y="0"/>
                  </a:lnTo>
                  <a:lnTo>
                    <a:pt x="967672" y="943041"/>
                  </a:lnTo>
                  <a:lnTo>
                    <a:pt x="0" y="9430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6" id="6"/>
          <p:cNvGrpSpPr/>
          <p:nvPr/>
        </p:nvGrpSpPr>
        <p:grpSpPr>
          <a:xfrm rot="0">
            <a:off x="10650141" y="1691649"/>
            <a:ext cx="6131719" cy="2642583"/>
            <a:chOff x="0" y="0"/>
            <a:chExt cx="8175625" cy="3523444"/>
          </a:xfrm>
        </p:grpSpPr>
        <p:sp>
          <p:nvSpPr>
            <p:cNvPr name="TextBox 7" id="7"/>
            <p:cNvSpPr txBox="true"/>
            <p:nvPr/>
          </p:nvSpPr>
          <p:spPr>
            <a:xfrm rot="0">
              <a:off x="0" y="1481919"/>
              <a:ext cx="8175625" cy="1025525"/>
            </a:xfrm>
            <a:prstGeom prst="rect">
              <a:avLst/>
            </a:prstGeom>
          </p:spPr>
          <p:txBody>
            <a:bodyPr anchor="t" rtlCol="false" tIns="0" lIns="0" bIns="0" rIns="0">
              <a:spAutoFit/>
            </a:bodyPr>
            <a:lstStyle/>
            <a:p>
              <a:pPr algn="l">
                <a:lnSpc>
                  <a:spcPts val="6000"/>
                </a:lnSpc>
              </a:pPr>
              <a:r>
                <a:rPr lang="en-US" sz="5000" b="true">
                  <a:solidFill>
                    <a:srgbClr val="FFFFFF"/>
                  </a:solidFill>
                  <a:latin typeface="Roboto Bold"/>
                  <a:ea typeface="Roboto Bold"/>
                  <a:cs typeface="Roboto Bold"/>
                  <a:sym typeface="Roboto Bold"/>
                </a:rPr>
                <a:t>Working Log</a:t>
              </a:r>
            </a:p>
          </p:txBody>
        </p:sp>
        <p:sp>
          <p:nvSpPr>
            <p:cNvPr name="Freeform 8" id="8"/>
            <p:cNvSpPr/>
            <p:nvPr/>
          </p:nvSpPr>
          <p:spPr>
            <a:xfrm flipH="false" flipV="false" rot="0">
              <a:off x="0" y="0"/>
              <a:ext cx="1148608" cy="814467"/>
            </a:xfrm>
            <a:custGeom>
              <a:avLst/>
              <a:gdLst/>
              <a:ahLst/>
              <a:cxnLst/>
              <a:rect r="r" b="b" t="t" l="l"/>
              <a:pathLst>
                <a:path h="814467" w="1148608">
                  <a:moveTo>
                    <a:pt x="0" y="0"/>
                  </a:moveTo>
                  <a:lnTo>
                    <a:pt x="1148608" y="0"/>
                  </a:lnTo>
                  <a:lnTo>
                    <a:pt x="1148608" y="814467"/>
                  </a:lnTo>
                  <a:lnTo>
                    <a:pt x="0" y="81446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Freeform 9" id="9"/>
          <p:cNvSpPr/>
          <p:nvPr/>
        </p:nvSpPr>
        <p:spPr>
          <a:xfrm flipH="false" flipV="false" rot="0">
            <a:off x="9387000" y="3915776"/>
            <a:ext cx="8901000" cy="4679575"/>
          </a:xfrm>
          <a:custGeom>
            <a:avLst/>
            <a:gdLst/>
            <a:ahLst/>
            <a:cxnLst/>
            <a:rect r="r" b="b" t="t" l="l"/>
            <a:pathLst>
              <a:path h="4679575" w="8901000">
                <a:moveTo>
                  <a:pt x="0" y="0"/>
                </a:moveTo>
                <a:lnTo>
                  <a:pt x="8901000" y="0"/>
                </a:lnTo>
                <a:lnTo>
                  <a:pt x="8901000" y="4679575"/>
                </a:lnTo>
                <a:lnTo>
                  <a:pt x="0" y="4679575"/>
                </a:lnTo>
                <a:lnTo>
                  <a:pt x="0" y="0"/>
                </a:lnTo>
                <a:close/>
              </a:path>
            </a:pathLst>
          </a:custGeom>
          <a:blipFill>
            <a:blip r:embed="rId6"/>
            <a:stretch>
              <a:fillRect l="-30175" t="0" r="-2084" b="0"/>
            </a:stretch>
          </a:blipFill>
        </p:spPr>
      </p:sp>
      <p:sp>
        <p:nvSpPr>
          <p:cNvPr name="Freeform 10" id="10"/>
          <p:cNvSpPr/>
          <p:nvPr/>
        </p:nvSpPr>
        <p:spPr>
          <a:xfrm flipH="false" flipV="false" rot="0">
            <a:off x="482684" y="3915776"/>
            <a:ext cx="8443652" cy="5140073"/>
          </a:xfrm>
          <a:custGeom>
            <a:avLst/>
            <a:gdLst/>
            <a:ahLst/>
            <a:cxnLst/>
            <a:rect r="r" b="b" t="t" l="l"/>
            <a:pathLst>
              <a:path h="5140073" w="8443652">
                <a:moveTo>
                  <a:pt x="0" y="0"/>
                </a:moveTo>
                <a:lnTo>
                  <a:pt x="8443652" y="0"/>
                </a:lnTo>
                <a:lnTo>
                  <a:pt x="8443652" y="5140073"/>
                </a:lnTo>
                <a:lnTo>
                  <a:pt x="0" y="5140073"/>
                </a:lnTo>
                <a:lnTo>
                  <a:pt x="0" y="0"/>
                </a:lnTo>
                <a:close/>
              </a:path>
            </a:pathLst>
          </a:custGeom>
          <a:blipFill>
            <a:blip r:embed="rId7"/>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9144000" y="0"/>
            <a:ext cx="9144000" cy="10287000"/>
          </a:xfrm>
          <a:prstGeom prst="rect">
            <a:avLst/>
          </a:prstGeom>
          <a:solidFill>
            <a:srgbClr val="090909"/>
          </a:solidFill>
        </p:spPr>
      </p:sp>
      <p:grpSp>
        <p:nvGrpSpPr>
          <p:cNvPr name="Group 3" id="3"/>
          <p:cNvGrpSpPr/>
          <p:nvPr/>
        </p:nvGrpSpPr>
        <p:grpSpPr>
          <a:xfrm rot="0">
            <a:off x="1506141" y="1595218"/>
            <a:ext cx="6131719" cy="2739013"/>
            <a:chOff x="0" y="0"/>
            <a:chExt cx="8175625" cy="3652017"/>
          </a:xfrm>
        </p:grpSpPr>
        <p:sp>
          <p:nvSpPr>
            <p:cNvPr name="TextBox 4" id="4"/>
            <p:cNvSpPr txBox="true"/>
            <p:nvPr/>
          </p:nvSpPr>
          <p:spPr>
            <a:xfrm rot="0">
              <a:off x="0" y="1610492"/>
              <a:ext cx="8175625" cy="1025525"/>
            </a:xfrm>
            <a:prstGeom prst="rect">
              <a:avLst/>
            </a:prstGeom>
          </p:spPr>
          <p:txBody>
            <a:bodyPr anchor="t" rtlCol="false" tIns="0" lIns="0" bIns="0" rIns="0">
              <a:spAutoFit/>
            </a:bodyPr>
            <a:lstStyle/>
            <a:p>
              <a:pPr algn="l">
                <a:lnSpc>
                  <a:spcPts val="6000"/>
                </a:lnSpc>
              </a:pPr>
              <a:r>
                <a:rPr lang="en-US" sz="5000" b="true">
                  <a:solidFill>
                    <a:srgbClr val="090909"/>
                  </a:solidFill>
                  <a:latin typeface="Roboto Bold"/>
                  <a:ea typeface="Roboto Bold"/>
                  <a:cs typeface="Roboto Bold"/>
                  <a:sym typeface="Roboto Bold"/>
                </a:rPr>
                <a:t>Output</a:t>
              </a:r>
            </a:p>
          </p:txBody>
        </p:sp>
        <p:sp>
          <p:nvSpPr>
            <p:cNvPr name="Freeform 5" id="5"/>
            <p:cNvSpPr/>
            <p:nvPr/>
          </p:nvSpPr>
          <p:spPr>
            <a:xfrm flipH="false" flipV="false" rot="0">
              <a:off x="0" y="0"/>
              <a:ext cx="967672" cy="943041"/>
            </a:xfrm>
            <a:custGeom>
              <a:avLst/>
              <a:gdLst/>
              <a:ahLst/>
              <a:cxnLst/>
              <a:rect r="r" b="b" t="t" l="l"/>
              <a:pathLst>
                <a:path h="943041" w="967672">
                  <a:moveTo>
                    <a:pt x="0" y="0"/>
                  </a:moveTo>
                  <a:lnTo>
                    <a:pt x="967672" y="0"/>
                  </a:lnTo>
                  <a:lnTo>
                    <a:pt x="967672" y="943041"/>
                  </a:lnTo>
                  <a:lnTo>
                    <a:pt x="0" y="9430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6" id="6"/>
          <p:cNvGrpSpPr/>
          <p:nvPr/>
        </p:nvGrpSpPr>
        <p:grpSpPr>
          <a:xfrm rot="0">
            <a:off x="10650141" y="1691649"/>
            <a:ext cx="6131719" cy="2642583"/>
            <a:chOff x="0" y="0"/>
            <a:chExt cx="8175625" cy="3523444"/>
          </a:xfrm>
        </p:grpSpPr>
        <p:sp>
          <p:nvSpPr>
            <p:cNvPr name="TextBox 7" id="7"/>
            <p:cNvSpPr txBox="true"/>
            <p:nvPr/>
          </p:nvSpPr>
          <p:spPr>
            <a:xfrm rot="0">
              <a:off x="0" y="1481919"/>
              <a:ext cx="8175625" cy="1025525"/>
            </a:xfrm>
            <a:prstGeom prst="rect">
              <a:avLst/>
            </a:prstGeom>
          </p:spPr>
          <p:txBody>
            <a:bodyPr anchor="t" rtlCol="false" tIns="0" lIns="0" bIns="0" rIns="0">
              <a:spAutoFit/>
            </a:bodyPr>
            <a:lstStyle/>
            <a:p>
              <a:pPr algn="l">
                <a:lnSpc>
                  <a:spcPts val="6000"/>
                </a:lnSpc>
              </a:pPr>
              <a:r>
                <a:rPr lang="en-US" sz="5000" b="true">
                  <a:solidFill>
                    <a:srgbClr val="FFFFFF"/>
                  </a:solidFill>
                  <a:latin typeface="Roboto Bold"/>
                  <a:ea typeface="Roboto Bold"/>
                  <a:cs typeface="Roboto Bold"/>
                  <a:sym typeface="Roboto Bold"/>
                </a:rPr>
                <a:t>Working Log</a:t>
              </a:r>
            </a:p>
          </p:txBody>
        </p:sp>
        <p:sp>
          <p:nvSpPr>
            <p:cNvPr name="Freeform 8" id="8"/>
            <p:cNvSpPr/>
            <p:nvPr/>
          </p:nvSpPr>
          <p:spPr>
            <a:xfrm flipH="false" flipV="false" rot="0">
              <a:off x="0" y="0"/>
              <a:ext cx="1148608" cy="814467"/>
            </a:xfrm>
            <a:custGeom>
              <a:avLst/>
              <a:gdLst/>
              <a:ahLst/>
              <a:cxnLst/>
              <a:rect r="r" b="b" t="t" l="l"/>
              <a:pathLst>
                <a:path h="814467" w="1148608">
                  <a:moveTo>
                    <a:pt x="0" y="0"/>
                  </a:moveTo>
                  <a:lnTo>
                    <a:pt x="1148608" y="0"/>
                  </a:lnTo>
                  <a:lnTo>
                    <a:pt x="1148608" y="814467"/>
                  </a:lnTo>
                  <a:lnTo>
                    <a:pt x="0" y="81446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Freeform 9" id="9"/>
          <p:cNvSpPr/>
          <p:nvPr/>
        </p:nvSpPr>
        <p:spPr>
          <a:xfrm flipH="false" flipV="false" rot="0">
            <a:off x="9144000" y="3988130"/>
            <a:ext cx="10207759" cy="4845415"/>
          </a:xfrm>
          <a:custGeom>
            <a:avLst/>
            <a:gdLst/>
            <a:ahLst/>
            <a:cxnLst/>
            <a:rect r="r" b="b" t="t" l="l"/>
            <a:pathLst>
              <a:path h="4845415" w="10207759">
                <a:moveTo>
                  <a:pt x="0" y="0"/>
                </a:moveTo>
                <a:lnTo>
                  <a:pt x="10207759" y="0"/>
                </a:lnTo>
                <a:lnTo>
                  <a:pt x="10207759" y="4845415"/>
                </a:lnTo>
                <a:lnTo>
                  <a:pt x="0" y="4845415"/>
                </a:lnTo>
                <a:lnTo>
                  <a:pt x="0" y="0"/>
                </a:lnTo>
                <a:close/>
              </a:path>
            </a:pathLst>
          </a:custGeom>
          <a:blipFill>
            <a:blip r:embed="rId6"/>
            <a:stretch>
              <a:fillRect l="-10712" t="0" r="0" b="0"/>
            </a:stretch>
          </a:blipFill>
        </p:spPr>
      </p:sp>
      <p:sp>
        <p:nvSpPr>
          <p:cNvPr name="Freeform 10" id="10"/>
          <p:cNvSpPr/>
          <p:nvPr/>
        </p:nvSpPr>
        <p:spPr>
          <a:xfrm flipH="false" flipV="false" rot="0">
            <a:off x="0" y="4334231"/>
            <a:ext cx="9144000" cy="4153213"/>
          </a:xfrm>
          <a:custGeom>
            <a:avLst/>
            <a:gdLst/>
            <a:ahLst/>
            <a:cxnLst/>
            <a:rect r="r" b="b" t="t" l="l"/>
            <a:pathLst>
              <a:path h="4153213" w="9144000">
                <a:moveTo>
                  <a:pt x="0" y="0"/>
                </a:moveTo>
                <a:lnTo>
                  <a:pt x="9144000" y="0"/>
                </a:lnTo>
                <a:lnTo>
                  <a:pt x="9144000" y="4153213"/>
                </a:lnTo>
                <a:lnTo>
                  <a:pt x="0" y="4153213"/>
                </a:lnTo>
                <a:lnTo>
                  <a:pt x="0" y="0"/>
                </a:lnTo>
                <a:close/>
              </a:path>
            </a:pathLst>
          </a:custGeom>
          <a:blipFill>
            <a:blip r:embed="rId7"/>
            <a:stretch>
              <a:fillRect l="0" t="0" r="-23592"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9144000" y="0"/>
            <a:ext cx="9144000" cy="10287000"/>
          </a:xfrm>
          <a:prstGeom prst="rect">
            <a:avLst/>
          </a:prstGeom>
          <a:solidFill>
            <a:srgbClr val="090909"/>
          </a:solidFill>
        </p:spPr>
      </p:sp>
      <p:grpSp>
        <p:nvGrpSpPr>
          <p:cNvPr name="Group 3" id="3"/>
          <p:cNvGrpSpPr/>
          <p:nvPr/>
        </p:nvGrpSpPr>
        <p:grpSpPr>
          <a:xfrm rot="0">
            <a:off x="1506141" y="1595218"/>
            <a:ext cx="6131719" cy="2739013"/>
            <a:chOff x="0" y="0"/>
            <a:chExt cx="8175625" cy="3652017"/>
          </a:xfrm>
        </p:grpSpPr>
        <p:sp>
          <p:nvSpPr>
            <p:cNvPr name="TextBox 4" id="4"/>
            <p:cNvSpPr txBox="true"/>
            <p:nvPr/>
          </p:nvSpPr>
          <p:spPr>
            <a:xfrm rot="0">
              <a:off x="0" y="1610492"/>
              <a:ext cx="8175625" cy="1025525"/>
            </a:xfrm>
            <a:prstGeom prst="rect">
              <a:avLst/>
            </a:prstGeom>
          </p:spPr>
          <p:txBody>
            <a:bodyPr anchor="t" rtlCol="false" tIns="0" lIns="0" bIns="0" rIns="0">
              <a:spAutoFit/>
            </a:bodyPr>
            <a:lstStyle/>
            <a:p>
              <a:pPr algn="l">
                <a:lnSpc>
                  <a:spcPts val="6000"/>
                </a:lnSpc>
              </a:pPr>
              <a:r>
                <a:rPr lang="en-US" sz="5000" b="true">
                  <a:solidFill>
                    <a:srgbClr val="090909"/>
                  </a:solidFill>
                  <a:latin typeface="Roboto Bold"/>
                  <a:ea typeface="Roboto Bold"/>
                  <a:cs typeface="Roboto Bold"/>
                  <a:sym typeface="Roboto Bold"/>
                </a:rPr>
                <a:t>Output</a:t>
              </a:r>
            </a:p>
          </p:txBody>
        </p:sp>
        <p:sp>
          <p:nvSpPr>
            <p:cNvPr name="Freeform 5" id="5"/>
            <p:cNvSpPr/>
            <p:nvPr/>
          </p:nvSpPr>
          <p:spPr>
            <a:xfrm flipH="false" flipV="false" rot="0">
              <a:off x="0" y="0"/>
              <a:ext cx="967672" cy="943041"/>
            </a:xfrm>
            <a:custGeom>
              <a:avLst/>
              <a:gdLst/>
              <a:ahLst/>
              <a:cxnLst/>
              <a:rect r="r" b="b" t="t" l="l"/>
              <a:pathLst>
                <a:path h="943041" w="967672">
                  <a:moveTo>
                    <a:pt x="0" y="0"/>
                  </a:moveTo>
                  <a:lnTo>
                    <a:pt x="967672" y="0"/>
                  </a:lnTo>
                  <a:lnTo>
                    <a:pt x="967672" y="943041"/>
                  </a:lnTo>
                  <a:lnTo>
                    <a:pt x="0" y="9430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6" id="6"/>
          <p:cNvGrpSpPr/>
          <p:nvPr/>
        </p:nvGrpSpPr>
        <p:grpSpPr>
          <a:xfrm rot="0">
            <a:off x="10650141" y="1691649"/>
            <a:ext cx="6131719" cy="2642583"/>
            <a:chOff x="0" y="0"/>
            <a:chExt cx="8175625" cy="3523444"/>
          </a:xfrm>
        </p:grpSpPr>
        <p:sp>
          <p:nvSpPr>
            <p:cNvPr name="TextBox 7" id="7"/>
            <p:cNvSpPr txBox="true"/>
            <p:nvPr/>
          </p:nvSpPr>
          <p:spPr>
            <a:xfrm rot="0">
              <a:off x="0" y="1481919"/>
              <a:ext cx="8175625" cy="1025525"/>
            </a:xfrm>
            <a:prstGeom prst="rect">
              <a:avLst/>
            </a:prstGeom>
          </p:spPr>
          <p:txBody>
            <a:bodyPr anchor="t" rtlCol="false" tIns="0" lIns="0" bIns="0" rIns="0">
              <a:spAutoFit/>
            </a:bodyPr>
            <a:lstStyle/>
            <a:p>
              <a:pPr algn="l">
                <a:lnSpc>
                  <a:spcPts val="6000"/>
                </a:lnSpc>
              </a:pPr>
              <a:r>
                <a:rPr lang="en-US" sz="5000" b="true">
                  <a:solidFill>
                    <a:srgbClr val="FFFFFF"/>
                  </a:solidFill>
                  <a:latin typeface="Roboto Bold"/>
                  <a:ea typeface="Roboto Bold"/>
                  <a:cs typeface="Roboto Bold"/>
                  <a:sym typeface="Roboto Bold"/>
                </a:rPr>
                <a:t>Working Log</a:t>
              </a:r>
            </a:p>
          </p:txBody>
        </p:sp>
        <p:sp>
          <p:nvSpPr>
            <p:cNvPr name="Freeform 8" id="8"/>
            <p:cNvSpPr/>
            <p:nvPr/>
          </p:nvSpPr>
          <p:spPr>
            <a:xfrm flipH="false" flipV="false" rot="0">
              <a:off x="0" y="0"/>
              <a:ext cx="1148608" cy="814467"/>
            </a:xfrm>
            <a:custGeom>
              <a:avLst/>
              <a:gdLst/>
              <a:ahLst/>
              <a:cxnLst/>
              <a:rect r="r" b="b" t="t" l="l"/>
              <a:pathLst>
                <a:path h="814467" w="1148608">
                  <a:moveTo>
                    <a:pt x="0" y="0"/>
                  </a:moveTo>
                  <a:lnTo>
                    <a:pt x="1148608" y="0"/>
                  </a:lnTo>
                  <a:lnTo>
                    <a:pt x="1148608" y="814467"/>
                  </a:lnTo>
                  <a:lnTo>
                    <a:pt x="0" y="81446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Freeform 9" id="9"/>
          <p:cNvSpPr/>
          <p:nvPr/>
        </p:nvSpPr>
        <p:spPr>
          <a:xfrm flipH="false" flipV="false" rot="0">
            <a:off x="9144000" y="3988130"/>
            <a:ext cx="10207759" cy="4845415"/>
          </a:xfrm>
          <a:custGeom>
            <a:avLst/>
            <a:gdLst/>
            <a:ahLst/>
            <a:cxnLst/>
            <a:rect r="r" b="b" t="t" l="l"/>
            <a:pathLst>
              <a:path h="4845415" w="10207759">
                <a:moveTo>
                  <a:pt x="0" y="0"/>
                </a:moveTo>
                <a:lnTo>
                  <a:pt x="10207759" y="0"/>
                </a:lnTo>
                <a:lnTo>
                  <a:pt x="10207759" y="4845415"/>
                </a:lnTo>
                <a:lnTo>
                  <a:pt x="0" y="4845415"/>
                </a:lnTo>
                <a:lnTo>
                  <a:pt x="0" y="0"/>
                </a:lnTo>
                <a:close/>
              </a:path>
            </a:pathLst>
          </a:custGeom>
          <a:blipFill>
            <a:blip r:embed="rId6"/>
            <a:stretch>
              <a:fillRect l="-10712" t="0" r="0" b="0"/>
            </a:stretch>
          </a:blipFill>
        </p:spPr>
      </p:sp>
      <p:sp>
        <p:nvSpPr>
          <p:cNvPr name="Freeform 10" id="10"/>
          <p:cNvSpPr/>
          <p:nvPr/>
        </p:nvSpPr>
        <p:spPr>
          <a:xfrm flipH="false" flipV="false" rot="0">
            <a:off x="0" y="4779218"/>
            <a:ext cx="9144000" cy="3263239"/>
          </a:xfrm>
          <a:custGeom>
            <a:avLst/>
            <a:gdLst/>
            <a:ahLst/>
            <a:cxnLst/>
            <a:rect r="r" b="b" t="t" l="l"/>
            <a:pathLst>
              <a:path h="3263239" w="9144000">
                <a:moveTo>
                  <a:pt x="0" y="0"/>
                </a:moveTo>
                <a:lnTo>
                  <a:pt x="9144000" y="0"/>
                </a:lnTo>
                <a:lnTo>
                  <a:pt x="9144000" y="3263239"/>
                </a:lnTo>
                <a:lnTo>
                  <a:pt x="0" y="3263239"/>
                </a:lnTo>
                <a:lnTo>
                  <a:pt x="0" y="0"/>
                </a:lnTo>
                <a:close/>
              </a:path>
            </a:pathLst>
          </a:custGeom>
          <a:blipFill>
            <a:blip r:embed="rId7"/>
            <a:stretch>
              <a:fillRect l="0" t="0" r="-23592"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9144000" y="0"/>
            <a:ext cx="9144000" cy="10287000"/>
          </a:xfrm>
          <a:prstGeom prst="rect">
            <a:avLst/>
          </a:prstGeom>
          <a:solidFill>
            <a:srgbClr val="090909"/>
          </a:solidFill>
        </p:spPr>
      </p:sp>
      <p:grpSp>
        <p:nvGrpSpPr>
          <p:cNvPr name="Group 3" id="3"/>
          <p:cNvGrpSpPr/>
          <p:nvPr/>
        </p:nvGrpSpPr>
        <p:grpSpPr>
          <a:xfrm rot="0">
            <a:off x="1506141" y="1595218"/>
            <a:ext cx="6131719" cy="2739013"/>
            <a:chOff x="0" y="0"/>
            <a:chExt cx="8175625" cy="3652017"/>
          </a:xfrm>
        </p:grpSpPr>
        <p:sp>
          <p:nvSpPr>
            <p:cNvPr name="TextBox 4" id="4"/>
            <p:cNvSpPr txBox="true"/>
            <p:nvPr/>
          </p:nvSpPr>
          <p:spPr>
            <a:xfrm rot="0">
              <a:off x="0" y="1610492"/>
              <a:ext cx="8175625" cy="1025525"/>
            </a:xfrm>
            <a:prstGeom prst="rect">
              <a:avLst/>
            </a:prstGeom>
          </p:spPr>
          <p:txBody>
            <a:bodyPr anchor="t" rtlCol="false" tIns="0" lIns="0" bIns="0" rIns="0">
              <a:spAutoFit/>
            </a:bodyPr>
            <a:lstStyle/>
            <a:p>
              <a:pPr algn="l">
                <a:lnSpc>
                  <a:spcPts val="6000"/>
                </a:lnSpc>
              </a:pPr>
              <a:r>
                <a:rPr lang="en-US" sz="5000" b="true">
                  <a:solidFill>
                    <a:srgbClr val="090909"/>
                  </a:solidFill>
                  <a:latin typeface="Roboto Bold"/>
                  <a:ea typeface="Roboto Bold"/>
                  <a:cs typeface="Roboto Bold"/>
                  <a:sym typeface="Roboto Bold"/>
                </a:rPr>
                <a:t>Output</a:t>
              </a:r>
            </a:p>
          </p:txBody>
        </p:sp>
        <p:sp>
          <p:nvSpPr>
            <p:cNvPr name="Freeform 5" id="5"/>
            <p:cNvSpPr/>
            <p:nvPr/>
          </p:nvSpPr>
          <p:spPr>
            <a:xfrm flipH="false" flipV="false" rot="0">
              <a:off x="0" y="0"/>
              <a:ext cx="967672" cy="943041"/>
            </a:xfrm>
            <a:custGeom>
              <a:avLst/>
              <a:gdLst/>
              <a:ahLst/>
              <a:cxnLst/>
              <a:rect r="r" b="b" t="t" l="l"/>
              <a:pathLst>
                <a:path h="943041" w="967672">
                  <a:moveTo>
                    <a:pt x="0" y="0"/>
                  </a:moveTo>
                  <a:lnTo>
                    <a:pt x="967672" y="0"/>
                  </a:lnTo>
                  <a:lnTo>
                    <a:pt x="967672" y="943041"/>
                  </a:lnTo>
                  <a:lnTo>
                    <a:pt x="0" y="9430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6" id="6"/>
          <p:cNvGrpSpPr/>
          <p:nvPr/>
        </p:nvGrpSpPr>
        <p:grpSpPr>
          <a:xfrm rot="0">
            <a:off x="10650141" y="1691649"/>
            <a:ext cx="6131719" cy="2642583"/>
            <a:chOff x="0" y="0"/>
            <a:chExt cx="8175625" cy="3523444"/>
          </a:xfrm>
        </p:grpSpPr>
        <p:sp>
          <p:nvSpPr>
            <p:cNvPr name="TextBox 7" id="7"/>
            <p:cNvSpPr txBox="true"/>
            <p:nvPr/>
          </p:nvSpPr>
          <p:spPr>
            <a:xfrm rot="0">
              <a:off x="0" y="1481919"/>
              <a:ext cx="8175625" cy="1025525"/>
            </a:xfrm>
            <a:prstGeom prst="rect">
              <a:avLst/>
            </a:prstGeom>
          </p:spPr>
          <p:txBody>
            <a:bodyPr anchor="t" rtlCol="false" tIns="0" lIns="0" bIns="0" rIns="0">
              <a:spAutoFit/>
            </a:bodyPr>
            <a:lstStyle/>
            <a:p>
              <a:pPr algn="l">
                <a:lnSpc>
                  <a:spcPts val="6000"/>
                </a:lnSpc>
              </a:pPr>
              <a:r>
                <a:rPr lang="en-US" sz="5000" b="true">
                  <a:solidFill>
                    <a:srgbClr val="FFFFFF"/>
                  </a:solidFill>
                  <a:latin typeface="Roboto Bold"/>
                  <a:ea typeface="Roboto Bold"/>
                  <a:cs typeface="Roboto Bold"/>
                  <a:sym typeface="Roboto Bold"/>
                </a:rPr>
                <a:t>Working Log</a:t>
              </a:r>
            </a:p>
          </p:txBody>
        </p:sp>
        <p:sp>
          <p:nvSpPr>
            <p:cNvPr name="Freeform 8" id="8"/>
            <p:cNvSpPr/>
            <p:nvPr/>
          </p:nvSpPr>
          <p:spPr>
            <a:xfrm flipH="false" flipV="false" rot="0">
              <a:off x="0" y="0"/>
              <a:ext cx="1148608" cy="814467"/>
            </a:xfrm>
            <a:custGeom>
              <a:avLst/>
              <a:gdLst/>
              <a:ahLst/>
              <a:cxnLst/>
              <a:rect r="r" b="b" t="t" l="l"/>
              <a:pathLst>
                <a:path h="814467" w="1148608">
                  <a:moveTo>
                    <a:pt x="0" y="0"/>
                  </a:moveTo>
                  <a:lnTo>
                    <a:pt x="1148608" y="0"/>
                  </a:lnTo>
                  <a:lnTo>
                    <a:pt x="1148608" y="814467"/>
                  </a:lnTo>
                  <a:lnTo>
                    <a:pt x="0" y="81446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Freeform 9" id="9"/>
          <p:cNvSpPr/>
          <p:nvPr/>
        </p:nvSpPr>
        <p:spPr>
          <a:xfrm flipH="false" flipV="false" rot="0">
            <a:off x="9144000" y="3988130"/>
            <a:ext cx="10207759" cy="4845415"/>
          </a:xfrm>
          <a:custGeom>
            <a:avLst/>
            <a:gdLst/>
            <a:ahLst/>
            <a:cxnLst/>
            <a:rect r="r" b="b" t="t" l="l"/>
            <a:pathLst>
              <a:path h="4845415" w="10207759">
                <a:moveTo>
                  <a:pt x="0" y="0"/>
                </a:moveTo>
                <a:lnTo>
                  <a:pt x="10207759" y="0"/>
                </a:lnTo>
                <a:lnTo>
                  <a:pt x="10207759" y="4845415"/>
                </a:lnTo>
                <a:lnTo>
                  <a:pt x="0" y="4845415"/>
                </a:lnTo>
                <a:lnTo>
                  <a:pt x="0" y="0"/>
                </a:lnTo>
                <a:close/>
              </a:path>
            </a:pathLst>
          </a:custGeom>
          <a:blipFill>
            <a:blip r:embed="rId6"/>
            <a:stretch>
              <a:fillRect l="-10712" t="0" r="0" b="0"/>
            </a:stretch>
          </a:blipFill>
        </p:spPr>
      </p:sp>
      <p:sp>
        <p:nvSpPr>
          <p:cNvPr name="Freeform 10" id="10"/>
          <p:cNvSpPr/>
          <p:nvPr/>
        </p:nvSpPr>
        <p:spPr>
          <a:xfrm flipH="false" flipV="false" rot="0">
            <a:off x="-171879" y="3959877"/>
            <a:ext cx="9315879" cy="4873668"/>
          </a:xfrm>
          <a:custGeom>
            <a:avLst/>
            <a:gdLst/>
            <a:ahLst/>
            <a:cxnLst/>
            <a:rect r="r" b="b" t="t" l="l"/>
            <a:pathLst>
              <a:path h="4873668" w="9315879">
                <a:moveTo>
                  <a:pt x="0" y="0"/>
                </a:moveTo>
                <a:lnTo>
                  <a:pt x="9315879" y="0"/>
                </a:lnTo>
                <a:lnTo>
                  <a:pt x="9315879" y="4873668"/>
                </a:lnTo>
                <a:lnTo>
                  <a:pt x="0" y="4873668"/>
                </a:lnTo>
                <a:lnTo>
                  <a:pt x="0" y="0"/>
                </a:lnTo>
                <a:close/>
              </a:path>
            </a:pathLst>
          </a:custGeom>
          <a:blipFill>
            <a:blip r:embed="rId7"/>
            <a:stretch>
              <a:fillRect l="0" t="0" r="-21311"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FBE40"/>
        </a:solidFill>
      </p:bgPr>
    </p:bg>
    <p:spTree>
      <p:nvGrpSpPr>
        <p:cNvPr id="1" name=""/>
        <p:cNvGrpSpPr/>
        <p:nvPr/>
      </p:nvGrpSpPr>
      <p:grpSpPr>
        <a:xfrm>
          <a:off x="0" y="0"/>
          <a:ext cx="0" cy="0"/>
          <a:chOff x="0" y="0"/>
          <a:chExt cx="0" cy="0"/>
        </a:xfrm>
      </p:grpSpPr>
      <p:sp>
        <p:nvSpPr>
          <p:cNvPr name="Freeform 2" id="2"/>
          <p:cNvSpPr/>
          <p:nvPr/>
        </p:nvSpPr>
        <p:spPr>
          <a:xfrm flipH="false" flipV="false" rot="0">
            <a:off x="-131379" y="1782742"/>
            <a:ext cx="11301259" cy="5749515"/>
          </a:xfrm>
          <a:custGeom>
            <a:avLst/>
            <a:gdLst/>
            <a:ahLst/>
            <a:cxnLst/>
            <a:rect r="r" b="b" t="t" l="l"/>
            <a:pathLst>
              <a:path h="5749515" w="11301259">
                <a:moveTo>
                  <a:pt x="0" y="0"/>
                </a:moveTo>
                <a:lnTo>
                  <a:pt x="11301259" y="0"/>
                </a:lnTo>
                <a:lnTo>
                  <a:pt x="11301259" y="5749516"/>
                </a:lnTo>
                <a:lnTo>
                  <a:pt x="0" y="5749516"/>
                </a:lnTo>
                <a:lnTo>
                  <a:pt x="0" y="0"/>
                </a:lnTo>
                <a:close/>
              </a:path>
            </a:pathLst>
          </a:custGeom>
          <a:blipFill>
            <a:blip r:embed="rId2"/>
            <a:stretch>
              <a:fillRect l="0" t="0" r="0" b="0"/>
            </a:stretch>
          </a:blipFill>
        </p:spPr>
      </p:sp>
      <p:sp>
        <p:nvSpPr>
          <p:cNvPr name="TextBox 3" id="3"/>
          <p:cNvSpPr txBox="true"/>
          <p:nvPr/>
        </p:nvSpPr>
        <p:spPr>
          <a:xfrm rot="0">
            <a:off x="11834228" y="3266850"/>
            <a:ext cx="6883072" cy="2762250"/>
          </a:xfrm>
          <a:prstGeom prst="rect">
            <a:avLst/>
          </a:prstGeom>
        </p:spPr>
        <p:txBody>
          <a:bodyPr anchor="t" rtlCol="false" tIns="0" lIns="0" bIns="0" rIns="0">
            <a:spAutoFit/>
          </a:bodyPr>
          <a:lstStyle/>
          <a:p>
            <a:pPr algn="l">
              <a:lnSpc>
                <a:spcPts val="10800"/>
              </a:lnSpc>
            </a:pPr>
            <a:r>
              <a:rPr lang="en-US" sz="9000" b="true">
                <a:solidFill>
                  <a:srgbClr val="090909"/>
                </a:solidFill>
                <a:latin typeface="Roboto Bold"/>
                <a:ea typeface="Roboto Bold"/>
                <a:cs typeface="Roboto Bold"/>
                <a:sym typeface="Roboto Bold"/>
              </a:rPr>
              <a:t>Frontend</a:t>
            </a:r>
          </a:p>
          <a:p>
            <a:pPr algn="l">
              <a:lnSpc>
                <a:spcPts val="10800"/>
              </a:lnSpc>
            </a:pPr>
            <a:r>
              <a:rPr lang="en-US" sz="9000" b="true">
                <a:solidFill>
                  <a:srgbClr val="090909"/>
                </a:solidFill>
                <a:latin typeface="Roboto Bold"/>
                <a:ea typeface="Roboto Bold"/>
                <a:cs typeface="Roboto Bold"/>
                <a:sym typeface="Roboto Bold"/>
              </a:rPr>
              <a:t>Architect</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090909"/>
        </a:solidFill>
      </p:bgPr>
    </p:bg>
    <p:spTree>
      <p:nvGrpSpPr>
        <p:cNvPr id="1" name=""/>
        <p:cNvGrpSpPr/>
        <p:nvPr/>
      </p:nvGrpSpPr>
      <p:grpSpPr>
        <a:xfrm>
          <a:off x="0" y="0"/>
          <a:ext cx="0" cy="0"/>
          <a:chOff x="0" y="0"/>
          <a:chExt cx="0" cy="0"/>
        </a:xfrm>
      </p:grpSpPr>
      <p:sp>
        <p:nvSpPr>
          <p:cNvPr name="Freeform 2" id="2"/>
          <p:cNvSpPr/>
          <p:nvPr/>
        </p:nvSpPr>
        <p:spPr>
          <a:xfrm flipH="false" flipV="false" rot="0">
            <a:off x="8573318" y="2068480"/>
            <a:ext cx="9443863" cy="5713537"/>
          </a:xfrm>
          <a:custGeom>
            <a:avLst/>
            <a:gdLst/>
            <a:ahLst/>
            <a:cxnLst/>
            <a:rect r="r" b="b" t="t" l="l"/>
            <a:pathLst>
              <a:path h="5713537" w="9443863">
                <a:moveTo>
                  <a:pt x="0" y="0"/>
                </a:moveTo>
                <a:lnTo>
                  <a:pt x="9443863" y="0"/>
                </a:lnTo>
                <a:lnTo>
                  <a:pt x="9443863" y="5713537"/>
                </a:lnTo>
                <a:lnTo>
                  <a:pt x="0" y="5713537"/>
                </a:lnTo>
                <a:lnTo>
                  <a:pt x="0" y="0"/>
                </a:lnTo>
                <a:close/>
              </a:path>
            </a:pathLst>
          </a:custGeom>
          <a:blipFill>
            <a:blip r:embed="rId2"/>
            <a:stretch>
              <a:fillRect l="0" t="0" r="0" b="0"/>
            </a:stretch>
          </a:blipFill>
        </p:spPr>
      </p:sp>
      <p:sp>
        <p:nvSpPr>
          <p:cNvPr name="TextBox 3" id="3"/>
          <p:cNvSpPr txBox="true"/>
          <p:nvPr/>
        </p:nvSpPr>
        <p:spPr>
          <a:xfrm rot="0">
            <a:off x="1028700" y="3956458"/>
            <a:ext cx="6883072" cy="1343025"/>
          </a:xfrm>
          <a:prstGeom prst="rect">
            <a:avLst/>
          </a:prstGeom>
        </p:spPr>
        <p:txBody>
          <a:bodyPr anchor="t" rtlCol="false" tIns="0" lIns="0" bIns="0" rIns="0">
            <a:spAutoFit/>
          </a:bodyPr>
          <a:lstStyle/>
          <a:p>
            <a:pPr algn="l">
              <a:lnSpc>
                <a:spcPts val="10530"/>
              </a:lnSpc>
            </a:pPr>
            <a:r>
              <a:rPr lang="en-US" sz="8775" b="true">
                <a:solidFill>
                  <a:srgbClr val="FFBE40"/>
                </a:solidFill>
                <a:latin typeface="Roboto Bold"/>
                <a:ea typeface="Roboto Bold"/>
                <a:cs typeface="Roboto Bold"/>
                <a:sym typeface="Roboto Bold"/>
              </a:rPr>
              <a:t>Working Log</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090909"/>
        </a:solidFill>
      </p:bgPr>
    </p:bg>
    <p:spTree>
      <p:nvGrpSpPr>
        <p:cNvPr id="1" name=""/>
        <p:cNvGrpSpPr/>
        <p:nvPr/>
      </p:nvGrpSpPr>
      <p:grpSpPr>
        <a:xfrm>
          <a:off x="0" y="0"/>
          <a:ext cx="0" cy="0"/>
          <a:chOff x="0" y="0"/>
          <a:chExt cx="0" cy="0"/>
        </a:xfrm>
      </p:grpSpPr>
      <p:sp>
        <p:nvSpPr>
          <p:cNvPr name="Freeform 2" id="2"/>
          <p:cNvSpPr/>
          <p:nvPr/>
        </p:nvSpPr>
        <p:spPr>
          <a:xfrm flipH="false" flipV="false" rot="0">
            <a:off x="11624248" y="2514068"/>
            <a:ext cx="3261003" cy="5542364"/>
          </a:xfrm>
          <a:custGeom>
            <a:avLst/>
            <a:gdLst/>
            <a:ahLst/>
            <a:cxnLst/>
            <a:rect r="r" b="b" t="t" l="l"/>
            <a:pathLst>
              <a:path h="5542364" w="3261003">
                <a:moveTo>
                  <a:pt x="0" y="0"/>
                </a:moveTo>
                <a:lnTo>
                  <a:pt x="3261003" y="0"/>
                </a:lnTo>
                <a:lnTo>
                  <a:pt x="3261003" y="5542364"/>
                </a:lnTo>
                <a:lnTo>
                  <a:pt x="0" y="5542364"/>
                </a:lnTo>
                <a:lnTo>
                  <a:pt x="0" y="0"/>
                </a:lnTo>
                <a:close/>
              </a:path>
            </a:pathLst>
          </a:custGeom>
          <a:blipFill>
            <a:blip r:embed="rId2"/>
            <a:stretch>
              <a:fillRect l="0" t="0" r="0" b="0"/>
            </a:stretch>
          </a:blipFill>
        </p:spPr>
      </p:sp>
      <p:sp>
        <p:nvSpPr>
          <p:cNvPr name="TextBox 3" id="3"/>
          <p:cNvSpPr txBox="true"/>
          <p:nvPr/>
        </p:nvSpPr>
        <p:spPr>
          <a:xfrm rot="0">
            <a:off x="1028700" y="3956458"/>
            <a:ext cx="6883072" cy="1343025"/>
          </a:xfrm>
          <a:prstGeom prst="rect">
            <a:avLst/>
          </a:prstGeom>
        </p:spPr>
        <p:txBody>
          <a:bodyPr anchor="t" rtlCol="false" tIns="0" lIns="0" bIns="0" rIns="0">
            <a:spAutoFit/>
          </a:bodyPr>
          <a:lstStyle/>
          <a:p>
            <a:pPr algn="l">
              <a:lnSpc>
                <a:spcPts val="10530"/>
              </a:lnSpc>
            </a:pPr>
            <a:r>
              <a:rPr lang="en-US" sz="8775" b="true">
                <a:solidFill>
                  <a:srgbClr val="FFBE40"/>
                </a:solidFill>
                <a:latin typeface="Roboto Bold"/>
                <a:ea typeface="Roboto Bold"/>
                <a:cs typeface="Roboto Bold"/>
                <a:sym typeface="Roboto Bold"/>
              </a:rPr>
              <a:t>Working Log</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090909"/>
        </a:solidFill>
      </p:bgPr>
    </p:bg>
    <p:spTree>
      <p:nvGrpSpPr>
        <p:cNvPr id="1" name=""/>
        <p:cNvGrpSpPr/>
        <p:nvPr/>
      </p:nvGrpSpPr>
      <p:grpSpPr>
        <a:xfrm>
          <a:off x="0" y="0"/>
          <a:ext cx="0" cy="0"/>
          <a:chOff x="0" y="0"/>
          <a:chExt cx="0" cy="0"/>
        </a:xfrm>
      </p:grpSpPr>
      <p:sp>
        <p:nvSpPr>
          <p:cNvPr name="Freeform 2" id="2"/>
          <p:cNvSpPr/>
          <p:nvPr/>
        </p:nvSpPr>
        <p:spPr>
          <a:xfrm flipH="false" flipV="false" rot="0">
            <a:off x="7766120" y="2777890"/>
            <a:ext cx="10329259" cy="5043187"/>
          </a:xfrm>
          <a:custGeom>
            <a:avLst/>
            <a:gdLst/>
            <a:ahLst/>
            <a:cxnLst/>
            <a:rect r="r" b="b" t="t" l="l"/>
            <a:pathLst>
              <a:path h="5043187" w="10329259">
                <a:moveTo>
                  <a:pt x="0" y="0"/>
                </a:moveTo>
                <a:lnTo>
                  <a:pt x="10329259" y="0"/>
                </a:lnTo>
                <a:lnTo>
                  <a:pt x="10329259" y="5043187"/>
                </a:lnTo>
                <a:lnTo>
                  <a:pt x="0" y="5043187"/>
                </a:lnTo>
                <a:lnTo>
                  <a:pt x="0" y="0"/>
                </a:lnTo>
                <a:close/>
              </a:path>
            </a:pathLst>
          </a:custGeom>
          <a:blipFill>
            <a:blip r:embed="rId2"/>
            <a:stretch>
              <a:fillRect l="-9410" t="0" r="0" b="0"/>
            </a:stretch>
          </a:blipFill>
        </p:spPr>
      </p:sp>
      <p:sp>
        <p:nvSpPr>
          <p:cNvPr name="TextBox 3" id="3"/>
          <p:cNvSpPr txBox="true"/>
          <p:nvPr/>
        </p:nvSpPr>
        <p:spPr>
          <a:xfrm rot="0">
            <a:off x="1028700" y="3956458"/>
            <a:ext cx="6883072" cy="1343025"/>
          </a:xfrm>
          <a:prstGeom prst="rect">
            <a:avLst/>
          </a:prstGeom>
        </p:spPr>
        <p:txBody>
          <a:bodyPr anchor="t" rtlCol="false" tIns="0" lIns="0" bIns="0" rIns="0">
            <a:spAutoFit/>
          </a:bodyPr>
          <a:lstStyle/>
          <a:p>
            <a:pPr algn="l">
              <a:lnSpc>
                <a:spcPts val="10530"/>
              </a:lnSpc>
            </a:pPr>
            <a:r>
              <a:rPr lang="en-US" sz="8775" b="true">
                <a:solidFill>
                  <a:srgbClr val="FFBE40"/>
                </a:solidFill>
                <a:latin typeface="Roboto Bold"/>
                <a:ea typeface="Roboto Bold"/>
                <a:cs typeface="Roboto Bold"/>
                <a:sym typeface="Roboto Bold"/>
              </a:rPr>
              <a:t>Working Log</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573991" y="2965797"/>
            <a:ext cx="10450759" cy="3333871"/>
          </a:xfrm>
          <a:custGeom>
            <a:avLst/>
            <a:gdLst/>
            <a:ahLst/>
            <a:cxnLst/>
            <a:rect r="r" b="b" t="t" l="l"/>
            <a:pathLst>
              <a:path h="3333871" w="10450759">
                <a:moveTo>
                  <a:pt x="0" y="0"/>
                </a:moveTo>
                <a:lnTo>
                  <a:pt x="10450759" y="0"/>
                </a:lnTo>
                <a:lnTo>
                  <a:pt x="10450759" y="3333872"/>
                </a:lnTo>
                <a:lnTo>
                  <a:pt x="0" y="3333872"/>
                </a:lnTo>
                <a:lnTo>
                  <a:pt x="0" y="0"/>
                </a:lnTo>
                <a:close/>
              </a:path>
            </a:pathLst>
          </a:custGeom>
          <a:blipFill>
            <a:blip r:embed="rId2"/>
            <a:stretch>
              <a:fillRect l="0" t="0" r="-8138" b="0"/>
            </a:stretch>
          </a:blipFill>
        </p:spPr>
      </p:sp>
      <p:sp>
        <p:nvSpPr>
          <p:cNvPr name="TextBox 3" id="3"/>
          <p:cNvSpPr txBox="true"/>
          <p:nvPr/>
        </p:nvSpPr>
        <p:spPr>
          <a:xfrm rot="0">
            <a:off x="1028700" y="3289708"/>
            <a:ext cx="6883072" cy="2676525"/>
          </a:xfrm>
          <a:prstGeom prst="rect">
            <a:avLst/>
          </a:prstGeom>
        </p:spPr>
        <p:txBody>
          <a:bodyPr anchor="t" rtlCol="false" tIns="0" lIns="0" bIns="0" rIns="0">
            <a:spAutoFit/>
          </a:bodyPr>
          <a:lstStyle/>
          <a:p>
            <a:pPr algn="l">
              <a:lnSpc>
                <a:spcPts val="10530"/>
              </a:lnSpc>
            </a:pPr>
            <a:r>
              <a:rPr lang="en-US" sz="8775" b="true">
                <a:solidFill>
                  <a:srgbClr val="090909"/>
                </a:solidFill>
                <a:latin typeface="Roboto Bold"/>
                <a:ea typeface="Roboto Bold"/>
                <a:cs typeface="Roboto Bold"/>
                <a:sym typeface="Roboto Bold"/>
              </a:rPr>
              <a:t>Frontend verification</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652370" y="2854995"/>
            <a:ext cx="11301259" cy="4577010"/>
          </a:xfrm>
          <a:custGeom>
            <a:avLst/>
            <a:gdLst/>
            <a:ahLst/>
            <a:cxnLst/>
            <a:rect r="r" b="b" t="t" l="l"/>
            <a:pathLst>
              <a:path h="4577010" w="11301259">
                <a:moveTo>
                  <a:pt x="0" y="0"/>
                </a:moveTo>
                <a:lnTo>
                  <a:pt x="11301259" y="0"/>
                </a:lnTo>
                <a:lnTo>
                  <a:pt x="11301259" y="4577010"/>
                </a:lnTo>
                <a:lnTo>
                  <a:pt x="0" y="4577010"/>
                </a:lnTo>
                <a:lnTo>
                  <a:pt x="0" y="0"/>
                </a:lnTo>
                <a:close/>
              </a:path>
            </a:pathLst>
          </a:custGeom>
          <a:blipFill>
            <a:blip r:embed="rId2"/>
            <a:stretch>
              <a:fillRect l="0" t="0" r="0" b="0"/>
            </a:stretch>
          </a:blipFill>
        </p:spPr>
      </p:sp>
      <p:sp>
        <p:nvSpPr>
          <p:cNvPr name="TextBox 3" id="3"/>
          <p:cNvSpPr txBox="true"/>
          <p:nvPr/>
        </p:nvSpPr>
        <p:spPr>
          <a:xfrm rot="0">
            <a:off x="1028700" y="3289708"/>
            <a:ext cx="6883072" cy="2676525"/>
          </a:xfrm>
          <a:prstGeom prst="rect">
            <a:avLst/>
          </a:prstGeom>
        </p:spPr>
        <p:txBody>
          <a:bodyPr anchor="t" rtlCol="false" tIns="0" lIns="0" bIns="0" rIns="0">
            <a:spAutoFit/>
          </a:bodyPr>
          <a:lstStyle/>
          <a:p>
            <a:pPr algn="l">
              <a:lnSpc>
                <a:spcPts val="10530"/>
              </a:lnSpc>
            </a:pPr>
            <a:r>
              <a:rPr lang="en-US" sz="8775" b="true">
                <a:solidFill>
                  <a:srgbClr val="090909"/>
                </a:solidFill>
                <a:latin typeface="Roboto Bold"/>
                <a:ea typeface="Roboto Bold"/>
                <a:cs typeface="Roboto Bold"/>
                <a:sym typeface="Roboto Bold"/>
              </a:rPr>
              <a:t>Frontend verification</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755434" y="1324902"/>
            <a:ext cx="8655785" cy="6615661"/>
          </a:xfrm>
          <a:custGeom>
            <a:avLst/>
            <a:gdLst/>
            <a:ahLst/>
            <a:cxnLst/>
            <a:rect r="r" b="b" t="t" l="l"/>
            <a:pathLst>
              <a:path h="6615661" w="8655785">
                <a:moveTo>
                  <a:pt x="0" y="0"/>
                </a:moveTo>
                <a:lnTo>
                  <a:pt x="8655785" y="0"/>
                </a:lnTo>
                <a:lnTo>
                  <a:pt x="8655785" y="6615662"/>
                </a:lnTo>
                <a:lnTo>
                  <a:pt x="0" y="6615662"/>
                </a:lnTo>
                <a:lnTo>
                  <a:pt x="0" y="0"/>
                </a:lnTo>
                <a:close/>
              </a:path>
            </a:pathLst>
          </a:custGeom>
          <a:blipFill>
            <a:blip r:embed="rId2"/>
            <a:stretch>
              <a:fillRect l="0" t="0" r="0" b="0"/>
            </a:stretch>
          </a:blipFill>
        </p:spPr>
      </p:sp>
      <p:sp>
        <p:nvSpPr>
          <p:cNvPr name="TextBox 3" id="3"/>
          <p:cNvSpPr txBox="true"/>
          <p:nvPr/>
        </p:nvSpPr>
        <p:spPr>
          <a:xfrm rot="0">
            <a:off x="1028700" y="3289708"/>
            <a:ext cx="6883072" cy="2676525"/>
          </a:xfrm>
          <a:prstGeom prst="rect">
            <a:avLst/>
          </a:prstGeom>
        </p:spPr>
        <p:txBody>
          <a:bodyPr anchor="t" rtlCol="false" tIns="0" lIns="0" bIns="0" rIns="0">
            <a:spAutoFit/>
          </a:bodyPr>
          <a:lstStyle/>
          <a:p>
            <a:pPr algn="l">
              <a:lnSpc>
                <a:spcPts val="10530"/>
              </a:lnSpc>
            </a:pPr>
            <a:r>
              <a:rPr lang="en-US" sz="8775" b="true">
                <a:solidFill>
                  <a:srgbClr val="090909"/>
                </a:solidFill>
                <a:latin typeface="Roboto Bold"/>
                <a:ea typeface="Roboto Bold"/>
                <a:cs typeface="Roboto Bold"/>
                <a:sym typeface="Roboto Bold"/>
              </a:rPr>
              <a:t>Frontend verification</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090909"/>
        </a:solidFill>
      </p:bgPr>
    </p:bg>
    <p:spTree>
      <p:nvGrpSpPr>
        <p:cNvPr id="1" name=""/>
        <p:cNvGrpSpPr/>
        <p:nvPr/>
      </p:nvGrpSpPr>
      <p:grpSpPr>
        <a:xfrm>
          <a:off x="0" y="0"/>
          <a:ext cx="0" cy="0"/>
          <a:chOff x="0" y="0"/>
          <a:chExt cx="0" cy="0"/>
        </a:xfrm>
      </p:grpSpPr>
      <p:sp>
        <p:nvSpPr>
          <p:cNvPr name="Freeform 2" id="2"/>
          <p:cNvSpPr/>
          <p:nvPr/>
        </p:nvSpPr>
        <p:spPr>
          <a:xfrm flipH="false" flipV="false" rot="0">
            <a:off x="11624248" y="2514068"/>
            <a:ext cx="3261003" cy="5542364"/>
          </a:xfrm>
          <a:custGeom>
            <a:avLst/>
            <a:gdLst/>
            <a:ahLst/>
            <a:cxnLst/>
            <a:rect r="r" b="b" t="t" l="l"/>
            <a:pathLst>
              <a:path h="5542364" w="3261003">
                <a:moveTo>
                  <a:pt x="0" y="0"/>
                </a:moveTo>
                <a:lnTo>
                  <a:pt x="3261003" y="0"/>
                </a:lnTo>
                <a:lnTo>
                  <a:pt x="3261003" y="5542364"/>
                </a:lnTo>
                <a:lnTo>
                  <a:pt x="0" y="5542364"/>
                </a:lnTo>
                <a:lnTo>
                  <a:pt x="0" y="0"/>
                </a:lnTo>
                <a:close/>
              </a:path>
            </a:pathLst>
          </a:custGeom>
          <a:blipFill>
            <a:blip r:embed="rId2"/>
            <a:stretch>
              <a:fillRect l="0" t="0" r="0" b="0"/>
            </a:stretch>
          </a:blipFill>
        </p:spPr>
      </p:sp>
      <p:sp>
        <p:nvSpPr>
          <p:cNvPr name="TextBox 3" id="3"/>
          <p:cNvSpPr txBox="true"/>
          <p:nvPr/>
        </p:nvSpPr>
        <p:spPr>
          <a:xfrm rot="0">
            <a:off x="1506764" y="2032708"/>
            <a:ext cx="6883072" cy="1343025"/>
          </a:xfrm>
          <a:prstGeom prst="rect">
            <a:avLst/>
          </a:prstGeom>
        </p:spPr>
        <p:txBody>
          <a:bodyPr anchor="t" rtlCol="false" tIns="0" lIns="0" bIns="0" rIns="0">
            <a:spAutoFit/>
          </a:bodyPr>
          <a:lstStyle/>
          <a:p>
            <a:pPr algn="l">
              <a:lnSpc>
                <a:spcPts val="10530"/>
              </a:lnSpc>
            </a:pPr>
            <a:r>
              <a:rPr lang="en-US" sz="8775" b="true">
                <a:solidFill>
                  <a:srgbClr val="FFFFFF"/>
                </a:solidFill>
                <a:latin typeface="Roboto Bold"/>
                <a:ea typeface="Roboto Bold"/>
                <a:cs typeface="Roboto Bold"/>
                <a:sym typeface="Roboto Bold"/>
              </a:rPr>
              <a:t>Working Log</a:t>
            </a:r>
          </a:p>
        </p:txBody>
      </p:sp>
      <p:grpSp>
        <p:nvGrpSpPr>
          <p:cNvPr name="Group 4" id="4"/>
          <p:cNvGrpSpPr/>
          <p:nvPr/>
        </p:nvGrpSpPr>
        <p:grpSpPr>
          <a:xfrm rot="0">
            <a:off x="1506764" y="4246483"/>
            <a:ext cx="5541792" cy="3535534"/>
            <a:chOff x="0" y="0"/>
            <a:chExt cx="7389056" cy="4714045"/>
          </a:xfrm>
        </p:grpSpPr>
        <p:sp>
          <p:nvSpPr>
            <p:cNvPr name="TextBox 5" id="5"/>
            <p:cNvSpPr txBox="true"/>
            <p:nvPr/>
          </p:nvSpPr>
          <p:spPr>
            <a:xfrm rot="0">
              <a:off x="0" y="-41910"/>
              <a:ext cx="7389056" cy="1245870"/>
            </a:xfrm>
            <a:prstGeom prst="rect">
              <a:avLst/>
            </a:prstGeom>
          </p:spPr>
          <p:txBody>
            <a:bodyPr anchor="t" rtlCol="false" tIns="0" lIns="0" bIns="0" rIns="0">
              <a:spAutoFit/>
            </a:bodyPr>
            <a:lstStyle/>
            <a:p>
              <a:pPr algn="l">
                <a:lnSpc>
                  <a:spcPts val="3779"/>
                </a:lnSpc>
              </a:pPr>
              <a:r>
                <a:rPr lang="en-US" b="true" sz="2699" spc="80">
                  <a:solidFill>
                    <a:srgbClr val="FFBE40"/>
                  </a:solidFill>
                  <a:latin typeface="Roboto Bold"/>
                  <a:ea typeface="Roboto Bold"/>
                  <a:cs typeface="Roboto Bold"/>
                  <a:sym typeface="Roboto Bold"/>
                </a:rPr>
                <a:t>CÔNG NGHỆ TƯƠNG TÁC ĐANG TÁI ĐỊNH HÌNH VIỆC HỌC</a:t>
              </a:r>
            </a:p>
          </p:txBody>
        </p:sp>
        <p:sp>
          <p:nvSpPr>
            <p:cNvPr name="TextBox 6" id="6"/>
            <p:cNvSpPr txBox="true"/>
            <p:nvPr/>
          </p:nvSpPr>
          <p:spPr>
            <a:xfrm rot="0">
              <a:off x="0" y="1894645"/>
              <a:ext cx="7389056" cy="2819400"/>
            </a:xfrm>
            <a:prstGeom prst="rect">
              <a:avLst/>
            </a:prstGeom>
          </p:spPr>
          <p:txBody>
            <a:bodyPr anchor="t" rtlCol="false" tIns="0" lIns="0" bIns="0" rIns="0">
              <a:spAutoFit/>
            </a:bodyPr>
            <a:lstStyle/>
            <a:p>
              <a:pPr algn="l" marL="0" indent="0" lvl="1">
                <a:lnSpc>
                  <a:spcPts val="4200"/>
                </a:lnSpc>
                <a:spcBef>
                  <a:spcPct val="0"/>
                </a:spcBef>
              </a:pPr>
              <a:r>
                <a:rPr lang="en-US" sz="3000">
                  <a:solidFill>
                    <a:srgbClr val="FFFFFF"/>
                  </a:solidFill>
                  <a:latin typeface="Roboto"/>
                  <a:ea typeface="Roboto"/>
                  <a:cs typeface="Roboto"/>
                  <a:sym typeface="Roboto"/>
                </a:rPr>
                <a:t>Công nghệ tương tác cho phép học sinh cải thiện khả năng</a:t>
              </a:r>
            </a:p>
            <a:p>
              <a:pPr algn="l" marL="0" indent="0" lvl="1">
                <a:lnSpc>
                  <a:spcPts val="4200"/>
                </a:lnSpc>
                <a:spcBef>
                  <a:spcPct val="0"/>
                </a:spcBef>
              </a:pPr>
              <a:r>
                <a:rPr lang="en-US" sz="3000">
                  <a:solidFill>
                    <a:srgbClr val="FFFFFF"/>
                  </a:solidFill>
                  <a:latin typeface="Roboto"/>
                  <a:ea typeface="Roboto"/>
                  <a:cs typeface="Roboto"/>
                  <a:sym typeface="Roboto"/>
                </a:rPr>
                <a:t>giao tiếp với các bạn cùng lớp lẫn thầy cô giáo.</a:t>
              </a:r>
            </a:p>
          </p:txBody>
        </p:sp>
      </p:gr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679352" y="573574"/>
            <a:ext cx="4581193" cy="8684726"/>
          </a:xfrm>
          <a:custGeom>
            <a:avLst/>
            <a:gdLst/>
            <a:ahLst/>
            <a:cxnLst/>
            <a:rect r="r" b="b" t="t" l="l"/>
            <a:pathLst>
              <a:path h="8684726" w="4581193">
                <a:moveTo>
                  <a:pt x="0" y="0"/>
                </a:moveTo>
                <a:lnTo>
                  <a:pt x="4581193" y="0"/>
                </a:lnTo>
                <a:lnTo>
                  <a:pt x="4581193" y="8684726"/>
                </a:lnTo>
                <a:lnTo>
                  <a:pt x="0" y="8684726"/>
                </a:lnTo>
                <a:lnTo>
                  <a:pt x="0" y="0"/>
                </a:lnTo>
                <a:close/>
              </a:path>
            </a:pathLst>
          </a:custGeom>
          <a:blipFill>
            <a:blip r:embed="rId2"/>
            <a:stretch>
              <a:fillRect l="0" t="0" r="0" b="0"/>
            </a:stretch>
          </a:blipFill>
        </p:spPr>
      </p:sp>
      <p:sp>
        <p:nvSpPr>
          <p:cNvPr name="TextBox 3" id="3"/>
          <p:cNvSpPr txBox="true"/>
          <p:nvPr/>
        </p:nvSpPr>
        <p:spPr>
          <a:xfrm rot="0">
            <a:off x="1431122" y="1408010"/>
            <a:ext cx="6583744" cy="2905125"/>
          </a:xfrm>
          <a:prstGeom prst="rect">
            <a:avLst/>
          </a:prstGeom>
        </p:spPr>
        <p:txBody>
          <a:bodyPr anchor="t" rtlCol="false" tIns="0" lIns="0" bIns="0" rIns="0">
            <a:spAutoFit/>
          </a:bodyPr>
          <a:lstStyle/>
          <a:p>
            <a:pPr algn="l">
              <a:lnSpc>
                <a:spcPts val="11400"/>
              </a:lnSpc>
            </a:pPr>
            <a:r>
              <a:rPr lang="en-US" sz="9500" b="true">
                <a:solidFill>
                  <a:srgbClr val="090909"/>
                </a:solidFill>
                <a:latin typeface="Roboto Bold"/>
                <a:ea typeface="Roboto Bold"/>
                <a:cs typeface="Roboto Bold"/>
                <a:sym typeface="Roboto Bold"/>
              </a:rPr>
              <a:t>Java Migration</a:t>
            </a:r>
          </a:p>
        </p:txBody>
      </p:sp>
      <p:sp>
        <p:nvSpPr>
          <p:cNvPr name="TextBox 4" id="4"/>
          <p:cNvSpPr txBox="true"/>
          <p:nvPr/>
        </p:nvSpPr>
        <p:spPr>
          <a:xfrm rot="0">
            <a:off x="9713128" y="988910"/>
            <a:ext cx="924904" cy="847725"/>
          </a:xfrm>
          <a:prstGeom prst="rect">
            <a:avLst/>
          </a:prstGeom>
        </p:spPr>
        <p:txBody>
          <a:bodyPr anchor="t" rtlCol="false" tIns="0" lIns="0" bIns="0" rIns="0">
            <a:spAutoFit/>
          </a:bodyPr>
          <a:lstStyle/>
          <a:p>
            <a:pPr algn="l">
              <a:lnSpc>
                <a:spcPts val="6600"/>
              </a:lnSpc>
            </a:pPr>
            <a:r>
              <a:rPr lang="en-US" sz="5500" b="true">
                <a:solidFill>
                  <a:srgbClr val="FFBE40"/>
                </a:solidFill>
                <a:latin typeface="Roboto Bold"/>
                <a:ea typeface="Roboto Bold"/>
                <a:cs typeface="Roboto Bold"/>
                <a:sym typeface="Roboto Bold"/>
              </a:rPr>
              <a:t>01</a:t>
            </a:r>
          </a:p>
        </p:txBody>
      </p:sp>
      <p:sp>
        <p:nvSpPr>
          <p:cNvPr name="TextBox 5" id="5"/>
          <p:cNvSpPr txBox="true"/>
          <p:nvPr/>
        </p:nvSpPr>
        <p:spPr>
          <a:xfrm rot="0">
            <a:off x="9713128" y="4305300"/>
            <a:ext cx="924904" cy="847725"/>
          </a:xfrm>
          <a:prstGeom prst="rect">
            <a:avLst/>
          </a:prstGeom>
        </p:spPr>
        <p:txBody>
          <a:bodyPr anchor="t" rtlCol="false" tIns="0" lIns="0" bIns="0" rIns="0">
            <a:spAutoFit/>
          </a:bodyPr>
          <a:lstStyle/>
          <a:p>
            <a:pPr algn="l">
              <a:lnSpc>
                <a:spcPts val="6600"/>
              </a:lnSpc>
            </a:pPr>
            <a:r>
              <a:rPr lang="en-US" sz="5500" b="true">
                <a:solidFill>
                  <a:srgbClr val="FFBE40"/>
                </a:solidFill>
                <a:latin typeface="Roboto Bold"/>
                <a:ea typeface="Roboto Bold"/>
                <a:cs typeface="Roboto Bold"/>
                <a:sym typeface="Roboto Bold"/>
              </a:rPr>
              <a:t>02</a:t>
            </a:r>
          </a:p>
        </p:txBody>
      </p:sp>
      <p:sp>
        <p:nvSpPr>
          <p:cNvPr name="TextBox 6" id="6"/>
          <p:cNvSpPr txBox="true"/>
          <p:nvPr/>
        </p:nvSpPr>
        <p:spPr>
          <a:xfrm rot="0">
            <a:off x="9713128" y="8410575"/>
            <a:ext cx="924904" cy="847725"/>
          </a:xfrm>
          <a:prstGeom prst="rect">
            <a:avLst/>
          </a:prstGeom>
        </p:spPr>
        <p:txBody>
          <a:bodyPr anchor="t" rtlCol="false" tIns="0" lIns="0" bIns="0" rIns="0">
            <a:spAutoFit/>
          </a:bodyPr>
          <a:lstStyle/>
          <a:p>
            <a:pPr algn="l">
              <a:lnSpc>
                <a:spcPts val="6600"/>
              </a:lnSpc>
            </a:pPr>
            <a:r>
              <a:rPr lang="en-US" sz="5500" b="true">
                <a:solidFill>
                  <a:srgbClr val="FFBE40"/>
                </a:solidFill>
                <a:latin typeface="Roboto Bold"/>
                <a:ea typeface="Roboto Bold"/>
                <a:cs typeface="Roboto Bold"/>
                <a:sym typeface="Roboto Bold"/>
              </a:rPr>
              <a:t>03</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679352" y="573574"/>
            <a:ext cx="4581193" cy="8684726"/>
          </a:xfrm>
          <a:custGeom>
            <a:avLst/>
            <a:gdLst/>
            <a:ahLst/>
            <a:cxnLst/>
            <a:rect r="r" b="b" t="t" l="l"/>
            <a:pathLst>
              <a:path h="8684726" w="4581193">
                <a:moveTo>
                  <a:pt x="0" y="0"/>
                </a:moveTo>
                <a:lnTo>
                  <a:pt x="4581193" y="0"/>
                </a:lnTo>
                <a:lnTo>
                  <a:pt x="4581193" y="8684726"/>
                </a:lnTo>
                <a:lnTo>
                  <a:pt x="0" y="8684726"/>
                </a:lnTo>
                <a:lnTo>
                  <a:pt x="0" y="0"/>
                </a:lnTo>
                <a:close/>
              </a:path>
            </a:pathLst>
          </a:custGeom>
          <a:blipFill>
            <a:blip r:embed="rId2"/>
            <a:stretch>
              <a:fillRect l="0" t="0" r="0" b="0"/>
            </a:stretch>
          </a:blipFill>
        </p:spPr>
      </p:sp>
      <p:sp>
        <p:nvSpPr>
          <p:cNvPr name="TextBox 3" id="3"/>
          <p:cNvSpPr txBox="true"/>
          <p:nvPr/>
        </p:nvSpPr>
        <p:spPr>
          <a:xfrm rot="0">
            <a:off x="1431122" y="1408010"/>
            <a:ext cx="6583744" cy="2905125"/>
          </a:xfrm>
          <a:prstGeom prst="rect">
            <a:avLst/>
          </a:prstGeom>
        </p:spPr>
        <p:txBody>
          <a:bodyPr anchor="t" rtlCol="false" tIns="0" lIns="0" bIns="0" rIns="0">
            <a:spAutoFit/>
          </a:bodyPr>
          <a:lstStyle/>
          <a:p>
            <a:pPr algn="l">
              <a:lnSpc>
                <a:spcPts val="11400"/>
              </a:lnSpc>
            </a:pPr>
            <a:r>
              <a:rPr lang="en-US" sz="9500" b="true">
                <a:solidFill>
                  <a:srgbClr val="090909"/>
                </a:solidFill>
                <a:latin typeface="Roboto Bold"/>
                <a:ea typeface="Roboto Bold"/>
                <a:cs typeface="Roboto Bold"/>
                <a:sym typeface="Roboto Bold"/>
              </a:rPr>
              <a:t>Java Migration</a:t>
            </a:r>
          </a:p>
        </p:txBody>
      </p:sp>
      <p:sp>
        <p:nvSpPr>
          <p:cNvPr name="TextBox 4" id="4"/>
          <p:cNvSpPr txBox="true"/>
          <p:nvPr/>
        </p:nvSpPr>
        <p:spPr>
          <a:xfrm rot="0">
            <a:off x="1431122" y="5133975"/>
            <a:ext cx="924904" cy="847725"/>
          </a:xfrm>
          <a:prstGeom prst="rect">
            <a:avLst/>
          </a:prstGeom>
        </p:spPr>
        <p:txBody>
          <a:bodyPr anchor="t" rtlCol="false" tIns="0" lIns="0" bIns="0" rIns="0">
            <a:spAutoFit/>
          </a:bodyPr>
          <a:lstStyle/>
          <a:p>
            <a:pPr algn="l">
              <a:lnSpc>
                <a:spcPts val="6600"/>
              </a:lnSpc>
            </a:pPr>
            <a:r>
              <a:rPr lang="en-US" sz="5500" b="true">
                <a:solidFill>
                  <a:srgbClr val="FFBE40"/>
                </a:solidFill>
                <a:latin typeface="Roboto Bold"/>
                <a:ea typeface="Roboto Bold"/>
                <a:cs typeface="Roboto Bold"/>
                <a:sym typeface="Roboto Bold"/>
              </a:rPr>
              <a:t>01</a:t>
            </a:r>
          </a:p>
        </p:txBody>
      </p:sp>
      <p:sp>
        <p:nvSpPr>
          <p:cNvPr name="TextBox 5" id="5"/>
          <p:cNvSpPr txBox="true"/>
          <p:nvPr/>
        </p:nvSpPr>
        <p:spPr>
          <a:xfrm rot="0">
            <a:off x="1431122" y="6674550"/>
            <a:ext cx="924904" cy="847725"/>
          </a:xfrm>
          <a:prstGeom prst="rect">
            <a:avLst/>
          </a:prstGeom>
        </p:spPr>
        <p:txBody>
          <a:bodyPr anchor="t" rtlCol="false" tIns="0" lIns="0" bIns="0" rIns="0">
            <a:spAutoFit/>
          </a:bodyPr>
          <a:lstStyle/>
          <a:p>
            <a:pPr algn="l">
              <a:lnSpc>
                <a:spcPts val="6600"/>
              </a:lnSpc>
            </a:pPr>
            <a:r>
              <a:rPr lang="en-US" sz="5500" b="true">
                <a:solidFill>
                  <a:srgbClr val="FFBE40"/>
                </a:solidFill>
                <a:latin typeface="Roboto Bold"/>
                <a:ea typeface="Roboto Bold"/>
                <a:cs typeface="Roboto Bold"/>
                <a:sym typeface="Roboto Bold"/>
              </a:rPr>
              <a:t>02</a:t>
            </a:r>
          </a:p>
        </p:txBody>
      </p:sp>
      <p:sp>
        <p:nvSpPr>
          <p:cNvPr name="TextBox 6" id="6"/>
          <p:cNvSpPr txBox="true"/>
          <p:nvPr/>
        </p:nvSpPr>
        <p:spPr>
          <a:xfrm rot="0">
            <a:off x="1431122" y="8410575"/>
            <a:ext cx="924904" cy="847725"/>
          </a:xfrm>
          <a:prstGeom prst="rect">
            <a:avLst/>
          </a:prstGeom>
        </p:spPr>
        <p:txBody>
          <a:bodyPr anchor="t" rtlCol="false" tIns="0" lIns="0" bIns="0" rIns="0">
            <a:spAutoFit/>
          </a:bodyPr>
          <a:lstStyle/>
          <a:p>
            <a:pPr algn="l">
              <a:lnSpc>
                <a:spcPts val="6600"/>
              </a:lnSpc>
            </a:pPr>
            <a:r>
              <a:rPr lang="en-US" sz="5500" b="true">
                <a:solidFill>
                  <a:srgbClr val="FFBE40"/>
                </a:solidFill>
                <a:latin typeface="Roboto Bold"/>
                <a:ea typeface="Roboto Bold"/>
                <a:cs typeface="Roboto Bold"/>
                <a:sym typeface="Roboto Bold"/>
              </a:rPr>
              <a:t>03</a:t>
            </a:r>
          </a:p>
        </p:txBody>
      </p:sp>
      <p:sp>
        <p:nvSpPr>
          <p:cNvPr name="TextBox 7" id="7"/>
          <p:cNvSpPr txBox="true"/>
          <p:nvPr/>
        </p:nvSpPr>
        <p:spPr>
          <a:xfrm rot="0">
            <a:off x="2653306" y="5318125"/>
            <a:ext cx="5531304" cy="431800"/>
          </a:xfrm>
          <a:prstGeom prst="rect">
            <a:avLst/>
          </a:prstGeom>
        </p:spPr>
        <p:txBody>
          <a:bodyPr anchor="t" rtlCol="false" tIns="0" lIns="0" bIns="0" rIns="0">
            <a:spAutoFit/>
          </a:bodyPr>
          <a:lstStyle/>
          <a:p>
            <a:pPr algn="l">
              <a:lnSpc>
                <a:spcPts val="3500"/>
              </a:lnSpc>
            </a:pPr>
            <a:r>
              <a:rPr lang="en-US" sz="2500">
                <a:solidFill>
                  <a:srgbClr val="090909"/>
                </a:solidFill>
                <a:latin typeface="Roboto"/>
                <a:ea typeface="Roboto"/>
                <a:cs typeface="Roboto"/>
                <a:sym typeface="Roboto"/>
              </a:rPr>
              <a:t>Co</a:t>
            </a:r>
            <a:r>
              <a:rPr lang="en-US" sz="2500">
                <a:solidFill>
                  <a:srgbClr val="090909"/>
                </a:solidFill>
                <a:latin typeface="Roboto"/>
                <a:ea typeface="Roboto"/>
                <a:cs typeface="Roboto"/>
                <a:sym typeface="Roboto"/>
              </a:rPr>
              <a:t>ntext Injection</a:t>
            </a:r>
          </a:p>
        </p:txBody>
      </p:sp>
      <p:sp>
        <p:nvSpPr>
          <p:cNvPr name="TextBox 8" id="8"/>
          <p:cNvSpPr txBox="true"/>
          <p:nvPr/>
        </p:nvSpPr>
        <p:spPr>
          <a:xfrm rot="0">
            <a:off x="1028700" y="6868225"/>
            <a:ext cx="5531304" cy="422275"/>
          </a:xfrm>
          <a:prstGeom prst="rect">
            <a:avLst/>
          </a:prstGeom>
        </p:spPr>
        <p:txBody>
          <a:bodyPr anchor="t" rtlCol="false" tIns="0" lIns="0" bIns="0" rIns="0">
            <a:spAutoFit/>
          </a:bodyPr>
          <a:lstStyle/>
          <a:p>
            <a:pPr algn="ctr">
              <a:lnSpc>
                <a:spcPts val="3499"/>
              </a:lnSpc>
              <a:spcBef>
                <a:spcPct val="0"/>
              </a:spcBef>
            </a:pPr>
            <a:r>
              <a:rPr lang="en-US" sz="2499">
                <a:solidFill>
                  <a:srgbClr val="000000"/>
                </a:solidFill>
                <a:latin typeface="Roboto"/>
                <a:ea typeface="Roboto"/>
                <a:cs typeface="Roboto"/>
                <a:sym typeface="Roboto"/>
              </a:rPr>
              <a:t>Contract-Driven</a:t>
            </a:r>
          </a:p>
        </p:txBody>
      </p:sp>
      <p:sp>
        <p:nvSpPr>
          <p:cNvPr name="TextBox 9" id="9"/>
          <p:cNvSpPr txBox="true"/>
          <p:nvPr/>
        </p:nvSpPr>
        <p:spPr>
          <a:xfrm rot="0">
            <a:off x="2653306" y="8604250"/>
            <a:ext cx="2194719" cy="422275"/>
          </a:xfrm>
          <a:prstGeom prst="rect">
            <a:avLst/>
          </a:prstGeom>
        </p:spPr>
        <p:txBody>
          <a:bodyPr anchor="t" rtlCol="false" tIns="0" lIns="0" bIns="0" rIns="0">
            <a:spAutoFit/>
          </a:bodyPr>
          <a:lstStyle/>
          <a:p>
            <a:pPr algn="ctr">
              <a:lnSpc>
                <a:spcPts val="3499"/>
              </a:lnSpc>
              <a:spcBef>
                <a:spcPct val="0"/>
              </a:spcBef>
            </a:pPr>
            <a:r>
              <a:rPr lang="en-US" sz="2499">
                <a:solidFill>
                  <a:srgbClr val="000000"/>
                </a:solidFill>
                <a:latin typeface="Roboto"/>
                <a:ea typeface="Roboto"/>
                <a:cs typeface="Roboto"/>
                <a:sym typeface="Roboto"/>
              </a:rPr>
              <a:t>Migration Logic</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9144000" y="0"/>
            <a:ext cx="9144000" cy="10287000"/>
          </a:xfrm>
          <a:prstGeom prst="rect">
            <a:avLst/>
          </a:prstGeom>
          <a:solidFill>
            <a:srgbClr val="090909"/>
          </a:solidFill>
        </p:spPr>
      </p:sp>
      <p:grpSp>
        <p:nvGrpSpPr>
          <p:cNvPr name="Group 3" id="3"/>
          <p:cNvGrpSpPr/>
          <p:nvPr/>
        </p:nvGrpSpPr>
        <p:grpSpPr>
          <a:xfrm rot="0">
            <a:off x="1506141" y="1595218"/>
            <a:ext cx="6131719" cy="2739013"/>
            <a:chOff x="0" y="0"/>
            <a:chExt cx="8175625" cy="3652017"/>
          </a:xfrm>
        </p:grpSpPr>
        <p:sp>
          <p:nvSpPr>
            <p:cNvPr name="TextBox 4" id="4"/>
            <p:cNvSpPr txBox="true"/>
            <p:nvPr/>
          </p:nvSpPr>
          <p:spPr>
            <a:xfrm rot="0">
              <a:off x="0" y="1610492"/>
              <a:ext cx="8175625" cy="1025525"/>
            </a:xfrm>
            <a:prstGeom prst="rect">
              <a:avLst/>
            </a:prstGeom>
          </p:spPr>
          <p:txBody>
            <a:bodyPr anchor="t" rtlCol="false" tIns="0" lIns="0" bIns="0" rIns="0">
              <a:spAutoFit/>
            </a:bodyPr>
            <a:lstStyle/>
            <a:p>
              <a:pPr algn="l">
                <a:lnSpc>
                  <a:spcPts val="6000"/>
                </a:lnSpc>
              </a:pPr>
              <a:r>
                <a:rPr lang="en-US" sz="5000" b="true">
                  <a:solidFill>
                    <a:srgbClr val="090909"/>
                  </a:solidFill>
                  <a:latin typeface="Roboto Bold"/>
                  <a:ea typeface="Roboto Bold"/>
                  <a:cs typeface="Roboto Bold"/>
                  <a:sym typeface="Roboto Bold"/>
                </a:rPr>
                <a:t>Working Log</a:t>
              </a:r>
            </a:p>
          </p:txBody>
        </p:sp>
        <p:sp>
          <p:nvSpPr>
            <p:cNvPr name="Freeform 5" id="5"/>
            <p:cNvSpPr/>
            <p:nvPr/>
          </p:nvSpPr>
          <p:spPr>
            <a:xfrm flipH="false" flipV="false" rot="0">
              <a:off x="0" y="0"/>
              <a:ext cx="967672" cy="943041"/>
            </a:xfrm>
            <a:custGeom>
              <a:avLst/>
              <a:gdLst/>
              <a:ahLst/>
              <a:cxnLst/>
              <a:rect r="r" b="b" t="t" l="l"/>
              <a:pathLst>
                <a:path h="943041" w="967672">
                  <a:moveTo>
                    <a:pt x="0" y="0"/>
                  </a:moveTo>
                  <a:lnTo>
                    <a:pt x="967672" y="0"/>
                  </a:lnTo>
                  <a:lnTo>
                    <a:pt x="967672" y="943041"/>
                  </a:lnTo>
                  <a:lnTo>
                    <a:pt x="0" y="9430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6" id="6"/>
          <p:cNvGrpSpPr/>
          <p:nvPr/>
        </p:nvGrpSpPr>
        <p:grpSpPr>
          <a:xfrm rot="0">
            <a:off x="10650141" y="1691649"/>
            <a:ext cx="6131719" cy="2642583"/>
            <a:chOff x="0" y="0"/>
            <a:chExt cx="8175625" cy="3523444"/>
          </a:xfrm>
        </p:grpSpPr>
        <p:sp>
          <p:nvSpPr>
            <p:cNvPr name="TextBox 7" id="7"/>
            <p:cNvSpPr txBox="true"/>
            <p:nvPr/>
          </p:nvSpPr>
          <p:spPr>
            <a:xfrm rot="0">
              <a:off x="0" y="1481919"/>
              <a:ext cx="8175625" cy="1025525"/>
            </a:xfrm>
            <a:prstGeom prst="rect">
              <a:avLst/>
            </a:prstGeom>
          </p:spPr>
          <p:txBody>
            <a:bodyPr anchor="t" rtlCol="false" tIns="0" lIns="0" bIns="0" rIns="0">
              <a:spAutoFit/>
            </a:bodyPr>
            <a:lstStyle/>
            <a:p>
              <a:pPr algn="l">
                <a:lnSpc>
                  <a:spcPts val="6000"/>
                </a:lnSpc>
              </a:pPr>
              <a:r>
                <a:rPr lang="en-US" sz="5000" b="true">
                  <a:solidFill>
                    <a:srgbClr val="FFFFFF"/>
                  </a:solidFill>
                  <a:latin typeface="Roboto Bold"/>
                  <a:ea typeface="Roboto Bold"/>
                  <a:cs typeface="Roboto Bold"/>
                  <a:sym typeface="Roboto Bold"/>
                </a:rPr>
                <a:t>Output</a:t>
              </a:r>
            </a:p>
          </p:txBody>
        </p:sp>
        <p:sp>
          <p:nvSpPr>
            <p:cNvPr name="Freeform 8" id="8"/>
            <p:cNvSpPr/>
            <p:nvPr/>
          </p:nvSpPr>
          <p:spPr>
            <a:xfrm flipH="false" flipV="false" rot="0">
              <a:off x="0" y="0"/>
              <a:ext cx="1148608" cy="814467"/>
            </a:xfrm>
            <a:custGeom>
              <a:avLst/>
              <a:gdLst/>
              <a:ahLst/>
              <a:cxnLst/>
              <a:rect r="r" b="b" t="t" l="l"/>
              <a:pathLst>
                <a:path h="814467" w="1148608">
                  <a:moveTo>
                    <a:pt x="0" y="0"/>
                  </a:moveTo>
                  <a:lnTo>
                    <a:pt x="1148608" y="0"/>
                  </a:lnTo>
                  <a:lnTo>
                    <a:pt x="1148608" y="814467"/>
                  </a:lnTo>
                  <a:lnTo>
                    <a:pt x="0" y="81446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Freeform 9" id="9"/>
          <p:cNvSpPr/>
          <p:nvPr/>
        </p:nvSpPr>
        <p:spPr>
          <a:xfrm flipH="false" flipV="false" rot="0">
            <a:off x="1028700" y="3697444"/>
            <a:ext cx="6733364" cy="6253611"/>
          </a:xfrm>
          <a:custGeom>
            <a:avLst/>
            <a:gdLst/>
            <a:ahLst/>
            <a:cxnLst/>
            <a:rect r="r" b="b" t="t" l="l"/>
            <a:pathLst>
              <a:path h="6253611" w="6733364">
                <a:moveTo>
                  <a:pt x="0" y="0"/>
                </a:moveTo>
                <a:lnTo>
                  <a:pt x="6733364" y="0"/>
                </a:lnTo>
                <a:lnTo>
                  <a:pt x="6733364" y="6253612"/>
                </a:lnTo>
                <a:lnTo>
                  <a:pt x="0" y="6253612"/>
                </a:lnTo>
                <a:lnTo>
                  <a:pt x="0" y="0"/>
                </a:lnTo>
                <a:close/>
              </a:path>
            </a:pathLst>
          </a:custGeom>
          <a:blipFill>
            <a:blip r:embed="rId6"/>
            <a:stretch>
              <a:fillRect l="0" t="0" r="0" b="0"/>
            </a:stretch>
          </a:blipFill>
        </p:spPr>
      </p:sp>
      <p:sp>
        <p:nvSpPr>
          <p:cNvPr name="Freeform 10" id="10"/>
          <p:cNvSpPr/>
          <p:nvPr/>
        </p:nvSpPr>
        <p:spPr>
          <a:xfrm flipH="false" flipV="false" rot="0">
            <a:off x="10650141" y="3697444"/>
            <a:ext cx="5458446" cy="5989538"/>
          </a:xfrm>
          <a:custGeom>
            <a:avLst/>
            <a:gdLst/>
            <a:ahLst/>
            <a:cxnLst/>
            <a:rect r="r" b="b" t="t" l="l"/>
            <a:pathLst>
              <a:path h="5989538" w="5458446">
                <a:moveTo>
                  <a:pt x="0" y="0"/>
                </a:moveTo>
                <a:lnTo>
                  <a:pt x="5458446" y="0"/>
                </a:lnTo>
                <a:lnTo>
                  <a:pt x="5458446" y="5989539"/>
                </a:lnTo>
                <a:lnTo>
                  <a:pt x="0" y="5989539"/>
                </a:lnTo>
                <a:lnTo>
                  <a:pt x="0" y="0"/>
                </a:lnTo>
                <a:close/>
              </a:path>
            </a:pathLst>
          </a:custGeom>
          <a:blipFill>
            <a:blip r:embed="rId7"/>
            <a:stretch>
              <a:fillRect l="0" t="0" r="0" b="0"/>
            </a:stretch>
          </a:blipFill>
        </p:spPr>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500073" y="4647520"/>
            <a:ext cx="210911" cy="210911"/>
            <a:chOff x="0" y="0"/>
            <a:chExt cx="6350000" cy="6350000"/>
          </a:xfrm>
        </p:grpSpPr>
        <p:sp>
          <p:nvSpPr>
            <p:cNvPr name="Freeform 3" id="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BE40"/>
            </a:solidFill>
          </p:spPr>
        </p:sp>
      </p:grpSp>
      <p:grpSp>
        <p:nvGrpSpPr>
          <p:cNvPr name="Group 4" id="4"/>
          <p:cNvGrpSpPr/>
          <p:nvPr/>
        </p:nvGrpSpPr>
        <p:grpSpPr>
          <a:xfrm rot="0">
            <a:off x="7971446" y="4647520"/>
            <a:ext cx="210911" cy="210911"/>
            <a:chOff x="0" y="0"/>
            <a:chExt cx="6350000" cy="6350000"/>
          </a:xfrm>
        </p:grpSpPr>
        <p:sp>
          <p:nvSpPr>
            <p:cNvPr name="Freeform 5" id="5"/>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BE40"/>
            </a:solidFill>
          </p:spPr>
        </p:sp>
      </p:grpSp>
      <p:grpSp>
        <p:nvGrpSpPr>
          <p:cNvPr name="Group 6" id="6"/>
          <p:cNvGrpSpPr/>
          <p:nvPr/>
        </p:nvGrpSpPr>
        <p:grpSpPr>
          <a:xfrm rot="0">
            <a:off x="11442819" y="4647520"/>
            <a:ext cx="210911" cy="210911"/>
            <a:chOff x="0" y="0"/>
            <a:chExt cx="6350000" cy="6350000"/>
          </a:xfrm>
        </p:grpSpPr>
        <p:sp>
          <p:nvSpPr>
            <p:cNvPr name="Freeform 7" id="7"/>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BE40"/>
            </a:solidFill>
          </p:spPr>
        </p:sp>
      </p:grpSp>
      <p:sp>
        <p:nvSpPr>
          <p:cNvPr name="Freeform 8" id="8"/>
          <p:cNvSpPr/>
          <p:nvPr/>
        </p:nvSpPr>
        <p:spPr>
          <a:xfrm flipH="false" flipV="false" rot="0">
            <a:off x="4059603" y="2265898"/>
            <a:ext cx="9171640" cy="5755204"/>
          </a:xfrm>
          <a:custGeom>
            <a:avLst/>
            <a:gdLst/>
            <a:ahLst/>
            <a:cxnLst/>
            <a:rect r="r" b="b" t="t" l="l"/>
            <a:pathLst>
              <a:path h="5755204" w="9171640">
                <a:moveTo>
                  <a:pt x="0" y="0"/>
                </a:moveTo>
                <a:lnTo>
                  <a:pt x="9171640" y="0"/>
                </a:lnTo>
                <a:lnTo>
                  <a:pt x="9171640" y="5755204"/>
                </a:lnTo>
                <a:lnTo>
                  <a:pt x="0" y="5755204"/>
                </a:lnTo>
                <a:lnTo>
                  <a:pt x="0" y="0"/>
                </a:lnTo>
                <a:close/>
              </a:path>
            </a:pathLst>
          </a:custGeom>
          <a:blipFill>
            <a:blip r:embed="rId2"/>
            <a:stretch>
              <a:fillRect l="0" t="0" r="0" b="0"/>
            </a:stretch>
          </a:blipFill>
        </p:spPr>
      </p:sp>
      <p:sp>
        <p:nvSpPr>
          <p:cNvPr name="TextBox 9" id="9"/>
          <p:cNvSpPr txBox="true"/>
          <p:nvPr/>
        </p:nvSpPr>
        <p:spPr>
          <a:xfrm rot="0">
            <a:off x="1028700" y="297750"/>
            <a:ext cx="15597945" cy="933450"/>
          </a:xfrm>
          <a:prstGeom prst="rect">
            <a:avLst/>
          </a:prstGeom>
        </p:spPr>
        <p:txBody>
          <a:bodyPr anchor="t" rtlCol="false" tIns="0" lIns="0" bIns="0" rIns="0">
            <a:spAutoFit/>
          </a:bodyPr>
          <a:lstStyle/>
          <a:p>
            <a:pPr algn="l" marL="0" indent="0" lvl="0">
              <a:lnSpc>
                <a:spcPts val="7200"/>
              </a:lnSpc>
              <a:spcBef>
                <a:spcPct val="0"/>
              </a:spcBef>
            </a:pPr>
            <a:r>
              <a:rPr lang="en-US" b="true" sz="6000">
                <a:solidFill>
                  <a:srgbClr val="090909"/>
                </a:solidFill>
                <a:latin typeface="Roboto Bold"/>
                <a:ea typeface="Roboto Bold"/>
                <a:cs typeface="Roboto Bold"/>
                <a:sym typeface="Roboto Bold"/>
              </a:rPr>
              <a:t>Verification</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090909"/>
        </a:solidFill>
      </p:bgPr>
    </p:bg>
    <p:spTree>
      <p:nvGrpSpPr>
        <p:cNvPr id="1" name=""/>
        <p:cNvGrpSpPr/>
        <p:nvPr/>
      </p:nvGrpSpPr>
      <p:grpSpPr>
        <a:xfrm>
          <a:off x="0" y="0"/>
          <a:ext cx="0" cy="0"/>
          <a:chOff x="0" y="0"/>
          <a:chExt cx="0" cy="0"/>
        </a:xfrm>
      </p:grpSpPr>
      <p:grpSp>
        <p:nvGrpSpPr>
          <p:cNvPr name="Group 2" id="2"/>
          <p:cNvGrpSpPr/>
          <p:nvPr/>
        </p:nvGrpSpPr>
        <p:grpSpPr>
          <a:xfrm rot="0">
            <a:off x="651995" y="665319"/>
            <a:ext cx="13060744" cy="2290252"/>
            <a:chOff x="0" y="0"/>
            <a:chExt cx="17414325" cy="3053670"/>
          </a:xfrm>
        </p:grpSpPr>
        <p:sp>
          <p:nvSpPr>
            <p:cNvPr name="TextBox 3" id="3"/>
            <p:cNvSpPr txBox="true"/>
            <p:nvPr/>
          </p:nvSpPr>
          <p:spPr>
            <a:xfrm rot="0">
              <a:off x="0" y="1113745"/>
              <a:ext cx="17414325" cy="1939925"/>
            </a:xfrm>
            <a:prstGeom prst="rect">
              <a:avLst/>
            </a:prstGeom>
          </p:spPr>
          <p:txBody>
            <a:bodyPr anchor="t" rtlCol="false" tIns="0" lIns="0" bIns="0" rIns="0">
              <a:spAutoFit/>
            </a:bodyPr>
            <a:lstStyle/>
            <a:p>
              <a:pPr algn="l">
                <a:lnSpc>
                  <a:spcPts val="11400"/>
                </a:lnSpc>
              </a:pPr>
            </a:p>
          </p:txBody>
        </p:sp>
        <p:sp>
          <p:nvSpPr>
            <p:cNvPr name="TextBox 4" id="4"/>
            <p:cNvSpPr txBox="true"/>
            <p:nvPr/>
          </p:nvSpPr>
          <p:spPr>
            <a:xfrm rot="0">
              <a:off x="0" y="-9525"/>
              <a:ext cx="17414325" cy="606425"/>
            </a:xfrm>
            <a:prstGeom prst="rect">
              <a:avLst/>
            </a:prstGeom>
          </p:spPr>
          <p:txBody>
            <a:bodyPr anchor="t" rtlCol="false" tIns="0" lIns="0" bIns="0" rIns="0">
              <a:spAutoFit/>
            </a:bodyPr>
            <a:lstStyle/>
            <a:p>
              <a:pPr algn="l">
                <a:lnSpc>
                  <a:spcPts val="3599"/>
                </a:lnSpc>
              </a:pPr>
              <a:r>
                <a:rPr lang="en-US" b="true" sz="2999" spc="89">
                  <a:solidFill>
                    <a:srgbClr val="FFBE40"/>
                  </a:solidFill>
                  <a:latin typeface="Roboto Bold"/>
                  <a:ea typeface="Roboto Bold"/>
                  <a:cs typeface="Roboto Bold"/>
                  <a:sym typeface="Roboto Bold"/>
                </a:rPr>
                <a:t>FRONTEND VERIFICATION</a:t>
              </a:r>
            </a:p>
          </p:txBody>
        </p:sp>
      </p:grpSp>
      <p:sp>
        <p:nvSpPr>
          <p:cNvPr name="Freeform 5" id="5"/>
          <p:cNvSpPr/>
          <p:nvPr/>
        </p:nvSpPr>
        <p:spPr>
          <a:xfrm flipH="false" flipV="false" rot="0">
            <a:off x="415371" y="2282393"/>
            <a:ext cx="9416166" cy="4730253"/>
          </a:xfrm>
          <a:custGeom>
            <a:avLst/>
            <a:gdLst/>
            <a:ahLst/>
            <a:cxnLst/>
            <a:rect r="r" b="b" t="t" l="l"/>
            <a:pathLst>
              <a:path h="4730253" w="9416166">
                <a:moveTo>
                  <a:pt x="0" y="0"/>
                </a:moveTo>
                <a:lnTo>
                  <a:pt x="9416166" y="0"/>
                </a:lnTo>
                <a:lnTo>
                  <a:pt x="9416166" y="4730253"/>
                </a:lnTo>
                <a:lnTo>
                  <a:pt x="0" y="4730253"/>
                </a:lnTo>
                <a:lnTo>
                  <a:pt x="0" y="0"/>
                </a:lnTo>
                <a:close/>
              </a:path>
            </a:pathLst>
          </a:custGeom>
          <a:blipFill>
            <a:blip r:embed="rId2"/>
            <a:stretch>
              <a:fillRect l="0" t="0" r="-13206" b="0"/>
            </a:stretch>
          </a:blipFill>
        </p:spPr>
      </p:sp>
      <p:sp>
        <p:nvSpPr>
          <p:cNvPr name="Freeform 6" id="6"/>
          <p:cNvSpPr/>
          <p:nvPr/>
        </p:nvSpPr>
        <p:spPr>
          <a:xfrm flipH="false" flipV="false" rot="0">
            <a:off x="10398537" y="2097673"/>
            <a:ext cx="11301259" cy="5099693"/>
          </a:xfrm>
          <a:custGeom>
            <a:avLst/>
            <a:gdLst/>
            <a:ahLst/>
            <a:cxnLst/>
            <a:rect r="r" b="b" t="t" l="l"/>
            <a:pathLst>
              <a:path h="5099693" w="11301259">
                <a:moveTo>
                  <a:pt x="0" y="0"/>
                </a:moveTo>
                <a:lnTo>
                  <a:pt x="11301259" y="0"/>
                </a:lnTo>
                <a:lnTo>
                  <a:pt x="11301259" y="5099693"/>
                </a:lnTo>
                <a:lnTo>
                  <a:pt x="0" y="5099693"/>
                </a:lnTo>
                <a:lnTo>
                  <a:pt x="0" y="0"/>
                </a:lnTo>
                <a:close/>
              </a:path>
            </a:pathLst>
          </a:custGeom>
          <a:blipFill>
            <a:blip r:embed="rId3"/>
            <a:stretch>
              <a:fillRect l="0" t="0" r="0" b="0"/>
            </a:stretch>
          </a:blipFill>
        </p:spPr>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090909"/>
        </a:solidFill>
      </p:bgPr>
    </p:bg>
    <p:spTree>
      <p:nvGrpSpPr>
        <p:cNvPr id="1" name=""/>
        <p:cNvGrpSpPr/>
        <p:nvPr/>
      </p:nvGrpSpPr>
      <p:grpSpPr>
        <a:xfrm>
          <a:off x="0" y="0"/>
          <a:ext cx="0" cy="0"/>
          <a:chOff x="0" y="0"/>
          <a:chExt cx="0" cy="0"/>
        </a:xfrm>
      </p:grpSpPr>
      <p:grpSp>
        <p:nvGrpSpPr>
          <p:cNvPr name="Group 2" id="2"/>
          <p:cNvGrpSpPr/>
          <p:nvPr/>
        </p:nvGrpSpPr>
        <p:grpSpPr>
          <a:xfrm rot="0">
            <a:off x="651995" y="665319"/>
            <a:ext cx="13060744" cy="2290252"/>
            <a:chOff x="0" y="0"/>
            <a:chExt cx="17414325" cy="3053670"/>
          </a:xfrm>
        </p:grpSpPr>
        <p:sp>
          <p:nvSpPr>
            <p:cNvPr name="TextBox 3" id="3"/>
            <p:cNvSpPr txBox="true"/>
            <p:nvPr/>
          </p:nvSpPr>
          <p:spPr>
            <a:xfrm rot="0">
              <a:off x="0" y="1113745"/>
              <a:ext cx="17414325" cy="1939925"/>
            </a:xfrm>
            <a:prstGeom prst="rect">
              <a:avLst/>
            </a:prstGeom>
          </p:spPr>
          <p:txBody>
            <a:bodyPr anchor="t" rtlCol="false" tIns="0" lIns="0" bIns="0" rIns="0">
              <a:spAutoFit/>
            </a:bodyPr>
            <a:lstStyle/>
            <a:p>
              <a:pPr algn="l">
                <a:lnSpc>
                  <a:spcPts val="11400"/>
                </a:lnSpc>
              </a:pPr>
            </a:p>
          </p:txBody>
        </p:sp>
        <p:sp>
          <p:nvSpPr>
            <p:cNvPr name="TextBox 4" id="4"/>
            <p:cNvSpPr txBox="true"/>
            <p:nvPr/>
          </p:nvSpPr>
          <p:spPr>
            <a:xfrm rot="0">
              <a:off x="0" y="-9525"/>
              <a:ext cx="17414325" cy="606425"/>
            </a:xfrm>
            <a:prstGeom prst="rect">
              <a:avLst/>
            </a:prstGeom>
          </p:spPr>
          <p:txBody>
            <a:bodyPr anchor="t" rtlCol="false" tIns="0" lIns="0" bIns="0" rIns="0">
              <a:spAutoFit/>
            </a:bodyPr>
            <a:lstStyle/>
            <a:p>
              <a:pPr algn="l">
                <a:lnSpc>
                  <a:spcPts val="3599"/>
                </a:lnSpc>
              </a:pPr>
              <a:r>
                <a:rPr lang="en-US" b="true" sz="2999" spc="89">
                  <a:solidFill>
                    <a:srgbClr val="FFBE40"/>
                  </a:solidFill>
                  <a:latin typeface="Roboto Bold"/>
                  <a:ea typeface="Roboto Bold"/>
                  <a:cs typeface="Roboto Bold"/>
                  <a:sym typeface="Roboto Bold"/>
                </a:rPr>
                <a:t>FRONTEND VERIFICATION</a:t>
              </a:r>
            </a:p>
          </p:txBody>
        </p:sp>
      </p:grpSp>
      <p:sp>
        <p:nvSpPr>
          <p:cNvPr name="Freeform 5" id="5"/>
          <p:cNvSpPr/>
          <p:nvPr/>
        </p:nvSpPr>
        <p:spPr>
          <a:xfrm flipH="false" flipV="false" rot="0">
            <a:off x="651995" y="1810445"/>
            <a:ext cx="11301259" cy="3432757"/>
          </a:xfrm>
          <a:custGeom>
            <a:avLst/>
            <a:gdLst/>
            <a:ahLst/>
            <a:cxnLst/>
            <a:rect r="r" b="b" t="t" l="l"/>
            <a:pathLst>
              <a:path h="3432757" w="11301259">
                <a:moveTo>
                  <a:pt x="0" y="0"/>
                </a:moveTo>
                <a:lnTo>
                  <a:pt x="11301259" y="0"/>
                </a:lnTo>
                <a:lnTo>
                  <a:pt x="11301259" y="3432758"/>
                </a:lnTo>
                <a:lnTo>
                  <a:pt x="0" y="3432758"/>
                </a:lnTo>
                <a:lnTo>
                  <a:pt x="0" y="0"/>
                </a:lnTo>
                <a:close/>
              </a:path>
            </a:pathLst>
          </a:custGeom>
          <a:blipFill>
            <a:blip r:embed="rId2"/>
            <a:stretch>
              <a:fillRect l="0" t="0" r="0" b="0"/>
            </a:stretch>
          </a:blipFill>
        </p:spPr>
      </p:sp>
      <p:sp>
        <p:nvSpPr>
          <p:cNvPr name="Freeform 6" id="6"/>
          <p:cNvSpPr/>
          <p:nvPr/>
        </p:nvSpPr>
        <p:spPr>
          <a:xfrm flipH="false" flipV="false" rot="0">
            <a:off x="12285828" y="1810445"/>
            <a:ext cx="5825843" cy="6010328"/>
          </a:xfrm>
          <a:custGeom>
            <a:avLst/>
            <a:gdLst/>
            <a:ahLst/>
            <a:cxnLst/>
            <a:rect r="r" b="b" t="t" l="l"/>
            <a:pathLst>
              <a:path h="6010328" w="5825843">
                <a:moveTo>
                  <a:pt x="0" y="0"/>
                </a:moveTo>
                <a:lnTo>
                  <a:pt x="5825843" y="0"/>
                </a:lnTo>
                <a:lnTo>
                  <a:pt x="5825843" y="6010329"/>
                </a:lnTo>
                <a:lnTo>
                  <a:pt x="0" y="6010329"/>
                </a:lnTo>
                <a:lnTo>
                  <a:pt x="0" y="0"/>
                </a:lnTo>
                <a:close/>
              </a:path>
            </a:pathLst>
          </a:custGeom>
          <a:blipFill>
            <a:blip r:embed="rId3"/>
            <a:stretch>
              <a:fillRect l="0" t="0" r="0" b="0"/>
            </a:stretch>
          </a:blipFill>
        </p:spPr>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090909"/>
        </a:solidFill>
      </p:bgPr>
    </p:bg>
    <p:spTree>
      <p:nvGrpSpPr>
        <p:cNvPr id="1" name=""/>
        <p:cNvGrpSpPr/>
        <p:nvPr/>
      </p:nvGrpSpPr>
      <p:grpSpPr>
        <a:xfrm>
          <a:off x="0" y="0"/>
          <a:ext cx="0" cy="0"/>
          <a:chOff x="0" y="0"/>
          <a:chExt cx="0" cy="0"/>
        </a:xfrm>
      </p:grpSpPr>
      <p:sp>
        <p:nvSpPr>
          <p:cNvPr name="Freeform 2" id="2"/>
          <p:cNvSpPr/>
          <p:nvPr/>
        </p:nvSpPr>
        <p:spPr>
          <a:xfrm flipH="false" flipV="false" rot="0">
            <a:off x="14394862" y="7139714"/>
            <a:ext cx="579754" cy="612024"/>
          </a:xfrm>
          <a:custGeom>
            <a:avLst/>
            <a:gdLst/>
            <a:ahLst/>
            <a:cxnLst/>
            <a:rect r="r" b="b" t="t" l="l"/>
            <a:pathLst>
              <a:path h="612024" w="579754">
                <a:moveTo>
                  <a:pt x="0" y="0"/>
                </a:moveTo>
                <a:lnTo>
                  <a:pt x="579754" y="0"/>
                </a:lnTo>
                <a:lnTo>
                  <a:pt x="579754" y="612024"/>
                </a:lnTo>
                <a:lnTo>
                  <a:pt x="0" y="6120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313384" y="7139714"/>
            <a:ext cx="624949" cy="642471"/>
          </a:xfrm>
          <a:custGeom>
            <a:avLst/>
            <a:gdLst/>
            <a:ahLst/>
            <a:cxnLst/>
            <a:rect r="r" b="b" t="t" l="l"/>
            <a:pathLst>
              <a:path h="642471" w="624949">
                <a:moveTo>
                  <a:pt x="0" y="0"/>
                </a:moveTo>
                <a:lnTo>
                  <a:pt x="624949" y="0"/>
                </a:lnTo>
                <a:lnTo>
                  <a:pt x="624949" y="642470"/>
                </a:lnTo>
                <a:lnTo>
                  <a:pt x="0" y="6424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8854123" y="7139714"/>
            <a:ext cx="662962" cy="642471"/>
          </a:xfrm>
          <a:custGeom>
            <a:avLst/>
            <a:gdLst/>
            <a:ahLst/>
            <a:cxnLst/>
            <a:rect r="r" b="b" t="t" l="l"/>
            <a:pathLst>
              <a:path h="642471" w="662962">
                <a:moveTo>
                  <a:pt x="0" y="0"/>
                </a:moveTo>
                <a:lnTo>
                  <a:pt x="662962" y="0"/>
                </a:lnTo>
                <a:lnTo>
                  <a:pt x="662962" y="642470"/>
                </a:lnTo>
                <a:lnTo>
                  <a:pt x="0" y="64247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3383480" y="2773322"/>
            <a:ext cx="11301259" cy="3715289"/>
          </a:xfrm>
          <a:custGeom>
            <a:avLst/>
            <a:gdLst/>
            <a:ahLst/>
            <a:cxnLst/>
            <a:rect r="r" b="b" t="t" l="l"/>
            <a:pathLst>
              <a:path h="3715289" w="11301259">
                <a:moveTo>
                  <a:pt x="0" y="0"/>
                </a:moveTo>
                <a:lnTo>
                  <a:pt x="11301259" y="0"/>
                </a:lnTo>
                <a:lnTo>
                  <a:pt x="11301259" y="3715288"/>
                </a:lnTo>
                <a:lnTo>
                  <a:pt x="0" y="3715288"/>
                </a:lnTo>
                <a:lnTo>
                  <a:pt x="0" y="0"/>
                </a:lnTo>
                <a:close/>
              </a:path>
            </a:pathLst>
          </a:custGeom>
          <a:blipFill>
            <a:blip r:embed="rId8"/>
            <a:stretch>
              <a:fillRect l="0" t="0" r="0" b="0"/>
            </a:stretch>
          </a:blipFill>
        </p:spPr>
      </p:sp>
      <p:grpSp>
        <p:nvGrpSpPr>
          <p:cNvPr name="Group 6" id="6"/>
          <p:cNvGrpSpPr/>
          <p:nvPr/>
        </p:nvGrpSpPr>
        <p:grpSpPr>
          <a:xfrm rot="0">
            <a:off x="1623995" y="483069"/>
            <a:ext cx="13060744" cy="2290252"/>
            <a:chOff x="0" y="0"/>
            <a:chExt cx="17414325" cy="3053670"/>
          </a:xfrm>
        </p:grpSpPr>
        <p:sp>
          <p:nvSpPr>
            <p:cNvPr name="TextBox 7" id="7"/>
            <p:cNvSpPr txBox="true"/>
            <p:nvPr/>
          </p:nvSpPr>
          <p:spPr>
            <a:xfrm rot="0">
              <a:off x="0" y="1113745"/>
              <a:ext cx="17414325" cy="1939925"/>
            </a:xfrm>
            <a:prstGeom prst="rect">
              <a:avLst/>
            </a:prstGeom>
          </p:spPr>
          <p:txBody>
            <a:bodyPr anchor="t" rtlCol="false" tIns="0" lIns="0" bIns="0" rIns="0">
              <a:spAutoFit/>
            </a:bodyPr>
            <a:lstStyle/>
            <a:p>
              <a:pPr algn="l">
                <a:lnSpc>
                  <a:spcPts val="11400"/>
                </a:lnSpc>
              </a:pPr>
              <a:r>
                <a:rPr lang="en-US" sz="9500" b="true">
                  <a:solidFill>
                    <a:srgbClr val="FFFFFF"/>
                  </a:solidFill>
                  <a:latin typeface="Roboto Bold"/>
                  <a:ea typeface="Roboto Bold"/>
                  <a:cs typeface="Roboto Bold"/>
                  <a:sym typeface="Roboto Bold"/>
                </a:rPr>
                <a:t>.Net Migration</a:t>
              </a:r>
            </a:p>
          </p:txBody>
        </p:sp>
        <p:sp>
          <p:nvSpPr>
            <p:cNvPr name="TextBox 8" id="8"/>
            <p:cNvSpPr txBox="true"/>
            <p:nvPr/>
          </p:nvSpPr>
          <p:spPr>
            <a:xfrm rot="0">
              <a:off x="0" y="-9525"/>
              <a:ext cx="17414325" cy="606425"/>
            </a:xfrm>
            <a:prstGeom prst="rect">
              <a:avLst/>
            </a:prstGeom>
          </p:spPr>
          <p:txBody>
            <a:bodyPr anchor="t" rtlCol="false" tIns="0" lIns="0" bIns="0" rIns="0">
              <a:spAutoFit/>
            </a:bodyPr>
            <a:lstStyle/>
            <a:p>
              <a:pPr algn="l">
                <a:lnSpc>
                  <a:spcPts val="3599"/>
                </a:lnSpc>
              </a:pPr>
              <a:r>
                <a:rPr lang="en-US" b="true" sz="2999" spc="89">
                  <a:solidFill>
                    <a:srgbClr val="FFBE40"/>
                  </a:solidFill>
                  <a:latin typeface="Roboto Bold"/>
                  <a:ea typeface="Roboto Bold"/>
                  <a:cs typeface="Roboto Bold"/>
                  <a:sym typeface="Roboto Bold"/>
                </a:rPr>
                <a:t>DESIGN &amp; ARCHITECT</a:t>
              </a:r>
            </a:p>
          </p:txBody>
        </p:sp>
      </p:grpSp>
      <p:grpSp>
        <p:nvGrpSpPr>
          <p:cNvPr name="Group 9" id="9"/>
          <p:cNvGrpSpPr/>
          <p:nvPr/>
        </p:nvGrpSpPr>
        <p:grpSpPr>
          <a:xfrm rot="0">
            <a:off x="2891984" y="8028288"/>
            <a:ext cx="3958532" cy="1633514"/>
            <a:chOff x="0" y="0"/>
            <a:chExt cx="5278043" cy="2178019"/>
          </a:xfrm>
        </p:grpSpPr>
        <p:sp>
          <p:nvSpPr>
            <p:cNvPr name="TextBox 10" id="10"/>
            <p:cNvSpPr txBox="true"/>
            <p:nvPr/>
          </p:nvSpPr>
          <p:spPr>
            <a:xfrm rot="0">
              <a:off x="0" y="-19050"/>
              <a:ext cx="5278043" cy="628650"/>
            </a:xfrm>
            <a:prstGeom prst="rect">
              <a:avLst/>
            </a:prstGeom>
          </p:spPr>
          <p:txBody>
            <a:bodyPr anchor="t" rtlCol="false" tIns="0" lIns="0" bIns="0" rIns="0">
              <a:spAutoFit/>
            </a:bodyPr>
            <a:lstStyle/>
            <a:p>
              <a:pPr algn="l">
                <a:lnSpc>
                  <a:spcPts val="3600"/>
                </a:lnSpc>
              </a:pPr>
              <a:r>
                <a:rPr lang="en-US" sz="3000" b="true">
                  <a:solidFill>
                    <a:srgbClr val="FFFFFF"/>
                  </a:solidFill>
                  <a:latin typeface="Roboto Bold"/>
                  <a:ea typeface="Roboto Bold"/>
                  <a:cs typeface="Roboto Bold"/>
                  <a:sym typeface="Roboto Bold"/>
                </a:rPr>
                <a:t>AI Persona</a:t>
              </a:r>
            </a:p>
          </p:txBody>
        </p:sp>
        <p:sp>
          <p:nvSpPr>
            <p:cNvPr name="TextBox 11" id="11"/>
            <p:cNvSpPr txBox="true"/>
            <p:nvPr/>
          </p:nvSpPr>
          <p:spPr>
            <a:xfrm rot="0">
              <a:off x="0" y="1068674"/>
              <a:ext cx="5278043" cy="895138"/>
            </a:xfrm>
            <a:prstGeom prst="rect">
              <a:avLst/>
            </a:prstGeom>
          </p:spPr>
          <p:txBody>
            <a:bodyPr anchor="t" rtlCol="false" tIns="0" lIns="0" bIns="0" rIns="0">
              <a:spAutoFit/>
            </a:bodyPr>
            <a:lstStyle/>
            <a:p>
              <a:pPr algn="l" marL="0" indent="0" lvl="1">
                <a:lnSpc>
                  <a:spcPts val="2765"/>
                </a:lnSpc>
                <a:spcBef>
                  <a:spcPct val="0"/>
                </a:spcBef>
              </a:pPr>
              <a:r>
                <a:rPr lang="en-US" sz="1975">
                  <a:solidFill>
                    <a:srgbClr val="FFFFFF"/>
                  </a:solidFill>
                  <a:latin typeface="Roboto"/>
                  <a:ea typeface="Roboto"/>
                  <a:cs typeface="Roboto"/>
                  <a:sym typeface="Roboto"/>
                </a:rPr>
                <a:t>Thiết lập AI đóng vai trò chuyên gia .NET/Blazor</a:t>
              </a:r>
            </a:p>
          </p:txBody>
        </p:sp>
      </p:grpSp>
      <p:grpSp>
        <p:nvGrpSpPr>
          <p:cNvPr name="Group 12" id="12"/>
          <p:cNvGrpSpPr/>
          <p:nvPr/>
        </p:nvGrpSpPr>
        <p:grpSpPr>
          <a:xfrm rot="0">
            <a:off x="7992367" y="8028288"/>
            <a:ext cx="3958532" cy="1976414"/>
            <a:chOff x="0" y="0"/>
            <a:chExt cx="5278043" cy="2635219"/>
          </a:xfrm>
        </p:grpSpPr>
        <p:sp>
          <p:nvSpPr>
            <p:cNvPr name="TextBox 13" id="13"/>
            <p:cNvSpPr txBox="true"/>
            <p:nvPr/>
          </p:nvSpPr>
          <p:spPr>
            <a:xfrm rot="0">
              <a:off x="0" y="-19050"/>
              <a:ext cx="5278043" cy="628650"/>
            </a:xfrm>
            <a:prstGeom prst="rect">
              <a:avLst/>
            </a:prstGeom>
          </p:spPr>
          <p:txBody>
            <a:bodyPr anchor="t" rtlCol="false" tIns="0" lIns="0" bIns="0" rIns="0">
              <a:spAutoFit/>
            </a:bodyPr>
            <a:lstStyle/>
            <a:p>
              <a:pPr algn="l">
                <a:lnSpc>
                  <a:spcPts val="3600"/>
                </a:lnSpc>
              </a:pPr>
              <a:r>
                <a:rPr lang="en-US" sz="3000" b="true">
                  <a:solidFill>
                    <a:srgbClr val="FFFFFF"/>
                  </a:solidFill>
                  <a:latin typeface="Roboto Bold"/>
                  <a:ea typeface="Roboto Bold"/>
                  <a:cs typeface="Roboto Bold"/>
                  <a:sym typeface="Roboto Bold"/>
                </a:rPr>
                <a:t>Source Code Analysis</a:t>
              </a:r>
            </a:p>
          </p:txBody>
        </p:sp>
        <p:sp>
          <p:nvSpPr>
            <p:cNvPr name="TextBox 14" id="14"/>
            <p:cNvSpPr txBox="true"/>
            <p:nvPr/>
          </p:nvSpPr>
          <p:spPr>
            <a:xfrm rot="0">
              <a:off x="0" y="1068674"/>
              <a:ext cx="5278043" cy="1352338"/>
            </a:xfrm>
            <a:prstGeom prst="rect">
              <a:avLst/>
            </a:prstGeom>
          </p:spPr>
          <p:txBody>
            <a:bodyPr anchor="t" rtlCol="false" tIns="0" lIns="0" bIns="0" rIns="0">
              <a:spAutoFit/>
            </a:bodyPr>
            <a:lstStyle/>
            <a:p>
              <a:pPr algn="l" marL="0" indent="0" lvl="1">
                <a:lnSpc>
                  <a:spcPts val="2765"/>
                </a:lnSpc>
                <a:spcBef>
                  <a:spcPct val="0"/>
                </a:spcBef>
              </a:pPr>
              <a:r>
                <a:rPr lang="en-US" sz="1975">
                  <a:solidFill>
                    <a:srgbClr val="FFFFFF"/>
                  </a:solidFill>
                  <a:latin typeface="Roboto"/>
                  <a:ea typeface="Roboto"/>
                  <a:cs typeface="Roboto"/>
                  <a:sym typeface="Roboto"/>
                </a:rPr>
                <a:t>Sử dụng MCP Server (context7) để cho phép AI đọc toàn bộ mã nguồn React cũ (file .jsx)</a:t>
              </a:r>
            </a:p>
          </p:txBody>
        </p:sp>
      </p:grpSp>
      <p:grpSp>
        <p:nvGrpSpPr>
          <p:cNvPr name="Group 15" id="15"/>
          <p:cNvGrpSpPr/>
          <p:nvPr/>
        </p:nvGrpSpPr>
        <p:grpSpPr>
          <a:xfrm rot="0">
            <a:off x="12995350" y="8028288"/>
            <a:ext cx="3958532" cy="2319314"/>
            <a:chOff x="0" y="0"/>
            <a:chExt cx="5278043" cy="3092419"/>
          </a:xfrm>
        </p:grpSpPr>
        <p:sp>
          <p:nvSpPr>
            <p:cNvPr name="TextBox 16" id="16"/>
            <p:cNvSpPr txBox="true"/>
            <p:nvPr/>
          </p:nvSpPr>
          <p:spPr>
            <a:xfrm rot="0">
              <a:off x="0" y="-19050"/>
              <a:ext cx="5278043" cy="628650"/>
            </a:xfrm>
            <a:prstGeom prst="rect">
              <a:avLst/>
            </a:prstGeom>
          </p:spPr>
          <p:txBody>
            <a:bodyPr anchor="t" rtlCol="false" tIns="0" lIns="0" bIns="0" rIns="0">
              <a:spAutoFit/>
            </a:bodyPr>
            <a:lstStyle/>
            <a:p>
              <a:pPr algn="l">
                <a:lnSpc>
                  <a:spcPts val="3600"/>
                </a:lnSpc>
              </a:pPr>
              <a:r>
                <a:rPr lang="en-US" sz="3000" b="true">
                  <a:solidFill>
                    <a:srgbClr val="FFFFFF"/>
                  </a:solidFill>
                  <a:latin typeface="Roboto Bold"/>
                  <a:ea typeface="Roboto Bold"/>
                  <a:cs typeface="Roboto Bold"/>
                  <a:sym typeface="Roboto Bold"/>
                </a:rPr>
                <a:t>Pattern Matching</a:t>
              </a:r>
            </a:p>
          </p:txBody>
        </p:sp>
        <p:sp>
          <p:nvSpPr>
            <p:cNvPr name="TextBox 17" id="17"/>
            <p:cNvSpPr txBox="true"/>
            <p:nvPr/>
          </p:nvSpPr>
          <p:spPr>
            <a:xfrm rot="0">
              <a:off x="0" y="1068674"/>
              <a:ext cx="5278043" cy="1809538"/>
            </a:xfrm>
            <a:prstGeom prst="rect">
              <a:avLst/>
            </a:prstGeom>
          </p:spPr>
          <p:txBody>
            <a:bodyPr anchor="t" rtlCol="false" tIns="0" lIns="0" bIns="0" rIns="0">
              <a:spAutoFit/>
            </a:bodyPr>
            <a:lstStyle/>
            <a:p>
              <a:pPr algn="l" marL="0" indent="0" lvl="1">
                <a:lnSpc>
                  <a:spcPts val="2765"/>
                </a:lnSpc>
                <a:spcBef>
                  <a:spcPct val="0"/>
                </a:spcBef>
              </a:pPr>
              <a:r>
                <a:rPr lang="en-US" sz="1975">
                  <a:solidFill>
                    <a:srgbClr val="FFFFFF"/>
                  </a:solidFill>
                  <a:latin typeface="Roboto"/>
                  <a:ea typeface="Roboto"/>
                  <a:cs typeface="Roboto"/>
                  <a:sym typeface="Roboto"/>
                </a:rPr>
                <a:t>AI phân tích cấu trúc React (Components, Hooks useEffect, State) và ánh xạ sang cấu trúc Blazor tương ứng </a:t>
              </a:r>
            </a:p>
          </p:txBody>
        </p:sp>
      </p:gr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0" y="0"/>
            <a:ext cx="6612393" cy="10287000"/>
          </a:xfrm>
          <a:prstGeom prst="rect">
            <a:avLst/>
          </a:prstGeom>
          <a:solidFill>
            <a:srgbClr val="FFBE40"/>
          </a:solidFill>
        </p:spPr>
      </p:sp>
      <p:sp>
        <p:nvSpPr>
          <p:cNvPr name="Freeform 3" id="3"/>
          <p:cNvSpPr/>
          <p:nvPr/>
        </p:nvSpPr>
        <p:spPr>
          <a:xfrm flipH="false" flipV="false" rot="0">
            <a:off x="6841050" y="368321"/>
            <a:ext cx="11301259" cy="5057313"/>
          </a:xfrm>
          <a:custGeom>
            <a:avLst/>
            <a:gdLst/>
            <a:ahLst/>
            <a:cxnLst/>
            <a:rect r="r" b="b" t="t" l="l"/>
            <a:pathLst>
              <a:path h="5057313" w="11301259">
                <a:moveTo>
                  <a:pt x="0" y="0"/>
                </a:moveTo>
                <a:lnTo>
                  <a:pt x="11301259" y="0"/>
                </a:lnTo>
                <a:lnTo>
                  <a:pt x="11301259" y="5057314"/>
                </a:lnTo>
                <a:lnTo>
                  <a:pt x="0" y="5057314"/>
                </a:lnTo>
                <a:lnTo>
                  <a:pt x="0" y="0"/>
                </a:lnTo>
                <a:close/>
              </a:path>
            </a:pathLst>
          </a:custGeom>
          <a:blipFill>
            <a:blip r:embed="rId2"/>
            <a:stretch>
              <a:fillRect l="0" t="0" r="0" b="0"/>
            </a:stretch>
          </a:blipFill>
        </p:spPr>
      </p:sp>
      <p:sp>
        <p:nvSpPr>
          <p:cNvPr name="Freeform 4" id="4"/>
          <p:cNvSpPr/>
          <p:nvPr/>
        </p:nvSpPr>
        <p:spPr>
          <a:xfrm flipH="false" flipV="false" rot="0">
            <a:off x="472022" y="3351611"/>
            <a:ext cx="5668349" cy="5906689"/>
          </a:xfrm>
          <a:custGeom>
            <a:avLst/>
            <a:gdLst/>
            <a:ahLst/>
            <a:cxnLst/>
            <a:rect r="r" b="b" t="t" l="l"/>
            <a:pathLst>
              <a:path h="5906689" w="5668349">
                <a:moveTo>
                  <a:pt x="0" y="0"/>
                </a:moveTo>
                <a:lnTo>
                  <a:pt x="5668349" y="0"/>
                </a:lnTo>
                <a:lnTo>
                  <a:pt x="5668349" y="5906689"/>
                </a:lnTo>
                <a:lnTo>
                  <a:pt x="0" y="5906689"/>
                </a:lnTo>
                <a:lnTo>
                  <a:pt x="0" y="0"/>
                </a:lnTo>
                <a:close/>
              </a:path>
            </a:pathLst>
          </a:custGeom>
          <a:blipFill>
            <a:blip r:embed="rId3"/>
            <a:stretch>
              <a:fillRect l="0" t="0" r="0" b="0"/>
            </a:stretch>
          </a:blipFill>
        </p:spPr>
      </p:sp>
      <p:sp>
        <p:nvSpPr>
          <p:cNvPr name="TextBox 5" id="5"/>
          <p:cNvSpPr txBox="true"/>
          <p:nvPr/>
        </p:nvSpPr>
        <p:spPr>
          <a:xfrm rot="0">
            <a:off x="1305947" y="1444286"/>
            <a:ext cx="4000500" cy="609600"/>
          </a:xfrm>
          <a:prstGeom prst="rect">
            <a:avLst/>
          </a:prstGeom>
        </p:spPr>
        <p:txBody>
          <a:bodyPr anchor="t" rtlCol="false" tIns="0" lIns="0" bIns="0" rIns="0">
            <a:spAutoFit/>
          </a:bodyPr>
          <a:lstStyle/>
          <a:p>
            <a:pPr algn="l" marL="0" indent="0" lvl="0">
              <a:lnSpc>
                <a:spcPts val="4770"/>
              </a:lnSpc>
              <a:spcBef>
                <a:spcPct val="0"/>
              </a:spcBef>
            </a:pPr>
            <a:r>
              <a:rPr lang="en-US" b="true" sz="3975">
                <a:solidFill>
                  <a:srgbClr val="090909"/>
                </a:solidFill>
                <a:latin typeface="Roboto Bold"/>
                <a:ea typeface="Roboto Bold"/>
                <a:cs typeface="Roboto Bold"/>
                <a:sym typeface="Roboto Bold"/>
              </a:rPr>
              <a:t>Working Log</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0" y="0"/>
            <a:ext cx="6612393" cy="10287000"/>
          </a:xfrm>
          <a:prstGeom prst="rect">
            <a:avLst/>
          </a:prstGeom>
          <a:solidFill>
            <a:srgbClr val="FFBE40"/>
          </a:solidFill>
        </p:spPr>
      </p:sp>
      <p:sp>
        <p:nvSpPr>
          <p:cNvPr name="Freeform 3" id="3"/>
          <p:cNvSpPr/>
          <p:nvPr/>
        </p:nvSpPr>
        <p:spPr>
          <a:xfrm flipH="false" flipV="false" rot="0">
            <a:off x="472022" y="3351611"/>
            <a:ext cx="5668349" cy="5906689"/>
          </a:xfrm>
          <a:custGeom>
            <a:avLst/>
            <a:gdLst/>
            <a:ahLst/>
            <a:cxnLst/>
            <a:rect r="r" b="b" t="t" l="l"/>
            <a:pathLst>
              <a:path h="5906689" w="5668349">
                <a:moveTo>
                  <a:pt x="0" y="0"/>
                </a:moveTo>
                <a:lnTo>
                  <a:pt x="5668349" y="0"/>
                </a:lnTo>
                <a:lnTo>
                  <a:pt x="5668349" y="5906689"/>
                </a:lnTo>
                <a:lnTo>
                  <a:pt x="0" y="5906689"/>
                </a:lnTo>
                <a:lnTo>
                  <a:pt x="0" y="0"/>
                </a:lnTo>
                <a:close/>
              </a:path>
            </a:pathLst>
          </a:custGeom>
          <a:blipFill>
            <a:blip r:embed="rId2"/>
            <a:stretch>
              <a:fillRect l="0" t="0" r="0" b="0"/>
            </a:stretch>
          </a:blipFill>
        </p:spPr>
      </p:sp>
      <p:sp>
        <p:nvSpPr>
          <p:cNvPr name="Freeform 4" id="4"/>
          <p:cNvSpPr/>
          <p:nvPr/>
        </p:nvSpPr>
        <p:spPr>
          <a:xfrm flipH="false" flipV="false" rot="0">
            <a:off x="6834620" y="601093"/>
            <a:ext cx="11301259" cy="3941314"/>
          </a:xfrm>
          <a:custGeom>
            <a:avLst/>
            <a:gdLst/>
            <a:ahLst/>
            <a:cxnLst/>
            <a:rect r="r" b="b" t="t" l="l"/>
            <a:pathLst>
              <a:path h="3941314" w="11301259">
                <a:moveTo>
                  <a:pt x="0" y="0"/>
                </a:moveTo>
                <a:lnTo>
                  <a:pt x="11301259" y="0"/>
                </a:lnTo>
                <a:lnTo>
                  <a:pt x="11301259" y="3941314"/>
                </a:lnTo>
                <a:lnTo>
                  <a:pt x="0" y="3941314"/>
                </a:lnTo>
                <a:lnTo>
                  <a:pt x="0" y="0"/>
                </a:lnTo>
                <a:close/>
              </a:path>
            </a:pathLst>
          </a:custGeom>
          <a:blipFill>
            <a:blip r:embed="rId3"/>
            <a:stretch>
              <a:fillRect l="0" t="0" r="0" b="0"/>
            </a:stretch>
          </a:blipFill>
        </p:spPr>
      </p:sp>
      <p:sp>
        <p:nvSpPr>
          <p:cNvPr name="Freeform 5" id="5"/>
          <p:cNvSpPr/>
          <p:nvPr/>
        </p:nvSpPr>
        <p:spPr>
          <a:xfrm flipH="false" flipV="false" rot="0">
            <a:off x="6834620" y="4740153"/>
            <a:ext cx="11301259" cy="5099693"/>
          </a:xfrm>
          <a:custGeom>
            <a:avLst/>
            <a:gdLst/>
            <a:ahLst/>
            <a:cxnLst/>
            <a:rect r="r" b="b" t="t" l="l"/>
            <a:pathLst>
              <a:path h="5099693" w="11301259">
                <a:moveTo>
                  <a:pt x="0" y="0"/>
                </a:moveTo>
                <a:lnTo>
                  <a:pt x="11301259" y="0"/>
                </a:lnTo>
                <a:lnTo>
                  <a:pt x="11301259" y="5099693"/>
                </a:lnTo>
                <a:lnTo>
                  <a:pt x="0" y="5099693"/>
                </a:lnTo>
                <a:lnTo>
                  <a:pt x="0" y="0"/>
                </a:lnTo>
                <a:close/>
              </a:path>
            </a:pathLst>
          </a:custGeom>
          <a:blipFill>
            <a:blip r:embed="rId4"/>
            <a:stretch>
              <a:fillRect l="0" t="0" r="0" b="0"/>
            </a:stretch>
          </a:blipFill>
        </p:spPr>
      </p:sp>
      <p:sp>
        <p:nvSpPr>
          <p:cNvPr name="TextBox 6" id="6"/>
          <p:cNvSpPr txBox="true"/>
          <p:nvPr/>
        </p:nvSpPr>
        <p:spPr>
          <a:xfrm rot="0">
            <a:off x="1305947" y="1444286"/>
            <a:ext cx="4000500" cy="609600"/>
          </a:xfrm>
          <a:prstGeom prst="rect">
            <a:avLst/>
          </a:prstGeom>
        </p:spPr>
        <p:txBody>
          <a:bodyPr anchor="t" rtlCol="false" tIns="0" lIns="0" bIns="0" rIns="0">
            <a:spAutoFit/>
          </a:bodyPr>
          <a:lstStyle/>
          <a:p>
            <a:pPr algn="l" marL="0" indent="0" lvl="0">
              <a:lnSpc>
                <a:spcPts val="4770"/>
              </a:lnSpc>
              <a:spcBef>
                <a:spcPct val="0"/>
              </a:spcBef>
            </a:pPr>
            <a:r>
              <a:rPr lang="en-US" b="true" sz="3975">
                <a:solidFill>
                  <a:srgbClr val="090909"/>
                </a:solidFill>
                <a:latin typeface="Roboto Bold"/>
                <a:ea typeface="Roboto Bold"/>
                <a:cs typeface="Roboto Bold"/>
                <a:sym typeface="Roboto Bold"/>
              </a:rPr>
              <a:t>Working Log</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0" y="0"/>
            <a:ext cx="6612393" cy="10287000"/>
          </a:xfrm>
          <a:prstGeom prst="rect">
            <a:avLst/>
          </a:prstGeom>
          <a:solidFill>
            <a:srgbClr val="FFBE40"/>
          </a:solidFill>
        </p:spPr>
      </p:sp>
      <p:sp>
        <p:nvSpPr>
          <p:cNvPr name="Freeform 3" id="3"/>
          <p:cNvSpPr/>
          <p:nvPr/>
        </p:nvSpPr>
        <p:spPr>
          <a:xfrm flipH="false" flipV="false" rot="0">
            <a:off x="472022" y="3351611"/>
            <a:ext cx="5668349" cy="5906689"/>
          </a:xfrm>
          <a:custGeom>
            <a:avLst/>
            <a:gdLst/>
            <a:ahLst/>
            <a:cxnLst/>
            <a:rect r="r" b="b" t="t" l="l"/>
            <a:pathLst>
              <a:path h="5906689" w="5668349">
                <a:moveTo>
                  <a:pt x="0" y="0"/>
                </a:moveTo>
                <a:lnTo>
                  <a:pt x="5668349" y="0"/>
                </a:lnTo>
                <a:lnTo>
                  <a:pt x="5668349" y="5906689"/>
                </a:lnTo>
                <a:lnTo>
                  <a:pt x="0" y="5906689"/>
                </a:lnTo>
                <a:lnTo>
                  <a:pt x="0" y="0"/>
                </a:lnTo>
                <a:close/>
              </a:path>
            </a:pathLst>
          </a:custGeom>
          <a:blipFill>
            <a:blip r:embed="rId2"/>
            <a:stretch>
              <a:fillRect l="0" t="0" r="0" b="0"/>
            </a:stretch>
          </a:blipFill>
        </p:spPr>
      </p:sp>
      <p:sp>
        <p:nvSpPr>
          <p:cNvPr name="Freeform 4" id="4"/>
          <p:cNvSpPr/>
          <p:nvPr/>
        </p:nvSpPr>
        <p:spPr>
          <a:xfrm flipH="false" flipV="false" rot="0">
            <a:off x="7447159" y="2053886"/>
            <a:ext cx="10193544" cy="6957094"/>
          </a:xfrm>
          <a:custGeom>
            <a:avLst/>
            <a:gdLst/>
            <a:ahLst/>
            <a:cxnLst/>
            <a:rect r="r" b="b" t="t" l="l"/>
            <a:pathLst>
              <a:path h="6957094" w="10193544">
                <a:moveTo>
                  <a:pt x="0" y="0"/>
                </a:moveTo>
                <a:lnTo>
                  <a:pt x="10193544" y="0"/>
                </a:lnTo>
                <a:lnTo>
                  <a:pt x="10193544" y="6957094"/>
                </a:lnTo>
                <a:lnTo>
                  <a:pt x="0" y="6957094"/>
                </a:lnTo>
                <a:lnTo>
                  <a:pt x="0" y="0"/>
                </a:lnTo>
                <a:close/>
              </a:path>
            </a:pathLst>
          </a:custGeom>
          <a:blipFill>
            <a:blip r:embed="rId3"/>
            <a:stretch>
              <a:fillRect l="0" t="0" r="0" b="0"/>
            </a:stretch>
          </a:blipFill>
        </p:spPr>
      </p:sp>
      <p:sp>
        <p:nvSpPr>
          <p:cNvPr name="TextBox 5" id="5"/>
          <p:cNvSpPr txBox="true"/>
          <p:nvPr/>
        </p:nvSpPr>
        <p:spPr>
          <a:xfrm rot="0">
            <a:off x="1305947" y="1444286"/>
            <a:ext cx="4000500" cy="609600"/>
          </a:xfrm>
          <a:prstGeom prst="rect">
            <a:avLst/>
          </a:prstGeom>
        </p:spPr>
        <p:txBody>
          <a:bodyPr anchor="t" rtlCol="false" tIns="0" lIns="0" bIns="0" rIns="0">
            <a:spAutoFit/>
          </a:bodyPr>
          <a:lstStyle/>
          <a:p>
            <a:pPr algn="l" marL="0" indent="0" lvl="0">
              <a:lnSpc>
                <a:spcPts val="4770"/>
              </a:lnSpc>
              <a:spcBef>
                <a:spcPct val="0"/>
              </a:spcBef>
            </a:pPr>
            <a:r>
              <a:rPr lang="en-US" b="true" sz="3975">
                <a:solidFill>
                  <a:srgbClr val="090909"/>
                </a:solidFill>
                <a:latin typeface="Roboto Bold"/>
                <a:ea typeface="Roboto Bold"/>
                <a:cs typeface="Roboto Bold"/>
                <a:sym typeface="Roboto Bold"/>
              </a:rPr>
              <a:t>Working Log</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0" y="0"/>
            <a:ext cx="6612393" cy="10287000"/>
          </a:xfrm>
          <a:prstGeom prst="rect">
            <a:avLst/>
          </a:prstGeom>
          <a:solidFill>
            <a:srgbClr val="FFBE40"/>
          </a:solidFill>
        </p:spPr>
      </p:sp>
      <p:sp>
        <p:nvSpPr>
          <p:cNvPr name="Freeform 3" id="3"/>
          <p:cNvSpPr/>
          <p:nvPr/>
        </p:nvSpPr>
        <p:spPr>
          <a:xfrm flipH="false" flipV="false" rot="0">
            <a:off x="6794120" y="273391"/>
            <a:ext cx="11301259" cy="5325718"/>
          </a:xfrm>
          <a:custGeom>
            <a:avLst/>
            <a:gdLst/>
            <a:ahLst/>
            <a:cxnLst/>
            <a:rect r="r" b="b" t="t" l="l"/>
            <a:pathLst>
              <a:path h="5325718" w="11301259">
                <a:moveTo>
                  <a:pt x="0" y="0"/>
                </a:moveTo>
                <a:lnTo>
                  <a:pt x="11301259" y="0"/>
                </a:lnTo>
                <a:lnTo>
                  <a:pt x="11301259" y="5325718"/>
                </a:lnTo>
                <a:lnTo>
                  <a:pt x="0" y="5325718"/>
                </a:lnTo>
                <a:lnTo>
                  <a:pt x="0" y="0"/>
                </a:lnTo>
                <a:close/>
              </a:path>
            </a:pathLst>
          </a:custGeom>
          <a:blipFill>
            <a:blip r:embed="rId2"/>
            <a:stretch>
              <a:fillRect l="0" t="0" r="0" b="0"/>
            </a:stretch>
          </a:blipFill>
        </p:spPr>
      </p:sp>
      <p:sp>
        <p:nvSpPr>
          <p:cNvPr name="Freeform 4" id="4"/>
          <p:cNvSpPr/>
          <p:nvPr/>
        </p:nvSpPr>
        <p:spPr>
          <a:xfrm flipH="false" flipV="false" rot="0">
            <a:off x="6794120" y="6079871"/>
            <a:ext cx="11301259" cy="3432757"/>
          </a:xfrm>
          <a:custGeom>
            <a:avLst/>
            <a:gdLst/>
            <a:ahLst/>
            <a:cxnLst/>
            <a:rect r="r" b="b" t="t" l="l"/>
            <a:pathLst>
              <a:path h="3432757" w="11301259">
                <a:moveTo>
                  <a:pt x="0" y="0"/>
                </a:moveTo>
                <a:lnTo>
                  <a:pt x="11301259" y="0"/>
                </a:lnTo>
                <a:lnTo>
                  <a:pt x="11301259" y="3432758"/>
                </a:lnTo>
                <a:lnTo>
                  <a:pt x="0" y="3432758"/>
                </a:lnTo>
                <a:lnTo>
                  <a:pt x="0" y="0"/>
                </a:lnTo>
                <a:close/>
              </a:path>
            </a:pathLst>
          </a:custGeom>
          <a:blipFill>
            <a:blip r:embed="rId3"/>
            <a:stretch>
              <a:fillRect l="0" t="0" r="0" b="0"/>
            </a:stretch>
          </a:blipFill>
        </p:spPr>
      </p:sp>
      <p:sp>
        <p:nvSpPr>
          <p:cNvPr name="TextBox 5" id="5"/>
          <p:cNvSpPr txBox="true"/>
          <p:nvPr/>
        </p:nvSpPr>
        <p:spPr>
          <a:xfrm rot="0">
            <a:off x="1305947" y="1444286"/>
            <a:ext cx="4000500" cy="609600"/>
          </a:xfrm>
          <a:prstGeom prst="rect">
            <a:avLst/>
          </a:prstGeom>
        </p:spPr>
        <p:txBody>
          <a:bodyPr anchor="t" rtlCol="false" tIns="0" lIns="0" bIns="0" rIns="0">
            <a:spAutoFit/>
          </a:bodyPr>
          <a:lstStyle/>
          <a:p>
            <a:pPr algn="l" marL="0" indent="0" lvl="0">
              <a:lnSpc>
                <a:spcPts val="4770"/>
              </a:lnSpc>
              <a:spcBef>
                <a:spcPct val="0"/>
              </a:spcBef>
            </a:pPr>
            <a:r>
              <a:rPr lang="en-US" b="true" sz="3975">
                <a:solidFill>
                  <a:srgbClr val="090909"/>
                </a:solidFill>
                <a:latin typeface="Roboto Bold"/>
                <a:ea typeface="Roboto Bold"/>
                <a:cs typeface="Roboto Bold"/>
                <a:sym typeface="Roboto Bold"/>
              </a:rPr>
              <a:t>Working Log</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bg>
      <p:bgPr>
        <a:solidFill>
          <a:srgbClr val="090909"/>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7337181" cy="10287000"/>
          </a:xfrm>
          <a:custGeom>
            <a:avLst/>
            <a:gdLst/>
            <a:ahLst/>
            <a:cxnLst/>
            <a:rect r="r" b="b" t="t" l="l"/>
            <a:pathLst>
              <a:path h="10287000" w="7337181">
                <a:moveTo>
                  <a:pt x="0" y="0"/>
                </a:moveTo>
                <a:lnTo>
                  <a:pt x="7337181" y="0"/>
                </a:lnTo>
                <a:lnTo>
                  <a:pt x="7337181" y="10287000"/>
                </a:lnTo>
                <a:lnTo>
                  <a:pt x="0" y="10287000"/>
                </a:lnTo>
                <a:lnTo>
                  <a:pt x="0" y="0"/>
                </a:lnTo>
                <a:close/>
              </a:path>
            </a:pathLst>
          </a:custGeom>
          <a:blipFill>
            <a:blip r:embed="rId2"/>
            <a:stretch>
              <a:fillRect l="-55152" t="0" r="-55152" b="0"/>
            </a:stretch>
          </a:blipFill>
        </p:spPr>
      </p:sp>
      <p:grpSp>
        <p:nvGrpSpPr>
          <p:cNvPr name="Group 3" id="3"/>
          <p:cNvGrpSpPr/>
          <p:nvPr/>
        </p:nvGrpSpPr>
        <p:grpSpPr>
          <a:xfrm rot="0">
            <a:off x="9144000" y="2854988"/>
            <a:ext cx="7911193" cy="4577024"/>
            <a:chOff x="0" y="0"/>
            <a:chExt cx="10548257" cy="6102699"/>
          </a:xfrm>
        </p:grpSpPr>
        <p:sp>
          <p:nvSpPr>
            <p:cNvPr name="TextBox 4" id="4"/>
            <p:cNvSpPr txBox="true"/>
            <p:nvPr/>
          </p:nvSpPr>
          <p:spPr>
            <a:xfrm rot="0">
              <a:off x="0" y="539115"/>
              <a:ext cx="10507889" cy="1266825"/>
            </a:xfrm>
            <a:prstGeom prst="rect">
              <a:avLst/>
            </a:prstGeom>
          </p:spPr>
          <p:txBody>
            <a:bodyPr anchor="t" rtlCol="false" tIns="0" lIns="0" bIns="0" rIns="0">
              <a:spAutoFit/>
            </a:bodyPr>
            <a:lstStyle/>
            <a:p>
              <a:pPr algn="l">
                <a:lnSpc>
                  <a:spcPts val="7440"/>
                </a:lnSpc>
              </a:pPr>
              <a:r>
                <a:rPr lang="en-US" sz="6200" b="true">
                  <a:solidFill>
                    <a:srgbClr val="FFFFFF"/>
                  </a:solidFill>
                  <a:latin typeface="Roboto Bold"/>
                  <a:ea typeface="Roboto Bold"/>
                  <a:cs typeface="Roboto Bold"/>
                  <a:sym typeface="Roboto Bold"/>
                </a:rPr>
                <a:t>Javascript Frontend</a:t>
              </a:r>
            </a:p>
          </p:txBody>
        </p:sp>
        <p:sp>
          <p:nvSpPr>
            <p:cNvPr name="TextBox 5" id="5"/>
            <p:cNvSpPr txBox="true"/>
            <p:nvPr/>
          </p:nvSpPr>
          <p:spPr>
            <a:xfrm rot="0">
              <a:off x="40368" y="3007534"/>
              <a:ext cx="10507889" cy="619125"/>
            </a:xfrm>
            <a:prstGeom prst="rect">
              <a:avLst/>
            </a:prstGeom>
          </p:spPr>
          <p:txBody>
            <a:bodyPr anchor="t" rtlCol="false" tIns="0" lIns="0" bIns="0" rIns="0">
              <a:spAutoFit/>
            </a:bodyPr>
            <a:lstStyle/>
            <a:p>
              <a:pPr algn="l">
                <a:lnSpc>
                  <a:spcPts val="3599"/>
                </a:lnSpc>
              </a:pPr>
              <a:r>
                <a:rPr lang="en-US" b="true" sz="2999" spc="89">
                  <a:solidFill>
                    <a:srgbClr val="FFBE40"/>
                  </a:solidFill>
                  <a:latin typeface="Roboto Bold"/>
                  <a:ea typeface="Roboto Bold"/>
                  <a:cs typeface="Roboto Bold"/>
                  <a:sym typeface="Roboto Bold"/>
                </a:rPr>
                <a:t>HỌC TỪ XA SẼ TỒN TẠI LÂU DÀI.</a:t>
              </a:r>
            </a:p>
          </p:txBody>
        </p:sp>
        <p:sp>
          <p:nvSpPr>
            <p:cNvPr name="TextBox 6" id="6"/>
            <p:cNvSpPr txBox="true"/>
            <p:nvPr/>
          </p:nvSpPr>
          <p:spPr>
            <a:xfrm rot="0">
              <a:off x="0" y="4300569"/>
              <a:ext cx="10507889" cy="1733550"/>
            </a:xfrm>
            <a:prstGeom prst="rect">
              <a:avLst/>
            </a:prstGeom>
          </p:spPr>
          <p:txBody>
            <a:bodyPr anchor="t" rtlCol="false" tIns="0" lIns="0" bIns="0" rIns="0">
              <a:spAutoFit/>
            </a:bodyPr>
            <a:lstStyle/>
            <a:p>
              <a:pPr algn="l">
                <a:lnSpc>
                  <a:spcPts val="3465"/>
                </a:lnSpc>
              </a:pPr>
              <a:r>
                <a:rPr lang="en-US" sz="2475">
                  <a:solidFill>
                    <a:srgbClr val="FFFFFF"/>
                  </a:solidFill>
                  <a:latin typeface="Roboto"/>
                  <a:ea typeface="Roboto"/>
                  <a:cs typeface="Roboto"/>
                  <a:sym typeface="Roboto"/>
                </a:rPr>
                <a:t>Đào tạo từ xa có thể trở thành phương pháp bình thường</a:t>
              </a:r>
            </a:p>
            <a:p>
              <a:pPr algn="l">
                <a:lnSpc>
                  <a:spcPts val="3465"/>
                </a:lnSpc>
              </a:pPr>
              <a:r>
                <a:rPr lang="en-US" sz="2475">
                  <a:solidFill>
                    <a:srgbClr val="FFFFFF"/>
                  </a:solidFill>
                  <a:latin typeface="Roboto"/>
                  <a:ea typeface="Roboto"/>
                  <a:cs typeface="Roboto"/>
                  <a:sym typeface="Roboto"/>
                </a:rPr>
                <a:t>mới nhờ tính thuận tiện và khả năng xóa đi mọi rào cản biên giới, khiến bài học trở nên hấp dẫn hơn.</a:t>
              </a:r>
            </a:p>
          </p:txBody>
        </p:sp>
      </p:grpSp>
    </p:spTree>
  </p:cSld>
  <p:clrMapOvr>
    <a:masterClrMapping/>
  </p:clrMapOvr>
</p:sld>
</file>

<file path=ppt/slides/slide4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797954" y="3686175"/>
            <a:ext cx="5362294" cy="2905125"/>
          </a:xfrm>
          <a:prstGeom prst="rect">
            <a:avLst/>
          </a:prstGeom>
        </p:spPr>
        <p:txBody>
          <a:bodyPr anchor="t" rtlCol="false" tIns="0" lIns="0" bIns="0" rIns="0">
            <a:spAutoFit/>
          </a:bodyPr>
          <a:lstStyle/>
          <a:p>
            <a:pPr algn="l">
              <a:lnSpc>
                <a:spcPts val="11400"/>
              </a:lnSpc>
            </a:pPr>
            <a:r>
              <a:rPr lang="en-US" sz="9500" b="true">
                <a:solidFill>
                  <a:srgbClr val="090909"/>
                </a:solidFill>
                <a:latin typeface="Roboto Bold"/>
                <a:ea typeface="Roboto Bold"/>
                <a:cs typeface="Roboto Bold"/>
                <a:sym typeface="Roboto Bold"/>
              </a:rPr>
              <a:t>Java Migration</a:t>
            </a:r>
          </a:p>
        </p:txBody>
      </p:sp>
      <p:grpSp>
        <p:nvGrpSpPr>
          <p:cNvPr name="Group 3" id="3"/>
          <p:cNvGrpSpPr/>
          <p:nvPr/>
        </p:nvGrpSpPr>
        <p:grpSpPr>
          <a:xfrm rot="0">
            <a:off x="8708231" y="2460894"/>
            <a:ext cx="8551069" cy="374650"/>
            <a:chOff x="0" y="0"/>
            <a:chExt cx="11401425" cy="499533"/>
          </a:xfrm>
        </p:grpSpPr>
        <p:grpSp>
          <p:nvGrpSpPr>
            <p:cNvPr name="Group 4" id="4"/>
            <p:cNvGrpSpPr/>
            <p:nvPr/>
          </p:nvGrpSpPr>
          <p:grpSpPr>
            <a:xfrm rot="0">
              <a:off x="0" y="134560"/>
              <a:ext cx="230414" cy="230414"/>
              <a:chOff x="0" y="0"/>
              <a:chExt cx="6350000" cy="6350000"/>
            </a:xfrm>
          </p:grpSpPr>
          <p:sp>
            <p:nvSpPr>
              <p:cNvPr name="Freeform 5" id="5"/>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BE40"/>
              </a:solidFill>
            </p:spPr>
          </p:sp>
        </p:grpSp>
        <p:sp>
          <p:nvSpPr>
            <p:cNvPr name="TextBox 6" id="6"/>
            <p:cNvSpPr txBox="true"/>
            <p:nvPr/>
          </p:nvSpPr>
          <p:spPr>
            <a:xfrm rot="0">
              <a:off x="800554" y="-57150"/>
              <a:ext cx="10600871" cy="1157817"/>
            </a:xfrm>
            <a:prstGeom prst="rect">
              <a:avLst/>
            </a:prstGeom>
          </p:spPr>
          <p:txBody>
            <a:bodyPr anchor="t" rtlCol="false" tIns="0" lIns="0" bIns="0" rIns="0">
              <a:spAutoFit/>
            </a:bodyPr>
            <a:lstStyle/>
            <a:p>
              <a:pPr algn="l">
                <a:lnSpc>
                  <a:spcPts val="3500"/>
                </a:lnSpc>
              </a:pPr>
              <a:r>
                <a:rPr lang="en-US" sz="2500">
                  <a:solidFill>
                    <a:srgbClr val="090909"/>
                  </a:solidFill>
                  <a:latin typeface="Roboto"/>
                  <a:ea typeface="Roboto"/>
                  <a:cs typeface="Roboto"/>
                  <a:sym typeface="Roboto"/>
                </a:rPr>
                <a:t>Lớp học trực tuyến nghĩa là mọi người đều được</a:t>
              </a:r>
            </a:p>
            <a:p>
              <a:pPr algn="l">
                <a:lnSpc>
                  <a:spcPts val="3500"/>
                </a:lnSpc>
              </a:pPr>
              <a:r>
                <a:rPr lang="en-US" sz="2500">
                  <a:solidFill>
                    <a:srgbClr val="090909"/>
                  </a:solidFill>
                  <a:latin typeface="Roboto"/>
                  <a:ea typeface="Roboto"/>
                  <a:cs typeface="Roboto"/>
                  <a:sym typeface="Roboto"/>
                </a:rPr>
                <a:t>học theo công nghệ số.</a:t>
              </a:r>
            </a:p>
          </p:txBody>
        </p:sp>
      </p:grpSp>
      <p:grpSp>
        <p:nvGrpSpPr>
          <p:cNvPr name="Group 7" id="7"/>
          <p:cNvGrpSpPr/>
          <p:nvPr/>
        </p:nvGrpSpPr>
        <p:grpSpPr>
          <a:xfrm rot="0">
            <a:off x="8708231" y="3598997"/>
            <a:ext cx="8551069" cy="374650"/>
            <a:chOff x="0" y="0"/>
            <a:chExt cx="11401425" cy="499533"/>
          </a:xfrm>
        </p:grpSpPr>
        <p:grpSp>
          <p:nvGrpSpPr>
            <p:cNvPr name="Group 8" id="8"/>
            <p:cNvGrpSpPr/>
            <p:nvPr/>
          </p:nvGrpSpPr>
          <p:grpSpPr>
            <a:xfrm rot="0">
              <a:off x="0" y="134560"/>
              <a:ext cx="230414" cy="230414"/>
              <a:chOff x="0" y="0"/>
              <a:chExt cx="6350000" cy="6350000"/>
            </a:xfrm>
          </p:grpSpPr>
          <p:sp>
            <p:nvSpPr>
              <p:cNvPr name="Freeform 9" id="9"/>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BE40"/>
              </a:solidFill>
            </p:spPr>
          </p:sp>
        </p:grpSp>
        <p:sp>
          <p:nvSpPr>
            <p:cNvPr name="TextBox 10" id="10"/>
            <p:cNvSpPr txBox="true"/>
            <p:nvPr/>
          </p:nvSpPr>
          <p:spPr>
            <a:xfrm rot="0">
              <a:off x="800554" y="-57150"/>
              <a:ext cx="10600871" cy="565150"/>
            </a:xfrm>
            <a:prstGeom prst="rect">
              <a:avLst/>
            </a:prstGeom>
          </p:spPr>
          <p:txBody>
            <a:bodyPr anchor="t" rtlCol="false" tIns="0" lIns="0" bIns="0" rIns="0">
              <a:spAutoFit/>
            </a:bodyPr>
            <a:lstStyle/>
            <a:p>
              <a:pPr algn="l">
                <a:lnSpc>
                  <a:spcPts val="3500"/>
                </a:lnSpc>
              </a:pPr>
              <a:r>
                <a:rPr lang="en-US" sz="2500">
                  <a:solidFill>
                    <a:srgbClr val="090909"/>
                  </a:solidFill>
                  <a:latin typeface="Roboto"/>
                  <a:ea typeface="Roboto"/>
                  <a:cs typeface="Roboto"/>
                  <a:sym typeface="Roboto"/>
                </a:rPr>
                <a:t>Thị trường khóa học và chứng chỉ thực hành toàn cầu.</a:t>
              </a:r>
            </a:p>
          </p:txBody>
        </p:sp>
      </p:grpSp>
      <p:grpSp>
        <p:nvGrpSpPr>
          <p:cNvPr name="Group 11" id="11"/>
          <p:cNvGrpSpPr/>
          <p:nvPr/>
        </p:nvGrpSpPr>
        <p:grpSpPr>
          <a:xfrm rot="0">
            <a:off x="8708231" y="4737100"/>
            <a:ext cx="8551069" cy="374650"/>
            <a:chOff x="0" y="0"/>
            <a:chExt cx="11401425" cy="499533"/>
          </a:xfrm>
        </p:grpSpPr>
        <p:grpSp>
          <p:nvGrpSpPr>
            <p:cNvPr name="Group 12" id="12"/>
            <p:cNvGrpSpPr/>
            <p:nvPr/>
          </p:nvGrpSpPr>
          <p:grpSpPr>
            <a:xfrm rot="0">
              <a:off x="0" y="134560"/>
              <a:ext cx="230414" cy="230414"/>
              <a:chOff x="0" y="0"/>
              <a:chExt cx="6350000" cy="6350000"/>
            </a:xfrm>
          </p:grpSpPr>
          <p:sp>
            <p:nvSpPr>
              <p:cNvPr name="Freeform 13" id="1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BE40"/>
              </a:solidFill>
            </p:spPr>
          </p:sp>
        </p:grpSp>
        <p:sp>
          <p:nvSpPr>
            <p:cNvPr name="TextBox 14" id="14"/>
            <p:cNvSpPr txBox="true"/>
            <p:nvPr/>
          </p:nvSpPr>
          <p:spPr>
            <a:xfrm rot="0">
              <a:off x="800554" y="-57150"/>
              <a:ext cx="10600871" cy="565150"/>
            </a:xfrm>
            <a:prstGeom prst="rect">
              <a:avLst/>
            </a:prstGeom>
          </p:spPr>
          <p:txBody>
            <a:bodyPr anchor="t" rtlCol="false" tIns="0" lIns="0" bIns="0" rIns="0">
              <a:spAutoFit/>
            </a:bodyPr>
            <a:lstStyle/>
            <a:p>
              <a:pPr algn="l">
                <a:lnSpc>
                  <a:spcPts val="3500"/>
                </a:lnSpc>
              </a:pPr>
              <a:r>
                <a:rPr lang="en-US" sz="2500">
                  <a:solidFill>
                    <a:srgbClr val="090909"/>
                  </a:solidFill>
                  <a:latin typeface="Roboto"/>
                  <a:ea typeface="Roboto"/>
                  <a:cs typeface="Roboto"/>
                  <a:sym typeface="Roboto"/>
                </a:rPr>
                <a:t>Cải thiện chất lượng của việc đào tạo kết hợp</a:t>
              </a:r>
            </a:p>
          </p:txBody>
        </p:sp>
      </p:grpSp>
      <p:grpSp>
        <p:nvGrpSpPr>
          <p:cNvPr name="Group 15" id="15"/>
          <p:cNvGrpSpPr/>
          <p:nvPr/>
        </p:nvGrpSpPr>
        <p:grpSpPr>
          <a:xfrm rot="0">
            <a:off x="8708231" y="5875203"/>
            <a:ext cx="8551069" cy="374650"/>
            <a:chOff x="0" y="0"/>
            <a:chExt cx="11401425" cy="499533"/>
          </a:xfrm>
        </p:grpSpPr>
        <p:grpSp>
          <p:nvGrpSpPr>
            <p:cNvPr name="Group 16" id="16"/>
            <p:cNvGrpSpPr/>
            <p:nvPr/>
          </p:nvGrpSpPr>
          <p:grpSpPr>
            <a:xfrm rot="0">
              <a:off x="0" y="134560"/>
              <a:ext cx="230414" cy="230414"/>
              <a:chOff x="0" y="0"/>
              <a:chExt cx="6350000" cy="6350000"/>
            </a:xfrm>
          </p:grpSpPr>
          <p:sp>
            <p:nvSpPr>
              <p:cNvPr name="Freeform 17" id="17"/>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BE40"/>
              </a:solidFill>
            </p:spPr>
          </p:sp>
        </p:grpSp>
        <p:sp>
          <p:nvSpPr>
            <p:cNvPr name="TextBox 18" id="18"/>
            <p:cNvSpPr txBox="true"/>
            <p:nvPr/>
          </p:nvSpPr>
          <p:spPr>
            <a:xfrm rot="0">
              <a:off x="800554" y="-57150"/>
              <a:ext cx="10600871" cy="1157817"/>
            </a:xfrm>
            <a:prstGeom prst="rect">
              <a:avLst/>
            </a:prstGeom>
          </p:spPr>
          <p:txBody>
            <a:bodyPr anchor="t" rtlCol="false" tIns="0" lIns="0" bIns="0" rIns="0">
              <a:spAutoFit/>
            </a:bodyPr>
            <a:lstStyle/>
            <a:p>
              <a:pPr algn="l">
                <a:lnSpc>
                  <a:spcPts val="3500"/>
                </a:lnSpc>
              </a:pPr>
              <a:r>
                <a:rPr lang="en-US" sz="2500">
                  <a:solidFill>
                    <a:srgbClr val="090909"/>
                  </a:solidFill>
                  <a:latin typeface="Roboto"/>
                  <a:ea typeface="Roboto"/>
                  <a:cs typeface="Roboto"/>
                  <a:sym typeface="Roboto"/>
                </a:rPr>
                <a:t>Gia tăng nhu cầu đối với các chương trình dựa trên</a:t>
              </a:r>
            </a:p>
            <a:p>
              <a:pPr algn="l">
                <a:lnSpc>
                  <a:spcPts val="3500"/>
                </a:lnSpc>
              </a:pPr>
              <a:r>
                <a:rPr lang="en-US" sz="2500">
                  <a:solidFill>
                    <a:srgbClr val="090909"/>
                  </a:solidFill>
                  <a:latin typeface="Roboto"/>
                  <a:ea typeface="Roboto"/>
                  <a:cs typeface="Roboto"/>
                  <a:sym typeface="Roboto"/>
                </a:rPr>
                <a:t>kỹ năng.</a:t>
              </a:r>
            </a:p>
          </p:txBody>
        </p:sp>
      </p:grpSp>
      <p:grpSp>
        <p:nvGrpSpPr>
          <p:cNvPr name="Group 19" id="19"/>
          <p:cNvGrpSpPr/>
          <p:nvPr/>
        </p:nvGrpSpPr>
        <p:grpSpPr>
          <a:xfrm rot="0">
            <a:off x="8708231" y="7013306"/>
            <a:ext cx="8551069" cy="812800"/>
            <a:chOff x="0" y="0"/>
            <a:chExt cx="11401425" cy="1083733"/>
          </a:xfrm>
        </p:grpSpPr>
        <p:grpSp>
          <p:nvGrpSpPr>
            <p:cNvPr name="Group 20" id="20"/>
            <p:cNvGrpSpPr/>
            <p:nvPr/>
          </p:nvGrpSpPr>
          <p:grpSpPr>
            <a:xfrm rot="0">
              <a:off x="0" y="112546"/>
              <a:ext cx="230414" cy="230414"/>
              <a:chOff x="0" y="0"/>
              <a:chExt cx="6350000" cy="6350000"/>
            </a:xfrm>
          </p:grpSpPr>
          <p:sp>
            <p:nvSpPr>
              <p:cNvPr name="Freeform 21" id="21"/>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BE40"/>
              </a:solidFill>
            </p:spPr>
          </p:sp>
        </p:grpSp>
        <p:sp>
          <p:nvSpPr>
            <p:cNvPr name="TextBox 22" id="22"/>
            <p:cNvSpPr txBox="true"/>
            <p:nvPr/>
          </p:nvSpPr>
          <p:spPr>
            <a:xfrm rot="0">
              <a:off x="800554" y="-57150"/>
              <a:ext cx="10600871" cy="1157817"/>
            </a:xfrm>
            <a:prstGeom prst="rect">
              <a:avLst/>
            </a:prstGeom>
          </p:spPr>
          <p:txBody>
            <a:bodyPr anchor="t" rtlCol="false" tIns="0" lIns="0" bIns="0" rIns="0">
              <a:spAutoFit/>
            </a:bodyPr>
            <a:lstStyle/>
            <a:p>
              <a:pPr algn="l">
                <a:lnSpc>
                  <a:spcPts val="3500"/>
                </a:lnSpc>
              </a:pPr>
              <a:r>
                <a:rPr lang="en-US" sz="2500">
                  <a:solidFill>
                    <a:srgbClr val="090909"/>
                  </a:solidFill>
                  <a:latin typeface="Roboto"/>
                  <a:ea typeface="Roboto"/>
                  <a:cs typeface="Roboto"/>
                  <a:sym typeface="Roboto"/>
                </a:rPr>
                <a:t>Đầu tư nhiều hơn vào công nghệ tương tác trong việc</a:t>
              </a:r>
            </a:p>
            <a:p>
              <a:pPr algn="l">
                <a:lnSpc>
                  <a:spcPts val="3500"/>
                </a:lnSpc>
              </a:pPr>
              <a:r>
                <a:rPr lang="en-US" sz="2500">
                  <a:solidFill>
                    <a:srgbClr val="090909"/>
                  </a:solidFill>
                  <a:latin typeface="Roboto"/>
                  <a:ea typeface="Roboto"/>
                  <a:cs typeface="Roboto"/>
                  <a:sym typeface="Roboto"/>
                </a:rPr>
                <a:t>rút ngắn khoảng cách số</a:t>
              </a:r>
            </a:p>
          </p:txBody>
        </p:sp>
      </p:gr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5486400" cy="10287000"/>
          </a:xfrm>
          <a:custGeom>
            <a:avLst/>
            <a:gdLst/>
            <a:ahLst/>
            <a:cxnLst/>
            <a:rect r="r" b="b" t="t" l="l"/>
            <a:pathLst>
              <a:path h="10287000" w="5486400">
                <a:moveTo>
                  <a:pt x="0" y="0"/>
                </a:moveTo>
                <a:lnTo>
                  <a:pt x="5486400" y="0"/>
                </a:lnTo>
                <a:lnTo>
                  <a:pt x="5486400" y="10287000"/>
                </a:lnTo>
                <a:lnTo>
                  <a:pt x="0" y="10287000"/>
                </a:lnTo>
                <a:lnTo>
                  <a:pt x="0" y="0"/>
                </a:lnTo>
                <a:close/>
              </a:path>
            </a:pathLst>
          </a:custGeom>
          <a:blipFill>
            <a:blip r:embed="rId2"/>
            <a:stretch>
              <a:fillRect l="-173958" t="0" r="-7291" b="0"/>
            </a:stretch>
          </a:blipFill>
        </p:spPr>
      </p:sp>
      <p:sp>
        <p:nvSpPr>
          <p:cNvPr name="Freeform 3" id="3"/>
          <p:cNvSpPr/>
          <p:nvPr/>
        </p:nvSpPr>
        <p:spPr>
          <a:xfrm flipH="false" flipV="false" rot="0">
            <a:off x="5958041" y="2213061"/>
            <a:ext cx="11895754" cy="3568726"/>
          </a:xfrm>
          <a:custGeom>
            <a:avLst/>
            <a:gdLst/>
            <a:ahLst/>
            <a:cxnLst/>
            <a:rect r="r" b="b" t="t" l="l"/>
            <a:pathLst>
              <a:path h="3568726" w="11895754">
                <a:moveTo>
                  <a:pt x="0" y="0"/>
                </a:moveTo>
                <a:lnTo>
                  <a:pt x="11895754" y="0"/>
                </a:lnTo>
                <a:lnTo>
                  <a:pt x="11895754" y="3568727"/>
                </a:lnTo>
                <a:lnTo>
                  <a:pt x="0" y="3568727"/>
                </a:lnTo>
                <a:lnTo>
                  <a:pt x="0" y="0"/>
                </a:lnTo>
                <a:close/>
              </a:path>
            </a:pathLst>
          </a:custGeom>
          <a:blipFill>
            <a:blip r:embed="rId3"/>
            <a:stretch>
              <a:fillRect l="0" t="0" r="0" b="0"/>
            </a:stretch>
          </a:blipFill>
        </p:spPr>
      </p:sp>
      <p:sp>
        <p:nvSpPr>
          <p:cNvPr name="Freeform 4" id="4"/>
          <p:cNvSpPr/>
          <p:nvPr/>
        </p:nvSpPr>
        <p:spPr>
          <a:xfrm flipH="false" flipV="false" rot="0">
            <a:off x="5958041" y="6057713"/>
            <a:ext cx="11895754" cy="3063157"/>
          </a:xfrm>
          <a:custGeom>
            <a:avLst/>
            <a:gdLst/>
            <a:ahLst/>
            <a:cxnLst/>
            <a:rect r="r" b="b" t="t" l="l"/>
            <a:pathLst>
              <a:path h="3063157" w="11895754">
                <a:moveTo>
                  <a:pt x="0" y="0"/>
                </a:moveTo>
                <a:lnTo>
                  <a:pt x="11895754" y="0"/>
                </a:lnTo>
                <a:lnTo>
                  <a:pt x="11895754" y="3063157"/>
                </a:lnTo>
                <a:lnTo>
                  <a:pt x="0" y="3063157"/>
                </a:lnTo>
                <a:lnTo>
                  <a:pt x="0" y="0"/>
                </a:lnTo>
                <a:close/>
              </a:path>
            </a:pathLst>
          </a:custGeom>
          <a:blipFill>
            <a:blip r:embed="rId4"/>
            <a:stretch>
              <a:fillRect l="0" t="0" r="0" b="0"/>
            </a:stretch>
          </a:blipFill>
        </p:spPr>
      </p:sp>
      <p:grpSp>
        <p:nvGrpSpPr>
          <p:cNvPr name="Group 5" id="5"/>
          <p:cNvGrpSpPr/>
          <p:nvPr/>
        </p:nvGrpSpPr>
        <p:grpSpPr>
          <a:xfrm rot="0">
            <a:off x="5958041" y="390776"/>
            <a:ext cx="10518321" cy="2255948"/>
            <a:chOff x="0" y="0"/>
            <a:chExt cx="14024429" cy="3007931"/>
          </a:xfrm>
        </p:grpSpPr>
        <p:sp>
          <p:nvSpPr>
            <p:cNvPr name="TextBox 6" id="6"/>
            <p:cNvSpPr txBox="true"/>
            <p:nvPr/>
          </p:nvSpPr>
          <p:spPr>
            <a:xfrm rot="0">
              <a:off x="0" y="-9525"/>
              <a:ext cx="14024429" cy="1635125"/>
            </a:xfrm>
            <a:prstGeom prst="rect">
              <a:avLst/>
            </a:prstGeom>
          </p:spPr>
          <p:txBody>
            <a:bodyPr anchor="t" rtlCol="false" tIns="0" lIns="0" bIns="0" rIns="0">
              <a:spAutoFit/>
            </a:bodyPr>
            <a:lstStyle/>
            <a:p>
              <a:pPr algn="l" marL="0" indent="0" lvl="0">
                <a:lnSpc>
                  <a:spcPts val="9600"/>
                </a:lnSpc>
                <a:spcBef>
                  <a:spcPct val="0"/>
                </a:spcBef>
              </a:pPr>
              <a:r>
                <a:rPr lang="en-US" b="true" sz="8000">
                  <a:solidFill>
                    <a:srgbClr val="090909"/>
                  </a:solidFill>
                  <a:latin typeface="Roboto Bold"/>
                  <a:ea typeface="Roboto Bold"/>
                  <a:cs typeface="Roboto Bold"/>
                  <a:sym typeface="Roboto Bold"/>
                </a:rPr>
                <a:t>Containerize</a:t>
              </a:r>
            </a:p>
          </p:txBody>
        </p:sp>
        <p:sp>
          <p:nvSpPr>
            <p:cNvPr name="TextBox 7" id="7"/>
            <p:cNvSpPr txBox="true"/>
            <p:nvPr/>
          </p:nvSpPr>
          <p:spPr>
            <a:xfrm rot="0">
              <a:off x="0" y="2322131"/>
              <a:ext cx="14024429" cy="685800"/>
            </a:xfrm>
            <a:prstGeom prst="rect">
              <a:avLst/>
            </a:prstGeom>
          </p:spPr>
          <p:txBody>
            <a:bodyPr anchor="t" rtlCol="false" tIns="0" lIns="0" bIns="0" rIns="0">
              <a:spAutoFit/>
            </a:bodyPr>
            <a:lstStyle/>
            <a:p>
              <a:pPr algn="l" marL="0" indent="0" lvl="1">
                <a:lnSpc>
                  <a:spcPts val="4200"/>
                </a:lnSpc>
                <a:spcBef>
                  <a:spcPct val="0"/>
                </a:spcBef>
              </a:pPr>
            </a:p>
          </p:txBody>
        </p:sp>
      </p:gr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5486400" cy="10287000"/>
          </a:xfrm>
          <a:custGeom>
            <a:avLst/>
            <a:gdLst/>
            <a:ahLst/>
            <a:cxnLst/>
            <a:rect r="r" b="b" t="t" l="l"/>
            <a:pathLst>
              <a:path h="10287000" w="5486400">
                <a:moveTo>
                  <a:pt x="0" y="0"/>
                </a:moveTo>
                <a:lnTo>
                  <a:pt x="5486400" y="0"/>
                </a:lnTo>
                <a:lnTo>
                  <a:pt x="5486400" y="10287000"/>
                </a:lnTo>
                <a:lnTo>
                  <a:pt x="0" y="10287000"/>
                </a:lnTo>
                <a:lnTo>
                  <a:pt x="0" y="0"/>
                </a:lnTo>
                <a:close/>
              </a:path>
            </a:pathLst>
          </a:custGeom>
          <a:blipFill>
            <a:blip r:embed="rId2"/>
            <a:stretch>
              <a:fillRect l="-173958" t="0" r="-7291" b="0"/>
            </a:stretch>
          </a:blipFill>
        </p:spPr>
      </p:sp>
      <p:sp>
        <p:nvSpPr>
          <p:cNvPr name="Freeform 3" id="3"/>
          <p:cNvSpPr/>
          <p:nvPr/>
        </p:nvSpPr>
        <p:spPr>
          <a:xfrm flipH="false" flipV="false" rot="0">
            <a:off x="5958041" y="1837882"/>
            <a:ext cx="11895754" cy="3479508"/>
          </a:xfrm>
          <a:custGeom>
            <a:avLst/>
            <a:gdLst/>
            <a:ahLst/>
            <a:cxnLst/>
            <a:rect r="r" b="b" t="t" l="l"/>
            <a:pathLst>
              <a:path h="3479508" w="11895754">
                <a:moveTo>
                  <a:pt x="0" y="0"/>
                </a:moveTo>
                <a:lnTo>
                  <a:pt x="11895754" y="0"/>
                </a:lnTo>
                <a:lnTo>
                  <a:pt x="11895754" y="3479508"/>
                </a:lnTo>
                <a:lnTo>
                  <a:pt x="0" y="3479508"/>
                </a:lnTo>
                <a:lnTo>
                  <a:pt x="0" y="0"/>
                </a:lnTo>
                <a:close/>
              </a:path>
            </a:pathLst>
          </a:custGeom>
          <a:blipFill>
            <a:blip r:embed="rId3"/>
            <a:stretch>
              <a:fillRect l="0" t="0" r="0" b="0"/>
            </a:stretch>
          </a:blipFill>
        </p:spPr>
      </p:sp>
      <p:sp>
        <p:nvSpPr>
          <p:cNvPr name="Freeform 4" id="4"/>
          <p:cNvSpPr/>
          <p:nvPr/>
        </p:nvSpPr>
        <p:spPr>
          <a:xfrm flipH="false" flipV="false" rot="0">
            <a:off x="6085370" y="6237570"/>
            <a:ext cx="11301259" cy="2104859"/>
          </a:xfrm>
          <a:custGeom>
            <a:avLst/>
            <a:gdLst/>
            <a:ahLst/>
            <a:cxnLst/>
            <a:rect r="r" b="b" t="t" l="l"/>
            <a:pathLst>
              <a:path h="2104859" w="11301259">
                <a:moveTo>
                  <a:pt x="0" y="0"/>
                </a:moveTo>
                <a:lnTo>
                  <a:pt x="11301259" y="0"/>
                </a:lnTo>
                <a:lnTo>
                  <a:pt x="11301259" y="2104860"/>
                </a:lnTo>
                <a:lnTo>
                  <a:pt x="0" y="2104860"/>
                </a:lnTo>
                <a:lnTo>
                  <a:pt x="0" y="0"/>
                </a:lnTo>
                <a:close/>
              </a:path>
            </a:pathLst>
          </a:custGeom>
          <a:blipFill>
            <a:blip r:embed="rId4"/>
            <a:stretch>
              <a:fillRect l="0" t="0" r="0" b="0"/>
            </a:stretch>
          </a:blipFill>
        </p:spPr>
      </p:sp>
      <p:grpSp>
        <p:nvGrpSpPr>
          <p:cNvPr name="Group 5" id="5"/>
          <p:cNvGrpSpPr/>
          <p:nvPr/>
        </p:nvGrpSpPr>
        <p:grpSpPr>
          <a:xfrm rot="0">
            <a:off x="5958041" y="390776"/>
            <a:ext cx="10518321" cy="2255948"/>
            <a:chOff x="0" y="0"/>
            <a:chExt cx="14024429" cy="3007931"/>
          </a:xfrm>
        </p:grpSpPr>
        <p:sp>
          <p:nvSpPr>
            <p:cNvPr name="TextBox 6" id="6"/>
            <p:cNvSpPr txBox="true"/>
            <p:nvPr/>
          </p:nvSpPr>
          <p:spPr>
            <a:xfrm rot="0">
              <a:off x="0" y="-9525"/>
              <a:ext cx="14024429" cy="1635125"/>
            </a:xfrm>
            <a:prstGeom prst="rect">
              <a:avLst/>
            </a:prstGeom>
          </p:spPr>
          <p:txBody>
            <a:bodyPr anchor="t" rtlCol="false" tIns="0" lIns="0" bIns="0" rIns="0">
              <a:spAutoFit/>
            </a:bodyPr>
            <a:lstStyle/>
            <a:p>
              <a:pPr algn="l" marL="0" indent="0" lvl="0">
                <a:lnSpc>
                  <a:spcPts val="9600"/>
                </a:lnSpc>
                <a:spcBef>
                  <a:spcPct val="0"/>
                </a:spcBef>
              </a:pPr>
              <a:r>
                <a:rPr lang="en-US" b="true" sz="8000">
                  <a:solidFill>
                    <a:srgbClr val="090909"/>
                  </a:solidFill>
                  <a:latin typeface="Roboto Bold"/>
                  <a:ea typeface="Roboto Bold"/>
                  <a:cs typeface="Roboto Bold"/>
                  <a:sym typeface="Roboto Bold"/>
                </a:rPr>
                <a:t>Containerize</a:t>
              </a:r>
            </a:p>
          </p:txBody>
        </p:sp>
        <p:sp>
          <p:nvSpPr>
            <p:cNvPr name="TextBox 7" id="7"/>
            <p:cNvSpPr txBox="true"/>
            <p:nvPr/>
          </p:nvSpPr>
          <p:spPr>
            <a:xfrm rot="0">
              <a:off x="0" y="2322131"/>
              <a:ext cx="14024429" cy="685800"/>
            </a:xfrm>
            <a:prstGeom prst="rect">
              <a:avLst/>
            </a:prstGeom>
          </p:spPr>
          <p:txBody>
            <a:bodyPr anchor="t" rtlCol="false" tIns="0" lIns="0" bIns="0" rIns="0">
              <a:spAutoFit/>
            </a:bodyPr>
            <a:lstStyle/>
            <a:p>
              <a:pPr algn="l" marL="0" indent="0" lvl="1">
                <a:lnSpc>
                  <a:spcPts val="4200"/>
                </a:lnSpc>
                <a:spcBef>
                  <a:spcPct val="0"/>
                </a:spcBef>
              </a:pPr>
            </a:p>
          </p:txBody>
        </p:sp>
      </p:gr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0" y="0"/>
            <a:ext cx="6612393" cy="10287000"/>
          </a:xfrm>
          <a:prstGeom prst="rect">
            <a:avLst/>
          </a:prstGeom>
          <a:solidFill>
            <a:srgbClr val="FFBE40"/>
          </a:solidFill>
        </p:spPr>
      </p:sp>
      <p:sp>
        <p:nvSpPr>
          <p:cNvPr name="Freeform 3" id="3"/>
          <p:cNvSpPr/>
          <p:nvPr/>
        </p:nvSpPr>
        <p:spPr>
          <a:xfrm flipH="false" flipV="false" rot="0">
            <a:off x="6794120" y="359943"/>
            <a:ext cx="11301259" cy="3913061"/>
          </a:xfrm>
          <a:custGeom>
            <a:avLst/>
            <a:gdLst/>
            <a:ahLst/>
            <a:cxnLst/>
            <a:rect r="r" b="b" t="t" l="l"/>
            <a:pathLst>
              <a:path h="3913061" w="11301259">
                <a:moveTo>
                  <a:pt x="0" y="0"/>
                </a:moveTo>
                <a:lnTo>
                  <a:pt x="11301259" y="0"/>
                </a:lnTo>
                <a:lnTo>
                  <a:pt x="11301259" y="3913061"/>
                </a:lnTo>
                <a:lnTo>
                  <a:pt x="0" y="3913061"/>
                </a:lnTo>
                <a:lnTo>
                  <a:pt x="0" y="0"/>
                </a:lnTo>
                <a:close/>
              </a:path>
            </a:pathLst>
          </a:custGeom>
          <a:blipFill>
            <a:blip r:embed="rId2"/>
            <a:stretch>
              <a:fillRect l="0" t="0" r="0" b="0"/>
            </a:stretch>
          </a:blipFill>
        </p:spPr>
      </p:sp>
      <p:sp>
        <p:nvSpPr>
          <p:cNvPr name="Freeform 4" id="4"/>
          <p:cNvSpPr/>
          <p:nvPr/>
        </p:nvSpPr>
        <p:spPr>
          <a:xfrm flipH="false" flipV="false" rot="0">
            <a:off x="6794120" y="4576500"/>
            <a:ext cx="11301259" cy="5297465"/>
          </a:xfrm>
          <a:custGeom>
            <a:avLst/>
            <a:gdLst/>
            <a:ahLst/>
            <a:cxnLst/>
            <a:rect r="r" b="b" t="t" l="l"/>
            <a:pathLst>
              <a:path h="5297465" w="11301259">
                <a:moveTo>
                  <a:pt x="0" y="0"/>
                </a:moveTo>
                <a:lnTo>
                  <a:pt x="11301259" y="0"/>
                </a:lnTo>
                <a:lnTo>
                  <a:pt x="11301259" y="5297465"/>
                </a:lnTo>
                <a:lnTo>
                  <a:pt x="0" y="5297465"/>
                </a:lnTo>
                <a:lnTo>
                  <a:pt x="0" y="0"/>
                </a:lnTo>
                <a:close/>
              </a:path>
            </a:pathLst>
          </a:custGeom>
          <a:blipFill>
            <a:blip r:embed="rId3"/>
            <a:stretch>
              <a:fillRect l="0" t="0" r="0" b="0"/>
            </a:stretch>
          </a:blipFill>
        </p:spPr>
      </p:sp>
      <p:grpSp>
        <p:nvGrpSpPr>
          <p:cNvPr name="Group 5" id="5"/>
          <p:cNvGrpSpPr/>
          <p:nvPr/>
        </p:nvGrpSpPr>
        <p:grpSpPr>
          <a:xfrm rot="0">
            <a:off x="1305947" y="3231604"/>
            <a:ext cx="4000500" cy="1887082"/>
            <a:chOff x="0" y="0"/>
            <a:chExt cx="5334000" cy="2516109"/>
          </a:xfrm>
        </p:grpSpPr>
        <p:sp>
          <p:nvSpPr>
            <p:cNvPr name="TextBox 6" id="6"/>
            <p:cNvSpPr txBox="true"/>
            <p:nvPr/>
          </p:nvSpPr>
          <p:spPr>
            <a:xfrm rot="0">
              <a:off x="0" y="1427084"/>
              <a:ext cx="5334000" cy="1089025"/>
            </a:xfrm>
            <a:prstGeom prst="rect">
              <a:avLst/>
            </a:prstGeom>
          </p:spPr>
          <p:txBody>
            <a:bodyPr anchor="t" rtlCol="false" tIns="0" lIns="0" bIns="0" rIns="0">
              <a:spAutoFit/>
            </a:bodyPr>
            <a:lstStyle/>
            <a:p>
              <a:pPr algn="l" marL="0" indent="0" lvl="0">
                <a:lnSpc>
                  <a:spcPts val="6449"/>
                </a:lnSpc>
                <a:spcBef>
                  <a:spcPct val="0"/>
                </a:spcBef>
              </a:pPr>
              <a:r>
                <a:rPr lang="en-US" b="true" sz="5374">
                  <a:solidFill>
                    <a:srgbClr val="090909"/>
                  </a:solidFill>
                  <a:latin typeface="Roboto Bold"/>
                  <a:ea typeface="Roboto Bold"/>
                  <a:cs typeface="Roboto Bold"/>
                  <a:sym typeface="Roboto Bold"/>
                </a:rPr>
                <a:t>Working Log</a:t>
              </a:r>
            </a:p>
          </p:txBody>
        </p:sp>
        <p:sp>
          <p:nvSpPr>
            <p:cNvPr name="TextBox 7" id="7"/>
            <p:cNvSpPr txBox="true"/>
            <p:nvPr/>
          </p:nvSpPr>
          <p:spPr>
            <a:xfrm rot="0">
              <a:off x="0" y="-47625"/>
              <a:ext cx="5334000" cy="417618"/>
            </a:xfrm>
            <a:prstGeom prst="rect">
              <a:avLst/>
            </a:prstGeom>
          </p:spPr>
          <p:txBody>
            <a:bodyPr anchor="t" rtlCol="false" tIns="0" lIns="0" bIns="0" rIns="0">
              <a:spAutoFit/>
            </a:bodyPr>
            <a:lstStyle/>
            <a:p>
              <a:pPr algn="l">
                <a:lnSpc>
                  <a:spcPts val="2554"/>
                </a:lnSpc>
              </a:pPr>
            </a:p>
          </p:txBody>
        </p:sp>
      </p:gr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0" y="0"/>
            <a:ext cx="6612393" cy="10287000"/>
          </a:xfrm>
          <a:prstGeom prst="rect">
            <a:avLst/>
          </a:prstGeom>
          <a:solidFill>
            <a:srgbClr val="FFBE40"/>
          </a:solidFill>
        </p:spPr>
      </p:sp>
      <p:sp>
        <p:nvSpPr>
          <p:cNvPr name="Freeform 3" id="3"/>
          <p:cNvSpPr/>
          <p:nvPr/>
        </p:nvSpPr>
        <p:spPr>
          <a:xfrm flipH="false" flipV="false" rot="0">
            <a:off x="6794120" y="359943"/>
            <a:ext cx="11301259" cy="3913061"/>
          </a:xfrm>
          <a:custGeom>
            <a:avLst/>
            <a:gdLst/>
            <a:ahLst/>
            <a:cxnLst/>
            <a:rect r="r" b="b" t="t" l="l"/>
            <a:pathLst>
              <a:path h="3913061" w="11301259">
                <a:moveTo>
                  <a:pt x="0" y="0"/>
                </a:moveTo>
                <a:lnTo>
                  <a:pt x="11301259" y="0"/>
                </a:lnTo>
                <a:lnTo>
                  <a:pt x="11301259" y="3913061"/>
                </a:lnTo>
                <a:lnTo>
                  <a:pt x="0" y="3913061"/>
                </a:lnTo>
                <a:lnTo>
                  <a:pt x="0" y="0"/>
                </a:lnTo>
                <a:close/>
              </a:path>
            </a:pathLst>
          </a:custGeom>
          <a:blipFill>
            <a:blip r:embed="rId2"/>
            <a:stretch>
              <a:fillRect l="0" t="0" r="0" b="0"/>
            </a:stretch>
          </a:blipFill>
        </p:spPr>
      </p:sp>
      <p:sp>
        <p:nvSpPr>
          <p:cNvPr name="Freeform 4" id="4"/>
          <p:cNvSpPr/>
          <p:nvPr/>
        </p:nvSpPr>
        <p:spPr>
          <a:xfrm flipH="false" flipV="false" rot="0">
            <a:off x="6794120" y="4576500"/>
            <a:ext cx="11301259" cy="5297465"/>
          </a:xfrm>
          <a:custGeom>
            <a:avLst/>
            <a:gdLst/>
            <a:ahLst/>
            <a:cxnLst/>
            <a:rect r="r" b="b" t="t" l="l"/>
            <a:pathLst>
              <a:path h="5297465" w="11301259">
                <a:moveTo>
                  <a:pt x="0" y="0"/>
                </a:moveTo>
                <a:lnTo>
                  <a:pt x="11301259" y="0"/>
                </a:lnTo>
                <a:lnTo>
                  <a:pt x="11301259" y="5297465"/>
                </a:lnTo>
                <a:lnTo>
                  <a:pt x="0" y="5297465"/>
                </a:lnTo>
                <a:lnTo>
                  <a:pt x="0" y="0"/>
                </a:lnTo>
                <a:close/>
              </a:path>
            </a:pathLst>
          </a:custGeom>
          <a:blipFill>
            <a:blip r:embed="rId3"/>
            <a:stretch>
              <a:fillRect l="0" t="0" r="0" b="0"/>
            </a:stretch>
          </a:blipFill>
        </p:spPr>
      </p:sp>
      <p:grpSp>
        <p:nvGrpSpPr>
          <p:cNvPr name="Group 5" id="5"/>
          <p:cNvGrpSpPr/>
          <p:nvPr/>
        </p:nvGrpSpPr>
        <p:grpSpPr>
          <a:xfrm rot="0">
            <a:off x="1305947" y="3231604"/>
            <a:ext cx="4000500" cy="1887082"/>
            <a:chOff x="0" y="0"/>
            <a:chExt cx="5334000" cy="2516109"/>
          </a:xfrm>
        </p:grpSpPr>
        <p:sp>
          <p:nvSpPr>
            <p:cNvPr name="TextBox 6" id="6"/>
            <p:cNvSpPr txBox="true"/>
            <p:nvPr/>
          </p:nvSpPr>
          <p:spPr>
            <a:xfrm rot="0">
              <a:off x="0" y="1427084"/>
              <a:ext cx="5334000" cy="1089025"/>
            </a:xfrm>
            <a:prstGeom prst="rect">
              <a:avLst/>
            </a:prstGeom>
          </p:spPr>
          <p:txBody>
            <a:bodyPr anchor="t" rtlCol="false" tIns="0" lIns="0" bIns="0" rIns="0">
              <a:spAutoFit/>
            </a:bodyPr>
            <a:lstStyle/>
            <a:p>
              <a:pPr algn="l" marL="0" indent="0" lvl="0">
                <a:lnSpc>
                  <a:spcPts val="6449"/>
                </a:lnSpc>
                <a:spcBef>
                  <a:spcPct val="0"/>
                </a:spcBef>
              </a:pPr>
              <a:r>
                <a:rPr lang="en-US" b="true" sz="5374">
                  <a:solidFill>
                    <a:srgbClr val="090909"/>
                  </a:solidFill>
                  <a:latin typeface="Roboto Bold"/>
                  <a:ea typeface="Roboto Bold"/>
                  <a:cs typeface="Roboto Bold"/>
                  <a:sym typeface="Roboto Bold"/>
                </a:rPr>
                <a:t>Working Log</a:t>
              </a:r>
            </a:p>
          </p:txBody>
        </p:sp>
        <p:sp>
          <p:nvSpPr>
            <p:cNvPr name="TextBox 7" id="7"/>
            <p:cNvSpPr txBox="true"/>
            <p:nvPr/>
          </p:nvSpPr>
          <p:spPr>
            <a:xfrm rot="0">
              <a:off x="0" y="-47625"/>
              <a:ext cx="5334000" cy="417618"/>
            </a:xfrm>
            <a:prstGeom prst="rect">
              <a:avLst/>
            </a:prstGeom>
          </p:spPr>
          <p:txBody>
            <a:bodyPr anchor="t" rtlCol="false" tIns="0" lIns="0" bIns="0" rIns="0">
              <a:spAutoFit/>
            </a:bodyPr>
            <a:lstStyle/>
            <a:p>
              <a:pPr algn="l">
                <a:lnSpc>
                  <a:spcPts val="2554"/>
                </a:lnSpc>
              </a:pPr>
            </a:p>
          </p:txBody>
        </p:sp>
      </p:gr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0" y="0"/>
            <a:ext cx="6612393" cy="10287000"/>
          </a:xfrm>
          <a:prstGeom prst="rect">
            <a:avLst/>
          </a:prstGeom>
          <a:solidFill>
            <a:srgbClr val="FFBE40"/>
          </a:solidFill>
        </p:spPr>
      </p:sp>
      <p:sp>
        <p:nvSpPr>
          <p:cNvPr name="Freeform 3" id="3"/>
          <p:cNvSpPr/>
          <p:nvPr/>
        </p:nvSpPr>
        <p:spPr>
          <a:xfrm flipH="false" flipV="false" rot="0">
            <a:off x="6834620" y="2360565"/>
            <a:ext cx="11301259" cy="5565870"/>
          </a:xfrm>
          <a:custGeom>
            <a:avLst/>
            <a:gdLst/>
            <a:ahLst/>
            <a:cxnLst/>
            <a:rect r="r" b="b" t="t" l="l"/>
            <a:pathLst>
              <a:path h="5565870" w="11301259">
                <a:moveTo>
                  <a:pt x="0" y="0"/>
                </a:moveTo>
                <a:lnTo>
                  <a:pt x="11301259" y="0"/>
                </a:lnTo>
                <a:lnTo>
                  <a:pt x="11301259" y="5565870"/>
                </a:lnTo>
                <a:lnTo>
                  <a:pt x="0" y="5565870"/>
                </a:lnTo>
                <a:lnTo>
                  <a:pt x="0" y="0"/>
                </a:lnTo>
                <a:close/>
              </a:path>
            </a:pathLst>
          </a:custGeom>
          <a:blipFill>
            <a:blip r:embed="rId2"/>
            <a:stretch>
              <a:fillRect l="0" t="0" r="0" b="0"/>
            </a:stretch>
          </a:blipFill>
        </p:spPr>
      </p:sp>
      <p:grpSp>
        <p:nvGrpSpPr>
          <p:cNvPr name="Group 4" id="4"/>
          <p:cNvGrpSpPr/>
          <p:nvPr/>
        </p:nvGrpSpPr>
        <p:grpSpPr>
          <a:xfrm rot="0">
            <a:off x="1305947" y="3231604"/>
            <a:ext cx="4000500" cy="1887082"/>
            <a:chOff x="0" y="0"/>
            <a:chExt cx="5334000" cy="2516109"/>
          </a:xfrm>
        </p:grpSpPr>
        <p:sp>
          <p:nvSpPr>
            <p:cNvPr name="TextBox 5" id="5"/>
            <p:cNvSpPr txBox="true"/>
            <p:nvPr/>
          </p:nvSpPr>
          <p:spPr>
            <a:xfrm rot="0">
              <a:off x="0" y="1427084"/>
              <a:ext cx="5334000" cy="1089025"/>
            </a:xfrm>
            <a:prstGeom prst="rect">
              <a:avLst/>
            </a:prstGeom>
          </p:spPr>
          <p:txBody>
            <a:bodyPr anchor="t" rtlCol="false" tIns="0" lIns="0" bIns="0" rIns="0">
              <a:spAutoFit/>
            </a:bodyPr>
            <a:lstStyle/>
            <a:p>
              <a:pPr algn="l" marL="0" indent="0" lvl="0">
                <a:lnSpc>
                  <a:spcPts val="6449"/>
                </a:lnSpc>
                <a:spcBef>
                  <a:spcPct val="0"/>
                </a:spcBef>
              </a:pPr>
              <a:r>
                <a:rPr lang="en-US" b="true" sz="5374">
                  <a:solidFill>
                    <a:srgbClr val="090909"/>
                  </a:solidFill>
                  <a:latin typeface="Roboto Bold"/>
                  <a:ea typeface="Roboto Bold"/>
                  <a:cs typeface="Roboto Bold"/>
                  <a:sym typeface="Roboto Bold"/>
                </a:rPr>
                <a:t>Working Log</a:t>
              </a:r>
            </a:p>
          </p:txBody>
        </p:sp>
        <p:sp>
          <p:nvSpPr>
            <p:cNvPr name="TextBox 6" id="6"/>
            <p:cNvSpPr txBox="true"/>
            <p:nvPr/>
          </p:nvSpPr>
          <p:spPr>
            <a:xfrm rot="0">
              <a:off x="0" y="-47625"/>
              <a:ext cx="5334000" cy="417618"/>
            </a:xfrm>
            <a:prstGeom prst="rect">
              <a:avLst/>
            </a:prstGeom>
          </p:spPr>
          <p:txBody>
            <a:bodyPr anchor="t" rtlCol="false" tIns="0" lIns="0" bIns="0" rIns="0">
              <a:spAutoFit/>
            </a:bodyPr>
            <a:lstStyle/>
            <a:p>
              <a:pPr algn="l">
                <a:lnSpc>
                  <a:spcPts val="2554"/>
                </a:lnSpc>
              </a:pPr>
            </a:p>
          </p:txBody>
        </p:sp>
      </p:gr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11675607" y="0"/>
            <a:ext cx="6612393" cy="10287000"/>
          </a:xfrm>
          <a:prstGeom prst="rect">
            <a:avLst/>
          </a:prstGeom>
          <a:solidFill>
            <a:srgbClr val="FFBE40"/>
          </a:solidFill>
        </p:spPr>
      </p:sp>
      <p:sp>
        <p:nvSpPr>
          <p:cNvPr name="Freeform 3" id="3"/>
          <p:cNvSpPr/>
          <p:nvPr/>
        </p:nvSpPr>
        <p:spPr>
          <a:xfrm flipH="false" flipV="false" rot="0">
            <a:off x="223241" y="1155333"/>
            <a:ext cx="11301259" cy="2797062"/>
          </a:xfrm>
          <a:custGeom>
            <a:avLst/>
            <a:gdLst/>
            <a:ahLst/>
            <a:cxnLst/>
            <a:rect r="r" b="b" t="t" l="l"/>
            <a:pathLst>
              <a:path h="2797062" w="11301259">
                <a:moveTo>
                  <a:pt x="0" y="0"/>
                </a:moveTo>
                <a:lnTo>
                  <a:pt x="11301259" y="0"/>
                </a:lnTo>
                <a:lnTo>
                  <a:pt x="11301259" y="2797062"/>
                </a:lnTo>
                <a:lnTo>
                  <a:pt x="0" y="2797062"/>
                </a:lnTo>
                <a:lnTo>
                  <a:pt x="0" y="0"/>
                </a:lnTo>
                <a:close/>
              </a:path>
            </a:pathLst>
          </a:custGeom>
          <a:blipFill>
            <a:blip r:embed="rId2"/>
            <a:stretch>
              <a:fillRect l="0" t="0" r="0" b="0"/>
            </a:stretch>
          </a:blipFill>
        </p:spPr>
      </p:sp>
      <p:sp>
        <p:nvSpPr>
          <p:cNvPr name="Freeform 4" id="4"/>
          <p:cNvSpPr/>
          <p:nvPr/>
        </p:nvSpPr>
        <p:spPr>
          <a:xfrm flipH="false" flipV="false" rot="0">
            <a:off x="223241" y="4712840"/>
            <a:ext cx="11301259" cy="5113820"/>
          </a:xfrm>
          <a:custGeom>
            <a:avLst/>
            <a:gdLst/>
            <a:ahLst/>
            <a:cxnLst/>
            <a:rect r="r" b="b" t="t" l="l"/>
            <a:pathLst>
              <a:path h="5113820" w="11301259">
                <a:moveTo>
                  <a:pt x="0" y="0"/>
                </a:moveTo>
                <a:lnTo>
                  <a:pt x="11301259" y="0"/>
                </a:lnTo>
                <a:lnTo>
                  <a:pt x="11301259" y="5113820"/>
                </a:lnTo>
                <a:lnTo>
                  <a:pt x="0" y="5113820"/>
                </a:lnTo>
                <a:lnTo>
                  <a:pt x="0" y="0"/>
                </a:lnTo>
                <a:close/>
              </a:path>
            </a:pathLst>
          </a:custGeom>
          <a:blipFill>
            <a:blip r:embed="rId3"/>
            <a:stretch>
              <a:fillRect l="0" t="0" r="0" b="0"/>
            </a:stretch>
          </a:blipFill>
        </p:spPr>
      </p:sp>
      <p:grpSp>
        <p:nvGrpSpPr>
          <p:cNvPr name="Group 5" id="5"/>
          <p:cNvGrpSpPr/>
          <p:nvPr/>
        </p:nvGrpSpPr>
        <p:grpSpPr>
          <a:xfrm rot="0">
            <a:off x="12848446" y="3616354"/>
            <a:ext cx="4000500" cy="1887082"/>
            <a:chOff x="0" y="0"/>
            <a:chExt cx="5334000" cy="2516109"/>
          </a:xfrm>
        </p:grpSpPr>
        <p:sp>
          <p:nvSpPr>
            <p:cNvPr name="TextBox 6" id="6"/>
            <p:cNvSpPr txBox="true"/>
            <p:nvPr/>
          </p:nvSpPr>
          <p:spPr>
            <a:xfrm rot="0">
              <a:off x="0" y="1427084"/>
              <a:ext cx="5334000" cy="1089025"/>
            </a:xfrm>
            <a:prstGeom prst="rect">
              <a:avLst/>
            </a:prstGeom>
          </p:spPr>
          <p:txBody>
            <a:bodyPr anchor="t" rtlCol="false" tIns="0" lIns="0" bIns="0" rIns="0">
              <a:spAutoFit/>
            </a:bodyPr>
            <a:lstStyle/>
            <a:p>
              <a:pPr algn="l" marL="0" indent="0" lvl="0">
                <a:lnSpc>
                  <a:spcPts val="6449"/>
                </a:lnSpc>
                <a:spcBef>
                  <a:spcPct val="0"/>
                </a:spcBef>
              </a:pPr>
              <a:r>
                <a:rPr lang="en-US" b="true" sz="5374">
                  <a:solidFill>
                    <a:srgbClr val="090909"/>
                  </a:solidFill>
                  <a:latin typeface="Roboto Bold"/>
                  <a:ea typeface="Roboto Bold"/>
                  <a:cs typeface="Roboto Bold"/>
                  <a:sym typeface="Roboto Bold"/>
                </a:rPr>
                <a:t>Working Log</a:t>
              </a:r>
            </a:p>
          </p:txBody>
        </p:sp>
        <p:sp>
          <p:nvSpPr>
            <p:cNvPr name="TextBox 7" id="7"/>
            <p:cNvSpPr txBox="true"/>
            <p:nvPr/>
          </p:nvSpPr>
          <p:spPr>
            <a:xfrm rot="0">
              <a:off x="0" y="-47625"/>
              <a:ext cx="5334000" cy="417618"/>
            </a:xfrm>
            <a:prstGeom prst="rect">
              <a:avLst/>
            </a:prstGeom>
          </p:spPr>
          <p:txBody>
            <a:bodyPr anchor="t" rtlCol="false" tIns="0" lIns="0" bIns="0" rIns="0">
              <a:spAutoFit/>
            </a:bodyPr>
            <a:lstStyle/>
            <a:p>
              <a:pPr algn="l">
                <a:lnSpc>
                  <a:spcPts val="2554"/>
                </a:lnSpc>
              </a:pPr>
            </a:p>
          </p:txBody>
        </p:sp>
      </p:gr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11675607" y="-24814"/>
            <a:ext cx="6612393" cy="10287000"/>
          </a:xfrm>
          <a:prstGeom prst="rect">
            <a:avLst/>
          </a:prstGeom>
          <a:solidFill>
            <a:srgbClr val="FFBE40"/>
          </a:solidFill>
        </p:spPr>
      </p:sp>
      <p:sp>
        <p:nvSpPr>
          <p:cNvPr name="Freeform 3" id="3"/>
          <p:cNvSpPr/>
          <p:nvPr/>
        </p:nvSpPr>
        <p:spPr>
          <a:xfrm flipH="false" flipV="false" rot="0">
            <a:off x="212871" y="2339190"/>
            <a:ext cx="11301259" cy="5509364"/>
          </a:xfrm>
          <a:custGeom>
            <a:avLst/>
            <a:gdLst/>
            <a:ahLst/>
            <a:cxnLst/>
            <a:rect r="r" b="b" t="t" l="l"/>
            <a:pathLst>
              <a:path h="5509364" w="11301259">
                <a:moveTo>
                  <a:pt x="0" y="0"/>
                </a:moveTo>
                <a:lnTo>
                  <a:pt x="11301259" y="0"/>
                </a:lnTo>
                <a:lnTo>
                  <a:pt x="11301259" y="5509364"/>
                </a:lnTo>
                <a:lnTo>
                  <a:pt x="0" y="5509364"/>
                </a:lnTo>
                <a:lnTo>
                  <a:pt x="0" y="0"/>
                </a:lnTo>
                <a:close/>
              </a:path>
            </a:pathLst>
          </a:custGeom>
          <a:blipFill>
            <a:blip r:embed="rId2"/>
            <a:stretch>
              <a:fillRect l="0" t="0" r="0" b="0"/>
            </a:stretch>
          </a:blipFill>
        </p:spPr>
      </p:sp>
      <p:grpSp>
        <p:nvGrpSpPr>
          <p:cNvPr name="Group 4" id="4"/>
          <p:cNvGrpSpPr/>
          <p:nvPr/>
        </p:nvGrpSpPr>
        <p:grpSpPr>
          <a:xfrm rot="0">
            <a:off x="12981553" y="3206790"/>
            <a:ext cx="4000500" cy="1887082"/>
            <a:chOff x="0" y="0"/>
            <a:chExt cx="5334000" cy="2516109"/>
          </a:xfrm>
        </p:grpSpPr>
        <p:sp>
          <p:nvSpPr>
            <p:cNvPr name="TextBox 5" id="5"/>
            <p:cNvSpPr txBox="true"/>
            <p:nvPr/>
          </p:nvSpPr>
          <p:spPr>
            <a:xfrm rot="0">
              <a:off x="0" y="1427084"/>
              <a:ext cx="5334000" cy="1089025"/>
            </a:xfrm>
            <a:prstGeom prst="rect">
              <a:avLst/>
            </a:prstGeom>
          </p:spPr>
          <p:txBody>
            <a:bodyPr anchor="t" rtlCol="false" tIns="0" lIns="0" bIns="0" rIns="0">
              <a:spAutoFit/>
            </a:bodyPr>
            <a:lstStyle/>
            <a:p>
              <a:pPr algn="l" marL="0" indent="0" lvl="0">
                <a:lnSpc>
                  <a:spcPts val="6449"/>
                </a:lnSpc>
                <a:spcBef>
                  <a:spcPct val="0"/>
                </a:spcBef>
              </a:pPr>
              <a:r>
                <a:rPr lang="en-US" b="true" sz="5374">
                  <a:solidFill>
                    <a:srgbClr val="090909"/>
                  </a:solidFill>
                  <a:latin typeface="Roboto Bold"/>
                  <a:ea typeface="Roboto Bold"/>
                  <a:cs typeface="Roboto Bold"/>
                  <a:sym typeface="Roboto Bold"/>
                </a:rPr>
                <a:t>Working Log</a:t>
              </a:r>
            </a:p>
          </p:txBody>
        </p:sp>
        <p:sp>
          <p:nvSpPr>
            <p:cNvPr name="TextBox 6" id="6"/>
            <p:cNvSpPr txBox="true"/>
            <p:nvPr/>
          </p:nvSpPr>
          <p:spPr>
            <a:xfrm rot="0">
              <a:off x="0" y="-47625"/>
              <a:ext cx="5334000" cy="417618"/>
            </a:xfrm>
            <a:prstGeom prst="rect">
              <a:avLst/>
            </a:prstGeom>
          </p:spPr>
          <p:txBody>
            <a:bodyPr anchor="t" rtlCol="false" tIns="0" lIns="0" bIns="0" rIns="0">
              <a:spAutoFit/>
            </a:bodyPr>
            <a:lstStyle/>
            <a:p>
              <a:pPr algn="l">
                <a:lnSpc>
                  <a:spcPts val="2554"/>
                </a:lnSpc>
              </a:pPr>
            </a:p>
          </p:txBody>
        </p:sp>
      </p:gr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11675607" y="0"/>
            <a:ext cx="6612393" cy="10287000"/>
          </a:xfrm>
          <a:prstGeom prst="rect">
            <a:avLst/>
          </a:prstGeom>
          <a:solidFill>
            <a:srgbClr val="FFBE40"/>
          </a:solidFill>
        </p:spPr>
      </p:sp>
      <p:sp>
        <p:nvSpPr>
          <p:cNvPr name="Freeform 3" id="3"/>
          <p:cNvSpPr/>
          <p:nvPr/>
        </p:nvSpPr>
        <p:spPr>
          <a:xfrm flipH="false" flipV="false" rot="0">
            <a:off x="212871" y="418059"/>
            <a:ext cx="11301259" cy="3602276"/>
          </a:xfrm>
          <a:custGeom>
            <a:avLst/>
            <a:gdLst/>
            <a:ahLst/>
            <a:cxnLst/>
            <a:rect r="r" b="b" t="t" l="l"/>
            <a:pathLst>
              <a:path h="3602276" w="11301259">
                <a:moveTo>
                  <a:pt x="0" y="0"/>
                </a:moveTo>
                <a:lnTo>
                  <a:pt x="11301259" y="0"/>
                </a:lnTo>
                <a:lnTo>
                  <a:pt x="11301259" y="3602277"/>
                </a:lnTo>
                <a:lnTo>
                  <a:pt x="0" y="3602277"/>
                </a:lnTo>
                <a:lnTo>
                  <a:pt x="0" y="0"/>
                </a:lnTo>
                <a:close/>
              </a:path>
            </a:pathLst>
          </a:custGeom>
          <a:blipFill>
            <a:blip r:embed="rId2"/>
            <a:stretch>
              <a:fillRect l="0" t="0" r="0" b="0"/>
            </a:stretch>
          </a:blipFill>
        </p:spPr>
      </p:sp>
      <p:sp>
        <p:nvSpPr>
          <p:cNvPr name="Freeform 4" id="4"/>
          <p:cNvSpPr/>
          <p:nvPr/>
        </p:nvSpPr>
        <p:spPr>
          <a:xfrm flipH="false" flipV="false" rot="0">
            <a:off x="212871" y="4345450"/>
            <a:ext cx="11301259" cy="5523490"/>
          </a:xfrm>
          <a:custGeom>
            <a:avLst/>
            <a:gdLst/>
            <a:ahLst/>
            <a:cxnLst/>
            <a:rect r="r" b="b" t="t" l="l"/>
            <a:pathLst>
              <a:path h="5523490" w="11301259">
                <a:moveTo>
                  <a:pt x="0" y="0"/>
                </a:moveTo>
                <a:lnTo>
                  <a:pt x="11301259" y="0"/>
                </a:lnTo>
                <a:lnTo>
                  <a:pt x="11301259" y="5523491"/>
                </a:lnTo>
                <a:lnTo>
                  <a:pt x="0" y="5523491"/>
                </a:lnTo>
                <a:lnTo>
                  <a:pt x="0" y="0"/>
                </a:lnTo>
                <a:close/>
              </a:path>
            </a:pathLst>
          </a:custGeom>
          <a:blipFill>
            <a:blip r:embed="rId3"/>
            <a:stretch>
              <a:fillRect l="0" t="0" r="0" b="0"/>
            </a:stretch>
          </a:blipFill>
        </p:spPr>
      </p:sp>
      <p:grpSp>
        <p:nvGrpSpPr>
          <p:cNvPr name="Group 5" id="5"/>
          <p:cNvGrpSpPr/>
          <p:nvPr/>
        </p:nvGrpSpPr>
        <p:grpSpPr>
          <a:xfrm rot="0">
            <a:off x="12981553" y="3231604"/>
            <a:ext cx="4000500" cy="1887082"/>
            <a:chOff x="0" y="0"/>
            <a:chExt cx="5334000" cy="2516109"/>
          </a:xfrm>
        </p:grpSpPr>
        <p:sp>
          <p:nvSpPr>
            <p:cNvPr name="TextBox 6" id="6"/>
            <p:cNvSpPr txBox="true"/>
            <p:nvPr/>
          </p:nvSpPr>
          <p:spPr>
            <a:xfrm rot="0">
              <a:off x="0" y="1427084"/>
              <a:ext cx="5334000" cy="1089025"/>
            </a:xfrm>
            <a:prstGeom prst="rect">
              <a:avLst/>
            </a:prstGeom>
          </p:spPr>
          <p:txBody>
            <a:bodyPr anchor="t" rtlCol="false" tIns="0" lIns="0" bIns="0" rIns="0">
              <a:spAutoFit/>
            </a:bodyPr>
            <a:lstStyle/>
            <a:p>
              <a:pPr algn="l" marL="0" indent="0" lvl="0">
                <a:lnSpc>
                  <a:spcPts val="6449"/>
                </a:lnSpc>
                <a:spcBef>
                  <a:spcPct val="0"/>
                </a:spcBef>
              </a:pPr>
              <a:r>
                <a:rPr lang="en-US" b="true" sz="5374">
                  <a:solidFill>
                    <a:srgbClr val="090909"/>
                  </a:solidFill>
                  <a:latin typeface="Roboto Bold"/>
                  <a:ea typeface="Roboto Bold"/>
                  <a:cs typeface="Roboto Bold"/>
                  <a:sym typeface="Roboto Bold"/>
                </a:rPr>
                <a:t>Working Log</a:t>
              </a:r>
            </a:p>
          </p:txBody>
        </p:sp>
        <p:sp>
          <p:nvSpPr>
            <p:cNvPr name="TextBox 7" id="7"/>
            <p:cNvSpPr txBox="true"/>
            <p:nvPr/>
          </p:nvSpPr>
          <p:spPr>
            <a:xfrm rot="0">
              <a:off x="0" y="-47625"/>
              <a:ext cx="5334000" cy="417618"/>
            </a:xfrm>
            <a:prstGeom prst="rect">
              <a:avLst/>
            </a:prstGeom>
          </p:spPr>
          <p:txBody>
            <a:bodyPr anchor="t" rtlCol="false" tIns="0" lIns="0" bIns="0" rIns="0">
              <a:spAutoFit/>
            </a:bodyPr>
            <a:lstStyle/>
            <a:p>
              <a:pPr algn="l">
                <a:lnSpc>
                  <a:spcPts val="2554"/>
                </a:lnSpc>
              </a:pPr>
            </a:p>
          </p:txBody>
        </p:sp>
      </p:gr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0" y="0"/>
            <a:ext cx="6612393" cy="10287000"/>
          </a:xfrm>
          <a:prstGeom prst="rect">
            <a:avLst/>
          </a:prstGeom>
          <a:solidFill>
            <a:srgbClr val="FFBE40"/>
          </a:solidFill>
        </p:spPr>
      </p:sp>
      <p:sp>
        <p:nvSpPr>
          <p:cNvPr name="Freeform 3" id="3"/>
          <p:cNvSpPr/>
          <p:nvPr/>
        </p:nvSpPr>
        <p:spPr>
          <a:xfrm flipH="false" flipV="false" rot="0">
            <a:off x="6794120" y="572869"/>
            <a:ext cx="11301259" cy="3602276"/>
          </a:xfrm>
          <a:custGeom>
            <a:avLst/>
            <a:gdLst/>
            <a:ahLst/>
            <a:cxnLst/>
            <a:rect r="r" b="b" t="t" l="l"/>
            <a:pathLst>
              <a:path h="3602276" w="11301259">
                <a:moveTo>
                  <a:pt x="0" y="0"/>
                </a:moveTo>
                <a:lnTo>
                  <a:pt x="11301259" y="0"/>
                </a:lnTo>
                <a:lnTo>
                  <a:pt x="11301259" y="3602276"/>
                </a:lnTo>
                <a:lnTo>
                  <a:pt x="0" y="3602276"/>
                </a:lnTo>
                <a:lnTo>
                  <a:pt x="0" y="0"/>
                </a:lnTo>
                <a:close/>
              </a:path>
            </a:pathLst>
          </a:custGeom>
          <a:blipFill>
            <a:blip r:embed="rId2"/>
            <a:stretch>
              <a:fillRect l="0" t="0" r="0" b="0"/>
            </a:stretch>
          </a:blipFill>
        </p:spPr>
      </p:sp>
      <p:sp>
        <p:nvSpPr>
          <p:cNvPr name="Freeform 4" id="4"/>
          <p:cNvSpPr/>
          <p:nvPr/>
        </p:nvSpPr>
        <p:spPr>
          <a:xfrm flipH="false" flipV="false" rot="0">
            <a:off x="6794120" y="4500260"/>
            <a:ext cx="11301259" cy="5523490"/>
          </a:xfrm>
          <a:custGeom>
            <a:avLst/>
            <a:gdLst/>
            <a:ahLst/>
            <a:cxnLst/>
            <a:rect r="r" b="b" t="t" l="l"/>
            <a:pathLst>
              <a:path h="5523490" w="11301259">
                <a:moveTo>
                  <a:pt x="0" y="0"/>
                </a:moveTo>
                <a:lnTo>
                  <a:pt x="11301259" y="0"/>
                </a:lnTo>
                <a:lnTo>
                  <a:pt x="11301259" y="5523490"/>
                </a:lnTo>
                <a:lnTo>
                  <a:pt x="0" y="5523490"/>
                </a:lnTo>
                <a:lnTo>
                  <a:pt x="0" y="0"/>
                </a:lnTo>
                <a:close/>
              </a:path>
            </a:pathLst>
          </a:custGeom>
          <a:blipFill>
            <a:blip r:embed="rId3"/>
            <a:stretch>
              <a:fillRect l="0" t="0" r="0" b="0"/>
            </a:stretch>
          </a:blipFill>
        </p:spPr>
      </p:sp>
      <p:grpSp>
        <p:nvGrpSpPr>
          <p:cNvPr name="Group 5" id="5"/>
          <p:cNvGrpSpPr/>
          <p:nvPr/>
        </p:nvGrpSpPr>
        <p:grpSpPr>
          <a:xfrm rot="0">
            <a:off x="1305947" y="3231604"/>
            <a:ext cx="4000500" cy="1887082"/>
            <a:chOff x="0" y="0"/>
            <a:chExt cx="5334000" cy="2516109"/>
          </a:xfrm>
        </p:grpSpPr>
        <p:sp>
          <p:nvSpPr>
            <p:cNvPr name="TextBox 6" id="6"/>
            <p:cNvSpPr txBox="true"/>
            <p:nvPr/>
          </p:nvSpPr>
          <p:spPr>
            <a:xfrm rot="0">
              <a:off x="0" y="1427084"/>
              <a:ext cx="5334000" cy="1089025"/>
            </a:xfrm>
            <a:prstGeom prst="rect">
              <a:avLst/>
            </a:prstGeom>
          </p:spPr>
          <p:txBody>
            <a:bodyPr anchor="t" rtlCol="false" tIns="0" lIns="0" bIns="0" rIns="0">
              <a:spAutoFit/>
            </a:bodyPr>
            <a:lstStyle/>
            <a:p>
              <a:pPr algn="l" marL="0" indent="0" lvl="0">
                <a:lnSpc>
                  <a:spcPts val="6449"/>
                </a:lnSpc>
                <a:spcBef>
                  <a:spcPct val="0"/>
                </a:spcBef>
              </a:pPr>
              <a:r>
                <a:rPr lang="en-US" b="true" sz="5374">
                  <a:solidFill>
                    <a:srgbClr val="090909"/>
                  </a:solidFill>
                  <a:latin typeface="Roboto Bold"/>
                  <a:ea typeface="Roboto Bold"/>
                  <a:cs typeface="Roboto Bold"/>
                  <a:sym typeface="Roboto Bold"/>
                </a:rPr>
                <a:t>Working Log</a:t>
              </a:r>
            </a:p>
          </p:txBody>
        </p:sp>
        <p:sp>
          <p:nvSpPr>
            <p:cNvPr name="TextBox 7" id="7"/>
            <p:cNvSpPr txBox="true"/>
            <p:nvPr/>
          </p:nvSpPr>
          <p:spPr>
            <a:xfrm rot="0">
              <a:off x="0" y="-47625"/>
              <a:ext cx="5334000" cy="417618"/>
            </a:xfrm>
            <a:prstGeom prst="rect">
              <a:avLst/>
            </a:prstGeom>
          </p:spPr>
          <p:txBody>
            <a:bodyPr anchor="t" rtlCol="false" tIns="0" lIns="0" bIns="0" rIns="0">
              <a:spAutoFit/>
            </a:bodyPr>
            <a:lstStyle/>
            <a:p>
              <a:pPr algn="l">
                <a:lnSpc>
                  <a:spcPts val="2554"/>
                </a:lnSpc>
              </a:pPr>
            </a:p>
          </p:txBody>
        </p:sp>
      </p:gr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0" y="0"/>
            <a:ext cx="6612393" cy="10287000"/>
          </a:xfrm>
          <a:prstGeom prst="rect">
            <a:avLst/>
          </a:prstGeom>
          <a:solidFill>
            <a:srgbClr val="FFBE40"/>
          </a:solidFill>
        </p:spPr>
      </p:sp>
      <p:sp>
        <p:nvSpPr>
          <p:cNvPr name="Freeform 3" id="3"/>
          <p:cNvSpPr/>
          <p:nvPr/>
        </p:nvSpPr>
        <p:spPr>
          <a:xfrm flipH="false" flipV="false" rot="0">
            <a:off x="6773870" y="469859"/>
            <a:ext cx="11301259" cy="5523490"/>
          </a:xfrm>
          <a:custGeom>
            <a:avLst/>
            <a:gdLst/>
            <a:ahLst/>
            <a:cxnLst/>
            <a:rect r="r" b="b" t="t" l="l"/>
            <a:pathLst>
              <a:path h="5523490" w="11301259">
                <a:moveTo>
                  <a:pt x="0" y="0"/>
                </a:moveTo>
                <a:lnTo>
                  <a:pt x="11301259" y="0"/>
                </a:lnTo>
                <a:lnTo>
                  <a:pt x="11301259" y="5523490"/>
                </a:lnTo>
                <a:lnTo>
                  <a:pt x="0" y="5523490"/>
                </a:lnTo>
                <a:lnTo>
                  <a:pt x="0" y="0"/>
                </a:lnTo>
                <a:close/>
              </a:path>
            </a:pathLst>
          </a:custGeom>
          <a:blipFill>
            <a:blip r:embed="rId2"/>
            <a:stretch>
              <a:fillRect l="0" t="0" r="0" b="0"/>
            </a:stretch>
          </a:blipFill>
        </p:spPr>
      </p:sp>
      <p:sp>
        <p:nvSpPr>
          <p:cNvPr name="Freeform 4" id="4"/>
          <p:cNvSpPr/>
          <p:nvPr/>
        </p:nvSpPr>
        <p:spPr>
          <a:xfrm flipH="false" flipV="false" rot="0">
            <a:off x="6773870" y="6517745"/>
            <a:ext cx="11301259" cy="2740555"/>
          </a:xfrm>
          <a:custGeom>
            <a:avLst/>
            <a:gdLst/>
            <a:ahLst/>
            <a:cxnLst/>
            <a:rect r="r" b="b" t="t" l="l"/>
            <a:pathLst>
              <a:path h="2740555" w="11301259">
                <a:moveTo>
                  <a:pt x="0" y="0"/>
                </a:moveTo>
                <a:lnTo>
                  <a:pt x="11301259" y="0"/>
                </a:lnTo>
                <a:lnTo>
                  <a:pt x="11301259" y="2740555"/>
                </a:lnTo>
                <a:lnTo>
                  <a:pt x="0" y="2740555"/>
                </a:lnTo>
                <a:lnTo>
                  <a:pt x="0" y="0"/>
                </a:lnTo>
                <a:close/>
              </a:path>
            </a:pathLst>
          </a:custGeom>
          <a:blipFill>
            <a:blip r:embed="rId3"/>
            <a:stretch>
              <a:fillRect l="0" t="0" r="0" b="0"/>
            </a:stretch>
          </a:blipFill>
        </p:spPr>
      </p:sp>
      <p:grpSp>
        <p:nvGrpSpPr>
          <p:cNvPr name="Group 5" id="5"/>
          <p:cNvGrpSpPr/>
          <p:nvPr/>
        </p:nvGrpSpPr>
        <p:grpSpPr>
          <a:xfrm rot="0">
            <a:off x="1305947" y="3231604"/>
            <a:ext cx="4000500" cy="1887082"/>
            <a:chOff x="0" y="0"/>
            <a:chExt cx="5334000" cy="2516109"/>
          </a:xfrm>
        </p:grpSpPr>
        <p:sp>
          <p:nvSpPr>
            <p:cNvPr name="TextBox 6" id="6"/>
            <p:cNvSpPr txBox="true"/>
            <p:nvPr/>
          </p:nvSpPr>
          <p:spPr>
            <a:xfrm rot="0">
              <a:off x="0" y="1427084"/>
              <a:ext cx="5334000" cy="1089025"/>
            </a:xfrm>
            <a:prstGeom prst="rect">
              <a:avLst/>
            </a:prstGeom>
          </p:spPr>
          <p:txBody>
            <a:bodyPr anchor="t" rtlCol="false" tIns="0" lIns="0" bIns="0" rIns="0">
              <a:spAutoFit/>
            </a:bodyPr>
            <a:lstStyle/>
            <a:p>
              <a:pPr algn="l" marL="0" indent="0" lvl="0">
                <a:lnSpc>
                  <a:spcPts val="6449"/>
                </a:lnSpc>
                <a:spcBef>
                  <a:spcPct val="0"/>
                </a:spcBef>
              </a:pPr>
              <a:r>
                <a:rPr lang="en-US" b="true" sz="5374">
                  <a:solidFill>
                    <a:srgbClr val="090909"/>
                  </a:solidFill>
                  <a:latin typeface="Roboto Bold"/>
                  <a:ea typeface="Roboto Bold"/>
                  <a:cs typeface="Roboto Bold"/>
                  <a:sym typeface="Roboto Bold"/>
                </a:rPr>
                <a:t>Working Log</a:t>
              </a:r>
            </a:p>
          </p:txBody>
        </p:sp>
        <p:sp>
          <p:nvSpPr>
            <p:cNvPr name="TextBox 7" id="7"/>
            <p:cNvSpPr txBox="true"/>
            <p:nvPr/>
          </p:nvSpPr>
          <p:spPr>
            <a:xfrm rot="0">
              <a:off x="0" y="-47625"/>
              <a:ext cx="5334000" cy="417618"/>
            </a:xfrm>
            <a:prstGeom prst="rect">
              <a:avLst/>
            </a:prstGeom>
          </p:spPr>
          <p:txBody>
            <a:bodyPr anchor="t" rtlCol="false" tIns="0" lIns="0" bIns="0" rIns="0">
              <a:spAutoFit/>
            </a:bodyPr>
            <a:lstStyle/>
            <a:p>
              <a:pPr algn="l">
                <a:lnSpc>
                  <a:spcPts val="2554"/>
                </a:lnSpc>
              </a:pPr>
            </a:p>
          </p:txBody>
        </p:sp>
      </p:gr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0" y="0"/>
            <a:ext cx="6612393" cy="10287000"/>
          </a:xfrm>
          <a:prstGeom prst="rect">
            <a:avLst/>
          </a:prstGeom>
          <a:solidFill>
            <a:srgbClr val="FFBE40"/>
          </a:solidFill>
        </p:spPr>
      </p:sp>
      <p:sp>
        <p:nvSpPr>
          <p:cNvPr name="Freeform 3" id="3"/>
          <p:cNvSpPr/>
          <p:nvPr/>
        </p:nvSpPr>
        <p:spPr>
          <a:xfrm flipH="false" flipV="false" rot="0">
            <a:off x="7149985" y="1028700"/>
            <a:ext cx="10445412" cy="8434671"/>
          </a:xfrm>
          <a:custGeom>
            <a:avLst/>
            <a:gdLst/>
            <a:ahLst/>
            <a:cxnLst/>
            <a:rect r="r" b="b" t="t" l="l"/>
            <a:pathLst>
              <a:path h="8434671" w="10445412">
                <a:moveTo>
                  <a:pt x="0" y="0"/>
                </a:moveTo>
                <a:lnTo>
                  <a:pt x="10445412" y="0"/>
                </a:lnTo>
                <a:lnTo>
                  <a:pt x="10445412" y="8434671"/>
                </a:lnTo>
                <a:lnTo>
                  <a:pt x="0" y="8434671"/>
                </a:lnTo>
                <a:lnTo>
                  <a:pt x="0" y="0"/>
                </a:lnTo>
                <a:close/>
              </a:path>
            </a:pathLst>
          </a:custGeom>
          <a:blipFill>
            <a:blip r:embed="rId2"/>
            <a:stretch>
              <a:fillRect l="0" t="0" r="0" b="0"/>
            </a:stretch>
          </a:blipFill>
        </p:spPr>
      </p:sp>
      <p:grpSp>
        <p:nvGrpSpPr>
          <p:cNvPr name="Group 4" id="4"/>
          <p:cNvGrpSpPr/>
          <p:nvPr/>
        </p:nvGrpSpPr>
        <p:grpSpPr>
          <a:xfrm rot="0">
            <a:off x="1305947" y="3231604"/>
            <a:ext cx="4000500" cy="1887082"/>
            <a:chOff x="0" y="0"/>
            <a:chExt cx="5334000" cy="2516109"/>
          </a:xfrm>
        </p:grpSpPr>
        <p:sp>
          <p:nvSpPr>
            <p:cNvPr name="TextBox 5" id="5"/>
            <p:cNvSpPr txBox="true"/>
            <p:nvPr/>
          </p:nvSpPr>
          <p:spPr>
            <a:xfrm rot="0">
              <a:off x="0" y="1427084"/>
              <a:ext cx="5334000" cy="1089025"/>
            </a:xfrm>
            <a:prstGeom prst="rect">
              <a:avLst/>
            </a:prstGeom>
          </p:spPr>
          <p:txBody>
            <a:bodyPr anchor="t" rtlCol="false" tIns="0" lIns="0" bIns="0" rIns="0">
              <a:spAutoFit/>
            </a:bodyPr>
            <a:lstStyle/>
            <a:p>
              <a:pPr algn="l" marL="0" indent="0" lvl="0">
                <a:lnSpc>
                  <a:spcPts val="6449"/>
                </a:lnSpc>
                <a:spcBef>
                  <a:spcPct val="0"/>
                </a:spcBef>
              </a:pPr>
              <a:r>
                <a:rPr lang="en-US" b="true" sz="5374">
                  <a:solidFill>
                    <a:srgbClr val="090909"/>
                  </a:solidFill>
                  <a:latin typeface="Roboto Bold"/>
                  <a:ea typeface="Roboto Bold"/>
                  <a:cs typeface="Roboto Bold"/>
                  <a:sym typeface="Roboto Bold"/>
                </a:rPr>
                <a:t>Working Log</a:t>
              </a:r>
            </a:p>
          </p:txBody>
        </p:sp>
        <p:sp>
          <p:nvSpPr>
            <p:cNvPr name="TextBox 6" id="6"/>
            <p:cNvSpPr txBox="true"/>
            <p:nvPr/>
          </p:nvSpPr>
          <p:spPr>
            <a:xfrm rot="0">
              <a:off x="0" y="-47625"/>
              <a:ext cx="5334000" cy="417618"/>
            </a:xfrm>
            <a:prstGeom prst="rect">
              <a:avLst/>
            </a:prstGeom>
          </p:spPr>
          <p:txBody>
            <a:bodyPr anchor="t" rtlCol="false" tIns="0" lIns="0" bIns="0" rIns="0">
              <a:spAutoFit/>
            </a:bodyPr>
            <a:lstStyle/>
            <a:p>
              <a:pPr algn="l">
                <a:lnSpc>
                  <a:spcPts val="2554"/>
                </a:lnSpc>
              </a:pPr>
            </a:p>
          </p:txBody>
        </p:sp>
      </p:gr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bg>
      <p:bgPr>
        <a:solidFill>
          <a:srgbClr val="090909"/>
        </a:solidFill>
      </p:bgPr>
    </p:bg>
    <p:spTree>
      <p:nvGrpSpPr>
        <p:cNvPr id="1" name=""/>
        <p:cNvGrpSpPr/>
        <p:nvPr/>
      </p:nvGrpSpPr>
      <p:grpSpPr>
        <a:xfrm>
          <a:off x="0" y="0"/>
          <a:ext cx="0" cy="0"/>
          <a:chOff x="0" y="0"/>
          <a:chExt cx="0" cy="0"/>
        </a:xfrm>
      </p:grpSpPr>
      <p:grpSp>
        <p:nvGrpSpPr>
          <p:cNvPr name="Group 2" id="2"/>
          <p:cNvGrpSpPr/>
          <p:nvPr/>
        </p:nvGrpSpPr>
        <p:grpSpPr>
          <a:xfrm rot="0">
            <a:off x="1892464" y="2025650"/>
            <a:ext cx="14503072" cy="6235700"/>
            <a:chOff x="0" y="0"/>
            <a:chExt cx="19337429" cy="8314267"/>
          </a:xfrm>
        </p:grpSpPr>
        <p:sp>
          <p:nvSpPr>
            <p:cNvPr name="Freeform 3" id="3"/>
            <p:cNvSpPr/>
            <p:nvPr/>
          </p:nvSpPr>
          <p:spPr>
            <a:xfrm flipH="false" flipV="false" rot="0">
              <a:off x="9176279" y="0"/>
              <a:ext cx="984870" cy="748501"/>
            </a:xfrm>
            <a:custGeom>
              <a:avLst/>
              <a:gdLst/>
              <a:ahLst/>
              <a:cxnLst/>
              <a:rect r="r" b="b" t="t" l="l"/>
              <a:pathLst>
                <a:path h="748501" w="984870">
                  <a:moveTo>
                    <a:pt x="0" y="0"/>
                  </a:moveTo>
                  <a:lnTo>
                    <a:pt x="984871" y="0"/>
                  </a:lnTo>
                  <a:lnTo>
                    <a:pt x="984871" y="748501"/>
                  </a:lnTo>
                  <a:lnTo>
                    <a:pt x="0" y="7485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0" y="2120289"/>
              <a:ext cx="19337429" cy="4162425"/>
            </a:xfrm>
            <a:prstGeom prst="rect">
              <a:avLst/>
            </a:prstGeom>
          </p:spPr>
          <p:txBody>
            <a:bodyPr anchor="t" rtlCol="false" tIns="0" lIns="0" bIns="0" rIns="0">
              <a:spAutoFit/>
            </a:bodyPr>
            <a:lstStyle/>
            <a:p>
              <a:pPr algn="ctr">
                <a:lnSpc>
                  <a:spcPts val="8189"/>
                </a:lnSpc>
              </a:pPr>
              <a:r>
                <a:rPr lang="en-US" sz="6825" b="true">
                  <a:solidFill>
                    <a:srgbClr val="FFFFFF"/>
                  </a:solidFill>
                  <a:latin typeface="Roboto Bold"/>
                  <a:ea typeface="Roboto Bold"/>
                  <a:cs typeface="Roboto Bold"/>
                  <a:sym typeface="Roboto Bold"/>
                </a:rPr>
                <a:t>Vibe Coding không phải là một xu hướng nhất thời, mà là khởi đầu cho kỷ nguyên lập trình bằng ý tưởng. </a:t>
              </a:r>
            </a:p>
          </p:txBody>
        </p:sp>
        <p:sp>
          <p:nvSpPr>
            <p:cNvPr name="TextBox 5" id="5"/>
            <p:cNvSpPr txBox="true"/>
            <p:nvPr/>
          </p:nvSpPr>
          <p:spPr>
            <a:xfrm rot="0">
              <a:off x="0" y="7649422"/>
              <a:ext cx="19337429" cy="669925"/>
            </a:xfrm>
            <a:prstGeom prst="rect">
              <a:avLst/>
            </a:prstGeom>
          </p:spPr>
          <p:txBody>
            <a:bodyPr anchor="t" rtlCol="false" tIns="0" lIns="0" bIns="0" rIns="0">
              <a:spAutoFit/>
            </a:bodyPr>
            <a:lstStyle/>
            <a:p>
              <a:pPr algn="ctr">
                <a:lnSpc>
                  <a:spcPts val="3960"/>
                </a:lnSpc>
              </a:pPr>
              <a:r>
                <a:rPr lang="en-US" b="true" sz="3300">
                  <a:solidFill>
                    <a:srgbClr val="FFBE40"/>
                  </a:solidFill>
                  <a:latin typeface="Roboto Bold"/>
                  <a:ea typeface="Roboto Bold"/>
                  <a:cs typeface="Roboto Bold"/>
                  <a:sym typeface="Roboto Bold"/>
                </a:rPr>
                <a:t>KẾT LUẬN</a:t>
              </a:r>
            </a:p>
          </p:txBody>
        </p:sp>
      </p:grpSp>
    </p:spTree>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bg>
      <p:bgPr>
        <a:solidFill>
          <a:srgbClr val="090909"/>
        </a:solidFill>
      </p:bgPr>
    </p:bg>
    <p:spTree>
      <p:nvGrpSpPr>
        <p:cNvPr id="1" name=""/>
        <p:cNvGrpSpPr/>
        <p:nvPr/>
      </p:nvGrpSpPr>
      <p:grpSpPr>
        <a:xfrm>
          <a:off x="0" y="0"/>
          <a:ext cx="0" cy="0"/>
          <a:chOff x="0" y="0"/>
          <a:chExt cx="0" cy="0"/>
        </a:xfrm>
      </p:grpSpPr>
      <p:grpSp>
        <p:nvGrpSpPr>
          <p:cNvPr name="Group 2" id="2"/>
          <p:cNvGrpSpPr/>
          <p:nvPr/>
        </p:nvGrpSpPr>
        <p:grpSpPr>
          <a:xfrm rot="0">
            <a:off x="1892464" y="1506537"/>
            <a:ext cx="14503072" cy="7273925"/>
            <a:chOff x="0" y="0"/>
            <a:chExt cx="19337429" cy="9698567"/>
          </a:xfrm>
        </p:grpSpPr>
        <p:sp>
          <p:nvSpPr>
            <p:cNvPr name="Freeform 3" id="3"/>
            <p:cNvSpPr/>
            <p:nvPr/>
          </p:nvSpPr>
          <p:spPr>
            <a:xfrm flipH="false" flipV="false" rot="0">
              <a:off x="9176279" y="0"/>
              <a:ext cx="984870" cy="748501"/>
            </a:xfrm>
            <a:custGeom>
              <a:avLst/>
              <a:gdLst/>
              <a:ahLst/>
              <a:cxnLst/>
              <a:rect r="r" b="b" t="t" l="l"/>
              <a:pathLst>
                <a:path h="748501" w="984870">
                  <a:moveTo>
                    <a:pt x="0" y="0"/>
                  </a:moveTo>
                  <a:lnTo>
                    <a:pt x="984871" y="0"/>
                  </a:lnTo>
                  <a:lnTo>
                    <a:pt x="984871" y="748501"/>
                  </a:lnTo>
                  <a:lnTo>
                    <a:pt x="0" y="7485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0" y="2120289"/>
              <a:ext cx="19337429" cy="5546725"/>
            </a:xfrm>
            <a:prstGeom prst="rect">
              <a:avLst/>
            </a:prstGeom>
          </p:spPr>
          <p:txBody>
            <a:bodyPr anchor="t" rtlCol="false" tIns="0" lIns="0" bIns="0" rIns="0">
              <a:spAutoFit/>
            </a:bodyPr>
            <a:lstStyle/>
            <a:p>
              <a:pPr algn="ctr">
                <a:lnSpc>
                  <a:spcPts val="8189"/>
                </a:lnSpc>
              </a:pPr>
              <a:r>
                <a:rPr lang="en-US" sz="6825" b="true">
                  <a:solidFill>
                    <a:srgbClr val="FFFFFF"/>
                  </a:solidFill>
                  <a:latin typeface="Roboto Bold"/>
                  <a:ea typeface="Roboto Bold"/>
                  <a:cs typeface="Roboto Bold"/>
                  <a:sym typeface="Roboto Bold"/>
                </a:rPr>
                <a:t>Lập trình viên sẽ không còn bị giới hạn bởi vốn ngôn ngữ, mà sẽ được tự do sáng tạo dựa trên tư duy logic và khả năng điều phối công nghệ.</a:t>
              </a:r>
            </a:p>
          </p:txBody>
        </p:sp>
        <p:sp>
          <p:nvSpPr>
            <p:cNvPr name="TextBox 5" id="5"/>
            <p:cNvSpPr txBox="true"/>
            <p:nvPr/>
          </p:nvSpPr>
          <p:spPr>
            <a:xfrm rot="0">
              <a:off x="0" y="9033722"/>
              <a:ext cx="19337429" cy="669925"/>
            </a:xfrm>
            <a:prstGeom prst="rect">
              <a:avLst/>
            </a:prstGeom>
          </p:spPr>
          <p:txBody>
            <a:bodyPr anchor="t" rtlCol="false" tIns="0" lIns="0" bIns="0" rIns="0">
              <a:spAutoFit/>
            </a:bodyPr>
            <a:lstStyle/>
            <a:p>
              <a:pPr algn="ctr">
                <a:lnSpc>
                  <a:spcPts val="3960"/>
                </a:lnSpc>
              </a:pPr>
              <a:r>
                <a:rPr lang="en-US" b="true" sz="3300">
                  <a:solidFill>
                    <a:srgbClr val="FFBE40"/>
                  </a:solidFill>
                  <a:latin typeface="Roboto Bold"/>
                  <a:ea typeface="Roboto Bold"/>
                  <a:cs typeface="Roboto Bold"/>
                  <a:sym typeface="Roboto Bold"/>
                </a:rPr>
                <a:t>KẾT</a:t>
              </a:r>
              <a:r>
                <a:rPr lang="en-US" b="true" sz="3300">
                  <a:solidFill>
                    <a:srgbClr val="FFBE40"/>
                  </a:solidFill>
                  <a:latin typeface="Roboto Bold"/>
                  <a:ea typeface="Roboto Bold"/>
                  <a:cs typeface="Roboto Bold"/>
                  <a:sym typeface="Roboto Bold"/>
                </a:rPr>
                <a:t> LUẬN</a:t>
              </a:r>
            </a:p>
          </p:txBody>
        </p:sp>
      </p:grpSp>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1324" r="0" b="-94843"/>
            </a:stretch>
          </a:blipFill>
        </p:spPr>
      </p:sp>
      <p:sp>
        <p:nvSpPr>
          <p:cNvPr name="TextBox 3" id="3"/>
          <p:cNvSpPr txBox="true"/>
          <p:nvPr/>
        </p:nvSpPr>
        <p:spPr>
          <a:xfrm rot="0">
            <a:off x="643950" y="2049450"/>
            <a:ext cx="9460294" cy="2695575"/>
          </a:xfrm>
          <a:prstGeom prst="rect">
            <a:avLst/>
          </a:prstGeom>
        </p:spPr>
        <p:txBody>
          <a:bodyPr anchor="t" rtlCol="false" tIns="0" lIns="0" bIns="0" rIns="0">
            <a:spAutoFit/>
          </a:bodyPr>
          <a:lstStyle/>
          <a:p>
            <a:pPr algn="l">
              <a:lnSpc>
                <a:spcPts val="10590"/>
              </a:lnSpc>
            </a:pPr>
            <a:r>
              <a:rPr lang="en-US" sz="8825" b="true">
                <a:solidFill>
                  <a:srgbClr val="FFFFFF"/>
                </a:solidFill>
                <a:latin typeface="Roboto Bold"/>
                <a:ea typeface="Roboto Bold"/>
                <a:cs typeface="Roboto Bold"/>
                <a:sym typeface="Roboto Bold"/>
              </a:rPr>
              <a:t>Thanks FOR WACTHING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DAHBD51sO-w</dc:identifier>
  <dcterms:modified xsi:type="dcterms:W3CDTF">2011-08-01T06:04:30Z</dcterms:modified>
  <cp:revision>1</cp:revision>
  <dc:title>Copilot Vibe Coding </dc:title>
</cp:coreProperties>
</file>