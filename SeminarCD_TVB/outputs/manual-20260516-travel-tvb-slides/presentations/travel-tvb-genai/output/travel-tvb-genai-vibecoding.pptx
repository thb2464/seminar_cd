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12f9e7ef30435b" /><Relationship Type="http://schemas.openxmlformats.org/officeDocument/2006/relationships/extended-properties" Target="/docProps/app.xml" Id="R44d9ed22933d4f18" /><Relationship Type="http://schemas.openxmlformats.org/officeDocument/2006/relationships/officeDocument" Target="/ppt/presentation.xml" Id="R1568e5c1f69249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9bbbc183fa4dc4"/>
  </p:sldMasterIdLst>
  <p:notesMasterIdLst>
    <p:notesMasterId xmlns:r="http://schemas.openxmlformats.org/officeDocument/2006/relationships" r:id="Rf518212fd2a64ee6"/>
  </p:notesMasterIdLst>
  <p:sldIdLst>
    <p:sldId xmlns:r="http://schemas.openxmlformats.org/officeDocument/2006/relationships" id="256" r:id="R58f1ba12bf1d4c45"/>
    <p:sldId xmlns:r="http://schemas.openxmlformats.org/officeDocument/2006/relationships" id="257" r:id="R399881342ae34d37"/>
    <p:sldId xmlns:r="http://schemas.openxmlformats.org/officeDocument/2006/relationships" id="258" r:id="Rddfdaacacbf24c6e"/>
    <p:sldId xmlns:r="http://schemas.openxmlformats.org/officeDocument/2006/relationships" id="259" r:id="R9e8fb200212243e9"/>
    <p:sldId xmlns:r="http://schemas.openxmlformats.org/officeDocument/2006/relationships" id="260" r:id="R33aca39896b64907"/>
    <p:sldId xmlns:r="http://schemas.openxmlformats.org/officeDocument/2006/relationships" id="261" r:id="R52589944ec2644cc"/>
    <p:sldId xmlns:r="http://schemas.openxmlformats.org/officeDocument/2006/relationships" id="262" r:id="Ra4ed8d02886c4c76"/>
    <p:sldId xmlns:r="http://schemas.openxmlformats.org/officeDocument/2006/relationships" id="263" r:id="R08a259e236854e6c"/>
    <p:sldId xmlns:r="http://schemas.openxmlformats.org/officeDocument/2006/relationships" id="264" r:id="Radd246acddee4753"/>
    <p:sldId xmlns:r="http://schemas.openxmlformats.org/officeDocument/2006/relationships" id="265" r:id="Rb4c50a95c57d424d"/>
    <p:sldId xmlns:r="http://schemas.openxmlformats.org/officeDocument/2006/relationships" id="266" r:id="R4d3b3f023cec4796"/>
    <p:sldId xmlns:r="http://schemas.openxmlformats.org/officeDocument/2006/relationships" id="267" r:id="Rb7680ddc595145b1"/>
    <p:sldId xmlns:r="http://schemas.openxmlformats.org/officeDocument/2006/relationships" id="268" r:id="R116e5ca108cf4bb9"/>
    <p:sldId xmlns:r="http://schemas.openxmlformats.org/officeDocument/2006/relationships" id="269" r:id="R212462dafdc44c12"/>
    <p:sldId xmlns:r="http://schemas.openxmlformats.org/officeDocument/2006/relationships" id="270" r:id="R26e3733d449f4f9a"/>
    <p:sldId xmlns:r="http://schemas.openxmlformats.org/officeDocument/2006/relationships" id="271" r:id="R4363927bd39b4b53"/>
    <p:sldId xmlns:r="http://schemas.openxmlformats.org/officeDocument/2006/relationships" id="272" r:id="Rbe8de2d9ee8241d5"/>
    <p:sldId xmlns:r="http://schemas.openxmlformats.org/officeDocument/2006/relationships" id="273" r:id="R29ba640c4cc6403f"/>
    <p:sldId xmlns:r="http://schemas.openxmlformats.org/officeDocument/2006/relationships" id="274" r:id="R5933214c89e3481a"/>
    <p:sldId xmlns:r="http://schemas.openxmlformats.org/officeDocument/2006/relationships" id="275" r:id="R186c1197a52b460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9bbbc183fa4dc4" /><Relationship Type="http://schemas.openxmlformats.org/officeDocument/2006/relationships/theme" Target="/ppt/theme/theme1.xml" Id="R83418c0d0c6c4f51" /><Relationship Type="http://schemas.openxmlformats.org/officeDocument/2006/relationships/notesMaster" Target="/ppt/notesMasters/notesMaster1.xml" Id="Rf518212fd2a64ee6" /><Relationship Type="http://schemas.openxmlformats.org/officeDocument/2006/relationships/presProps" Target="/ppt/presProps.xml" Id="R7f88a05913c2432c" /><Relationship Type="http://schemas.openxmlformats.org/officeDocument/2006/relationships/viewProps" Target="/ppt/viewProps.xml" Id="R2418fa13894a4c79" /><Relationship Type="http://schemas.openxmlformats.org/officeDocument/2006/relationships/tableStyles" Target="/ppt/tableStyles.xml" Id="R0474da86d8c6445e" /><Relationship Type="http://schemas.openxmlformats.org/officeDocument/2006/relationships/slide" Target="/ppt/slides/slide1.xml" Id="R58f1ba12bf1d4c45" /><Relationship Type="http://schemas.openxmlformats.org/officeDocument/2006/relationships/slide" Target="/ppt/slides/slide2.xml" Id="R399881342ae34d37" /><Relationship Type="http://schemas.openxmlformats.org/officeDocument/2006/relationships/slide" Target="/ppt/slides/slide3.xml" Id="Rddfdaacacbf24c6e" /><Relationship Type="http://schemas.openxmlformats.org/officeDocument/2006/relationships/slide" Target="/ppt/slides/slide4.xml" Id="R9e8fb200212243e9" /><Relationship Type="http://schemas.openxmlformats.org/officeDocument/2006/relationships/slide" Target="/ppt/slides/slide5.xml" Id="R33aca39896b64907" /><Relationship Type="http://schemas.openxmlformats.org/officeDocument/2006/relationships/slide" Target="/ppt/slides/slide6.xml" Id="R52589944ec2644cc" /><Relationship Type="http://schemas.openxmlformats.org/officeDocument/2006/relationships/slide" Target="/ppt/slides/slide7.xml" Id="Ra4ed8d02886c4c76" /><Relationship Type="http://schemas.openxmlformats.org/officeDocument/2006/relationships/slide" Target="/ppt/slides/slide8.xml" Id="R08a259e236854e6c" /><Relationship Type="http://schemas.openxmlformats.org/officeDocument/2006/relationships/slide" Target="/ppt/slides/slide9.xml" Id="Radd246acddee4753" /><Relationship Type="http://schemas.openxmlformats.org/officeDocument/2006/relationships/slide" Target="/ppt/slides/slide10.xml" Id="Rb4c50a95c57d424d" /><Relationship Type="http://schemas.openxmlformats.org/officeDocument/2006/relationships/slide" Target="/ppt/slides/slide11.xml" Id="R4d3b3f023cec4796" /><Relationship Type="http://schemas.openxmlformats.org/officeDocument/2006/relationships/slide" Target="/ppt/slides/slide12.xml" Id="Rb7680ddc595145b1" /><Relationship Type="http://schemas.openxmlformats.org/officeDocument/2006/relationships/slide" Target="/ppt/slides/slide13.xml" Id="R116e5ca108cf4bb9" /><Relationship Type="http://schemas.openxmlformats.org/officeDocument/2006/relationships/slide" Target="/ppt/slides/slide14.xml" Id="R212462dafdc44c12" /><Relationship Type="http://schemas.openxmlformats.org/officeDocument/2006/relationships/slide" Target="/ppt/slides/slide15.xml" Id="R26e3733d449f4f9a" /><Relationship Type="http://schemas.openxmlformats.org/officeDocument/2006/relationships/slide" Target="/ppt/slides/slide16.xml" Id="R4363927bd39b4b53" /><Relationship Type="http://schemas.openxmlformats.org/officeDocument/2006/relationships/slide" Target="/ppt/slides/slide17.xml" Id="Rbe8de2d9ee8241d5" /><Relationship Type="http://schemas.openxmlformats.org/officeDocument/2006/relationships/slide" Target="/ppt/slides/slide18.xml" Id="R29ba640c4cc6403f" /><Relationship Type="http://schemas.openxmlformats.org/officeDocument/2006/relationships/slide" Target="/ppt/slides/slide19.xml" Id="R5933214c89e3481a" /><Relationship Type="http://schemas.openxmlformats.org/officeDocument/2006/relationships/slide" Target="/ppt/slides/slide20.xml" Id="R186c1197a52b46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8a5b84f3d654f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8fa5bbd1bd4461" /><Relationship Type="http://schemas.openxmlformats.org/officeDocument/2006/relationships/notesMaster" Target="/ppt/notesMasters/notesMaster1.xml" Id="R9b3eedb71c8c42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800afeea3e4ec8" /><Relationship Type="http://schemas.openxmlformats.org/officeDocument/2006/relationships/notesMaster" Target="/ppt/notesMasters/notesMaster1.xml" Id="R2cca8a7295f749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e1c73c8470481e" /><Relationship Type="http://schemas.openxmlformats.org/officeDocument/2006/relationships/notesMaster" Target="/ppt/notesMasters/notesMaster1.xml" Id="R9b7b51e6cddd41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758682cbfd41f0" /><Relationship Type="http://schemas.openxmlformats.org/officeDocument/2006/relationships/notesMaster" Target="/ppt/notesMasters/notesMaster1.xml" Id="R46cf904b7bf343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c3389851554e41" /><Relationship Type="http://schemas.openxmlformats.org/officeDocument/2006/relationships/notesMaster" Target="/ppt/notesMasters/notesMaster1.xml" Id="Rac43ce82f3464a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5de3f94f1c48f9" /><Relationship Type="http://schemas.openxmlformats.org/officeDocument/2006/relationships/notesMaster" Target="/ppt/notesMasters/notesMaster1.xml" Id="Rf3c7fbc8e2ed4f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60425137954118" /><Relationship Type="http://schemas.openxmlformats.org/officeDocument/2006/relationships/notesMaster" Target="/ppt/notesMasters/notesMaster1.xml" Id="Rdb661cd2f59c45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78106e59384c86" /><Relationship Type="http://schemas.openxmlformats.org/officeDocument/2006/relationships/notesMaster" Target="/ppt/notesMasters/notesMaster1.xml" Id="R31ad2045824e41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d770cdee394c63" /><Relationship Type="http://schemas.openxmlformats.org/officeDocument/2006/relationships/notesMaster" Target="/ppt/notesMasters/notesMaster1.xml" Id="R364f6e1dcf2e41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aa59e0c36c4c6a" /><Relationship Type="http://schemas.openxmlformats.org/officeDocument/2006/relationships/notesMaster" Target="/ppt/notesMasters/notesMaster1.xml" Id="R4cff8991c63942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9c340bb2c24de8" /><Relationship Type="http://schemas.openxmlformats.org/officeDocument/2006/relationships/notesMaster" Target="/ppt/notesMasters/notesMaster1.xml" Id="R6ce0f55cb9984d2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9698dd5b6f498c" /><Relationship Type="http://schemas.openxmlformats.org/officeDocument/2006/relationships/notesMaster" Target="/ppt/notesMasters/notesMaster1.xml" Id="Reae99b75d10f4a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ffd43cff7b4f01" /><Relationship Type="http://schemas.openxmlformats.org/officeDocument/2006/relationships/notesMaster" Target="/ppt/notesMasters/notesMaster1.xml" Id="R72281ebec15b4e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5e70a879594681" /><Relationship Type="http://schemas.openxmlformats.org/officeDocument/2006/relationships/notesMaster" Target="/ppt/notesMasters/notesMaster1.xml" Id="R1a122019179346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78954efff54f52" /><Relationship Type="http://schemas.openxmlformats.org/officeDocument/2006/relationships/notesMaster" Target="/ppt/notesMasters/notesMaster1.xml" Id="Racf99708333b45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561a37135a94524" /><Relationship Type="http://schemas.openxmlformats.org/officeDocument/2006/relationships/notesMaster" Target="/ppt/notesMasters/notesMaster1.xml" Id="Rd6ddb0f2df70439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862ad03c9954d67" /><Relationship Type="http://schemas.openxmlformats.org/officeDocument/2006/relationships/notesMaster" Target="/ppt/notesMasters/notesMaster1.xml" Id="R02f63cef9f6b476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e20a98ea1c41fd" /><Relationship Type="http://schemas.openxmlformats.org/officeDocument/2006/relationships/notesMaster" Target="/ppt/notesMasters/notesMaster1.xml" Id="Rd7970b03d54f42b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b92020679c44a4f" /><Relationship Type="http://schemas.openxmlformats.org/officeDocument/2006/relationships/notesMaster" Target="/ppt/notesMasters/notesMaster1.xml" Id="Rc30716037f4f478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c3bec5fbdf14ebd" /><Relationship Type="http://schemas.openxmlformats.org/officeDocument/2006/relationships/notesMaster" Target="/ppt/notesMasters/notesMaster1.xml" Id="R370d9f282d7f49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a284ac5a0142f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dc68647e3ad4fe1" /><Relationship Type="http://schemas.openxmlformats.org/officeDocument/2006/relationships/slideLayout" Target="/ppt/slideLayouts/slideLayout2.xml" Id="Ref49019d5fa24f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49019d5fa24f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dc4103f78f4726" /><Relationship Type="http://schemas.openxmlformats.org/officeDocument/2006/relationships/image" Target="/ppt/media/image.png" Id="R9ab2b1e0c8d848d9" /><Relationship Type="http://schemas.openxmlformats.org/officeDocument/2006/relationships/image" Target="/ppt/media/image.svg" Id="Rb17691c6e49e484b" /><Relationship Type="http://schemas.openxmlformats.org/officeDocument/2006/relationships/image" Target="/ppt/media/image2.png" Id="R86e5e1e4c08743fb" /><Relationship Type="http://schemas.openxmlformats.org/officeDocument/2006/relationships/image" Target="/ppt/media/image2.svg" Id="R10d5718e923d4ba7" /><Relationship Type="http://schemas.openxmlformats.org/officeDocument/2006/relationships/image" Target="/ppt/media/image3.png" Id="Reff60e05fed54335" /><Relationship Type="http://schemas.openxmlformats.org/officeDocument/2006/relationships/image" Target="/ppt/media/image3.svg" Id="R6ecfada8d7074e83" /><Relationship Type="http://schemas.openxmlformats.org/officeDocument/2006/relationships/notesSlide" Target="/ppt/notesSlides/notesSlide1.xml" Id="R02478bf97c464a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c9beaa33c548de" /><Relationship Type="http://schemas.openxmlformats.org/officeDocument/2006/relationships/notesSlide" Target="/ppt/notesSlides/notesSlide2.xml" Id="Rbaaa1fb173844d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e747c0f71644a1" /><Relationship Type="http://schemas.openxmlformats.org/officeDocument/2006/relationships/notesSlide" Target="/ppt/notesSlides/notesSlide3.xml" Id="Rc42724b1254f47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c35f3d1fb243c2" /><Relationship Type="http://schemas.openxmlformats.org/officeDocument/2006/relationships/notesSlide" Target="/ppt/notesSlides/notesSlide4.xml" Id="R87f217c17b684d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e4d382231549e5" /><Relationship Type="http://schemas.openxmlformats.org/officeDocument/2006/relationships/image" Target="/ppt/media/image4.png" Id="Rd9349abb659e4cb1" /><Relationship Type="http://schemas.openxmlformats.org/officeDocument/2006/relationships/image" Target="/ppt/media/image4.svg" Id="R8c9c0cd4c9bf4e4c" /><Relationship Type="http://schemas.openxmlformats.org/officeDocument/2006/relationships/image" Target="/ppt/media/image5.png" Id="Rc15a194e77174fe6" /><Relationship Type="http://schemas.openxmlformats.org/officeDocument/2006/relationships/image" Target="/ppt/media/image5.svg" Id="R82a589893c70496e" /><Relationship Type="http://schemas.openxmlformats.org/officeDocument/2006/relationships/image" Target="/ppt/media/image6.png" Id="R1759e8c6830f42e2" /><Relationship Type="http://schemas.openxmlformats.org/officeDocument/2006/relationships/image" Target="/ppt/media/image6.svg" Id="Rf00891534da949d3" /><Relationship Type="http://schemas.openxmlformats.org/officeDocument/2006/relationships/image" Target="/ppt/media/image7.png" Id="Rf0e743e6b0f14600" /><Relationship Type="http://schemas.openxmlformats.org/officeDocument/2006/relationships/image" Target="/ppt/media/image7.svg" Id="Rfd6e87034c5a4de5" /><Relationship Type="http://schemas.openxmlformats.org/officeDocument/2006/relationships/notesSlide" Target="/ppt/notesSlides/notesSlide5.xml" Id="Rfa45671fd8d544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dbda2839ae4a83" /><Relationship Type="http://schemas.openxmlformats.org/officeDocument/2006/relationships/notesSlide" Target="/ppt/notesSlides/notesSlide6.xml" Id="R88bfe6ab2c3349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b5ea60c84642a4" /><Relationship Type="http://schemas.openxmlformats.org/officeDocument/2006/relationships/notesSlide" Target="/ppt/notesSlides/notesSlide7.xml" Id="R221895fea97c43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54bed2f598437a" /><Relationship Type="http://schemas.openxmlformats.org/officeDocument/2006/relationships/notesSlide" Target="/ppt/notesSlides/notesSlide8.xml" Id="Rc4f43b65c8cc4f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903a6be7a749bb" /><Relationship Type="http://schemas.openxmlformats.org/officeDocument/2006/relationships/notesSlide" Target="/ppt/notesSlides/notesSlide9.xml" Id="R3d95a1b83a1c44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e807a330634b70" /><Relationship Type="http://schemas.openxmlformats.org/officeDocument/2006/relationships/notesSlide" Target="/ppt/notesSlides/notesSlide10.xml" Id="R0dbeaed2649943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ce2ec785464944" /><Relationship Type="http://schemas.openxmlformats.org/officeDocument/2006/relationships/notesSlide" Target="/ppt/notesSlides/notesSlide11.xml" Id="Rcbe41cfb79c544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f9f1f4e7dd46ce" /><Relationship Type="http://schemas.openxmlformats.org/officeDocument/2006/relationships/notesSlide" Target="/ppt/notesSlides/notesSlide12.xml" Id="R0e0c2936191644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96b6dcce464f92" /><Relationship Type="http://schemas.openxmlformats.org/officeDocument/2006/relationships/notesSlide" Target="/ppt/notesSlides/notesSlide13.xml" Id="Rcf503f09065f4f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987cdb0b3b441a" /><Relationship Type="http://schemas.openxmlformats.org/officeDocument/2006/relationships/notesSlide" Target="/ppt/notesSlides/notesSlide14.xml" Id="Rc65cdf214a6a49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762d7b410d4ab7" /><Relationship Type="http://schemas.openxmlformats.org/officeDocument/2006/relationships/notesSlide" Target="/ppt/notesSlides/notesSlide15.xml" Id="R678e36f8f61a470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eaeb11a63249f8" /><Relationship Type="http://schemas.openxmlformats.org/officeDocument/2006/relationships/notesSlide" Target="/ppt/notesSlides/notesSlide16.xml" Id="R69d9513502cc4b2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3e614ea2274917" /><Relationship Type="http://schemas.openxmlformats.org/officeDocument/2006/relationships/notesSlide" Target="/ppt/notesSlides/notesSlide17.xml" Id="R0716ce9dfea742d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13204893654f49" /><Relationship Type="http://schemas.openxmlformats.org/officeDocument/2006/relationships/notesSlide" Target="/ppt/notesSlides/notesSlide18.xml" Id="Ra560ca8fc118499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33fac12e234ce9" /><Relationship Type="http://schemas.openxmlformats.org/officeDocument/2006/relationships/notesSlide" Target="/ppt/notesSlides/notesSlide19.xml" Id="R94b5d71536af441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f32501713245b8" /><Relationship Type="http://schemas.openxmlformats.org/officeDocument/2006/relationships/notesSlide" Target="/ppt/notesSlides/notesSlide20.xml" Id="R20838ec380ae456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5C1F56-D0CA-4556-BA30-9A7BB74C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ACBB2-EB34-4815-87C1-A37F9186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12132-2F06-4683-A29D-62B436BE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396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FDBF6-2DF7-472D-9BD8-35239CB7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2390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049"/>
          </a:solidFill>
          <a:ln xmlns:a="http://schemas.openxmlformats.org/drawingml/2006/main" w="9525">
            <a:solidFill>
              <a:srgbClr val="5E7D7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6E35A-222B-4E51-A650-9116E561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4E0B2-5A56-4AA4-9AE3-B7E90A6B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97155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C26BC-193B-4E1C-914B-B6090038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43100"/>
            <a:ext cx="232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0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ADE9C-1ABE-45DC-A63C-8415B05F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781050"/>
            <a:ext cx="190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0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2b1e0c8d848d9">
            <a:extLst>
              <a:ext uri="{96DAC541-7B7A-43D3-8B79-37D633B846F1}">
                <asvg:svgBlip xmlns:asvg="http://schemas.microsoft.com/office/drawing/2016/SVG/main" r:embed="Rb17691c6e49e48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96375" y="11430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5e1e4c08743fb">
            <a:extLst>
              <a:ext uri="{96DAC541-7B7A-43D3-8B79-37D633B846F1}">
                <asvg:svgBlip xmlns:asvg="http://schemas.microsoft.com/office/drawing/2016/SVG/main" r:embed="R10d5718e923d4b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0" y="23622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60e05fed54335">
            <a:extLst>
              <a:ext uri="{96DAC541-7B7A-43D3-8B79-37D633B846F1}">
                <asvg:svgBlip xmlns:asvg="http://schemas.microsoft.com/office/drawing/2016/SVG/main" r:embed="R6ecfada8d7074e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05900" y="39433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FA8BE1-B027-4E09-9F41-2F66FFC4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D0C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D0C8"/>
                </a:solidFill>
                <a:latin typeface="Aptos"/>
                <a:ea typeface="Aptos"/>
                <a:cs typeface="Aptos"/>
              </a:rPr>
              <a:t>SEMINAR CHUYÊN ĐỀ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2517C-ED9B-49A5-AC73-9FF59F04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858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Ứng dụng GenAI để xây dựng website bán tour du lịch.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8C7B0-E4AC-4E9C-AE70-853FFB54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619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2D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2DF"/>
                </a:solidFill>
                <a:latin typeface="Aptos"/>
                <a:ea typeface="Aptos"/>
                <a:cs typeface="Aptos"/>
              </a:rPr>
              <a:t>Sườn thuyết trình hệ thống: nghiệp vụ, kiến trúc hiện tại, quy trình prompt-to-code theo SDLC, kết quả và hướng phát triển.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2C10B-6E73-48E2-B0AD-EB72A3AF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5ADBF-E732-4B67-8C5E-9C52F21D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88F2A5-72E1-442E-8F2E-93B2CCE4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819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React + Vite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CC696-58C6-4E9E-A826-303BE3E0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8192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DD0C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DD0C8"/>
                </a:solidFill>
                <a:latin typeface="Aptos"/>
                <a:ea typeface="Aptos"/>
                <a:cs typeface="Aptos"/>
              </a:rPr>
              <a:t>giao diện đặt tour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D2B23-2FC3-4DFA-8D57-9480F140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1435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E854F1-84C6-4611-A0B4-CBBE0EF6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124450"/>
            <a:ext cx="2105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Kong + Services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974A32-FB46-44B1-B32D-313ACD0C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476875"/>
            <a:ext cx="2105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DD0C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DD0C8"/>
                </a:solidFill>
                <a:latin typeface="Aptos"/>
                <a:ea typeface="Aptos"/>
                <a:cs typeface="Aptos"/>
              </a:rPr>
              <a:t>API gateway và miền nghiệp vụ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5168AF-68BE-4771-A5E0-B86F2E16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435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3456A6-742D-455C-879F-4381BB28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24450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RAG Chatbot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00B7BC-DFF3-4E55-827B-60D11636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476875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DD0C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DD0C8"/>
                </a:solidFill>
                <a:latin typeface="Aptos"/>
                <a:ea typeface="Aptos"/>
                <a:cs typeface="Aptos"/>
              </a:rPr>
              <a:t>tư vấn tour bằng GenAI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30A8D3-A76C-48BB-9122-C651B56D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D0C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D0C8"/>
                </a:solidFill>
                <a:latin typeface="Aptos"/>
                <a:ea typeface="Aptos"/>
                <a:cs typeface="Aptos"/>
              </a:rPr>
              <a:t>Nhóm thực hiện: ...  •  GVHD: ...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48B33E-2C7E-4FFB-884C-8AFCD95F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DD0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DD0C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270442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F58DD0-9764-4762-A683-9DD96A7B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FAF71-EE98-47A0-86A2-637A09C0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FFA28-76AA-4824-A657-F00D073E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8600"/>
            <a:ext cx="1476375" cy="6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7C64CA6A-9A18-42DE-8370-783355E4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DA310A39-3EF6-4D2A-9099-330FF6A1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AGENDA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89DD2-1828-43CF-95B4-F0B84816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DFD28-D831-4857-80A6-E5E3D6A0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Travel TVB • GenAI/Vibe 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534C0-701F-4C87-A571-4E3A6C7A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2DB64-EE59-4D2F-B4AD-DAAF6D2A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Câu chuyện đi từ bài toán du lịch đến cách GenAI tham gia xây dựng hệ thống.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0E1A6-48B9-4B08-8996-292ACC01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94BD7-55B9-4CE6-A9E6-EDEF3B51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0E876-5847-489E-A6D1-03889B77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716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Tổng quan đề tài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DDB5E-D446-482D-AC8C-61E85BD4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907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Bối cảnh, ý tưởng Vibe Coding/GenAI và mục tiêu sản phẩm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52351-CD11-4287-BC05-856C3F0D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DCFC8-7A06-4604-B74B-5C43B6DB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527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63225-63E1-4DE2-B03A-265A2E81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193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Nghiệp vụ hệ thống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C67C0-2EB4-46CE-B3F2-09F2AA4E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384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Tác nhân, chức năng chính, luồng đặt tour và chatbot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C68DB-9CED-4915-AB01-B06B1782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CFA902-A2B5-40A5-BA0A-63216212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04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CF785-40FD-4E48-B4F5-A8CD277E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670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Kiến trúc hiện tại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59895-37ED-43BB-BA49-F90376BB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861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Frontend, gateway, service, dữ liệu và tích hợp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D178A-B2FF-424B-8398-145E6000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256EF4-616E-4F12-976B-FF7227FD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9ACFA8-AA8F-4024-8423-7CDD7CB9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147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Phương pháp GenAI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8EFD35-91A5-48A5-BBB3-EE60D05E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338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Prompt-to-code theo SDLC và kỹ thuật prompt đã dùng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E890A4-D946-4118-9181-85648468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1DF84C-6839-4394-83C5-69D56754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958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5B7C31-94D3-4EF7-970A-9EE8C17B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624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Kết quả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36E0C1-7590-496A-A1C3-060BB58D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815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Sản phẩm, giá trị đạt được, hạn chế còn lại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0F7DEC-B7A9-43C4-B452-DDEBF0A1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FCA179-D492-4928-BB81-870C9753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435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6736F8-BF16-4C03-975C-632C48BF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101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Phương hướng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0632C4-2D44-4190-B923-3302F09B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292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Quan sát hệ thống, chất lượng, cá nhân hóa và mở rộng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8767B1-418C-43E1-A658-EC26F456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81050"/>
            <a:ext cx="7239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C430BA-CCCE-42E3-A00D-0E4B9408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447800"/>
            <a:ext cx="419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PROMPT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CODE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TEST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DEPLOY</a:t>
            </a:r>
          </a:p>
        </p:txBody>
      </p:sp>
    </p:spTree>
    <p:extLst>
      <p:ext uri="{BB962C8B-B14F-4D97-AF65-F5344CB8AC3E}">
        <p14:creationId xmlns:p14="http://schemas.microsoft.com/office/powerpoint/2010/main" val="6229496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766FD8-BF79-4A3D-A241-4C78912F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B03DB-14C4-4A1C-93FA-234E9DF7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E2381-6091-49AC-9244-992417C0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8600"/>
            <a:ext cx="1476375" cy="6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160B7F31-703F-4A8A-A8DD-05F6FCFF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E6967DEC-9156-49DE-9538-61477B23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TỔNG QUAN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E21BE-9BB9-433C-BF97-C215E1CD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37BC2-0C72-42A4-AF02-13208ED0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Travel TVB • GenAI/Vibe 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23971-1403-4949-8E45-EBA25019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B944B-FFC9-46CB-B95A-EE29D476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Đề tài biến nhu cầu đặt tour trực tuyến thành một sản phẩm web có AI hỗ trợ.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5E94E-B3B3-4CE7-AF60-4A87F0E9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2076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AB7BE-193A-44E2-A884-A5578112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3AE50-ACDF-4DD8-8EC7-2C0C838B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76525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Prompt nghiệp vụ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41DF0-CD50-4BD5-A5C6-014825C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527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Mô tả website bán tour, actor, chức năng, ràng buộc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30A9F-C791-44A8-8D82-042832F8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051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675D1-14D5-4EDE-9D77-BDA5BE40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67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FD256-F18F-4A47-ADCB-A4FB7D75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895600"/>
            <a:ext cx="2076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CAD74-F8FA-43FB-919F-A583CDF0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099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E95118-ACA2-4776-9A31-61058D02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019425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AI phân tích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BE0061-2ADB-4FE4-BDF4-44D321CE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2956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Chia nhỏ yêu cầu thành flow, component, API, 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CA2F1E-D98A-4C39-9F55-FC7CDD38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4480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2BB2BC-0081-4412-999B-DB1D865C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09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51F839-36C1-4898-B388-FB47F9BE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2076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01B74E-8DCA-4F7A-9ED7-F8299FB2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67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A1CE67-CDA7-4565-B6EF-5EE9201C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76525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Sinh/chỉnh 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DBB892-F64B-4E67-82F8-0280966B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527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Tạo frontend, backend, test, config theo bối cảnh repo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129B0A-1A73-4D9F-8C15-167E0225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48B64-659B-42B6-B47A-0D3E9BC4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067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C803D3-A480-4DB8-8615-2D38A48F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895600"/>
            <a:ext cx="2076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D51514-5DA4-45FB-9066-E1D4CA44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0099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FB2110-3133-47B6-972F-FC7ADEA4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19425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Chạy &amp; sửa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4B67D5-3A01-4CA3-9C70-816823B1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956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Dựa trên lỗi build/test để prompt lại và hoàn thiện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FF94FF-27E3-4F19-9C0F-A4962771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Điểm nhấn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EC6DFD-5EFD-41DF-BDEC-30D41E93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530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GenAI không thay thế SDLC; GenAI làm vòng lặp SDLC ngắn hơn, giàu phản hồi hơn và dễ kiểm chứng hơn.</a:t>
            </a:r>
          </a:p>
        </p:txBody>
      </p:sp>
    </p:spTree>
    <p:extLst>
      <p:ext uri="{BB962C8B-B14F-4D97-AF65-F5344CB8AC3E}">
        <p14:creationId xmlns:p14="http://schemas.microsoft.com/office/powerpoint/2010/main" val="14820191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62E598-89EB-4845-896E-03B675BA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9EC3D-59A1-450E-92A6-E3879EE3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CA560-9711-4856-AE19-EEE5A1BD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8600"/>
            <a:ext cx="1476375" cy="6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AFCCC5FE-5AE7-4D33-83EB-E79C4909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FB0ED260-5CF6-403E-98D0-A95CE85F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MỤC TIÊU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1E445-AC56-4605-B544-8FA4AC89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7F1E8-66E3-4E33-ACF9-1B4F14A8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Travel TVB • GenAI/Vibe 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70FAF-C684-471E-9D9C-0864923E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2CA9C-A912-475F-8EA3-4C4C99E2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Hệ thống không chỉ bán tour, mà còn hỗ trợ vận hành nội dung, booking, thanh toán và tư vấn.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C9203-4303-4D89-8496-993D358C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4191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D4C08-40D9-4BA1-A96D-0E826D04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789F1-BA6D-43F7-9F18-AF395A9C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95525"/>
            <a:ext cx="386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Khám phá tour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EA442-1A34-433D-8D1D-4B7CBA61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386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Danh sách, tìm kiếm, lọc, chi tiết lịch trình và giá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BBC48-D4F9-43DF-912E-F5CE8EFD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52650"/>
            <a:ext cx="4191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F776A-2FB9-4F1F-963B-2BCEAA00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526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ED90E3-25DB-4DF9-BDFF-B4006B45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95525"/>
            <a:ext cx="386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Đặt &amp; thanh toán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1277C-A35B-4FBE-9D9C-94EB6B97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52700"/>
            <a:ext cx="386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Tạo booking, lưu thông tin liên hệ, trả kết quả VNPay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97980-28DB-43D8-9622-006A137B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4191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510A6-832E-45A1-A1E0-2AF93F5F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289B72-8E9F-400C-8234-342AEC0F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00475"/>
            <a:ext cx="386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Quản trị nội dung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FDDACD-4BD3-4E46-A4CC-EC3FE88D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386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Tour, danh mục, blog, FAQ, hero sections và newsletter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CCB238-CD38-4E60-8639-D7F979A8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57600"/>
            <a:ext cx="4191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03F550-CD17-4FBA-B8D7-2331EF4E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5760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19D3C-3631-4250-B85B-023B9095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00475"/>
            <a:ext cx="386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Tư vấn bằng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7A64B2-F48D-48A0-AF8E-073B21D6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386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Chatbot trả lời dựa trên dữ liệu tour đã index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018E09-DE94-42CE-A8E5-FE5F1A15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Mục tiêu sản phẩm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4D6A38-00C9-4794-BA17-95CE7F2A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006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Khách hàng có thể đi từ khám phá tour đến thanh toán; đội vận hành có công cụ quản trị nội dung và theo dõi nghiệp vụ.</a:t>
            </a:r>
          </a:p>
        </p:txBody>
      </p:sp>
    </p:spTree>
    <p:extLst>
      <p:ext uri="{BB962C8B-B14F-4D97-AF65-F5344CB8AC3E}">
        <p14:creationId xmlns:p14="http://schemas.microsoft.com/office/powerpoint/2010/main" val="5049156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D121CB-EFFD-4B43-9C23-38877073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27D25-FC85-48FC-8FF2-0C1D69A7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86A44-7AF5-4DE9-B689-7F3BCC0D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8600"/>
            <a:ext cx="1476375" cy="6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E222A318-1645-494C-8D76-CAA58516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7F5AD75E-5471-4F5A-87B3-91643EAF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TÁC NHÂN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7921E-5631-4F30-9A41-64D88C6A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D71F6-B6C8-42F0-9FF1-7E21A2D8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Travel TVB • GenAI/Vibe 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8573C-6BE9-4A45-85DA-777531D9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E1B15-8045-40F4-9244-204BA743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Bốn nhóm sử dụng quyết định phạm vi nghiệp vụ của hệ thống.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212E7-956D-430C-B0CF-5F109436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0574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294BD-4090-478A-9CA9-0C3CC865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49abb659e4cb1">
            <a:extLst>
              <a:ext uri="{96DAC541-7B7A-43D3-8B79-37D633B846F1}">
                <asvg:svgBlip xmlns:asvg="http://schemas.microsoft.com/office/drawing/2016/SVG/main" r:embed="R8c9c0cd4c9bf4e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33475" y="26765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18A6B-9DFF-428B-8031-161E67E1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Khách hàng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8E42C-E1A6-4509-8B57-6A1E4D61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1562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Tìm tour, xem chi tiết, đặt tour, thanh toán, hỏi chatbot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67DF5-4062-43A1-ACB2-2196CC5C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20574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61AC8-2BA2-47AA-AB7F-336ECD46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336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a194e77174fe6">
            <a:extLst>
              <a:ext uri="{96DAC541-7B7A-43D3-8B79-37D633B846F1}">
                <asvg:svgBlip xmlns:asvg="http://schemas.microsoft.com/office/drawing/2016/SVG/main" r:embed="R82a589893c7049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43325" y="26765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D2E6C1-DCC6-4126-B665-B6F4263E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575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Quản trị viên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25F1E-5804-49F8-93CC-443FCE0A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57600"/>
            <a:ext cx="1562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Quản lý tour, danh mục, nội dung, người dùng và FAQ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01695-47FB-4F32-8E30-47EF0F8A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66950"/>
            <a:ext cx="20574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C99B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08D39-21F5-4B53-95DB-B4516CF2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336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9525">
            <a:solidFill>
              <a:srgbClr val="C99B3D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9e8c6830f42e2">
            <a:extLst>
              <a:ext uri="{96DAC541-7B7A-43D3-8B79-37D633B846F1}">
                <asvg:svgBlip xmlns:asvg="http://schemas.microsoft.com/office/drawing/2016/SVG/main" r:embed="Rf00891534da949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53175" y="26765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A5C52-5BD6-4467-8E8F-3A6DD383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575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Nhân viên vận hành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F8545E-8702-4568-A0F0-04537E0C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57600"/>
            <a:ext cx="1562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Theo dõi booking, xử lý trạng thái và hỗ trợ khách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DFB82E-148C-4DE9-9D28-6793694A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20574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4051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F7BD51-1E72-4D73-B131-3662EC8B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336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9525">
            <a:solidFill>
              <a:srgbClr val="40515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743e6b0f14600">
            <a:extLst>
              <a:ext uri="{96DAC541-7B7A-43D3-8B79-37D633B846F1}">
                <asvg:svgBlip xmlns:asvg="http://schemas.microsoft.com/office/drawing/2016/SVG/main" r:embed="Rfd6e87034c5a4d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63025" y="26765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8F69EF-4C52-4EFA-90A6-7AAC003B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575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AI Chatbot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7729ED-FAE2-48FD-8402-295D2722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57600"/>
            <a:ext cx="1562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Tư vấn tour, trả lời FAQ, gợi ý thông tin liên quan</a:t>
            </a:r>
          </a:p>
        </p:txBody>
      </p:sp>
    </p:spTree>
    <p:extLst>
      <p:ext uri="{BB962C8B-B14F-4D97-AF65-F5344CB8AC3E}">
        <p14:creationId xmlns:p14="http://schemas.microsoft.com/office/powerpoint/2010/main" val="2198982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F204D5-7CC2-4513-BDB8-F3B9B804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E2E05-210D-45D1-8ACA-4C236080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C7970-8C5D-4BBC-85E2-48236053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8600"/>
            <a:ext cx="1476375" cy="6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FFC4C72B-8825-4470-979C-F16A3766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69C4A834-A8A7-4F91-A670-FFDD3E82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NGHIỆP VỤ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8CCCB-BF9A-4C98-BF00-A666E4E7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7A729-6D00-448A-9F6F-EE550051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Travel TVB • GenAI/Vibe 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B279C-335E-40B4-AD50-81913D83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76CE3-4531-479B-B42E-7E9FDE99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477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Các năng lực cốt lõi kết nối thành hành trình mua tour khép kín.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8B7F8-F059-4587-A67B-36D5480B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4F5E0-E184-4F9F-9DAE-DF44FF12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A3277-7AD5-4AAD-B4BE-8232A1DD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002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Khám phá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52ED4-B45E-4991-8B56-448BEB3E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0980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Home, Tours, Tour Detail, Blog/FAQ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6EEA6-4386-4738-9BEB-1FD551FA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9B3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9B3D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68308-E4C5-4D66-8B6A-6D24F55D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4320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C99B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1606F-3FE0-4439-AB8C-EF9C11C1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6702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Tài khoản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0B2B3-F63F-4743-98D9-7119D896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765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Register, Login, Profile, JWT qua gateway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B5B57C-F543-4378-B607-8794DB51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C4C158-1082-40EE-A3BE-A1E4056B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099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F16830-414D-4FCD-8BBC-02BD1B5C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337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Giao dịch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6829EF-2D1C-4DC2-B3B9-E6DA199A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4330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Booking Ticket, Payment Return, VNPay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D22274-0004-42A1-9538-6CDB1456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515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05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B5BAFA-AB95-4069-9F9D-928B3698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7670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4051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880BB8-19A5-4303-B25D-584E2484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0052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Vận hành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C77D52-DD4C-48C2-917D-AD5A2730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Content management, catalog data, admin APIs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93CE15-E181-411A-A382-0315F135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2B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E2B2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C04799-22AF-4CC6-833C-E4A37DE3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434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9525">
            <a:solidFill>
              <a:srgbClr val="0E2B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D6D2D9-C30D-45B5-AED1-A0764411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672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hỗ trợ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429E7A-6DCC-45DC-800B-2C83128A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7680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8E4D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E4DD"/>
                </a:solidFill>
                <a:latin typeface="Aptos"/>
                <a:ea typeface="Aptos"/>
                <a:cs typeface="Aptos"/>
              </a:rPr>
              <a:t>Chatbot widget, RAG, ChromaDB, Gemini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7DCF81-DA07-4C8B-9499-EFB94789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86000"/>
            <a:ext cx="1524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712B94-5D3D-4681-931A-D5AC7A35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Business backbone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500A61-822D-415D-9C9E-FDE856E6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57550"/>
            <a:ext cx="104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Tour → Booking → Payment → Support</a:t>
            </a:r>
          </a:p>
        </p:txBody>
      </p:sp>
    </p:spTree>
    <p:extLst>
      <p:ext uri="{BB962C8B-B14F-4D97-AF65-F5344CB8AC3E}">
        <p14:creationId xmlns:p14="http://schemas.microsoft.com/office/powerpoint/2010/main" val="11661144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315609-C104-4263-AAC3-E789A081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E7E57-B37C-4D9D-B98C-1F904644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C0721-29A2-4CC1-BC29-FBA49D35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8600"/>
            <a:ext cx="1476375" cy="6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861CAE50-AE11-49B6-8405-767C0892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807EB034-DA31-4EA1-8080-23EEAD40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BOOKING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A4093-25AE-49E7-BEF3-BFBE8BE4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2ADF6-BAA0-46D7-8D6B-6E6C09B5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Travel TVB • GenAI/Vibe 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57BCC-3367-49D9-9E44-B027B78C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32746-642F-4CCB-AC2F-C6D71CC7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Luồng đặt tour đi qua xác thực, danh mục tour, booking và thanh toán VNPay.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E46D2-68E6-4D0E-A7AB-9BA4A932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1447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4890E-123C-4161-8198-9C8B2131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0036E-7931-4C27-BAA0-74D82822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Khách chọn tour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72378-101C-4191-9A53-2A46601E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Tours/TourDetail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D080D-DCBB-48BC-B8BD-9779C473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90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DE80F-FA34-4158-B7FD-55005109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152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35A2A-C27D-4315-B306-AE89E10A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05100"/>
            <a:ext cx="1447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F04522-7A3D-400B-AD24-31EE38D2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765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9707C-0493-4293-9EB9-5BC4BCEE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384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Đăng nhập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F7480-04BE-447E-8E93-A67F1F21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81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Identity 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62C812-66D3-413B-A326-1DA834A0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90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7349F-DB5D-4620-BE52-FE8A45FC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52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D9636-B0BE-4749-AFB8-161A609D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05100"/>
            <a:ext cx="1447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B67EA5-2C21-4CC2-A31E-240E0CF4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765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6D83D4-94C6-4AB7-87C4-7E67669B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384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Tạo booking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9A12ED-9821-4835-B88A-BBCE254F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Booking Service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A17606-27FD-494F-BE6B-40BDA403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90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177D90-8690-4498-83D0-1944910C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152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EE722A-EED2-47ED-8FA3-DA8D763C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05100"/>
            <a:ext cx="1447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7352F9-CAED-4EEE-A224-82195802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765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8BF83D-BFD5-4CA2-A952-E8CA417F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384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Thanh toán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EF3EB6-54A7-4EBA-B8E3-46B1A193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81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VNPay qua Payment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280BC0-DFE1-472F-A50E-12DE6A47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90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63CEA8-060E-4BD0-BB37-14CB607E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152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462376-A1CF-4311-8A2C-5B150F73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05100"/>
            <a:ext cx="1447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BFDC82-6E17-429C-A063-FC848949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765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432A48-4960-4FCC-B857-3152D040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Cập nhật trạng thái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FFFF9-491B-403E-90C2-40711D7A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81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PaymentCompleted/Failed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042128-3428-42A4-B9D8-456959D2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90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C868FF-5DA0-4AB0-BE1D-3B666534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152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4B6D53-DE2F-4F10-AC0D-0136F390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05100"/>
            <a:ext cx="1447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BEFDB4-CC63-4C93-AEF0-765003D6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765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A8EF97-F92D-4383-B414-8BDEE7F7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384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Xác nhận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0FCD1B-190C-4488-82FC-7EA41581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81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Frontend hiển thị kết quả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5D627D-6B76-4266-87A5-612A7BD2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86300"/>
            <a:ext cx="790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C99B3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4B66FE-215A-4092-8F63-72B85A00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863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00F788-7555-4A74-A19A-A69E38EB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7581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Điểm cần nhấn mạnh khi trình bày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B62494-0A46-425A-A66D-76DCCFC1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86350"/>
            <a:ext cx="758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Luồng booking là luồng nghiệp vụ nhiều rủi ro nhất: cần xác thực người dùng, giữ trạng thái booking, xử lý phản hồi thanh toán và cập nhật kết quả nhất quán.</a:t>
            </a:r>
          </a:p>
        </p:txBody>
      </p:sp>
    </p:spTree>
    <p:extLst>
      <p:ext uri="{BB962C8B-B14F-4D97-AF65-F5344CB8AC3E}">
        <p14:creationId xmlns:p14="http://schemas.microsoft.com/office/powerpoint/2010/main" val="13779292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F1A454-67F8-493E-A127-0ACAB55A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3CF27-B6AA-48A5-BC17-21408B03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BD026-1BE8-48DA-98FB-83BB3215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8600"/>
            <a:ext cx="1476375" cy="6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3987A993-69E4-429B-884C-4FBF77B1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180C9CEA-070E-4999-8AC3-E0337E97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AI CHATBOT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ED993-E486-406B-A117-8C4C1C65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E7AE8-A613-4968-BA26-2A09646E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Travel TVB • GenAI/Vibe 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3A439-9A89-421B-AA41-AC2ACBCF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D599F-336E-4275-A9D0-2116851E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Chatbot dùng RAG để neo câu trả lời vào dữ liệu tour trước khi GenAI phản hồi.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9FA30-C157-46F8-BD24-8B6B609C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51AB1-B6FF-48E6-930D-F872B986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21DEC-1649-48DC-A207-BBE8FD1E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Câu hỏi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54099-C0D7-46E8-887C-34F320ED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Người dùng nhập câu hỏi tự nhiên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A2935-E856-47F7-89A7-4E9527A4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575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EB375-A93C-471F-A2E6-78EC49EA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819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B6A28-C946-4F34-B704-368C0F13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7660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C99B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01BA5-8815-466B-8C0E-CD8514E0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766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72EF86-4502-495F-BAC7-A4A56FD9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41947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78466-7EFB-43B7-B933-94B1DEB6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67665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POST /api/chat/query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D796A-5208-44E4-8A3D-44623ED3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338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98F200-8D06-4997-A647-FB0D52A7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95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F2AB0-F865-43AA-BBE8-3E245A40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0030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304FA0-F7EF-45FF-B45B-E0847A2A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003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0CD97F-9EC1-46E6-A2B9-D1BF57B2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4317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Vector 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86C2B9-1634-4BC5-B749-220D094E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035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ChromaDB tìm tour liên quan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9655CE-B696-4238-A2C0-418A7C47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43EA5D-C6A1-4085-989A-65E7BF16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19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CAC5D6-9F7A-4AE5-BFC4-F08C4660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7660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9525">
            <a:solidFill>
              <a:srgbClr val="40515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084A5B-D41A-4386-8BB8-477CFE8E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766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4C6974-290D-49E2-8215-84444E8A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41947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GenAI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0F17B9-C7B1-4083-A07F-AE37B8A1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67665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8E4D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E4DD"/>
                </a:solidFill>
                <a:latin typeface="Aptos"/>
                <a:ea typeface="Aptos"/>
                <a:cs typeface="Aptos"/>
              </a:rPr>
              <a:t>Gemini sinh câu trả lời có ngữ cảnh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F9CD5F-B3B5-45AC-8B35-D7872884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7338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1E76D8-351D-4EA7-B6FF-A41F862D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95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1A4067-B794-4333-B6BE-F8A39527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70898F-4F2B-4101-BC0F-BEADDF7D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08EA1C-59EE-49DE-9906-9FD8ED36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4317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Phản hồi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A65063-F6F4-4A28-9EE5-751D2EA1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0035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Gợi ý tour, lịch trình, giá, FAQ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C5F117-B231-4DFA-80EB-FA8504C9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923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A5E06F-B5F1-47C8-82B2-1D324C1D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95875"/>
            <a:ext cx="876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RAG giúp chatbot trả lời dựa trên dữ liệu tour của hệ thống thay vì chỉ suy đoán từ mô hình ngôn ngữ.</a:t>
            </a:r>
          </a:p>
        </p:txBody>
      </p:sp>
    </p:spTree>
    <p:extLst>
      <p:ext uri="{BB962C8B-B14F-4D97-AF65-F5344CB8AC3E}">
        <p14:creationId xmlns:p14="http://schemas.microsoft.com/office/powerpoint/2010/main" val="101640405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A3D70D-FC4B-4D75-892D-27577D77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F040E-385D-47D5-9EE5-58CE9A0F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40D86-F6EA-4546-938E-D5F6E7DF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8600"/>
            <a:ext cx="1476375" cy="6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B6AE58A7-176D-4925-81B4-E4DA18DC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5F748638-03CF-4DAF-8E6F-52D56900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KIẾN TRÚC HIỆN TẠI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FAFB5-FB0A-4C43-97E8-ECFB4241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99791-B0DC-40E5-B723-26277ADA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Travel TVB • GenAI/Vibe 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ABD27-9815-48AB-AE1D-FB21A265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EA389-20A9-4DC1-BD94-1CBDD2BB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Dự án hiện tại chạy theo mô hình frontend qua Kong tới các service chuyên trách.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DFD22-7BD0-4613-9574-573EC8AE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C99B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BF911-D410-4B8C-B801-2E495F26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08A4D-D4EF-4CBB-8371-69AA5354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Browser / User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F1283-A3CB-43CC-820C-730289C2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Khách hàng, admin, nhân viên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ED652-E6A1-4430-B290-A0CB3499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24150"/>
            <a:ext cx="1695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6D702-E449-44B1-B0E0-2AC40666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241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578FC-1DAC-48ED-BB2A-40F093BE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6702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React + Vite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392ED9-1DBC-402C-A4AD-F53CF196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24200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Travel_TVB frontend</a:t>
            </a:r>
          </a:p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localhost:5173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9C5CBB-2DD3-41E2-9D64-2CD1FF5C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17907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9525">
            <a:solidFill>
              <a:srgbClr val="0E2B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20FF3E-73A9-45D2-91C1-DFD99776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5C965F-782C-4CA9-B0ED-FA79B493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5272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Kong Gateway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FCE479-C3FB-45B1-9B37-C413A621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1466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8E4D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E4DD"/>
                </a:solidFill>
                <a:latin typeface="Aptos"/>
                <a:ea typeface="Aptos"/>
                <a:cs typeface="Aptos"/>
              </a:rPr>
              <a:t>Routing, CORS, JWT, X-Trace-Id</a:t>
            </a:r>
          </a:p>
          <a:p xmlns:a="http://schemas.openxmlformats.org/drawingml/2006/main">
            <a:pPr algn="l">
              <a:defRPr sz="788" b="0">
                <a:solidFill>
                  <a:srgbClr val="D8E4D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E4DD"/>
                </a:solidFill>
                <a:latin typeface="Aptos"/>
                <a:ea typeface="Aptos"/>
                <a:cs typeface="Aptos"/>
              </a:rPr>
              <a:t>localhost:8000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EB53E-AC35-4FB9-AA35-0AD23380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1945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51552E-4815-4805-B4F5-A45ED3A1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81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4790F4-A6EA-4080-93EC-132614AE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194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A99034-AFF8-4F3B-920A-43CE0EA9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81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10E8CF-9D33-49FA-8CA6-E0182A84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38300"/>
            <a:ext cx="1695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763921-71B3-4566-8AC6-5DDB59AE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383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39A1D0-FAA9-432C-8ECC-16D452E4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8117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48FC2A-841C-493E-B04B-77FFAAD7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383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NestJS: auth, users, JWT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B5D0C0-3499-4AF4-A569-8F4F8A8C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9775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5C63CD-F3E0-4196-A0A2-C20DDC48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71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EB4047-6B17-45C1-A2B4-7378208F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638300"/>
            <a:ext cx="1695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C99B3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8FD7AB-9E38-4CFC-8784-6E0377A8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6383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65DB2F-DA04-4B38-AB7D-E7653352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78117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EB4151-0589-40F7-8990-D81E88BB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0383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NestJS: tours, categories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0B7DB5-1DFB-406F-BB30-C2C12267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1695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CC2026-3ADF-4B4F-AFA6-7F360143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429DFA-5DED-4334-8683-C4BE3215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4797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Booking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4EE0DF-BBAB-4561-A285-7D5B8712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05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NestJS: bookings, availability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16599D-5CB1-4712-995F-2E30CBDE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76575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5E86A4-DC56-4F7D-BD73-1125371E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38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8B8A72-C4B8-458A-9EC0-591682B2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05100"/>
            <a:ext cx="1695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CE5A4C-2C9F-424E-BA8F-D193168B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051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D9A3FF-FF2E-406D-891C-1754A0F9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84797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Payment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59A840-D495-4B41-AD5A-A8924299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05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NestJS: VNPay, refunds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CEE068-B797-489F-8712-4E39CEE6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71900"/>
            <a:ext cx="1695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40515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3FA3BD-84BF-45A5-8068-BAFDFC4B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719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BA1F08-B7ED-4216-B164-416EC02C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1477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Content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8DA241-757A-4D1D-A89F-D8808095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719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Strapi 5: blog, FAQ, sections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8B6FE7-526F-460C-91C4-D8C1AF29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43375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742AA6-C745-4C84-AFB0-0E0EA6BE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105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A96194-2F00-4017-AB16-27B4C10C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71900"/>
            <a:ext cx="1695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CDD16C-6156-407B-BB24-1B4BB088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719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7A190C-E4F4-45A8-B547-F1C9DB13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91477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AI Chatbot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B0E0B0-380E-4696-864B-4ACD5307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1719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FastAPI: RAG, Gemini, ChromaDB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16E52B-113C-4523-B507-91EDC4CC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Shared infra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EEA4BB9-71BD-4D78-BD16-CB5E56A7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577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9FDFF3B-BE71-4D54-8E60-4CD103A2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2442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B2496C1-9CEA-4311-904A-9CEC7425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8577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FD2F943-CA5F-480C-B27A-2EF224A7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2442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7654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76545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C59C752-1F94-4726-B3F9-5056B289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577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9B9F079-1CE0-4F4D-B336-BCA2C567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2442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914CFE0-2547-4790-A671-1D7EBD42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577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D54BAFF-3D4E-4A69-A4E8-7A909772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2442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7654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76545"/>
                </a:solidFill>
                <a:latin typeface="Aptos"/>
                <a:ea typeface="Aptos"/>
                <a:cs typeface="Aptos"/>
              </a:rPr>
              <a:t>ChromaDB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7693649-D6FD-401E-8EFE-ACCA9D6D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577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4E1D73F-BE3F-48C5-86D0-C4E1770B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2442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Pact Broker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0AFBC29-44D5-4DC2-9BDE-C1F82B89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95900"/>
            <a:ext cx="628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Legacy Travel_TVB_Server vẫn tồn tại trong repo cho giai đoạn chuyển đổi/đối chiếu.</a:t>
            </a:r>
          </a:p>
        </p:txBody>
      </p:sp>
    </p:spTree>
    <p:extLst>
      <p:ext uri="{BB962C8B-B14F-4D97-AF65-F5344CB8AC3E}">
        <p14:creationId xmlns:p14="http://schemas.microsoft.com/office/powerpoint/2010/main" val="2946252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FF9037-2905-4B18-B78C-FC16A195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92B71-3F54-4ACD-AF77-0E1152AC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B9F87-E216-4737-8D34-5FEC6EA2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8600"/>
            <a:ext cx="1476375" cy="6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0CEC344A-1771-46E5-A522-1558A753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0AA0E3AE-02F7-4EB4-8624-600DF5AA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SERVICE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11F36-7D7C-4646-89E8-137F1E70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DCEA9-2CEC-4E69-B6A4-BA5474FC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Travel TVB • GenAI/Vibe 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CEE88-DB46-4BDE-985A-364C14FB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E93DB-64E5-4DF1-A9A9-40966FB3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Mỗi service sở hữu một phần nghiệp vụ rõ ràng để giảm phụ thuộc và dễ mở rộng.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EC066-DDC0-46A7-8C55-2630193B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A0F5D-B28E-4FB0-8683-AC3557FD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28825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DCB7E-F557-44FF-98F8-1FE5B328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43100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EAD36-3572-48A2-879E-D456BF06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28825"/>
            <a:ext cx="3181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Trách nhiệm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CD0D1E-53EB-46FA-B7D1-5C23775F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431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EB71F-B9AB-4F15-9471-22F03C3B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28825"/>
            <a:ext cx="1409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Dữ liệu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61CF4-54E8-4DA6-9E61-B5FB3052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4310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9DF83-B08C-419C-AA1D-64D690B3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28825"/>
            <a:ext cx="2781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 chính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6CF644-72DA-4147-AF05-84E95277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A81F8-8F23-4067-8562-1CE159FF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E2A6C8-A5E5-4B50-8049-41C91EB4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95525"/>
            <a:ext cx="3390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D6D9BE-ACE1-4B06-B5E8-CA332A3F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09825"/>
            <a:ext cx="3219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Đăng nhập, đăng ký, hồ sơ, JWT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7AAD14-D33F-498C-BE17-F9C2C08C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95525"/>
            <a:ext cx="1619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9AC48F-88A7-4837-A80B-6416EB74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0982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D73619-7252-436F-A5C1-B17EF970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95525"/>
            <a:ext cx="2990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448E37-9BBF-4606-B794-DFDB8825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9825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/api/auth, /api/users/me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70F961-87A8-444E-85D6-31731D26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4BFA3A-D1A2-4619-BDF9-9E6D04A9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4C7E1E-702C-4377-8AAD-4A2495A5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86075"/>
            <a:ext cx="3219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Tour, danh mục, vùng, giá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E66ADA-4AEB-40A1-8673-DAECAE09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8607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89A187-D46F-4225-9A3C-51312530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86075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/api/tours, /api/tour-categories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D8337C-36CF-402E-B769-84556C72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E0439A-9DF6-48CE-A92B-BA8CC720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4802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712162-CC98-4CBA-8834-9744724B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23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Booking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EB8369-B0E6-4337-8CF4-38D5811C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48025"/>
            <a:ext cx="3390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9DE864-38C8-4F89-8ACF-7E142278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62325"/>
            <a:ext cx="3219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Đơn đặt tour, availability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74D2D3-22BA-44DF-ADAB-2ACF6A86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48025"/>
            <a:ext cx="1619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D9D455-B801-4079-A7DB-F17705FE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6232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6E8D1C-AE68-4170-A4E7-26033564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48025"/>
            <a:ext cx="2990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E00297-A054-4DAE-8A5A-E7573EB6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62325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/api/bookings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C69343-6031-45EB-A572-26D7C2B8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8ECBE6-685A-4656-9840-D5AD0096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Payment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F5E269-F490-4B8A-AA64-CC4AF68F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38575"/>
            <a:ext cx="3219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VNPay return, thanh toán, hoàn tiền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6D2B4E-344C-4336-8DAD-215DA8C2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3857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40D4FA-BD67-41AB-8431-74657BFD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38575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/api/payments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365CE5-EF0A-42CA-BE2E-5769D282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4B20E1-C7A6-4EAC-AB04-13204F0F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162448-8E06-4C79-8C7F-3C5B2297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Content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876DB1-DCC8-4B39-8C2D-5E96372F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00525"/>
            <a:ext cx="3390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087A07-8E55-4B7E-ADAB-DFE19E4E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14825"/>
            <a:ext cx="3219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Blog, FAQ, hero, section nội dung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44B2CD-88D2-4BE4-A60F-D0E99EF9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00525"/>
            <a:ext cx="1619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85E3B4-D651-4726-BB06-7DD912C4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1482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B5F1A90-FFA1-49A1-ABD0-0B23776D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00525"/>
            <a:ext cx="2990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86BD5D-55C5-4903-8F35-AC5EECD7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Strapi content APIs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AF2546-EE72-4F1F-801F-B30D9CD8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018916-1689-49EC-A8B9-AAF3284F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910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AI Chatbot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C12627-93D8-4DA3-B6DB-D1979EB6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91075"/>
            <a:ext cx="3219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Truy vấn RAG, index tour, sinh câu trả lời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9C9EE2-C903-4AC5-95B8-954398EA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79107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ChromaDB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92FC37-9B55-44B8-834A-50BCFAFE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91075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/api/chatbot/query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E608A0D-16B3-405F-9C79-E77115FA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688456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7564E1-D1AF-4C8F-98B3-56E6236E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A2DA9-C81C-4B59-84D9-E1D1856C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82AED-7412-42AF-9103-12C83A2D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8600"/>
            <a:ext cx="1476375" cy="6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8D8F4E67-71C0-4128-AB95-8730970B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14259100-975B-450A-BFA9-F7C3CEC6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0183D-98CE-45A1-B99C-183048FA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98BF3-A9A1-4E36-A8C7-2B7BBBBF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Travel TVB • GenAI/Vibe 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9FFBE-9D43-4659-A860-0D7AE36D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C11A5-36D7-45FB-8A30-E42C4F1C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React/Vite tập trung vào trải nghiệm khách hàng và gọi API qua gateway.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A526D-1D97-48DC-A895-D4DC52C4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7ED27-B2F5-4F00-BD89-00867925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88181-FF06-46EE-B5D9-811A7EB3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955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74DEB-6408-4773-B66A-16E3F26A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943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landing + sections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AFDFE-4049-45AE-859C-23EEE4EC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52650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C99B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8E05F-9357-4A81-85FB-693AEEF2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526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6D8F6-CBB1-40AD-BE45-AC0ABE16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955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Tours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2827E-B916-4A44-8BD8-F9130C3B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52700"/>
            <a:ext cx="1943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list/filter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29A61-0206-4FAA-BB3A-7ED1EE2F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52650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CBF259-0DE0-4DC1-9D7B-29300FE7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526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618A7C-D649-4B11-8181-DD6ABD1B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955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TourDetail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002D9-E869-4BBA-BBDE-4BE754F1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52700"/>
            <a:ext cx="1943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itinerary + CTA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7F8FEE-B450-44D4-A970-5E0313E7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F4E02D-530B-478B-95E9-9410513F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1C00B6-A3CA-4279-81F3-343E26E7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99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BookingTicket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62B18-2557-40E4-BD00-42638BF4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1943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booking form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AE9B69-F25E-4B32-AD28-762A157D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67050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C99B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78D268-0BF1-4C6A-808F-EE8750FD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670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DCCD62-3050-451D-B9DA-2E83611D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099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PaymentReturn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1268AD-F986-4381-9321-70C04E2C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67100"/>
            <a:ext cx="1943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payment 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10FCBA-0EA9-49A6-9FA8-86BA4CD5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67050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D88B65-90E2-43D9-99AD-3E2477F7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670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835C8A-95B2-4C02-8B0D-04E1934A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99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Login/Register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B842D4-B9EE-4B82-A07A-A479C57F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67100"/>
            <a:ext cx="1943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auth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1F90D9-8C47-491A-8A04-2B4FE5B8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80DD10-B2AB-4E1B-B750-A0DC0AFE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8FF989-770B-4070-B378-F970B09D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243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095142-2053-415D-80FC-A4456749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1943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user 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6AB5AC-2B74-4103-9AAC-A4D38FE7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81450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C99B3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BD437E-4939-41B1-BC70-A3873FEE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814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1745AB-E3DF-4839-B7F4-5DD4D2E8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243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News/FAQ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72888A-291A-490A-B3BB-89ADC6E8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81500"/>
            <a:ext cx="1943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content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E9DCA7-FA6A-44A8-B99A-22A5F7AD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81450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650D9E-08C7-4015-B5AD-EAB77D30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814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84AE25-ADB8-4130-9658-DF22078C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243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ChatbotWidget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991E67-C842-4C11-AAE8-90141DD3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81500"/>
            <a:ext cx="1943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AI support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A2B68D-4CDB-4D6F-93A4-628AE01D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90750"/>
            <a:ext cx="11811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1CF9E6-8CC9-4554-A874-A6BF250F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574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Context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276B4A-1BC0-4BE7-98C8-7A0FF491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14650"/>
            <a:ext cx="742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7E2D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2DF"/>
                </a:solidFill>
                <a:latin typeface="Aptos"/>
                <a:ea typeface="Aptos"/>
                <a:cs typeface="Aptos"/>
              </a:rPr>
              <a:t>AuthContext</a:t>
            </a:r>
          </a:p>
          <a:p xmlns:a="http://schemas.openxmlformats.org/drawingml/2006/main">
            <a:pPr algn="ctr">
              <a:defRPr sz="900" b="0">
                <a:solidFill>
                  <a:srgbClr val="D7E2D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2DF"/>
                </a:solidFill>
                <a:latin typeface="Aptos"/>
                <a:ea typeface="Aptos"/>
                <a:cs typeface="Aptos"/>
              </a:rPr>
              <a:t>LanguageContext</a:t>
            </a:r>
          </a:p>
          <a:p xmlns:a="http://schemas.openxmlformats.org/drawingml/2006/main">
            <a:pPr algn="ctr">
              <a:defRPr sz="900" b="0">
                <a:solidFill>
                  <a:srgbClr val="D7E2D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2DF"/>
                </a:solidFill>
                <a:latin typeface="Aptos"/>
                <a:ea typeface="Aptos"/>
                <a:cs typeface="Aptos"/>
              </a:rPr>
              <a:t>API config</a:t>
            </a:r>
          </a:p>
        </p:txBody>
      </p:sp>
    </p:spTree>
    <p:extLst>
      <p:ext uri="{BB962C8B-B14F-4D97-AF65-F5344CB8AC3E}">
        <p14:creationId xmlns:p14="http://schemas.microsoft.com/office/powerpoint/2010/main" val="86938939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788F95-7DB3-4484-AA1A-A601A748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D4A08-D7CF-4914-9AB4-DAC0C86C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BF51E-2C1D-4D32-9370-F2EF9743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8600"/>
            <a:ext cx="1476375" cy="6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0023DDFA-EFAA-4960-BFD5-412F494B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F4518D64-7CE8-4A05-96F2-CA6C48C3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CB6BF-88F0-4FBB-820C-AE974F92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97E23-1D6F-4B61-B563-BE71F265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Travel TVB • GenAI/Vibe 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676F1-1CA1-4FDF-8ED7-3DDCC8FE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CDAEB-4223-447E-A76C-6CB84CF4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Backend được chia theo miền nghiệp vụ: identity, catalog, booking, payment, content và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4D5DF-2EF1-4417-85E3-167789D1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9525">
            <a:solidFill>
              <a:srgbClr val="0E2B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FBCCC-3D4F-4E83-B7BD-0CE196B9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NestJS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0AA14-E03C-487E-A8E3-2CC7BB94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E2D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E2DF"/>
                </a:solidFill>
                <a:latin typeface="Aptos"/>
                <a:ea typeface="Aptos"/>
                <a:cs typeface="Aptos"/>
              </a:rPr>
              <a:t>Identity • Catalog • Booking • Payment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CD323-1F9F-4E3F-A267-2FEAC372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955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BFD0CA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BFD0CA"/>
                </a:solidFill>
                <a:latin typeface="Aptos"/>
                <a:ea typeface="Aptos"/>
                <a:cs typeface="Aptos"/>
              </a:rPr>
              <a:t>DTO validation, TypeORM, health, metrics, tracing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915D4-7CD5-4593-BB60-E7FA7BE9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C99B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929ED-40E0-4D42-9FF2-AE0A4E7B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Strapi content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38739-5627-4DCB-AF01-8089070C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528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Content pages • Blog • FAQ • Newsletter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2A719-4120-4278-954B-43692B67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623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Content API cho nội dung marketing và hỗ trợ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6AA360-7A09-404F-9999-A17C3F2B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975AC4-71EF-4916-8755-8893E96A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96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FastAPI AI 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F1539F-97C8-4BC1-BBC7-DAC8720F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196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Chat query • Tour indexer • Vector store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CBA2FB-D335-4965-8D86-7BC02AD4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291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Gemini + ChromaDB + rate limit + tracing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33C5EF-6197-4103-B04F-996A1970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483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Ranh giới service giúp trình bày kiến trúc hiện tại rõ hơn: mỗi service có API, cấu hình, test và dữ liệu riêng.</a:t>
            </a:r>
          </a:p>
        </p:txBody>
      </p:sp>
    </p:spTree>
    <p:extLst>
      <p:ext uri="{BB962C8B-B14F-4D97-AF65-F5344CB8AC3E}">
        <p14:creationId xmlns:p14="http://schemas.microsoft.com/office/powerpoint/2010/main" val="31819885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B82ED3-9A08-4B5E-8AC1-EC193604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4F28B-8EF1-48EB-AB4A-89721FF9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16958-B74D-4F15-86DB-EED1A1EF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8600"/>
            <a:ext cx="1476375" cy="6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432E9B73-3A13-4B35-9D75-E4B426CF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356CD6FA-D578-4D45-8395-71BEDFE6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TÍCH HỢP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72F5A-716A-4022-9B96-DF8E90AB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27875-24C1-4594-8C1E-49C194FD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Travel TVB • GenAI/Vibe 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A4FCB-ED18-4E5D-B735-7074907F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2E247-9B56-4FC4-BBD4-2E6C5FB5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REST, RabbitMQ, DB-per-service, ChromaDB và Redis tạo thành lớp liên kết của hệ thống.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3A765-E0AF-4638-A3F2-F76DADC6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9525">
            <a:solidFill>
              <a:srgbClr val="0E2B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B66E0-AA58-4022-B8AA-8D8BFA28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632042-5F77-45ED-9662-0976C63F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90825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Kong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4236A-0B18-4F2F-B914-E5878218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8E4D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E4DD"/>
                </a:solidFill>
                <a:latin typeface="Aptos"/>
                <a:ea typeface="Aptos"/>
                <a:cs typeface="Aptos"/>
              </a:rPr>
              <a:t>REST routing</a:t>
            </a:r>
          </a:p>
          <a:p xmlns:a="http://schemas.openxmlformats.org/drawingml/2006/main">
            <a:pPr algn="l">
              <a:defRPr sz="788" b="0">
                <a:solidFill>
                  <a:srgbClr val="D8E4D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E4DD"/>
                </a:solidFill>
                <a:latin typeface="Aptos"/>
                <a:ea typeface="Aptos"/>
                <a:cs typeface="Aptos"/>
              </a:rPr>
              <a:t>JWT + trace headers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8018E-7AB2-4090-ADAE-B6BD89FB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383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C99B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72996-B81A-452C-AE89-BA136EE0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383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40383C-960D-4612-AA27-EAA293AA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81225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0E6EC3-AA48-4637-856B-648F68AA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384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booking.events</a:t>
            </a:r>
          </a:p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payment.events</a:t>
            </a:r>
          </a:p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catalog.events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13AB6-D251-4D7B-8C07-887EE9B6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195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4F4A7-6E92-48D2-9642-81F2597F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195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409E1F-87ED-4C90-885D-625A390D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62375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6AC9D9-4582-47A0-959D-B20A5F84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195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DB-per-service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1F7B5E-4233-4431-8C7D-BCA5E331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0CD304-E52A-482F-BEA2-409D0498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0C3BE7-9879-490B-879A-1A0DE4B2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81225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ChromaDB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3211FD-9F27-4052-8492-1B03F237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384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vector index</a:t>
            </a:r>
          </a:p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tour chunks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0821BE-9BE6-45AD-86F2-E40F2170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4051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39FA5F-980D-4918-B9AE-60260204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6AB7AC-C482-4C87-AC44-F2955897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BF2971-38CC-49C2-A31E-E27F6F71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195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cache/rate limit</a:t>
            </a:r>
          </a:p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local infra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E4ED9D-33F8-49B6-B043-A7C91BCC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0BBFA0-0D0C-44E2-AA85-69BD50ED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6C9C80-7B2C-4020-A914-8F799815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00375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VNPay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20249A-AD25-4D62-B951-6FB3030D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575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payment gateway</a:t>
            </a:r>
          </a:p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return URL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49191B-C397-4D50-9EEA-EEEC3E20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480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34F157-A943-43D8-BCA2-A68FFCA9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09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5F65ED-DF14-4218-8FBA-6C103D8C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3845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C99B3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B3D"/>
                </a:solidFill>
                <a:latin typeface="Aptos"/>
                <a:ea typeface="Aptos"/>
                <a:cs typeface="Aptos"/>
              </a:rPr>
              <a:t>events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0403AA-E499-4CDD-9C1E-624FCBA1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9565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EBEAAA-2386-4130-B3CB-0E49F406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5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656974-BDCD-4763-B166-B62A770E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861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queries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F5C129-EFE9-4DFF-BED3-00CF18DC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47925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AAEB7B-97D9-4B62-AF01-F960A538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D29626-0C4B-4AC3-A00A-A8EF3CED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38375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D765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76545"/>
                </a:solidFill>
                <a:latin typeface="Aptos"/>
                <a:ea typeface="Aptos"/>
                <a:cs typeface="Aptos"/>
              </a:rPr>
              <a:t>index update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068E42-3810-4168-A8E9-1A83866B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B035E3-5E38-4409-9031-78165542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19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7068AD-2785-4BB0-BDBB-12FC786F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D765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76545"/>
                </a:solidFill>
                <a:latin typeface="Aptos"/>
                <a:ea typeface="Aptos"/>
                <a:cs typeface="Aptos"/>
              </a:rPr>
              <a:t>payment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250218-456A-4A3F-A381-23FF65A0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816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Thông điệp kiến trúc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1E56B9-BBF9-44CD-84EB-E2225137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435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Gateway giữ API ổn định cho frontend; event bus và dữ liệu riêng từng service giúp hệ thống tiến hóa mà không phá luồng người dùng.</a:t>
            </a:r>
          </a:p>
        </p:txBody>
      </p:sp>
    </p:spTree>
    <p:extLst>
      <p:ext uri="{BB962C8B-B14F-4D97-AF65-F5344CB8AC3E}">
        <p14:creationId xmlns:p14="http://schemas.microsoft.com/office/powerpoint/2010/main" val="119446855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607C8C-154D-47CB-8BFB-C104EF03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FA560-C60D-4D98-A709-D7934AED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C9E3F-3EED-45DC-B4C7-B1B1B1AA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8600"/>
            <a:ext cx="1476375" cy="6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439C8AF8-A0E1-4FBE-BF21-4D0BD8AC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162CFFFB-E5BE-4FD6-88BD-044B344D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PHƯƠNG PHÁP LUẬN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FB47D-B61A-4DF4-B2C6-FD527AF0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436E6-267D-431C-B57D-4D633304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Travel TVB • GenAI/Vibe 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49728-0465-412E-B9CA-231D3162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0FF8F-EFFA-4CFB-B156-F6E710FD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GenAI được đưa vào SDLC như một vòng lặp cộng tác, không phải nút sinh code một lần.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90E30-BBE7-42C5-AA08-186D62FF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90700"/>
            <a:ext cx="1390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23D12-9B4C-43BD-8FE1-8C7CA87F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1452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Yêu cầu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5DCBD-973B-4E59-BF02-D44A75BA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526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user story</a:t>
            </a:r>
          </a:p>
          <a:p xmlns:a="http://schemas.openxmlformats.org/drawingml/2006/main">
            <a:pPr algn="ctr">
              <a:defRPr sz="690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acceptance criteria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F7302-0468-4F5E-B0C7-A76E35B1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24150"/>
            <a:ext cx="1390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C99B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F6ABEC-4AAC-4A27-A5B0-A357FF5E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4797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Thiết kế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4917E-E5B2-43F2-ABA4-3D8E90FA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861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flow, API,</a:t>
            </a:r>
          </a:p>
          <a:p xmlns:a="http://schemas.openxmlformats.org/drawingml/2006/main">
            <a:pPr algn="ctr">
              <a:defRPr sz="690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schema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CF607-F9DE-404C-9A30-375DEAB6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1390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7D59C1-FCD8-4D91-9894-928FBC05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8632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Lập trình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1785A-153F-4ED3-8884-7C6F3A8E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244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component,</a:t>
            </a:r>
          </a:p>
          <a:p xmlns:a="http://schemas.openxmlformats.org/drawingml/2006/main">
            <a:pPr algn="ctr">
              <a:defRPr sz="690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service, DTO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AFDB16-EF57-4E8C-87D9-5B115E0A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1390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5F3252-BEF2-403D-B5AE-B444655E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88632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Kiểm thử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376F8C-2D60-493F-934C-A15C3C8F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1244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unit,</a:t>
            </a:r>
          </a:p>
          <a:p xmlns:a="http://schemas.openxmlformats.org/drawingml/2006/main">
            <a:pPr algn="ctr">
              <a:defRPr sz="690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integration, e2e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D2BB76-E80D-48DB-859D-20934F65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1390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4051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50B6A1-1CF4-4DD3-9E8B-6E8EB6E9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4797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Triển khai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8DBDA6-D2FA-42ED-A1F8-E7B0C31E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861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Docker,</a:t>
            </a:r>
          </a:p>
          <a:p xmlns:a="http://schemas.openxmlformats.org/drawingml/2006/main">
            <a:pPr algn="ctr">
              <a:defRPr sz="690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gateway, env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670531-0F42-49F1-9FD3-EDCA6001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48000"/>
            <a:ext cx="1485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F88AB2-8CB1-43A9-8959-872CD537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575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GenAI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collaboration loop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2AB94B-B95F-4E38-8EB8-770EB785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955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1BCB6F-9E98-4935-9A74-A0AFA455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944095-00DF-4C1D-9958-E0EAD086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68EA8D-0C12-4834-A66C-CE55C1E1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C7D905-6877-48A5-9887-E8F8F672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432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589279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0E3524-AD14-4D98-9F60-BBEA19C7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54547-7D37-4313-889B-9E6D1D6B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BBBCA-923E-4979-9660-B26E3F62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8600"/>
            <a:ext cx="1476375" cy="6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49D1E320-E9CD-41C7-813B-A771883D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39D8A81E-4370-4606-9FA3-36B5637F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PROMPT-TO-CODE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D0E4D-50F4-4961-8B79-3CEB038A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01762-C090-4D91-9FAA-6B4A7691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Travel TVB • GenAI/Vibe 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CB7C5-CCE4-4E9C-BBF0-26B70597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A1647-58C2-4E05-A33D-E51FE809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Quy trình phát triển bắt đầu bằng prompt có ngữ cảnh và kết thúc bằng code đã kiểm thử.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41D37-5416-4764-8EA0-084D06D7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324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D5BCE-28FA-47D3-A7B4-9FA66861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572C6-58B6-478F-989A-ADCD337D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57425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126B9-E1E7-4531-A9D0-D34EBF53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3365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Đưa cấu trúc repo, yêu cầu nghiệp vụ, constraint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51EAC-D805-44B3-9C70-93120856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289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B607F-43A5-4F32-9CCF-B537ACC6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90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3898E-7A82-4861-ACFE-6C53ECC0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33600"/>
            <a:ext cx="2324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C99B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29378E-C83F-42A9-908F-D9651418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479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9B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C99B3D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D30034-A515-40EA-A0CF-36436FD1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57425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80C138-AAAF-4F82-B251-524F7B8C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3365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AI chia nhỏ feature, xác định file và test cần sửa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D996D-4F9E-4C1D-BE01-248E8571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289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F1720-E50A-4818-AEF0-BCC7B1F0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590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B774ED-619D-4A74-B88B-F67292FB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33600"/>
            <a:ext cx="2324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40AF8D-EB97-46CF-9DC9-02981C68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479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2218F2-DC5A-46E1-A811-6B4E574D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57425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85B01C-7D49-4952-AB5C-6901784C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3365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Sinh/chỉnh component, controller, service, DTO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EA0D42-6C86-4B26-8AB2-95432CB3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2324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1C0283-BD7F-4F81-BA71-04483552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54A5A7-D180-4793-8838-9E16101F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76675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8043DE-4DA6-43E9-B1DC-EA587EDC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Build, lint, unit/integration/e2e test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C5C94D-2461-4414-8D74-B8FF5107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481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FCA6FC-A50F-4D48-AD83-47EA35FD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21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FE11A7-D2A9-4C69-BCA0-D611DE3B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52850"/>
            <a:ext cx="2324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C99B3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AC7D9E-B55D-4347-A6EB-F85BD3E6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67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9B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C99B3D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246863-C9D3-4D64-B05B-D1A02266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76675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Fix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D1F875-5495-46DE-9341-0DBBD995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5290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Prompt lại bằng lỗi thực tế, sửa và kiểm chứng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485721-A13B-42FA-870C-D311542F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481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48D022-F9B2-4CA9-B3E3-3BA8DAFC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21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61F6D2-AB9C-418C-8D3C-1B008D46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52850"/>
            <a:ext cx="2324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008DC3-7961-4E7D-87EF-B4A41FE0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67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6B88A6-EBB3-4F2D-A409-A2B9B445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76675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Log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47E4DA-5AB9-40EE-B509-D91A506D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5290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Ghi quyết định, vấn đề, file chạm và bước tiếp</a:t>
            </a:r>
          </a:p>
        </p:txBody>
      </p:sp>
    </p:spTree>
    <p:extLst>
      <p:ext uri="{BB962C8B-B14F-4D97-AF65-F5344CB8AC3E}">
        <p14:creationId xmlns:p14="http://schemas.microsoft.com/office/powerpoint/2010/main" val="35639252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1D78EC-80A9-4E98-B400-742DD590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02BD4-D8DF-41BB-9AF3-7E94C9FE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9E1E3-5753-4090-8BF0-04F14CF2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8600"/>
            <a:ext cx="1476375" cy="6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A3395985-0968-4866-81E5-9CEC0AF5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961E404F-4A2C-4347-B6FD-D851FF84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KỸ THUẬT 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4965B-A3A3-4549-A65D-C248BDBB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990C2-5623-446C-A6B7-835881A4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Travel TVB • GenAI/Vibe 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01728-6E08-4F9F-B055-7EDE5465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1E08C-389C-4671-A1C9-66114C12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Các kỹ thuật prompt giúp AI hiểu vai trò, bối cảnh, tiêu chuẩn và lỗi thực tế.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29CE1-9AC3-48E0-A108-8DB5EC0E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92743-7C83-469A-BBE5-C7903E02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BCD3B-5857-41B4-94B5-FEAA181E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38375"/>
            <a:ext cx="3771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Role prompting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A06F6-44EA-484A-9028-366A10C8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3771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AI đóng vai architect, senior dev, tester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91039-77BA-409F-86A0-706F65EE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C99B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057206-A8F5-4651-A68F-21EF6A9A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88E579-B19B-4211-947E-69417E7B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3771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Context prompting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35C6C-551A-4E64-8D51-306B66A0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95550"/>
            <a:ext cx="3771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Đưa file, cấu trúc repo, quy ước, mục tiêu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747AF-BB8D-4C34-A525-C2D98AB1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891D6-3BA2-403F-A71A-615302A8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1E7D8-5862-4C02-A52C-448FE01C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05175"/>
            <a:ext cx="3771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Step-by-step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B0E01D-3F7C-4B14-AE51-3548FE20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3771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Chia nhỏ nghiệp vụ thành các bước triển khai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2E8BFD-9F2A-4EF9-8528-20FA27D2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6230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2629B-1865-4AB9-92B3-1E33393C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623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1B95EB-AAD4-43A6-958F-94A301AC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05175"/>
            <a:ext cx="3771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Few-shot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47C801-5CC5-4CDD-A939-88F5D94F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3771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Cho ví dụ format API, DTO, component, 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0E214D-C346-4C05-A3A6-949CC1F5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C99B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F12BCA-7B9F-4F2C-B727-AA5582BF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4D023E-90AF-4787-A71A-36F44D84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71975"/>
            <a:ext cx="3771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Critique prompting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AE16AA-D8A2-48A7-96D4-3E10C10F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3771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Yêu cầu AI tự review rủi ro và thiếu test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A54E4E-C480-424C-8E73-78658AD4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2910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3FAAC9-DC9B-4321-878D-4FF86AF2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291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1D3EAE-C5DE-4735-8A1E-F655AA44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71975"/>
            <a:ext cx="3771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Error-driven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FBB7AD-2765-4D10-B6E9-7F729E5D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3771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Dùng log build/test làm prompt sửa lỗi</a:t>
            </a:r>
          </a:p>
        </p:txBody>
      </p:sp>
    </p:spTree>
    <p:extLst>
      <p:ext uri="{BB962C8B-B14F-4D97-AF65-F5344CB8AC3E}">
        <p14:creationId xmlns:p14="http://schemas.microsoft.com/office/powerpoint/2010/main" val="57096654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09170E-12F4-4A9D-8515-7214EC6A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6260B-3B51-434D-A31E-44B2A646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8EA51-668F-4713-8BBE-A3BCC65B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8600"/>
            <a:ext cx="1476375" cy="6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B63610AB-51E5-43BE-BBDB-6C98F901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B44C41CD-D455-4DED-9C0A-6D78084E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AI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DA3B1-DAA9-402F-AE16-E9DBA8EA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29D2C-B71B-4F00-A926-4C24302E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Travel TVB • GenAI/Vibe 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00789-8E43-41FA-9C11-3A458E9E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69E1F-AC06-4AF7-BDD7-1C907C1B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AI hoạt động theo vòng đọc bối cảnh, tạo thay đổi, chạy kiểm tra, phân tích lỗi và ghi nhận quyết định.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60E2D-1EF7-461C-8D5F-2AB66614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28825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76D35-1D6A-4F23-BB54-105CE61A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143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275DC-6C02-4E4D-A74A-31A45B60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1526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Đọc repo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2F9AF-D414-42F3-B621-306C7566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428875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AI đọc README, code, config,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BC5FD-FEBD-4C0A-98FA-915CDD8B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3520" y="274320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01919-2FB4-4E3E-9023-73782990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870" y="2857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9E40F-6F1B-45B5-8D16-1CE17738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970" y="2867025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Suy luận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64F74-B20A-4B4A-8E66-D5DAEDEC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970" y="314325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So khớp yêu cầu với kiến trúc và constraint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8A5D95-BD18-4B9D-BC0C-B3211707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3520" y="417195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227E45-ABC4-4E14-9E5C-AFA5D556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870" y="42862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FC4BA-BA97-4EA0-BEA5-F7FDF7EC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970" y="4295775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Chỉnh sửa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7B0174-FFF7-4292-9C48-4ACA78B2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970" y="457200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Tạo patch nhỏ, bám convention hiện có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41D45D-20B4-4416-B9AA-0F9999C3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886325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DF5CBE-B22F-4367-A149-0FA24701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0006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7694F9-269C-4431-8F2E-3E53640E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0101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Kiểm chứng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7392B4-A5F0-48BD-857F-363A08D6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286375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Chạy test/build/lint hoặc render giao diện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19BD0B-A858-4830-BCD2-0FF712B6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230" y="417195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1706C7-57E7-49EA-AA3F-4D209E0D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580" y="42862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93FE0B-23CC-41DC-985D-8B9A9F8E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680" y="4295775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Phân tích lỗi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794F78-0B44-4698-ACFC-2104CC17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680" y="457200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Dùng log terminal để khoanh vùng nguyên nhân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45C4E3-7B17-4986-8FC3-C899BBE3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230" y="274320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36D841-E5FB-421D-BDD0-21FB1042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580" y="2857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7333A9-39DB-4C62-87BA-342FD871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680" y="2867025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Tổng kết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58FF6B-53A9-4139-87F7-3424A720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680" y="314325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Ghi log, quyết định và việc cần làm tiếp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2756F7-E7E3-4C22-88CE-3D4D4B6B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1371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18A186-E0E3-499D-B430-162823DC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6230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Human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59730591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685A91-DC3A-482A-9C0C-47A8E043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2B5E6-860F-46EE-80BC-D484965A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B92D7-5427-4D66-A639-08E844C0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8600"/>
            <a:ext cx="1476375" cy="6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DB5AD793-F89C-4F5A-A4FB-D5B2DE97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F30D96D1-E6D8-46AB-8729-9B0B47BD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KẾT QUẢ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37394-1C06-444F-B59F-A37D347F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75607-FCF0-4917-A33C-2D2015A6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Travel TVB • GenAI/Vibe 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D15A0-D754-48EC-8CE6-770BABC7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2EE94-DBDC-45F8-BA5C-D81EC799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Sản phẩm đã hình thành đầy đủ các lớp trải nghiệm, nghiệp vụ, tích hợp và vận hành.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2C997-18D2-439E-8F5C-6DD54201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9431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D06F2-C11D-43AD-BF3E-26805215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822A2-5CB4-47AE-AD5E-553DB100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Website tour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9E94B-1E75-45C0-8DC3-AFB70DC0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1447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Trang chủ, danh sách tour, chi tiết, booking, thanh toán, profile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074B3-9908-4708-A534-7F7414C9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24100"/>
            <a:ext cx="19431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C6A6C-1107-4BB2-805D-11CD9EB8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717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99B3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C99B3D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AB2C7-7A7F-41D2-B476-3BAA4F45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051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Backend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5CF00-1B5A-4F4A-B25E-909FB2EE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562350"/>
            <a:ext cx="1447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7E2D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7E2DF"/>
                </a:solidFill>
                <a:latin typeface="Aptos"/>
                <a:ea typeface="Aptos"/>
                <a:cs typeface="Aptos"/>
              </a:rPr>
              <a:t>Gateway, identity, catalog, booking, payment, content, chatbot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A56933-AAC5-4A7D-B643-C9944F4D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24100"/>
            <a:ext cx="19431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F8EF68-D99E-49E4-B3C3-8BB7D566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717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7BF56C-B6D9-4DF7-9B06-B77423C2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051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AI chatbot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38A403-54C9-4672-9688-3238EB4F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62350"/>
            <a:ext cx="1447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RAG chatbot, ChromaDB, Gemini, endpoint qua Kong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62714D-88F7-4750-B0E0-6A1AA596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324100"/>
            <a:ext cx="19431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1B8C17-02E1-4215-9497-BE7F921C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717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D76545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4A13EB-FA83-4E4F-B4BF-906B9012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1051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Vận hành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898FA9-7D9C-4AC8-ADFC-DB1D8114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62350"/>
            <a:ext cx="1447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Docker compose, health/metrics/tracing, RabbitMQ, Redis, Pact Broker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52165B-920C-457F-9965-415DC43D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054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Giá trị của GenAI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DB2669-EF56-478E-8021-F9B4980C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06730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Tăng tốc phân tích, sinh code, kiểm thử và refactor; đồng thời buộc nhóm phải mô tả yêu cầu rõ ràng hơn qua prompt.</a:t>
            </a:r>
          </a:p>
        </p:txBody>
      </p:sp>
    </p:spTree>
    <p:extLst>
      <p:ext uri="{BB962C8B-B14F-4D97-AF65-F5344CB8AC3E}">
        <p14:creationId xmlns:p14="http://schemas.microsoft.com/office/powerpoint/2010/main" val="31227260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1A74F4-B3DC-4993-95B1-C2F5E934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0AA84-FE51-4239-B603-6CCC1750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6A8D8-BB6A-4804-AD14-BFA71AB9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8600"/>
            <a:ext cx="1476375" cy="6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9-marker">
            <a:extLst xmlns:a="http://schemas.openxmlformats.org/drawingml/2006/main">
              <a:ext uri="{FF2B5EF4-FFF2-40B4-BE49-F238E27FC236}">
                <a16:creationId xmlns:a16="http://schemas.microsoft.com/office/drawing/2014/main" id="{EEA40BFF-9109-48CB-95C9-ED945B2F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6498560A-14C8-462F-B5C2-4B322ABF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TƯƠNG LAI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C16F1-569B-4105-92BC-D8F66D31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56919-EEA5-4B47-80F8-01C63D21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Travel TVB • GenAI/Vibe 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A3321-D125-437E-BDA7-B75A214F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0515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524C2-776D-476D-AFAA-CBCDCF18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Hướng phát triển tiếp theo là làm chắc chất lượng, quan sát hệ thống và cá nhân hóa trải nghiệm.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956F9-81C0-4F9E-AC69-C2CE6DE5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343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1B8A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C2201-6918-4B2F-A6D7-57368E62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95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Gần hạn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FCEA5-116D-4334-9785-79767438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575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Tăng test e2e, hoàn thiện luồng booking-payment, harden auth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33B2F-9267-4391-9665-34E396F2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194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BBAF9-6EE4-42AB-86AF-7518BCA3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81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C4406-2B10-408B-83C2-8FFF0A8D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86050"/>
            <a:ext cx="2343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9525">
            <a:solidFill>
              <a:srgbClr val="C99B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B4653-C136-474C-BDFD-85633AC2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95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Trung hạn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65D835-C400-42D5-8CFB-BEF2FD34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575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7E2D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7E2DF"/>
                </a:solidFill>
                <a:latin typeface="Aptos"/>
                <a:ea typeface="Aptos"/>
                <a:cs typeface="Aptos"/>
              </a:rPr>
              <a:t>Monitoring dashboard, alerting, tracing, CI/CD ổn định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3B2D78-07A8-47ED-A7AB-7F499E8C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89AD3E-3C54-4065-B446-E02B94CA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81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3D1A54-C40B-480B-9094-9CDCAEA5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2343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F1"/>
          </a:solidFill>
          <a:ln xmlns:a="http://schemas.openxmlformats.org/drawingml/2006/main" w="9525">
            <a:solidFill>
              <a:srgbClr val="D765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BA909-BB87-4ADE-B25B-FCC2A554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95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01A"/>
                </a:solidFill>
                <a:latin typeface="Aptos Display"/>
                <a:ea typeface="Aptos Display"/>
                <a:cs typeface="Aptos Display"/>
              </a:rPr>
              <a:t>Dài hạn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CE43E-9937-47F4-9A38-E25D4FF9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575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0515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0515B"/>
                </a:solidFill>
                <a:latin typeface="Aptos"/>
                <a:ea typeface="Aptos"/>
                <a:cs typeface="Aptos"/>
              </a:rPr>
              <a:t>Gợi ý tour cá nhân hóa, mobile app, tối ưu chi phí AI/RAG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72BCA9-AFA6-49DA-AE55-758EDE51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0060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B412BD-3C7D-4113-9A97-45222E64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53000"/>
            <a:ext cx="727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1A"/>
                </a:solidFill>
                <a:latin typeface="Aptos"/>
                <a:ea typeface="Aptos"/>
                <a:cs typeface="Aptos"/>
              </a:rPr>
              <a:t>Mục tiêu dài hạn: từ website bán tour có AI hỗ trợ thành nền tảng du lịch có khả năng mở rộng, quan sát được và cá nhân hóa theo hành vi người dùng.</a:t>
            </a:r>
          </a:p>
        </p:txBody>
      </p:sp>
    </p:spTree>
    <p:extLst>
      <p:ext uri="{BB962C8B-B14F-4D97-AF65-F5344CB8AC3E}">
        <p14:creationId xmlns:p14="http://schemas.microsoft.com/office/powerpoint/2010/main" val="57267631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650932-CE35-42E9-BC99-98C46071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0-marker">
            <a:extLst xmlns:a="http://schemas.openxmlformats.org/drawingml/2006/main">
              <a:ext uri="{FF2B5EF4-FFF2-40B4-BE49-F238E27FC236}">
                <a16:creationId xmlns:a16="http://schemas.microsoft.com/office/drawing/2014/main" id="{44DD8631-06CB-4FAD-83FF-BBB15CC3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0-label">
            <a:extLst xmlns:a="http://schemas.openxmlformats.org/drawingml/2006/main">
              <a:ext uri="{FF2B5EF4-FFF2-40B4-BE49-F238E27FC236}">
                <a16:creationId xmlns:a16="http://schemas.microsoft.com/office/drawing/2014/main" id="{646B7E21-FE71-4371-9F68-4B10D14E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E2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7E2DF"/>
                </a:solidFill>
                <a:latin typeface="Aptos"/>
                <a:ea typeface="Aptos"/>
                <a:cs typeface="Aptos"/>
              </a:rPr>
              <a:t>KẾT LUẬN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67450-388D-4016-8068-B0394167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93C36-320E-484E-B817-8226B46C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FD0C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FD0CA"/>
                </a:solidFill>
                <a:latin typeface="Aptos"/>
                <a:ea typeface="Aptos"/>
                <a:cs typeface="Aptos"/>
              </a:rPr>
              <a:t>Travel TVB • GenAI/Vibe Coding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330B6-408A-4154-9BCA-F2EAD511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FD0C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FD0C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BF6CB-B1BB-49B5-947F-47E08463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GenAI tăng tốc phát triển khi được ràng buộc bằng SDLC, kiểm thử và review của con người.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5A338-9E50-4EDA-803E-04E9B609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1265A-3043-4367-BC78-0BE16883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95625"/>
            <a:ext cx="110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F72BF-58CD-461E-9265-2B39F6BE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4322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Prompt tốt là đặc tả tốt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2F833-27C8-47B7-92CA-D1778ADF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718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2D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2DF"/>
                </a:solidFill>
                <a:latin typeface="Aptos"/>
                <a:ea typeface="Aptos"/>
                <a:cs typeface="Aptos"/>
              </a:rPr>
              <a:t>Yêu cầu càng rõ, AI càng sinh code đúng hướng.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BBC4A-168E-4DE9-AA5C-968D0DF3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99B3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C99B3D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D7DB6A-3A7D-4730-A170-A067135F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38575"/>
            <a:ext cx="110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9BB73-47EB-404E-9267-39E4A656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861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Code AI vẫn phải qua SDLC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FB20C-C487-441A-BE9C-F4AD3613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2D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2DF"/>
                </a:solidFill>
                <a:latin typeface="Aptos"/>
                <a:ea typeface="Aptos"/>
                <a:cs typeface="Aptos"/>
              </a:rPr>
              <a:t>Build, test, review và log quyết định là phần bắt buộc.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FF4F02-615B-4C7B-BF4E-AB3EC357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B8A7A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53C69-5F9E-43BC-A38C-0D4F4344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81525"/>
            <a:ext cx="110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459621-CB34-4D3D-97CD-66ED59F2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2912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Kiến trúc giúp AI ít đi lạc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79AE2B-B452-4842-B74A-3E73E05C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577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2D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2DF"/>
                </a:solidFill>
                <a:latin typeface="Aptos"/>
                <a:ea typeface="Aptos"/>
                <a:cs typeface="Aptos"/>
              </a:rPr>
              <a:t>Service boundary, API contract và test giữ hệ thống ổn định.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1D3921-B707-4C4A-9904-009BEAFE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C99B3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C99B3D"/>
                </a:solidFill>
                <a:latin typeface="Aptos Display"/>
                <a:ea typeface="Aptos Display"/>
                <a:cs typeface="Aptos Display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5720786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2026-05-16T16:20:01.4930000Z</dcterms:created>
  <dcterms:modified xsi:type="dcterms:W3CDTF">2026-05-16T16:20:01.4930000Z</dcterms:modified>
</coreProperties>
</file>